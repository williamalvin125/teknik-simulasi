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2" r:id="rId1"/>
  </p:sldMasterIdLst>
  <p:notesMasterIdLst>
    <p:notesMasterId r:id="rId44"/>
  </p:notesMasterIdLst>
  <p:handoutMasterIdLst>
    <p:handoutMasterId r:id="rId45"/>
  </p:handoutMasterIdLst>
  <p:sldIdLst>
    <p:sldId id="256" r:id="rId2"/>
    <p:sldId id="258" r:id="rId3"/>
    <p:sldId id="321" r:id="rId4"/>
    <p:sldId id="281" r:id="rId5"/>
    <p:sldId id="263" r:id="rId6"/>
    <p:sldId id="264" r:id="rId7"/>
    <p:sldId id="317" r:id="rId8"/>
    <p:sldId id="282" r:id="rId9"/>
    <p:sldId id="283" r:id="rId10"/>
    <p:sldId id="284" r:id="rId11"/>
    <p:sldId id="285" r:id="rId12"/>
    <p:sldId id="287" r:id="rId13"/>
    <p:sldId id="286" r:id="rId14"/>
    <p:sldId id="289" r:id="rId15"/>
    <p:sldId id="288" r:id="rId16"/>
    <p:sldId id="290" r:id="rId17"/>
    <p:sldId id="291" r:id="rId18"/>
    <p:sldId id="293" r:id="rId19"/>
    <p:sldId id="319" r:id="rId20"/>
    <p:sldId id="320" r:id="rId21"/>
    <p:sldId id="295" r:id="rId22"/>
    <p:sldId id="296" r:id="rId23"/>
    <p:sldId id="297" r:id="rId24"/>
    <p:sldId id="298" r:id="rId25"/>
    <p:sldId id="299" r:id="rId26"/>
    <p:sldId id="302" r:id="rId27"/>
    <p:sldId id="301" r:id="rId28"/>
    <p:sldId id="304" r:id="rId29"/>
    <p:sldId id="305" r:id="rId30"/>
    <p:sldId id="306" r:id="rId31"/>
    <p:sldId id="315" r:id="rId32"/>
    <p:sldId id="316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22" r:id="rId42"/>
    <p:sldId id="280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9677B47-635E-7402-2551-370C98E3DB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A56216E5-4E62-6CA8-7A13-FED749787DC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>
            <a:extLst>
              <a:ext uri="{FF2B5EF4-FFF2-40B4-BE49-F238E27FC236}">
                <a16:creationId xmlns:a16="http://schemas.microsoft.com/office/drawing/2014/main" id="{9B9EBD65-B33C-C84C-999E-5EA220AC77F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74EFB775-2017-455C-F4AB-1918F7BE8DF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fld id="{1055F188-F6DF-4A41-97A4-53574700AA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D2055C1-4751-28DD-2B51-FCA93F20849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F91A747D-F914-088B-D1A7-D849C1AAAF0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735ACD6-6EBD-4DB4-4B9A-E76A12F73751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350AB74B-F483-DEC4-7038-0FA7F3198B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8491C04B-9377-A904-3B21-C33070FD20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CCFDD64C-1B0C-5B53-52DB-689937FF80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SzTx/>
              <a:buFontTx/>
              <a:buNone/>
              <a:defRPr sz="1200"/>
            </a:lvl1pPr>
          </a:lstStyle>
          <a:p>
            <a:pPr>
              <a:defRPr/>
            </a:pPr>
            <a:fld id="{44DB896B-DC33-4B21-AF53-C6D246E007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A38A77F6-B727-AB3D-A746-01BAE8207E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6670F5F-D90E-495E-93A5-C78D3189EE9E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01F623C-F18A-2A8D-545D-1B183E9C23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1DA73959-2AF5-F94A-E23B-1C72F73FE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F24EE3D0-4476-C3B7-7FDF-4ADEA31EF3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9E63281-AE92-406D-A0D8-E71E08095BE5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C0CD48B1-7F9D-79B9-4F9E-167B14DC8CF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0E490DB5-25B9-A7C4-9D76-A5409E18C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885F4E9F-A21E-087D-4ABA-9A78E69103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307CB98-C61A-4399-A08F-C04321C6FDCE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194A31C6-1ECB-4F6E-2936-25B29C4FF8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3084BB08-2B67-6A00-C4F3-1A49632E1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AC9387D-B693-0323-7816-EECBE91637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C0E11FB-B5BC-46FB-A12D-422F3813560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3F2740F-7721-2CB8-AF1D-DE49FA2CF81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75E81FC-04C3-93D0-6BD9-0F871DE5F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FF2C1DB3-EC1E-0D31-E295-D4E1CEA891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5725DE7-AA93-4A0C-A394-0071413628C7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0371A98-BC61-E934-0D83-7F5D7F0A970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6291C31-9B33-2B54-8F2E-101B81E495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B253A2F5-B568-1801-1A0B-1945B34156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6001808-6FDD-4A78-A733-C9FBBA0F9B84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56131D8D-F979-9815-5B0B-0445495E0C6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F167FE8-F349-553E-A478-2FD5A39595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A2A52B3-02A8-F053-36C8-226C1D1895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165D9F5-EEE5-4591-B1BC-9DFFCB2C1272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1FE3809-2DBC-0355-634E-5359CC19BD3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318ECC10-5BD0-A0D5-5AB7-99431F699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EC04A5C-1E75-2E31-BFB6-EE5096C70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0EE1C2-CD23-4C04-8D44-6489A5518A78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EDBD774-1259-F5A2-961D-09F7E3F067D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CAC113A3-F0A1-6721-03DC-83F78E1E0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372F762-2B72-15C2-04D0-AA4C3DFD5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D6CB6E-893E-4C82-B021-AD34F260F162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7CAC0AE7-1AC3-8D7D-B3A7-7AFCD6D87E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BD59B5F-A609-F3D1-29FC-9919BF5427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660E698F-5DDB-5E34-9695-38BCF0DFA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E281EFA-1AB1-4FF4-B79A-DD62B3E6B4ED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A21F96E-6525-0C54-0D3F-2E7C0F6C546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58F4B7A-E980-9646-B26A-9304334CA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D001EDB-420E-7DE6-B0AC-87478C8A4F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6F38104-00C9-41CB-A43A-E0B2FC96CE04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FB7D3345-5673-C49F-3B0F-994F95774DB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1AD96E2-2392-4041-5F0C-915F03DF74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7333357D-1026-DA1E-18E6-21DDA6D128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862061-038D-4BEC-8BBE-87E30D7057F9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814D75C6-729D-021E-BF4B-8BB3EE5548E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48C9141A-88D1-E413-7F0E-CF95F0164A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99649AD7-B9E0-A273-79BF-AA920DA89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3E2E56-817A-42E6-BC57-BEC07948A41C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EAF09527-A7D8-FD02-EA89-21146A3153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DDF3CEE-CA0E-8342-73D9-C2E3E83DBE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5D68144-D2CA-BBE7-3A93-A89FD6F222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83F891-0B98-4050-941B-DE478B240370}" type="slidenum">
              <a:rPr lang="en-US" altLang="en-US" smtClean="0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5632AE2-1A6A-4333-7421-858BF793B8C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1C66403D-74D4-920C-E83F-2A5577120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C62BEB60-6FF7-DF93-E4C2-DFC0A280F3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2A6610-9CA7-44FB-B596-2C0C6FF8BBBE}" type="slidenum">
              <a:rPr lang="en-US" altLang="en-US" smtClean="0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50B14F8-B633-55F6-8968-CB51722F8B4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9F1E6BD-9651-DA82-3301-84C849727C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17CA91D5-180C-AB33-D471-22870B5CF7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5BFB018-7328-4162-8FE3-B9C5A034BC62}" type="slidenum">
              <a:rPr lang="en-US" altLang="en-US" smtClean="0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DCB390FC-8AF4-D978-20C1-DFF9426E2D9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BAC0B6D-B066-E797-3A5E-DAFF6BBB0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FAEEA062-712D-530B-458D-7FB0766749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ED1379-1A4E-40AB-891D-E84008AA81B7}" type="slidenum">
              <a:rPr lang="en-US" altLang="en-US" smtClean="0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2AD1761-CBB0-0486-CC0C-D8795E17CA1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EECFD00A-733A-CCE2-2CAD-D3BEE9631E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EB934CB-7676-8CA2-3D25-94E2DFAE1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6B1FB4-EE61-439C-A1CB-DE65E7099D52}" type="slidenum">
              <a:rPr lang="en-US" altLang="en-US" smtClean="0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2188E28-0415-E895-23A3-29F46DB6B7A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A96D1231-F68E-F446-472B-F389CDF03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949549B8-C902-E6AF-930B-44EC415D1E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32C6BA-160C-4057-AA0E-F731486679CA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89BC2872-3BE6-B187-D58C-7111788D63E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9A898E2-525C-1CE3-054C-F24E5C321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56818AEE-A35F-058D-FDA5-245F4C5205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1D8113-4B74-4C5C-A83D-624439E30B5F}" type="slidenum">
              <a:rPr lang="en-US" altLang="en-US" smtClean="0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72C1328-2E0F-6DA2-1531-D73E8F3CD20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EA931710-EBF7-61BE-A9C3-4BBB47D52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C2EE2478-E055-8E63-6027-1B6626B4CC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1E213EE-8B38-474B-9E23-CB574880B25E}" type="slidenum">
              <a:rPr lang="en-US" altLang="en-US" smtClean="0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5655D63A-BD9F-67CC-461F-5233A01F36D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760C6A1-D772-0263-D418-81FC96507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018C33D7-9D42-D519-ADAB-919425AEE3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81F3C2-CE63-4A06-9AE0-C217A4C0971B}" type="slidenum">
              <a:rPr lang="en-US" altLang="en-US" smtClean="0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ECF3055B-F405-CC30-D156-98E1B380628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CDE29B7-7C30-F0D2-4960-24F7D01D4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3FDFDBD5-CEF6-8582-4E07-2FB7902529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1ED6655-FBBE-463C-85FE-9DBBE05BB261}" type="slidenum">
              <a:rPr lang="en-US" altLang="en-US" smtClean="0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10B22A66-1052-5611-BDDC-DA6F91C4C7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E1A9230-0C55-5575-2CEF-9358255E2B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8FA65D6-B33A-70C7-AD06-314D8F5E9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70163B2-5D12-4614-9612-476191CFDD02}" type="slidenum">
              <a:rPr lang="en-US" altLang="en-US" smtClean="0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4C23769-D0E0-103A-C1BA-1095533ABB5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255C61AE-B6EF-1B75-804E-341EC9BE4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00C9BBF3-7E62-5ADD-5CEE-F75157DEEB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4438BC2-1756-4A81-BCFC-31044D6436A7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43CA4EE-EE17-5AF5-BA0F-09E64B3D22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31E368D-62B4-70F6-3605-059B1DF41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CA90B4E3-EAB1-CE8F-4A7B-9F086B2D44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A53748-9BBD-4846-92E8-7483935B85CB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30F15C6-0FEB-3527-B05F-6053176C0D0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A88640D-13FF-A83A-EA63-83D2FB37E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B8F814D1-7EAB-3FBA-41AE-3AB4720E9D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AF96E2-4155-4D0B-950F-E648794E0ABA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59CCCE4-EF63-4849-981B-2CB23E12A9B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98650B2-66EF-0D90-1F7C-C15155F30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9A0BBAEE-3DE2-B60F-AE8B-FCE16088E7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92F6EBA-B623-49A4-98BF-54CF5048CC2A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24D43E08-52EF-68E3-5E2C-4BF77286F79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0585CDE-2FBA-C682-3CA3-BE47742A0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BE32A8A0-8525-087C-FE51-D611A44E51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64BD008-1199-4C1B-8165-7FFB1567B520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17E992B-3C89-39C2-1346-2695B907279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1F35C8F2-A8DD-E857-388F-3D39E1109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F7A3BB9D-B416-5608-DAC4-621914FB6B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3466EF-8F50-4695-B9A3-D0D8D3D63F58}" type="slidenum">
              <a:rPr lang="en-US" altLang="en-US" smtClean="0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807F429-4BCC-577D-952D-910D1AB1702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F794D709-609A-C78F-82C6-B6B641BFDD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B8B340BD-6E24-64D5-B46A-68B6AD41D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92C4706-CFAA-48B3-AE58-2CA77091E137}" type="slidenum">
              <a:rPr lang="en-US" altLang="en-US" smtClean="0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C1D1997E-97FD-2333-7AEF-9522FE64D11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525F4616-78D6-C4BB-9965-6900158456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1A9D3A7-A54E-04D7-715C-4B97197BEC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E9335A-EB16-4F90-AA9F-1E7089D9AD04}" type="slidenum">
              <a:rPr lang="en-US" altLang="en-US" smtClean="0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CC33DF6-729B-229C-6D8C-7349F28255A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F815A07-67FB-0EAA-780D-9EBAB8847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4FE3AE4D-16E4-02B0-239E-A1E882CFD0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4AA1748-4E54-40C4-8FB5-4819B0EE308B}" type="slidenum">
              <a:rPr lang="en-US" altLang="en-US" smtClean="0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6A138C04-C1B1-AD86-87F8-E108BFB7F6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9475A8C-3150-E1B9-587A-FF50973DC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07B0F69-D31B-B03A-23BB-1B66A614BA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3C17790-F860-42C5-B716-315DB4B578CA}" type="slidenum">
              <a:rPr lang="en-US" altLang="en-US" smtClean="0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600E064-1E25-BDE1-CDC9-38D6D4877BA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68D17801-448A-3490-B609-107C6A1D05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776F183F-3D18-244B-8EAB-45BE10642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8FA31F-4F96-4E08-89B7-4D102A32A6CE}" type="slidenum">
              <a:rPr lang="en-US" altLang="en-US" smtClean="0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868D753-5915-9FD6-E2E2-A717D4A32CC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E94C62E-5246-4AFA-AAD9-91D500490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22F2C27D-60C1-E7E7-1B1B-790FB35652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58EF36-A69F-45D3-BE16-42EFB46E936E}" type="slidenum">
              <a:rPr lang="en-US" altLang="en-US" smtClean="0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3BF75D20-6A4C-1F3A-CBAB-8F8A980C9C7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5A6346C0-1DFE-A588-D148-0EA72330E8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CF38A6-2FE4-D9B0-0C40-008C590BE02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06FA9A92-1D66-0746-51DF-7CB9572D9CA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4D6F6E07-899F-E6D8-B65B-46BFFA79A478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431A628-825B-B8B2-89A7-1ACBDE991A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9CA77E5A-AC38-DAB2-1340-51DFD3BC30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Rectangle 7">
                <a:extLst>
                  <a:ext uri="{FF2B5EF4-FFF2-40B4-BE49-F238E27FC236}">
                    <a16:creationId xmlns:a16="http://schemas.microsoft.com/office/drawing/2014/main" id="{606BFD18-D226-5CBA-845E-1039C8E4598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Rectangle 8">
                <a:extLst>
                  <a:ext uri="{FF2B5EF4-FFF2-40B4-BE49-F238E27FC236}">
                    <a16:creationId xmlns:a16="http://schemas.microsoft.com/office/drawing/2014/main" id="{8119C3AA-91D4-E5E9-A84B-C8185306B5C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9">
                <a:extLst>
                  <a:ext uri="{FF2B5EF4-FFF2-40B4-BE49-F238E27FC236}">
                    <a16:creationId xmlns:a16="http://schemas.microsoft.com/office/drawing/2014/main" id="{702806B9-2682-3B2A-8056-E31FB8012D7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10">
                <a:extLst>
                  <a:ext uri="{FF2B5EF4-FFF2-40B4-BE49-F238E27FC236}">
                    <a16:creationId xmlns:a16="http://schemas.microsoft.com/office/drawing/2014/main" id="{0D3C4C26-85A4-F82D-0BE7-D08D48321D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1">
                <a:extLst>
                  <a:ext uri="{FF2B5EF4-FFF2-40B4-BE49-F238E27FC236}">
                    <a16:creationId xmlns:a16="http://schemas.microsoft.com/office/drawing/2014/main" id="{B1CDFB0A-D8B0-8FA9-B534-034FC6FB5F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2">
                <a:extLst>
                  <a:ext uri="{FF2B5EF4-FFF2-40B4-BE49-F238E27FC236}">
                    <a16:creationId xmlns:a16="http://schemas.microsoft.com/office/drawing/2014/main" id="{013636C0-8708-0529-CAB0-15C523170E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A75CCC05-A886-6745-1BC3-FA677F695D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4">
                <a:extLst>
                  <a:ext uri="{FF2B5EF4-FFF2-40B4-BE49-F238E27FC236}">
                    <a16:creationId xmlns:a16="http://schemas.microsoft.com/office/drawing/2014/main" id="{5CEC87CE-1BF2-76F8-7CC9-9E9501B89FF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5">
                <a:extLst>
                  <a:ext uri="{FF2B5EF4-FFF2-40B4-BE49-F238E27FC236}">
                    <a16:creationId xmlns:a16="http://schemas.microsoft.com/office/drawing/2014/main" id="{6F349CDA-AB73-9018-CFF4-5D5A34BF0EB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algn="ctr">
                  <a:spcBef>
                    <a:spcPct val="20000"/>
                  </a:spcBef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Font typeface="Wingdings" panose="05000000000000000000" pitchFamily="2" charset="2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l" eaLnBrk="1" hangingPunct="1">
                  <a:spcBef>
                    <a:spcPct val="0"/>
                  </a:spcBef>
                  <a:buSzTx/>
                  <a:buFontTx/>
                  <a:buNone/>
                  <a:defRPr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2049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3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50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B297567-89FF-A742-FFD4-7FC78E393C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02A66ACF-185B-B1FF-FA9A-BC9B129C9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2D72D69B-6A50-ED66-7260-9E42A163A4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6F6CC-9808-47EA-93E3-1EB844DCD2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058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8A9D71-39B4-28B4-618C-2516E329719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D2A0930-83E2-9896-B4AA-DB21C36CC1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912A4B-0992-4926-A1A4-03EA82DE27E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D74575E-565C-39E5-B2FE-AAE46B149FB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3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B183F2C-E481-FF4C-463F-9BE8365114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49E0728-E7CC-235D-D4D0-D934B417540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DC182B-1F4A-46C0-BB7C-8612D56896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1C3C33A-0F24-70F2-3961-6041B355A2B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8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7800"/>
            <a:ext cx="4038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319D16-8847-8B09-146F-EA392289B53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A2939F4-52A5-3FAF-D5CE-DB4687FC4A0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89A75-BD63-44B3-88BF-3EA5EFB244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2A9A0A9-CB54-528C-3853-49F39EAB26F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36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2B7F2A4-7445-DF85-682D-110EFFBEEC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E7A510-17CD-B3F9-FE73-DE3E79EB3D1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3466F-014F-4AA6-9DF2-4D68FE950C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E386F926-7CE6-E827-221D-8A652CAE1151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2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DF9159-9513-201A-DDA4-2BFCB227384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ADF0D6-5C08-19ED-46D2-87185707177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4D933-0B6C-4C86-83C1-59155E1AA5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3D51BD82-CF02-2D2B-1AA2-D70AA0297B4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255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4B393DC-B9A6-3144-8583-4F9E423C43A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01B0048-EFC2-1A5B-3ABA-20A5A32A439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A77451-7599-4DDD-BD04-CFD563896D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39C6D00A-056A-3749-B965-BD462C58418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48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59B5C2-1107-E111-147B-541FD98C455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78695A1-2B87-3E43-1D98-CD27B36B86B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72B0C-B3BD-4095-AA1F-4395FCC751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C8714750-6ADA-C471-175E-444E4DC3471B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BE2190-7EAE-AB51-FBA1-DDE0C2152B2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3D1A589-B159-1508-35E8-877850E2C13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CDDB5-78C2-4570-8B06-C874208A26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DA54E77-0647-BF45-C0BF-D6B43DE63C2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38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AAAC4C-E044-35C4-7612-6C3A7AF058B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9A80D2-76BF-DABF-9D3B-26F213634C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0458CC-0419-474C-A31E-C74094F564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096BA6FE-D3BA-5560-6D8D-69677C7313B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6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5E1D1B7-AFE2-2209-96A7-5A829937F8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F2909B-7475-2A3A-311B-AD0443BE35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A58D-8F78-4B84-B5EF-F469CD98F1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2A75D83-9314-AF3D-AB93-8D1910E06D6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63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4038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107CB95-32CE-0DD6-1242-DF573A2092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C3539D5-AEE3-7BBC-AB38-544A1D9F97B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790DCE-D3D1-483D-849C-1BBE8282DD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B7BE1FDC-34A7-4C2E-51BB-2C2D5762C3B7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935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447800"/>
            <a:ext cx="40386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47800"/>
            <a:ext cx="40386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038600" cy="2133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92B5249-F24F-6708-6817-719E4ED19C3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EDDD18E-0CF9-CCBE-ED48-4AFDB593F6F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F1731-C9A5-4B5A-83F7-0BA5AA9457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2991BF2B-9FF5-7F33-DD33-B4856317B8B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65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AEAF3E1-4800-CF58-0AD0-51B4EE94F4B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56C33F0-F3EF-0B9E-AB89-F40CB2904F2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SzTx/>
              <a:buFontTx/>
              <a:buNone/>
              <a:defRPr sz="1200">
                <a:latin typeface="Arial Black" panose="020B0A04020102020204" pitchFamily="34" charset="0"/>
              </a:defRPr>
            </a:lvl1pPr>
          </a:lstStyle>
          <a:p>
            <a:pPr>
              <a:defRPr/>
            </a:pPr>
            <a:fld id="{43A63151-B1DD-4ADE-8F37-2C5C8852C3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098CCA1C-F46F-9056-0C51-49A8A5D2756E}"/>
              </a:ext>
            </a:extLst>
          </p:cNvPr>
          <p:cNvGrpSpPr>
            <a:grpSpLocks/>
          </p:cNvGrpSpPr>
          <p:nvPr/>
        </p:nvGrpSpPr>
        <p:grpSpPr bwMode="auto">
          <a:xfrm>
            <a:off x="0" y="1066800"/>
            <a:ext cx="9144000" cy="546100"/>
            <a:chOff x="0" y="0"/>
            <a:chExt cx="5760" cy="344"/>
          </a:xfrm>
        </p:grpSpPr>
        <p:sp>
          <p:nvSpPr>
            <p:cNvPr id="1033" name="Rectangle 5">
              <a:extLst>
                <a:ext uri="{FF2B5EF4-FFF2-40B4-BE49-F238E27FC236}">
                  <a16:creationId xmlns:a16="http://schemas.microsoft.com/office/drawing/2014/main" id="{1D68A057-58EE-E154-2DB3-AB1DB2CF5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6">
              <a:extLst>
                <a:ext uri="{FF2B5EF4-FFF2-40B4-BE49-F238E27FC236}">
                  <a16:creationId xmlns:a16="http://schemas.microsoft.com/office/drawing/2014/main" id="{5B2C053B-4D10-1EEB-F700-CA9933296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5" name="Rectangle 7">
              <a:extLst>
                <a:ext uri="{FF2B5EF4-FFF2-40B4-BE49-F238E27FC236}">
                  <a16:creationId xmlns:a16="http://schemas.microsoft.com/office/drawing/2014/main" id="{22C421ED-7534-7BD8-1F1A-52CCA9F3D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8">
              <a:extLst>
                <a:ext uri="{FF2B5EF4-FFF2-40B4-BE49-F238E27FC236}">
                  <a16:creationId xmlns:a16="http://schemas.microsoft.com/office/drawing/2014/main" id="{776D683E-C984-8055-F51D-C9CB724EE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7" name="Rectangle 9">
              <a:extLst>
                <a:ext uri="{FF2B5EF4-FFF2-40B4-BE49-F238E27FC236}">
                  <a16:creationId xmlns:a16="http://schemas.microsoft.com/office/drawing/2014/main" id="{CB43E9DC-DD72-89E5-659C-D7D72A78F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8" name="Rectangle 10">
              <a:extLst>
                <a:ext uri="{FF2B5EF4-FFF2-40B4-BE49-F238E27FC236}">
                  <a16:creationId xmlns:a16="http://schemas.microsoft.com/office/drawing/2014/main" id="{5BF5F5C1-7E5B-F138-DF7A-ABC37993EC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9" name="Rectangle 11">
              <a:extLst>
                <a:ext uri="{FF2B5EF4-FFF2-40B4-BE49-F238E27FC236}">
                  <a16:creationId xmlns:a16="http://schemas.microsoft.com/office/drawing/2014/main" id="{AB13E2A6-6AAC-B645-E3BB-F1A09E8572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40" name="Rectangle 12">
              <a:extLst>
                <a:ext uri="{FF2B5EF4-FFF2-40B4-BE49-F238E27FC236}">
                  <a16:creationId xmlns:a16="http://schemas.microsoft.com/office/drawing/2014/main" id="{44189112-4338-7B14-741E-BCD9698F6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1" name="Rectangle 13">
              <a:extLst>
                <a:ext uri="{FF2B5EF4-FFF2-40B4-BE49-F238E27FC236}">
                  <a16:creationId xmlns:a16="http://schemas.microsoft.com/office/drawing/2014/main" id="{E0930138-0C20-8BD6-7356-2733B03FA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algn="ctr">
                <a:spcBef>
                  <a:spcPct val="20000"/>
                </a:spcBef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Font typeface="Wingdings" panose="05000000000000000000" pitchFamily="2" charset="2"/>
                <a:defRPr sz="1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>
                <a:spcBef>
                  <a:spcPct val="0"/>
                </a:spcBef>
                <a:buSzTx/>
                <a:buFontTx/>
                <a:buNone/>
                <a:defRPr/>
              </a:pPr>
              <a:endParaRPr lang="en-US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7BBBE105-456D-E2AC-62B3-8BDDD3DACD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273E1100-2514-E3B4-B481-C3DF75B70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478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756546E0-C9D1-0B78-F98A-743CF6EDD7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buSzTx/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Text Box 17">
            <a:extLst>
              <a:ext uri="{FF2B5EF4-FFF2-40B4-BE49-F238E27FC236}">
                <a16:creationId xmlns:a16="http://schemas.microsoft.com/office/drawing/2014/main" id="{6B07577D-5D3D-0C64-A977-DA8DA4DDCA3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81800" y="457200"/>
            <a:ext cx="19050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ctr">
              <a:spcBef>
                <a:spcPct val="20000"/>
              </a:spcBef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algn="ctr">
              <a:spcBef>
                <a:spcPct val="20000"/>
              </a:spcBef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algn="ctr">
              <a:spcBef>
                <a:spcPct val="20000"/>
              </a:spcBef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algn="ctr">
              <a:spcBef>
                <a:spcPct val="20000"/>
              </a:spcBef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algn="ctr">
              <a:spcBef>
                <a:spcPct val="20000"/>
              </a:spcBef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50000"/>
              </a:spcBef>
              <a:buSzTx/>
              <a:buFontTx/>
              <a:buNone/>
              <a:defRPr/>
            </a:pPr>
            <a:endParaRPr lang="en-US" alt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8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5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8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35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34.wmf"/><Relationship Id="rId4" Type="http://schemas.openxmlformats.org/officeDocument/2006/relationships/image" Target="../media/image31.w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36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0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4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7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6B1F508-4C30-5667-A56D-149E66B51A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ea typeface="ＭＳ Ｐゴシック" panose="020B0600070205080204" pitchFamily="34" charset="-128"/>
              </a:rPr>
              <a:t>Chapter 9 </a:t>
            </a:r>
            <a:br>
              <a:rPr lang="en-US" altLang="en-US" sz="3600">
                <a:ea typeface="ＭＳ Ｐゴシック" panose="020B0600070205080204" pitchFamily="34" charset="-128"/>
              </a:rPr>
            </a:br>
            <a:r>
              <a:rPr lang="en-US" altLang="en-US" sz="3600">
                <a:ea typeface="ＭＳ Ｐゴシック" panose="020B0600070205080204" pitchFamily="34" charset="-128"/>
              </a:rPr>
              <a:t>Input Modeling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3660BB5-27DC-3F34-5725-DBABC44C69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/>
            <a:r>
              <a:rPr lang="en-US" altLang="en-US" sz="2600">
                <a:ea typeface="ＭＳ Ｐゴシック" panose="020B0600070205080204" pitchFamily="34" charset="-128"/>
              </a:rPr>
              <a:t>Banks, Carson, Nelson &amp; Nicol</a:t>
            </a:r>
          </a:p>
          <a:p>
            <a:pPr algn="r" eaLnBrk="1" hangingPunct="1"/>
            <a:r>
              <a:rPr lang="en-US" altLang="en-US" sz="2600" i="1">
                <a:ea typeface="ＭＳ Ｐゴシック" panose="020B0600070205080204" pitchFamily="34" charset="-128"/>
              </a:rPr>
              <a:t>Discrete-Event System Simulation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4">
            <a:extLst>
              <a:ext uri="{FF2B5EF4-FFF2-40B4-BE49-F238E27FC236}">
                <a16:creationId xmlns:a16="http://schemas.microsoft.com/office/drawing/2014/main" id="{B7C83685-EC0C-7A62-360C-664B0A68EF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7EBE5E-2A2F-4522-84E2-3A524464BA0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AD69C684-CF62-07CD-88EC-A4508FDA4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Purpose &amp; Overview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0E4F8C51-7BE8-6631-2982-1A669F634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Input models provide the driving force for a simulation model.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The quality of the output is no better than the quality of inputs.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In this chapter, we will discuss the 4 steps of input model development: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Collect data from the real system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Identify a probability distribution to represent the input process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Choose parameters for the distribution</a:t>
            </a:r>
          </a:p>
          <a:p>
            <a:pPr lvl="1" eaLnBrk="1" hangingPunct="1"/>
            <a:r>
              <a:rPr lang="en-US" altLang="en-US" sz="2200">
                <a:ea typeface="ＭＳ Ｐゴシック" panose="020B0600070205080204" pitchFamily="34" charset="-128"/>
              </a:rPr>
              <a:t>Evaluate the chosen distribution and parameters for goodness of fit.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8EA73D75-5DB7-D428-A2FF-21B83C47DB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9.1</a:t>
            </a:r>
            <a:r>
              <a:rPr lang="en-US" altLang="en-US">
                <a:ea typeface="ＭＳ Ｐゴシック" panose="020B0600070205080204" pitchFamily="34" charset="-128"/>
              </a:rPr>
              <a:t> Data Collection</a:t>
            </a:r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59FB0229-4AB7-527B-BB92-4532808768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>
                <a:ea typeface="ＭＳ Ｐゴシック" panose="020B0600070205080204" pitchFamily="34" charset="-128"/>
              </a:rPr>
              <a:t>One of the biggest tasks in solving a real problem.  GIGO – garbage-in-garbage-out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Examples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Stale data – different methods of collection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Unexpected data – metal detector delay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Time-varying data – camel hump call center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 Dependent data – drinks in season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783012EA-05F6-131E-0543-F306F12539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F4BFD6B-F96F-4201-AB7B-2E052F817BA5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4">
            <a:extLst>
              <a:ext uri="{FF2B5EF4-FFF2-40B4-BE49-F238E27FC236}">
                <a16:creationId xmlns:a16="http://schemas.microsoft.com/office/drawing/2014/main" id="{F1DC6258-8F22-F816-A032-936FE841B3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EEB45A-8FE2-4A04-B833-2ED5517B60E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4F5A5F2-E0B9-9714-B934-0B98D01CF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Data Collection - </a:t>
            </a:r>
            <a:r>
              <a:rPr lang="en-US" altLang="en-US" sz="2400">
                <a:solidFill>
                  <a:srgbClr val="C00000"/>
                </a:solidFill>
                <a:ea typeface="ＭＳ Ｐゴシック" panose="020B0600070205080204" pitchFamily="34" charset="-128"/>
              </a:rPr>
              <a:t>suggestions start on page 340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46E0B0B2-96AB-61C8-B0F4-A783FEF937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>
                <a:solidFill>
                  <a:srgbClr val="C00000"/>
                </a:solidFill>
                <a:ea typeface="ＭＳ Ｐゴシック" panose="020B0600070205080204" pitchFamily="34" charset="-128"/>
              </a:rPr>
              <a:t>Suggestions</a:t>
            </a:r>
            <a:r>
              <a:rPr lang="en-US" altLang="en-US" sz="2200">
                <a:ea typeface="ＭＳ Ｐゴシック" panose="020B0600070205080204" pitchFamily="34" charset="-128"/>
              </a:rPr>
              <a:t> that may enhance and facilitate data collection: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Plan ahead: begin by a practice or pre-observing session, watch for unusual circumstances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Analyze the data as it is being collected: check adequacy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Combine homogeneous data sets, e.g. successive time periods, during the same time period on successive days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Be aware of data censoring: the quantity is not observed in its entirety, danger of leaving out long process times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Check for relationship between variables, e.g. build scatter diagram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Check for autocorrelation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Collect input data, not performance data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C90BB098-881F-F31C-8ECA-459C524D5B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B699EC-C60C-498D-AC77-35E90E4B6B87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286AACE-3DA2-917B-777C-89A7B5399D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C00000"/>
                </a:solidFill>
                <a:ea typeface="ＭＳ Ｐゴシック" panose="020B0600070205080204" pitchFamily="34" charset="-128"/>
              </a:rPr>
              <a:t>9.2</a:t>
            </a:r>
            <a:r>
              <a:rPr lang="en-US" altLang="en-US">
                <a:ea typeface="ＭＳ Ｐゴシック" panose="020B0600070205080204" pitchFamily="34" charset="-128"/>
              </a:rPr>
              <a:t> Identifying the Distribution</a:t>
            </a:r>
            <a:endParaRPr lang="en-US" altLang="en-US" sz="24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6340BCF-81A1-071D-9AF0-1367D987285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153400" cy="4419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Histograms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Selecting families of distribution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Parameter estimation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Goodness-of-fit tests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Fitting a non-stationary process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2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6">
            <a:extLst>
              <a:ext uri="{FF2B5EF4-FFF2-40B4-BE49-F238E27FC236}">
                <a16:creationId xmlns:a16="http://schemas.microsoft.com/office/drawing/2014/main" id="{0364A026-5C74-8739-B617-663F1DA617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576EEF-C1DE-446F-AA08-B0F4C4899A1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517DAD2-B702-1B23-3733-AF463124F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Histograms			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EFBBE21D-62C4-0B5F-941C-07527D0DAE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7924800" cy="441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ea typeface="+mn-ea"/>
              </a:rPr>
              <a:t>A frequency distribution or histogram is useful in determining the shape of a distribution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sz="2400" dirty="0">
              <a:ea typeface="+mn-ea"/>
            </a:endParaRP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400" dirty="0">
                <a:ea typeface="+mn-ea"/>
              </a:rPr>
              <a:t>Divide the range of data into intervals. </a:t>
            </a:r>
          </a:p>
          <a:p>
            <a:pPr marL="857250" lvl="1" indent="-45720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dirty="0"/>
              <a:t>	</a:t>
            </a:r>
            <a:r>
              <a:rPr lang="en-US" sz="2000" dirty="0"/>
              <a:t>(Usually of equal length)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400" dirty="0">
                <a:ea typeface="+mn-ea"/>
              </a:rPr>
              <a:t>Label the horizontal axis to conform to the intervals selected.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400" dirty="0">
                <a:ea typeface="+mn-ea"/>
              </a:rPr>
              <a:t>Find the frequency of occurrences within each interval.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400" dirty="0">
                <a:ea typeface="+mn-ea"/>
              </a:rPr>
              <a:t>Label the vertical axis so that the total occurrences can be plotted for each interval.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sz="2400" dirty="0">
                <a:ea typeface="+mn-ea"/>
              </a:rPr>
              <a:t>Plot the frequencies on the vertical axis. </a:t>
            </a:r>
          </a:p>
        </p:txBody>
      </p:sp>
      <p:sp>
        <p:nvSpPr>
          <p:cNvPr id="12293" name="AutoShape 12">
            <a:extLst>
              <a:ext uri="{FF2B5EF4-FFF2-40B4-BE49-F238E27FC236}">
                <a16:creationId xmlns:a16="http://schemas.microsoft.com/office/drawing/2014/main" id="{892232D4-421B-BBE4-F04A-A372AF8F2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BA10783-92A5-35EA-21FA-B8B7C98F0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Histograms continued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209A9567-1D21-10E8-C515-24BB35ED2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The number of class intervals depends 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number of observations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dispersion of the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Suggested: the square root of the sample size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For continuous data: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Corresponds to the probability density function of a theoretical distribution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>
                <a:ea typeface="ＭＳ Ｐゴシック" panose="020B0600070205080204" pitchFamily="34" charset="-128"/>
              </a:rPr>
              <a:t>For discrete data: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Corresponds to the probability mass function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If few data points are available: combine adjacent cells to eliminate the ragged appearance of the histogram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Does this differ from homogeneity in Section 9.1?</a:t>
            </a: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096D9BC-1B36-E047-A2F4-95BD3F1C0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A679BDD-80C8-4CF3-AF18-2DCBAF500A8E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6">
            <a:extLst>
              <a:ext uri="{FF2B5EF4-FFF2-40B4-BE49-F238E27FC236}">
                <a16:creationId xmlns:a16="http://schemas.microsoft.com/office/drawing/2014/main" id="{AB62A7D0-1088-D72C-E786-FA99B17255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168998-A82D-4302-ADA0-745DCC46144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15363" name="Picture 8" descr="09-1">
            <a:extLst>
              <a:ext uri="{FF2B5EF4-FFF2-40B4-BE49-F238E27FC236}">
                <a16:creationId xmlns:a16="http://schemas.microsoft.com/office/drawing/2014/main" id="{D26624BA-91DA-AE98-A6F2-1DA5C07A2288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00600" y="2133600"/>
            <a:ext cx="2000250" cy="3429000"/>
          </a:xfrm>
          <a:noFill/>
        </p:spPr>
      </p:pic>
      <p:sp>
        <p:nvSpPr>
          <p:cNvPr id="15364" name="Rectangle 2">
            <a:extLst>
              <a:ext uri="{FF2B5EF4-FFF2-40B4-BE49-F238E27FC236}">
                <a16:creationId xmlns:a16="http://schemas.microsoft.com/office/drawing/2014/main" id="{190D32B0-7547-1BD3-9CC3-7D50F6E28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Histograms </a:t>
            </a:r>
            <a:r>
              <a:rPr lang="en-US" altLang="en-US" sz="2400">
                <a:solidFill>
                  <a:srgbClr val="C00000"/>
                </a:solidFill>
                <a:ea typeface="ＭＳ Ｐゴシック" panose="020B0600070205080204" pitchFamily="34" charset="-128"/>
              </a:rPr>
              <a:t>Ex 9.5</a:t>
            </a:r>
            <a:r>
              <a:rPr lang="en-US" altLang="en-US">
                <a:ea typeface="ＭＳ Ｐゴシック" panose="020B0600070205080204" pitchFamily="34" charset="-128"/>
              </a:rPr>
              <a:t>		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D4B532BA-2722-E234-4313-0B79F9CA10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4953000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ＭＳ Ｐゴシック" panose="020B0600070205080204" pitchFamily="34" charset="-128"/>
              </a:rPr>
              <a:t>Vehicle Arrival Example: # of vehicles arriving at an intersection between 7 am and 7:05 am was monitored for </a:t>
            </a:r>
            <a:r>
              <a:rPr lang="en-US" altLang="en-US" sz="2000" i="1">
                <a:ea typeface="ＭＳ Ｐゴシック" panose="020B0600070205080204" pitchFamily="34" charset="-128"/>
              </a:rPr>
              <a:t>100</a:t>
            </a:r>
            <a:r>
              <a:rPr lang="en-US" altLang="en-US" sz="2000">
                <a:ea typeface="ＭＳ Ｐゴシック" panose="020B0600070205080204" pitchFamily="34" charset="-128"/>
              </a:rPr>
              <a:t> random workdays.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000">
                <a:ea typeface="ＭＳ Ｐゴシック" panose="020B0600070205080204" pitchFamily="34" charset="-128"/>
              </a:rPr>
              <a:t>There are ample data, so the histogram may have a cell for each possible value in the data range</a:t>
            </a:r>
          </a:p>
        </p:txBody>
      </p:sp>
      <p:graphicFrame>
        <p:nvGraphicFramePr>
          <p:cNvPr id="15366" name="Object 6">
            <a:extLst>
              <a:ext uri="{FF2B5EF4-FFF2-40B4-BE49-F238E27FC236}">
                <a16:creationId xmlns:a16="http://schemas.microsoft.com/office/drawing/2014/main" id="{02BE2524-D287-6B7C-1CF0-9FE8050733E4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371600" y="2133600"/>
          <a:ext cx="220821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604764" imgH="2383642" progId="Excel.Sheet.8">
                  <p:embed/>
                </p:oleObj>
              </mc:Choice>
              <mc:Fallback>
                <p:oleObj name="Worksheet" r:id="rId4" imgW="1604764" imgH="2383642" progId="Excel.Sheet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2133600"/>
                        <a:ext cx="220821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AutoShape 10">
            <a:extLst>
              <a:ext uri="{FF2B5EF4-FFF2-40B4-BE49-F238E27FC236}">
                <a16:creationId xmlns:a16="http://schemas.microsoft.com/office/drawing/2014/main" id="{D5A668C1-978E-8F19-DAB1-9767D7860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352800"/>
            <a:ext cx="1371600" cy="838200"/>
          </a:xfrm>
          <a:prstGeom prst="wedgeRoundRectCallout">
            <a:avLst>
              <a:gd name="adj1" fmla="val -45486"/>
              <a:gd name="adj2" fmla="val 7384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Same data with different interval sizes</a:t>
            </a:r>
          </a:p>
        </p:txBody>
      </p:sp>
      <p:sp>
        <p:nvSpPr>
          <p:cNvPr id="15368" name="Line 11">
            <a:extLst>
              <a:ext uri="{FF2B5EF4-FFF2-40B4-BE49-F238E27FC236}">
                <a16:creationId xmlns:a16="http://schemas.microsoft.com/office/drawing/2014/main" id="{AFE7B74B-5CB0-C37A-2BC5-2B3DDE07F70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34200" y="2971800"/>
            <a:ext cx="609600" cy="762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15369" name="Line 12">
            <a:extLst>
              <a:ext uri="{FF2B5EF4-FFF2-40B4-BE49-F238E27FC236}">
                <a16:creationId xmlns:a16="http://schemas.microsoft.com/office/drawing/2014/main" id="{1763EFD5-2834-7532-5A5B-0C1CA52314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0" y="3733800"/>
            <a:ext cx="685800" cy="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15370" name="Line 13">
            <a:extLst>
              <a:ext uri="{FF2B5EF4-FFF2-40B4-BE49-F238E27FC236}">
                <a16:creationId xmlns:a16="http://schemas.microsoft.com/office/drawing/2014/main" id="{7371B8E3-6F86-36A7-48CB-C257DAB40D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3733800"/>
            <a:ext cx="533400" cy="7620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8D0979B9-CF5E-CEF7-6C15-130CF3283A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BA8324-E2E9-472F-B3C5-8DD52E5D7D2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5650E046-FBA7-F569-31E9-B90ED8345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  <a:ea typeface="ＭＳ Ｐゴシック" panose="020B0600070205080204" pitchFamily="34" charset="-128"/>
              </a:rPr>
              <a:t>9.2.2 </a:t>
            </a:r>
            <a:r>
              <a:rPr lang="en-US" altLang="en-US" sz="2800">
                <a:ea typeface="ＭＳ Ｐゴシック" panose="020B0600070205080204" pitchFamily="34" charset="-128"/>
              </a:rPr>
              <a:t>Selecting the Family of Distributions	</a:t>
            </a:r>
            <a:br>
              <a:rPr lang="en-US" altLang="en-US" sz="2800">
                <a:ea typeface="ＭＳ Ｐゴシック" panose="020B0600070205080204" pitchFamily="34" charset="-128"/>
              </a:rPr>
            </a:br>
            <a:r>
              <a:rPr lang="en-US" altLang="en-US" sz="2800">
                <a:ea typeface="ＭＳ Ｐゴシック" panose="020B0600070205080204" pitchFamily="34" charset="-128"/>
              </a:rPr>
              <a:t>				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8410E39-83DC-A4C6-5894-16496C9D0D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A family of distributions is selected based on: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context of the input variable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Shape of the histogram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Frequently encountered distributions: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Easier to analyze: exponential, normal and Poisson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Harder to analyze: beta, gamma and Weibull</a:t>
            </a:r>
          </a:p>
        </p:txBody>
      </p:sp>
      <p:sp>
        <p:nvSpPr>
          <p:cNvPr id="17413" name="AutoShape 4">
            <a:extLst>
              <a:ext uri="{FF2B5EF4-FFF2-40B4-BE49-F238E27FC236}">
                <a16:creationId xmlns:a16="http://schemas.microsoft.com/office/drawing/2014/main" id="{C348CCD3-D511-8144-435D-6BA3ABFDD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308C10E1-29AB-0102-64D8-C4602D443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C014F8-8FD2-41AF-A74A-BD9736841C4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181327C-E4A4-512F-2540-75D7D66D7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Selecting the Family of Distributions	</a:t>
            </a:r>
            <a:br>
              <a:rPr lang="en-US" altLang="en-US" sz="2800">
                <a:ea typeface="ＭＳ Ｐゴシック" panose="020B0600070205080204" pitchFamily="34" charset="-128"/>
              </a:rPr>
            </a:br>
            <a:r>
              <a:rPr lang="en-US" altLang="en-US" sz="2800">
                <a:ea typeface="ＭＳ Ｐゴシック" panose="020B0600070205080204" pitchFamily="34" charset="-128"/>
              </a:rPr>
              <a:t>				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9DC49C70-1455-C1A2-40F9-3CCFBDD1A9E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solidFill>
                  <a:srgbClr val="C00000"/>
                </a:solidFill>
                <a:ea typeface="ＭＳ Ｐゴシック" panose="020B0600070205080204" pitchFamily="34" charset="-128"/>
              </a:rPr>
              <a:t>Page 346: </a:t>
            </a:r>
            <a:r>
              <a:rPr lang="en-US" altLang="en-US" sz="2200">
                <a:ea typeface="ＭＳ Ｐゴシック" panose="020B0600070205080204" pitchFamily="34" charset="-128"/>
              </a:rPr>
              <a:t>Use the physical basis of the distribution as a guide, for example: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Binomial: # of successes in </a:t>
            </a:r>
            <a:r>
              <a:rPr lang="en-US" altLang="en-US" sz="2000" i="1">
                <a:ea typeface="ＭＳ Ｐゴシック" panose="020B0600070205080204" pitchFamily="34" charset="-128"/>
              </a:rPr>
              <a:t>n</a:t>
            </a:r>
            <a:r>
              <a:rPr lang="en-US" altLang="en-US" sz="2000">
                <a:ea typeface="ＭＳ Ｐゴシック" panose="020B0600070205080204" pitchFamily="34" charset="-128"/>
              </a:rPr>
              <a:t> trials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Poisson: # of independent events that occur in a fixed amount of time or space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Normal: dist’n of a process that is the sum of a number of component processes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Exponential: time between independent events, or a process time that is memoryless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Weibull: time to failure for components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Discrete or continuous uniform: models complete uncertainty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Triangular: a process for which only the minimum, most likely, and maximum values are known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Empirical: resamples from the actual data collected</a:t>
            </a:r>
          </a:p>
        </p:txBody>
      </p:sp>
      <p:sp>
        <p:nvSpPr>
          <p:cNvPr id="19461" name="AutoShape 4">
            <a:extLst>
              <a:ext uri="{FF2B5EF4-FFF2-40B4-BE49-F238E27FC236}">
                <a16:creationId xmlns:a16="http://schemas.microsoft.com/office/drawing/2014/main" id="{4120172E-F353-06ED-8219-99004CD2A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6A50F1C2-0C5C-D558-D48B-788ACD792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EDCCDC-EE76-4E35-B8D5-6B3621336EE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2C231B33-0265-1023-9BE9-378273207B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Selecting the Family of Distributions	</a:t>
            </a:r>
            <a:br>
              <a:rPr lang="en-US" altLang="en-US" sz="2800">
                <a:ea typeface="ＭＳ Ｐゴシック" panose="020B0600070205080204" pitchFamily="34" charset="-128"/>
              </a:rPr>
            </a:br>
            <a:r>
              <a:rPr lang="en-US" altLang="en-US" sz="2800">
                <a:ea typeface="ＭＳ Ｐゴシック" panose="020B0600070205080204" pitchFamily="34" charset="-128"/>
              </a:rPr>
              <a:t>				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38907B0-0D02-BC17-088D-1269A00CD32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Remember the physical characteristics of the process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Is the process naturally discrete or continuous valued?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Is it bounded?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There is no “true” distribution for any stochastic input process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Goal: obtain a good approximation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See exercises 6 – 12 for work with shapes</a:t>
            </a:r>
          </a:p>
        </p:txBody>
      </p:sp>
      <p:sp>
        <p:nvSpPr>
          <p:cNvPr id="21509" name="AutoShape 4">
            <a:extLst>
              <a:ext uri="{FF2B5EF4-FFF2-40B4-BE49-F238E27FC236}">
                <a16:creationId xmlns:a16="http://schemas.microsoft.com/office/drawing/2014/main" id="{58F94B73-BEFE-77FC-FC5B-721973AA7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6">
            <a:extLst>
              <a:ext uri="{FF2B5EF4-FFF2-40B4-BE49-F238E27FC236}">
                <a16:creationId xmlns:a16="http://schemas.microsoft.com/office/drawing/2014/main" id="{19FBAAFC-0C3F-A236-2465-510E5C3DFC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EE6FCF-5DC1-4553-8D29-94878E77EAA6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1E34685-5729-3286-2236-497750A926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Quantile-Quantile Plots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F62DAD7-8A9A-9713-6A58-B7637AC393A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8458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 i="1">
                <a:ea typeface="ＭＳ Ｐゴシック" panose="020B0600070205080204" pitchFamily="34" charset="-128"/>
              </a:rPr>
              <a:t>Q-Q</a:t>
            </a:r>
            <a:r>
              <a:rPr lang="en-US" altLang="en-US" sz="2200">
                <a:ea typeface="ＭＳ Ｐゴシック" panose="020B0600070205080204" pitchFamily="34" charset="-128"/>
              </a:rPr>
              <a:t> plot is a useful tool for evaluating the fit of the chosen distribution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If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>
                <a:ea typeface="ＭＳ Ｐゴシック" panose="020B0600070205080204" pitchFamily="34" charset="-128"/>
              </a:rPr>
              <a:t> is a random variable with cdf </a:t>
            </a:r>
            <a:r>
              <a:rPr lang="en-US" altLang="en-US" sz="2200" i="1">
                <a:ea typeface="ＭＳ Ｐゴシック" panose="020B0600070205080204" pitchFamily="34" charset="-128"/>
              </a:rPr>
              <a:t>F</a:t>
            </a:r>
            <a:r>
              <a:rPr lang="en-US" altLang="en-US" sz="2200">
                <a:ea typeface="ＭＳ Ｐゴシック" panose="020B0600070205080204" pitchFamily="34" charset="-128"/>
              </a:rPr>
              <a:t>, then the </a:t>
            </a:r>
            <a:r>
              <a:rPr lang="en-US" altLang="en-US" sz="2200" i="1">
                <a:ea typeface="ＭＳ Ｐゴシック" panose="020B0600070205080204" pitchFamily="34" charset="-128"/>
              </a:rPr>
              <a:t>q</a:t>
            </a:r>
            <a:r>
              <a:rPr lang="en-US" altLang="en-US" sz="2200">
                <a:ea typeface="ＭＳ Ｐゴシック" panose="020B0600070205080204" pitchFamily="34" charset="-128"/>
              </a:rPr>
              <a:t>-quantile of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>
                <a:ea typeface="ＭＳ Ｐゴシック" panose="020B0600070205080204" pitchFamily="34" charset="-128"/>
              </a:rPr>
              <a:t> is the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g</a:t>
            </a:r>
            <a:r>
              <a:rPr lang="en-US" altLang="en-US" sz="2200">
                <a:ea typeface="ＭＳ Ｐゴシック" panose="020B0600070205080204" pitchFamily="34" charset="-128"/>
              </a:rPr>
              <a:t> such that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i="1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When </a:t>
            </a:r>
            <a:r>
              <a:rPr lang="en-US" altLang="en-US" sz="2000" i="1">
                <a:ea typeface="ＭＳ Ｐゴシック" panose="020B0600070205080204" pitchFamily="34" charset="-128"/>
              </a:rPr>
              <a:t>F</a:t>
            </a:r>
            <a:r>
              <a:rPr lang="en-US" altLang="en-US" sz="2000">
                <a:ea typeface="ＭＳ Ｐゴシック" panose="020B0600070205080204" pitchFamily="34" charset="-128"/>
              </a:rPr>
              <a:t> has an inverse,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g</a:t>
            </a:r>
            <a:r>
              <a:rPr lang="en-US" altLang="en-US" sz="2000" i="1">
                <a:ea typeface="ＭＳ Ｐゴシック" panose="020B0600070205080204" pitchFamily="34" charset="-128"/>
              </a:rPr>
              <a:t> = F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-1</a:t>
            </a:r>
            <a:r>
              <a:rPr lang="en-US" altLang="en-US" sz="2000" i="1">
                <a:ea typeface="ＭＳ Ｐゴシック" panose="020B0600070205080204" pitchFamily="34" charset="-128"/>
              </a:rPr>
              <a:t>(q)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Let {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15000">
                <a:ea typeface="ＭＳ Ｐゴシック" panose="020B0600070205080204" pitchFamily="34" charset="-128"/>
              </a:rPr>
              <a:t>i</a:t>
            </a:r>
            <a:r>
              <a:rPr lang="en-US" altLang="en-US" sz="2200" i="1">
                <a:ea typeface="ＭＳ Ｐゴシック" panose="020B0600070205080204" pitchFamily="34" charset="-128"/>
              </a:rPr>
              <a:t>, i = 1,2, …., n</a:t>
            </a:r>
            <a:r>
              <a:rPr lang="en-US" altLang="en-US" sz="2200">
                <a:ea typeface="ＭＳ Ｐゴシック" panose="020B0600070205080204" pitchFamily="34" charset="-128"/>
              </a:rPr>
              <a:t>} be a sample of data from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>
                <a:ea typeface="ＭＳ Ｐゴシック" panose="020B0600070205080204" pitchFamily="34" charset="-128"/>
              </a:rPr>
              <a:t> and {</a:t>
            </a:r>
            <a:r>
              <a:rPr lang="en-US" altLang="en-US" sz="2200" i="1">
                <a:ea typeface="ＭＳ Ｐゴシック" panose="020B0600070205080204" pitchFamily="34" charset="-128"/>
              </a:rPr>
              <a:t>y</a:t>
            </a:r>
            <a:r>
              <a:rPr lang="en-US" altLang="en-US" sz="2200" i="1" baseline="-15000">
                <a:ea typeface="ＭＳ Ｐゴシック" panose="020B0600070205080204" pitchFamily="34" charset="-128"/>
              </a:rPr>
              <a:t>j</a:t>
            </a:r>
            <a:r>
              <a:rPr lang="en-US" altLang="en-US" sz="2200" i="1">
                <a:ea typeface="ＭＳ Ｐゴシック" panose="020B0600070205080204" pitchFamily="34" charset="-128"/>
              </a:rPr>
              <a:t>, j = 1,2, …, n</a:t>
            </a:r>
            <a:r>
              <a:rPr lang="en-US" altLang="en-US" sz="2200">
                <a:ea typeface="ＭＳ Ｐゴシック" panose="020B0600070205080204" pitchFamily="34" charset="-128"/>
              </a:rPr>
              <a:t>} be the observations  in ascending order: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			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			where </a:t>
            </a:r>
            <a:r>
              <a:rPr lang="en-US" altLang="en-US" sz="2000" i="1">
                <a:ea typeface="ＭＳ Ｐゴシック" panose="020B0600070205080204" pitchFamily="34" charset="-128"/>
              </a:rPr>
              <a:t>j</a:t>
            </a:r>
            <a:r>
              <a:rPr lang="en-US" altLang="en-US" sz="2000">
                <a:ea typeface="ＭＳ Ｐゴシック" panose="020B0600070205080204" pitchFamily="34" charset="-128"/>
              </a:rPr>
              <a:t> is the ranking or order number</a:t>
            </a:r>
          </a:p>
        </p:txBody>
      </p:sp>
      <p:graphicFrame>
        <p:nvGraphicFramePr>
          <p:cNvPr id="23557" name="Object 5">
            <a:extLst>
              <a:ext uri="{FF2B5EF4-FFF2-40B4-BE49-F238E27FC236}">
                <a16:creationId xmlns:a16="http://schemas.microsoft.com/office/drawing/2014/main" id="{13640962-156F-4EEB-702A-1F098590CCE7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362200" y="2895600"/>
          <a:ext cx="4800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76500" imgH="203200" progId="Equation.DSMT4">
                  <p:embed/>
                </p:oleObj>
              </mc:Choice>
              <mc:Fallback>
                <p:oleObj name="Equation" r:id="rId3" imgW="24765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2895600"/>
                        <a:ext cx="4800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8" name="AutoShape 4">
            <a:extLst>
              <a:ext uri="{FF2B5EF4-FFF2-40B4-BE49-F238E27FC236}">
                <a16:creationId xmlns:a16="http://schemas.microsoft.com/office/drawing/2014/main" id="{64A5699E-C248-E5D0-CB27-F49DFD440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23559" name="Object 8">
            <a:extLst>
              <a:ext uri="{FF2B5EF4-FFF2-40B4-BE49-F238E27FC236}">
                <a16:creationId xmlns:a16="http://schemas.microsoft.com/office/drawing/2014/main" id="{FCE74188-48C4-EDD9-82A3-0D47DF3B94D3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438400" y="5105400"/>
          <a:ext cx="3421063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59000" imgH="431800" progId="Equation.DSMT4">
                  <p:embed/>
                </p:oleObj>
              </mc:Choice>
              <mc:Fallback>
                <p:oleObj name="Equation" r:id="rId5" imgW="21590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105400"/>
                        <a:ext cx="3421063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C7B2A9AE-38B3-7FF2-6E6A-832BE952A1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E8C8825-9A40-479C-8558-E209C2831CF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36FED961-E128-E90E-05B0-F430AA8EF2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Quantile-Quantile Plots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7ABF7D5-6964-E539-CCEC-2D75EC1EDB9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The plot of </a:t>
            </a:r>
            <a:r>
              <a:rPr lang="en-US" altLang="en-US" sz="2400" i="1">
                <a:ea typeface="ＭＳ Ｐゴシック" panose="020B0600070205080204" pitchFamily="34" charset="-128"/>
              </a:rPr>
              <a:t>y</a:t>
            </a:r>
            <a:r>
              <a:rPr lang="en-US" altLang="en-US" sz="2400" i="1" baseline="-15000">
                <a:ea typeface="ＭＳ Ｐゴシック" panose="020B0600070205080204" pitchFamily="34" charset="-128"/>
              </a:rPr>
              <a:t>j</a:t>
            </a:r>
            <a:r>
              <a:rPr lang="en-US" altLang="en-US" sz="2400" i="1">
                <a:ea typeface="ＭＳ Ｐゴシック" panose="020B0600070205080204" pitchFamily="34" charset="-128"/>
              </a:rPr>
              <a:t> </a:t>
            </a:r>
            <a:r>
              <a:rPr lang="en-US" altLang="en-US" sz="2400">
                <a:ea typeface="ＭＳ Ｐゴシック" panose="020B0600070205080204" pitchFamily="34" charset="-128"/>
              </a:rPr>
              <a:t>versus </a:t>
            </a:r>
            <a:r>
              <a:rPr lang="en-US" altLang="en-US" sz="2400" i="1">
                <a:ea typeface="ＭＳ Ｐゴシック" panose="020B0600070205080204" pitchFamily="34" charset="-128"/>
              </a:rPr>
              <a:t>F</a:t>
            </a:r>
            <a:r>
              <a:rPr lang="en-US" altLang="en-US" sz="2400" i="1" baseline="30000">
                <a:ea typeface="ＭＳ Ｐゴシック" panose="020B0600070205080204" pitchFamily="34" charset="-128"/>
              </a:rPr>
              <a:t>-1</a:t>
            </a:r>
            <a:r>
              <a:rPr lang="en-US" altLang="en-US" sz="2400" i="1">
                <a:ea typeface="ＭＳ Ｐゴシック" panose="020B0600070205080204" pitchFamily="34" charset="-128"/>
              </a:rPr>
              <a:t>( (j-0.5)/n)</a:t>
            </a:r>
            <a:r>
              <a:rPr lang="en-US" altLang="en-US" sz="2400">
                <a:ea typeface="ＭＳ Ｐゴシック" panose="020B0600070205080204" pitchFamily="34" charset="-128"/>
              </a:rPr>
              <a:t> is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Approximately </a:t>
            </a:r>
            <a:r>
              <a:rPr lang="en-US" altLang="en-US" sz="2000">
                <a:solidFill>
                  <a:schemeClr val="hlink"/>
                </a:solidFill>
                <a:ea typeface="ＭＳ Ｐゴシック" panose="020B0600070205080204" pitchFamily="34" charset="-128"/>
              </a:rPr>
              <a:t>a straight line</a:t>
            </a:r>
            <a:r>
              <a:rPr lang="en-US" altLang="en-US" sz="2000">
                <a:ea typeface="ＭＳ Ｐゴシック" panose="020B0600070205080204" pitchFamily="34" charset="-128"/>
              </a:rPr>
              <a:t> if </a:t>
            </a:r>
            <a:r>
              <a:rPr lang="en-US" altLang="en-US" sz="2000" i="1">
                <a:ea typeface="ＭＳ Ｐゴシック" panose="020B0600070205080204" pitchFamily="34" charset="-128"/>
              </a:rPr>
              <a:t>F</a:t>
            </a:r>
            <a:r>
              <a:rPr lang="en-US" altLang="en-US" sz="2000">
                <a:ea typeface="ＭＳ Ｐゴシック" panose="020B0600070205080204" pitchFamily="34" charset="-128"/>
              </a:rPr>
              <a:t> is a member of an appropriate family of distributions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line has </a:t>
            </a:r>
            <a:r>
              <a:rPr lang="en-US" altLang="en-US" sz="2000">
                <a:solidFill>
                  <a:schemeClr val="hlink"/>
                </a:solidFill>
                <a:ea typeface="ＭＳ Ｐゴシック" panose="020B0600070205080204" pitchFamily="34" charset="-128"/>
              </a:rPr>
              <a:t>slope 1</a:t>
            </a:r>
            <a:r>
              <a:rPr lang="en-US" altLang="en-US" sz="2000">
                <a:ea typeface="ＭＳ Ｐゴシック" panose="020B0600070205080204" pitchFamily="34" charset="-128"/>
              </a:rPr>
              <a:t> if </a:t>
            </a:r>
            <a:r>
              <a:rPr lang="en-US" altLang="en-US" sz="2000" i="1">
                <a:ea typeface="ＭＳ Ｐゴシック" panose="020B0600070205080204" pitchFamily="34" charset="-128"/>
              </a:rPr>
              <a:t>F</a:t>
            </a:r>
            <a:r>
              <a:rPr lang="en-US" altLang="en-US" sz="2000">
                <a:ea typeface="ＭＳ Ｐゴシック" panose="020B0600070205080204" pitchFamily="34" charset="-128"/>
              </a:rPr>
              <a:t> is a member of an appropriate family of distributions with appropriate parameter values</a:t>
            </a:r>
          </a:p>
        </p:txBody>
      </p:sp>
      <p:sp>
        <p:nvSpPr>
          <p:cNvPr id="25605" name="AutoShape 4">
            <a:extLst>
              <a:ext uri="{FF2B5EF4-FFF2-40B4-BE49-F238E27FC236}">
                <a16:creationId xmlns:a16="http://schemas.microsoft.com/office/drawing/2014/main" id="{AD6E8796-7BD8-721E-38EC-D59C0E987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B0D01232-1A1C-8D4F-1A7F-FA119DC9B6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43C5FD-10C1-45D0-B28D-C14C19DEE3A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75C5901-0023-25F8-95BD-A36C2F7C46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Quantile-Quantile Plots </a:t>
            </a:r>
            <a:r>
              <a:rPr lang="en-US" altLang="en-US" sz="2000">
                <a:solidFill>
                  <a:srgbClr val="C00000"/>
                </a:solidFill>
                <a:ea typeface="ＭＳ Ｐゴシック" panose="020B0600070205080204" pitchFamily="34" charset="-128"/>
              </a:rPr>
              <a:t>Ex 9.4</a:t>
            </a:r>
            <a:r>
              <a:rPr lang="en-US" altLang="en-US" sz="2800">
                <a:ea typeface="ＭＳ Ｐゴシック" panose="020B0600070205080204" pitchFamily="34" charset="-128"/>
              </a:rPr>
              <a:t>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39C3CFB8-412E-A271-176E-1404B6DCD68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Example: Check whether the door installation times follows a normal distribution.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observations are now ordered from smallest to largest: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y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2000">
                <a:ea typeface="ＭＳ Ｐゴシック" panose="020B0600070205080204" pitchFamily="34" charset="-128"/>
              </a:rPr>
              <a:t> are plotted versus </a:t>
            </a:r>
            <a:r>
              <a:rPr lang="en-US" altLang="en-US" sz="2000" i="1">
                <a:ea typeface="ＭＳ Ｐゴシック" panose="020B0600070205080204" pitchFamily="34" charset="-128"/>
              </a:rPr>
              <a:t>F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-1</a:t>
            </a:r>
            <a:r>
              <a:rPr lang="en-US" altLang="en-US" sz="2000" i="1">
                <a:ea typeface="ＭＳ Ｐゴシック" panose="020B0600070205080204" pitchFamily="34" charset="-128"/>
              </a:rPr>
              <a:t>( (j-0.5)/n) </a:t>
            </a:r>
            <a:r>
              <a:rPr lang="en-US" altLang="en-US" sz="2000">
                <a:ea typeface="ＭＳ Ｐゴシック" panose="020B0600070205080204" pitchFamily="34" charset="-128"/>
              </a:rPr>
              <a:t>where </a:t>
            </a:r>
            <a:r>
              <a:rPr lang="en-US" altLang="en-US" sz="2000" i="1">
                <a:ea typeface="ＭＳ Ｐゴシック" panose="020B0600070205080204" pitchFamily="34" charset="-128"/>
              </a:rPr>
              <a:t>F </a:t>
            </a:r>
            <a:r>
              <a:rPr lang="en-US" altLang="en-US" sz="2000">
                <a:ea typeface="ＭＳ Ｐゴシック" panose="020B0600070205080204" pitchFamily="34" charset="-128"/>
              </a:rPr>
              <a:t>has a normal distribution with the sample mean </a:t>
            </a:r>
            <a:r>
              <a:rPr lang="en-US" altLang="en-US" sz="2000" i="1">
                <a:ea typeface="ＭＳ Ｐゴシック" panose="020B0600070205080204" pitchFamily="34" charset="-128"/>
              </a:rPr>
              <a:t>(99.99 sec</a:t>
            </a:r>
            <a:r>
              <a:rPr lang="en-US" altLang="en-US" sz="2000">
                <a:ea typeface="ＭＳ Ｐゴシック" panose="020B0600070205080204" pitchFamily="34" charset="-128"/>
              </a:rPr>
              <a:t>) and sample variance (</a:t>
            </a:r>
            <a:r>
              <a:rPr lang="en-US" altLang="en-US" sz="2000" i="1">
                <a:ea typeface="ＭＳ Ｐゴシック" panose="020B0600070205080204" pitchFamily="34" charset="-128"/>
              </a:rPr>
              <a:t>0.2832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 sec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27653" name="AutoShape 4">
            <a:extLst>
              <a:ext uri="{FF2B5EF4-FFF2-40B4-BE49-F238E27FC236}">
                <a16:creationId xmlns:a16="http://schemas.microsoft.com/office/drawing/2014/main" id="{2D90AA80-0F6B-2BC0-3146-002DB0171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27654" name="Object 8">
            <a:extLst>
              <a:ext uri="{FF2B5EF4-FFF2-40B4-BE49-F238E27FC236}">
                <a16:creationId xmlns:a16="http://schemas.microsoft.com/office/drawing/2014/main" id="{F059BFA8-61D6-2414-AD79-8B6236A560B9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1600200" y="2971800"/>
          <a:ext cx="6096000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19327" imgH="999569" progId="Excel.Sheet.8">
                  <p:embed/>
                </p:oleObj>
              </mc:Choice>
              <mc:Fallback>
                <p:oleObj name="Worksheet" r:id="rId3" imgW="4119327" imgH="999569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971800"/>
                        <a:ext cx="6096000" cy="148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A22EA438-1E88-F259-029B-2D1E5CB7A8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0D6171-BEED-4FCB-B268-3F247ECFAE47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29699" name="Picture 12" descr="09-4">
            <a:extLst>
              <a:ext uri="{FF2B5EF4-FFF2-40B4-BE49-F238E27FC236}">
                <a16:creationId xmlns:a16="http://schemas.microsoft.com/office/drawing/2014/main" id="{7FFDBED0-A7CE-2914-C634-FDB461477CCD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38600" y="1828800"/>
            <a:ext cx="3403600" cy="4572000"/>
          </a:xfrm>
          <a:noFill/>
        </p:spPr>
      </p:pic>
      <p:sp>
        <p:nvSpPr>
          <p:cNvPr id="29700" name="Rectangle 2">
            <a:extLst>
              <a:ext uri="{FF2B5EF4-FFF2-40B4-BE49-F238E27FC236}">
                <a16:creationId xmlns:a16="http://schemas.microsoft.com/office/drawing/2014/main" id="{43227658-B7D3-4FA5-43C1-97D7F21A8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Quantile-Quantile Plots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4F035E1B-C441-79D7-ED6F-E7BF0FD7A2F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Example (continued): Check whether the door installation times follow a normal distribution.</a:t>
            </a:r>
          </a:p>
        </p:txBody>
      </p:sp>
      <p:sp>
        <p:nvSpPr>
          <p:cNvPr id="29702" name="AutoShape 4">
            <a:extLst>
              <a:ext uri="{FF2B5EF4-FFF2-40B4-BE49-F238E27FC236}">
                <a16:creationId xmlns:a16="http://schemas.microsoft.com/office/drawing/2014/main" id="{8ECA9226-2C48-87EF-5D03-52F06B37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sp>
        <p:nvSpPr>
          <p:cNvPr id="29703" name="AutoShape 7">
            <a:extLst>
              <a:ext uri="{FF2B5EF4-FFF2-40B4-BE49-F238E27FC236}">
                <a16:creationId xmlns:a16="http://schemas.microsoft.com/office/drawing/2014/main" id="{EE88F645-0A36-B4F4-EB4A-5042D5EA2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2514600"/>
            <a:ext cx="1905000" cy="1066800"/>
          </a:xfrm>
          <a:prstGeom prst="wedgeRoundRectCallout">
            <a:avLst>
              <a:gd name="adj1" fmla="val 113417"/>
              <a:gd name="adj2" fmla="val 25000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Straight line, supporting the hypothesis of a normal distribution</a:t>
            </a:r>
          </a:p>
        </p:txBody>
      </p:sp>
      <p:sp>
        <p:nvSpPr>
          <p:cNvPr id="29704" name="AutoShape 11">
            <a:extLst>
              <a:ext uri="{FF2B5EF4-FFF2-40B4-BE49-F238E27FC236}">
                <a16:creationId xmlns:a16="http://schemas.microsoft.com/office/drawing/2014/main" id="{B777C858-2D29-BAD4-31A1-19A6D0EFB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648200"/>
            <a:ext cx="1905000" cy="1066800"/>
          </a:xfrm>
          <a:prstGeom prst="wedgeRoundRectCallout">
            <a:avLst>
              <a:gd name="adj1" fmla="val 100833"/>
              <a:gd name="adj2" fmla="val -14287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Superimposed density function of the normal distribution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3527B514-0D85-D065-F0D9-8FCAFBE0AB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D30F20-7915-4D28-B835-0E9B51D4D50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075464CE-BA4D-B512-245F-8376F47E17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Quantile-Quantile Plots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272469E-B208-B40E-352F-A69744D0E0C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Consider the following while evaluating the linearity of a </a:t>
            </a:r>
            <a:r>
              <a:rPr lang="en-US" altLang="en-US" sz="2200" i="1">
                <a:ea typeface="ＭＳ Ｐゴシック" panose="020B0600070205080204" pitchFamily="34" charset="-128"/>
              </a:rPr>
              <a:t>q-q</a:t>
            </a:r>
            <a:r>
              <a:rPr lang="en-US" altLang="en-US" sz="2200">
                <a:ea typeface="ＭＳ Ｐゴシック" panose="020B0600070205080204" pitchFamily="34" charset="-128"/>
              </a:rPr>
              <a:t> plot: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observed values never fall exactly on a straight line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ordered values are ranked and hence not independent, unlikely for the points to be scattered about the line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Variance of the extremes is higher than the middle.  Linearity of the points in the middle of the plot is more important.</a:t>
            </a:r>
          </a:p>
          <a:p>
            <a:pPr eaLnBrk="1" hangingPunct="1"/>
            <a:r>
              <a:rPr lang="en-US" altLang="en-US" sz="2200" i="1">
                <a:ea typeface="ＭＳ Ｐゴシック" panose="020B0600070205080204" pitchFamily="34" charset="-128"/>
              </a:rPr>
              <a:t>Q-Q</a:t>
            </a:r>
            <a:r>
              <a:rPr lang="en-US" altLang="en-US" sz="2200">
                <a:ea typeface="ＭＳ Ｐゴシック" panose="020B0600070205080204" pitchFamily="34" charset="-128"/>
              </a:rPr>
              <a:t> plot can also be used to check homogeneity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Check whether a single distribution can represent both sample sets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Plotting the order values of the two data samples against each other</a:t>
            </a:r>
          </a:p>
        </p:txBody>
      </p:sp>
      <p:sp>
        <p:nvSpPr>
          <p:cNvPr id="31749" name="AutoShape 4">
            <a:extLst>
              <a:ext uri="{FF2B5EF4-FFF2-40B4-BE49-F238E27FC236}">
                <a16:creationId xmlns:a16="http://schemas.microsoft.com/office/drawing/2014/main" id="{8D48F99C-A651-8E1F-773B-77432D6EC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>
            <a:extLst>
              <a:ext uri="{FF2B5EF4-FFF2-40B4-BE49-F238E27FC236}">
                <a16:creationId xmlns:a16="http://schemas.microsoft.com/office/drawing/2014/main" id="{D46CDA7B-BC95-C9AE-C6D1-43CE936EA2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68E7A5-2A37-42AC-9CA0-797C651E938E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DC435204-6429-BF9B-F2CA-775B0EBEFF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C00000"/>
                </a:solidFill>
                <a:ea typeface="ＭＳ Ｐゴシック" panose="020B0600070205080204" pitchFamily="34" charset="-128"/>
              </a:rPr>
              <a:t>9.3</a:t>
            </a:r>
            <a:r>
              <a:rPr lang="en-US" altLang="en-US" sz="2800">
                <a:ea typeface="ＭＳ Ｐゴシック" panose="020B0600070205080204" pitchFamily="34" charset="-128"/>
              </a:rPr>
              <a:t> Parameter Estimation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3CA4F5DF-89C5-183A-669A-54FE2B529FB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800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This is the next step after selecting a family of distributions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observations in a sample of size </a:t>
            </a:r>
            <a:r>
              <a:rPr lang="en-US" altLang="en-US" sz="2200" i="1">
                <a:ea typeface="ＭＳ Ｐゴシック" panose="020B0600070205080204" pitchFamily="34" charset="-128"/>
              </a:rPr>
              <a:t>n</a:t>
            </a:r>
            <a:r>
              <a:rPr lang="en-US" altLang="en-US" sz="2200">
                <a:ea typeface="ＭＳ Ｐゴシック" panose="020B0600070205080204" pitchFamily="34" charset="-128"/>
              </a:rPr>
              <a:t> are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, …,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n</a:t>
            </a:r>
            <a:r>
              <a:rPr lang="en-US" altLang="en-US" sz="2200">
                <a:ea typeface="ＭＳ Ｐゴシック" panose="020B0600070205080204" pitchFamily="34" charset="-128"/>
              </a:rPr>
              <a:t> (discrete or continuous), the sample mean and variance are: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the data are discrete and have been grouped in a frequency distribution: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			where </a:t>
            </a:r>
            <a:r>
              <a:rPr lang="en-US" altLang="en-US" sz="1800" i="1">
                <a:ea typeface="ＭＳ Ｐゴシック" panose="020B0600070205080204" pitchFamily="34" charset="-128"/>
              </a:rPr>
              <a:t>f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is the observed frequency of value </a:t>
            </a:r>
            <a:r>
              <a:rPr lang="en-US" altLang="en-US" sz="1800" i="1">
                <a:ea typeface="ＭＳ Ｐゴシック" panose="020B0600070205080204" pitchFamily="34" charset="-128"/>
              </a:rPr>
              <a:t>X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</a:p>
        </p:txBody>
      </p:sp>
      <p:graphicFrame>
        <p:nvGraphicFramePr>
          <p:cNvPr id="33797" name="Object 5">
            <a:extLst>
              <a:ext uri="{FF2B5EF4-FFF2-40B4-BE49-F238E27FC236}">
                <a16:creationId xmlns:a16="http://schemas.microsoft.com/office/drawing/2014/main" id="{1F5EB8EF-52A4-93A2-1223-B4E5131679E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133600" y="2667000"/>
          <a:ext cx="45720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06700" imgH="469900" progId="Equation.3">
                  <p:embed/>
                </p:oleObj>
              </mc:Choice>
              <mc:Fallback>
                <p:oleObj name="Equation" r:id="rId3" imgW="2806700" imgH="469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2667000"/>
                        <a:ext cx="45720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AutoShape 4">
            <a:extLst>
              <a:ext uri="{FF2B5EF4-FFF2-40B4-BE49-F238E27FC236}">
                <a16:creationId xmlns:a16="http://schemas.microsoft.com/office/drawing/2014/main" id="{B2416210-B250-7C4A-3F05-BF9D9C907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33799" name="Object 15">
            <a:extLst>
              <a:ext uri="{FF2B5EF4-FFF2-40B4-BE49-F238E27FC236}">
                <a16:creationId xmlns:a16="http://schemas.microsoft.com/office/drawing/2014/main" id="{1C480D90-FD7E-9A04-1A7A-A4481804D77B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076450" y="4159250"/>
          <a:ext cx="478155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24200" imgH="482600" progId="Equation.3">
                  <p:embed/>
                </p:oleObj>
              </mc:Choice>
              <mc:Fallback>
                <p:oleObj name="Equation" r:id="rId5" imgW="3124200" imgH="482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6450" y="4159250"/>
                        <a:ext cx="478155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0150F2C2-30FF-6747-B38E-6996C864B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BDEB453-8E58-467B-9D6C-D4110EE4EFE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5843" name="Picture 11" descr="09-2">
            <a:extLst>
              <a:ext uri="{FF2B5EF4-FFF2-40B4-BE49-F238E27FC236}">
                <a16:creationId xmlns:a16="http://schemas.microsoft.com/office/drawing/2014/main" id="{3EF2F7CF-1CD0-D186-5D09-F1660B842106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3190875"/>
            <a:ext cx="3124200" cy="2371725"/>
          </a:xfrm>
          <a:noFill/>
        </p:spPr>
      </p:pic>
      <p:sp>
        <p:nvSpPr>
          <p:cNvPr id="35844" name="Rectangle 2">
            <a:extLst>
              <a:ext uri="{FF2B5EF4-FFF2-40B4-BE49-F238E27FC236}">
                <a16:creationId xmlns:a16="http://schemas.microsoft.com/office/drawing/2014/main" id="{79284981-D0FB-CEFA-8225-238F99825C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C00000"/>
                </a:solidFill>
                <a:ea typeface="ＭＳ Ｐゴシック" panose="020B0600070205080204" pitchFamily="34" charset="-128"/>
              </a:rPr>
              <a:t>Grouped data – example 9.8 on page 350 </a:t>
            </a:r>
            <a:br>
              <a:rPr lang="en-US" altLang="en-US" sz="2800">
                <a:solidFill>
                  <a:srgbClr val="C00000"/>
                </a:solidFill>
                <a:ea typeface="ＭＳ Ｐゴシック" panose="020B0600070205080204" pitchFamily="34" charset="-128"/>
              </a:rPr>
            </a:br>
            <a:r>
              <a:rPr lang="en-US" altLang="en-US" sz="2800">
                <a:ea typeface="ＭＳ Ｐゴシック" panose="020B0600070205080204" pitchFamily="34" charset="-128"/>
              </a:rPr>
              <a:t>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[Parameter estimation - Identifying the distribution]</a:t>
            </a: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ED7EB6EB-420E-573B-B5CC-A7D31203B8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5105400"/>
          </a:xfrm>
        </p:spPr>
        <p:txBody>
          <a:bodyPr/>
          <a:lstStyle/>
          <a:p>
            <a:pPr eaLnBrk="1" hangingPunct="1"/>
            <a:r>
              <a:rPr lang="en-US" altLang="en-US" sz="2000">
                <a:ea typeface="ＭＳ Ｐゴシック" panose="020B0600070205080204" pitchFamily="34" charset="-128"/>
              </a:rPr>
              <a:t>Vehicle Arrival</a:t>
            </a:r>
            <a:r>
              <a:rPr lang="en-US" altLang="en-US" sz="2200">
                <a:ea typeface="ＭＳ Ｐゴシック" panose="020B0600070205080204" pitchFamily="34" charset="-128"/>
              </a:rPr>
              <a:t> Example (continued): </a:t>
            </a:r>
            <a:r>
              <a:rPr lang="en-US" altLang="en-US" sz="2000">
                <a:ea typeface="ＭＳ Ｐゴシック" panose="020B0600070205080204" pitchFamily="34" charset="-128"/>
              </a:rPr>
              <a:t>Table in the histogram example on slide 6 (Table 9.1 in book) can be analyzed to obtain: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sample mean and variance are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histogram suggests </a:t>
            </a:r>
            <a:r>
              <a:rPr lang="en-US" altLang="en-US" sz="2000" i="1">
                <a:ea typeface="ＭＳ Ｐゴシック" panose="020B0600070205080204" pitchFamily="34" charset="-128"/>
              </a:rPr>
              <a:t>X </a:t>
            </a:r>
            <a:r>
              <a:rPr lang="en-US" altLang="en-US" sz="2000">
                <a:ea typeface="ＭＳ Ｐゴシック" panose="020B0600070205080204" pitchFamily="34" charset="-128"/>
              </a:rPr>
              <a:t>to have a Possion distribution</a:t>
            </a:r>
          </a:p>
          <a:p>
            <a:pPr lvl="2" eaLnBrk="1" hangingPunct="1"/>
            <a:r>
              <a:rPr lang="en-US" altLang="en-US" sz="1800">
                <a:ea typeface="ＭＳ Ｐゴシック" panose="020B0600070205080204" pitchFamily="34" charset="-128"/>
              </a:rPr>
              <a:t>However, note that sample mean is not equal to sample variance.</a:t>
            </a:r>
          </a:p>
          <a:p>
            <a:pPr lvl="2" eaLnBrk="1" hangingPunct="1"/>
            <a:r>
              <a:rPr lang="en-US" altLang="en-US" sz="1800">
                <a:ea typeface="ＭＳ Ｐゴシック" panose="020B0600070205080204" pitchFamily="34" charset="-128"/>
              </a:rPr>
              <a:t>Reason: each estimator is a random variable, is not perfect.</a:t>
            </a:r>
          </a:p>
        </p:txBody>
      </p:sp>
      <p:graphicFrame>
        <p:nvGraphicFramePr>
          <p:cNvPr id="35846" name="Object 4">
            <a:extLst>
              <a:ext uri="{FF2B5EF4-FFF2-40B4-BE49-F238E27FC236}">
                <a16:creationId xmlns:a16="http://schemas.microsoft.com/office/drawing/2014/main" id="{1C5991F9-C22B-DA9A-3DE3-28FB3D7A9BFE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514600" y="2133600"/>
          <a:ext cx="38100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57500" imgH="533400" progId="Equation.3">
                  <p:embed/>
                </p:oleObj>
              </mc:Choice>
              <mc:Fallback>
                <p:oleObj name="Equation" r:id="rId4" imgW="2857500" imgH="533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133600"/>
                        <a:ext cx="3810000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6">
            <a:extLst>
              <a:ext uri="{FF2B5EF4-FFF2-40B4-BE49-F238E27FC236}">
                <a16:creationId xmlns:a16="http://schemas.microsoft.com/office/drawing/2014/main" id="{3105B0C5-12CB-9B6E-8318-FA433D26EF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98613" y="3605213"/>
          <a:ext cx="2287587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74800" imgH="1016000" progId="Equation.3">
                  <p:embed/>
                </p:oleObj>
              </mc:Choice>
              <mc:Fallback>
                <p:oleObj name="Equation" r:id="rId6" imgW="1574800" imgH="1016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3605213"/>
                        <a:ext cx="2287587" cy="147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6">
            <a:extLst>
              <a:ext uri="{FF2B5EF4-FFF2-40B4-BE49-F238E27FC236}">
                <a16:creationId xmlns:a16="http://schemas.microsoft.com/office/drawing/2014/main" id="{7DCB23F9-196D-3371-8418-F61BE53670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DB6004-C94C-4E2D-B258-0D1F333B79C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E8A519C-DA0C-15A9-94FF-43C3720159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Parameter Estimation		</a:t>
            </a:r>
            <a:r>
              <a:rPr lang="en-US" altLang="en-US" sz="22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976B01F-92B9-AD68-C87D-D540CB53769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6482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When raw data are unavailable (data are grouped into class intervals), the approximate sample mean and variance are: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1800">
              <a:ea typeface="ＭＳ Ｐゴシック" panose="020B0600070205080204" pitchFamily="34" charset="-128"/>
            </a:endParaRP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		 where </a:t>
            </a:r>
            <a:r>
              <a:rPr lang="en-US" altLang="en-US" sz="1800" i="1">
                <a:ea typeface="ＭＳ Ｐゴシック" panose="020B0600070205080204" pitchFamily="34" charset="-128"/>
              </a:rPr>
              <a:t>f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 i="1">
                <a:ea typeface="ＭＳ Ｐゴシック" panose="020B0600070205080204" pitchFamily="34" charset="-128"/>
              </a:rPr>
              <a:t> </a:t>
            </a:r>
            <a:r>
              <a:rPr lang="en-US" altLang="en-US" sz="1800">
                <a:ea typeface="ＭＳ Ｐゴシック" panose="020B0600070205080204" pitchFamily="34" charset="-128"/>
              </a:rPr>
              <a:t>is the observed frequency of in the </a:t>
            </a:r>
            <a:r>
              <a:rPr lang="en-US" altLang="en-US" sz="1800" i="1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th class interval</a:t>
            </a:r>
          </a:p>
          <a:p>
            <a:pPr algn="r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            </a:t>
            </a:r>
            <a:r>
              <a:rPr lang="en-US" altLang="en-US" sz="1800" i="1">
                <a:ea typeface="ＭＳ Ｐゴシック" panose="020B0600070205080204" pitchFamily="34" charset="-128"/>
              </a:rPr>
              <a:t>m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 is the midpoint of the </a:t>
            </a:r>
            <a:r>
              <a:rPr lang="en-US" altLang="en-US" sz="1800" i="1">
                <a:ea typeface="ＭＳ Ｐゴシック" panose="020B0600070205080204" pitchFamily="34" charset="-128"/>
              </a:rPr>
              <a:t>j</a:t>
            </a:r>
            <a:r>
              <a:rPr lang="en-US" altLang="en-US" sz="1800">
                <a:ea typeface="ＭＳ Ｐゴシック" panose="020B0600070205080204" pitchFamily="34" charset="-128"/>
              </a:rPr>
              <a:t>th interval, and </a:t>
            </a:r>
            <a:r>
              <a:rPr lang="en-US" altLang="en-US" sz="1800" i="1">
                <a:ea typeface="ＭＳ Ｐゴシック" panose="020B0600070205080204" pitchFamily="34" charset="-128"/>
              </a:rPr>
              <a:t>c</a:t>
            </a:r>
            <a:r>
              <a:rPr lang="en-US" altLang="en-US" sz="1800">
                <a:ea typeface="ＭＳ Ｐゴシック" panose="020B0600070205080204" pitchFamily="34" charset="-128"/>
              </a:rPr>
              <a:t> is the number of class intervals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A parameter is an unknown constant, but an estimator is a statistic.</a:t>
            </a:r>
          </a:p>
        </p:txBody>
      </p:sp>
      <p:sp>
        <p:nvSpPr>
          <p:cNvPr id="37893" name="AutoShape 5">
            <a:extLst>
              <a:ext uri="{FF2B5EF4-FFF2-40B4-BE49-F238E27FC236}">
                <a16:creationId xmlns:a16="http://schemas.microsoft.com/office/drawing/2014/main" id="{E69DA408-01ED-2287-381E-07828BCD2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37894" name="Object 2">
            <a:extLst>
              <a:ext uri="{FF2B5EF4-FFF2-40B4-BE49-F238E27FC236}">
                <a16:creationId xmlns:a16="http://schemas.microsoft.com/office/drawing/2014/main" id="{623F4910-F06C-647C-2E3A-9F39703D12DC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209800" y="2362200"/>
          <a:ext cx="48768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11500" imgH="482600" progId="Equation.3">
                  <p:embed/>
                </p:oleObj>
              </mc:Choice>
              <mc:Fallback>
                <p:oleObj name="Equation" r:id="rId3" imgW="3111500" imgH="482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362200"/>
                        <a:ext cx="48768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6">
            <a:extLst>
              <a:ext uri="{FF2B5EF4-FFF2-40B4-BE49-F238E27FC236}">
                <a16:creationId xmlns:a16="http://schemas.microsoft.com/office/drawing/2014/main" id="{2A88949E-1770-A01E-9CE6-9F020A92A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9.3.2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sz="2800">
                <a:ea typeface="ＭＳ Ｐゴシック" panose="020B0600070205080204" pitchFamily="34" charset="-128"/>
              </a:rPr>
              <a:t>on page 352</a:t>
            </a:r>
          </a:p>
        </p:txBody>
      </p:sp>
      <p:sp>
        <p:nvSpPr>
          <p:cNvPr id="39939" name="Content Placeholder 7">
            <a:extLst>
              <a:ext uri="{FF2B5EF4-FFF2-40B4-BE49-F238E27FC236}">
                <a16:creationId xmlns:a16="http://schemas.microsoft.com/office/drawing/2014/main" id="{9D065A9B-4C0B-1271-2D89-FBF2563713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Numerical estimates of the distribution’s parameters are needed to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reduce the family  of distributions to a specific distribution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test the resulting hypothesis</a:t>
            </a:r>
          </a:p>
          <a:p>
            <a:pPr eaLnBrk="1" hangingPunct="1"/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Suggested estimators (Ch. 5) – see table 9.3</a:t>
            </a:r>
          </a:p>
          <a:p>
            <a:pPr eaLnBrk="1" hangingPunct="1"/>
            <a:endParaRPr lang="en-US" altLang="en-US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>
                <a:ea typeface="ＭＳ Ｐゴシック" panose="020B0600070205080204" pitchFamily="34" charset="-128"/>
              </a:rPr>
              <a:t>Examples 9.10 through 9.16 </a:t>
            </a:r>
          </a:p>
          <a:p>
            <a:pPr lvl="1" eaLnBrk="1" hangingPunct="1"/>
            <a:r>
              <a:rPr lang="en-US" altLang="en-US" sz="2000">
                <a:latin typeface="Symbol" panose="05050102010706020507" pitchFamily="18" charset="2"/>
                <a:ea typeface="ＭＳ Ｐゴシック" panose="020B0600070205080204" pitchFamily="34" charset="-128"/>
              </a:rPr>
              <a:t>a</a:t>
            </a:r>
            <a:r>
              <a:rPr lang="en-US" altLang="en-US" sz="2000">
                <a:ea typeface="ＭＳ Ｐゴシック" panose="020B0600070205080204" pitchFamily="34" charset="-128"/>
              </a:rPr>
              <a:t> Parameter is an unknown constant, but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    Eestimator is a statistic (or random variable), because it depends on the sample values</a:t>
            </a:r>
          </a:p>
        </p:txBody>
      </p:sp>
      <p:sp>
        <p:nvSpPr>
          <p:cNvPr id="39940" name="Slide Number Placeholder 5">
            <a:extLst>
              <a:ext uri="{FF2B5EF4-FFF2-40B4-BE49-F238E27FC236}">
                <a16:creationId xmlns:a16="http://schemas.microsoft.com/office/drawing/2014/main" id="{00E120EC-C667-EEDB-00E3-115971DF07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9E524E-2529-4DD0-9620-671D114ECAD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graphicFrame>
        <p:nvGraphicFramePr>
          <p:cNvPr id="39941" name="Object 2">
            <a:extLst>
              <a:ext uri="{FF2B5EF4-FFF2-40B4-BE49-F238E27FC236}">
                <a16:creationId xmlns:a16="http://schemas.microsoft.com/office/drawing/2014/main" id="{4F7B4EF8-78DA-17AD-A6A5-D9BAB8104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5638800"/>
          <a:ext cx="304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334" imgH="190417" progId="Equation.3">
                  <p:embed/>
                </p:oleObj>
              </mc:Choice>
              <mc:Fallback>
                <p:oleObj name="Equation" r:id="rId2" imgW="152334" imgH="190417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638800"/>
                        <a:ext cx="304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6D770F70-5FCB-4414-AC5C-1BEAA03EF0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7FF5AE-5006-4705-9491-BC20592014E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782C195-0145-5B8A-E106-BB9C011CDF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rgbClr val="FF0000"/>
                </a:solidFill>
                <a:ea typeface="ＭＳ Ｐゴシック" panose="020B0600070205080204" pitchFamily="34" charset="-128"/>
              </a:rPr>
              <a:t>9.4</a:t>
            </a:r>
            <a:r>
              <a:rPr lang="en-US" altLang="en-US" sz="2800">
                <a:ea typeface="ＭＳ Ｐゴシック" panose="020B0600070205080204" pitchFamily="34" charset="-128"/>
              </a:rPr>
              <a:t> Goodness-of-Fit Tests	</a:t>
            </a:r>
            <a:r>
              <a:rPr lang="en-US" altLang="en-US" sz="2800">
                <a:solidFill>
                  <a:srgbClr val="C00000"/>
                </a:solidFill>
                <a:ea typeface="ＭＳ Ｐゴシック" panose="020B0600070205080204" pitchFamily="34" charset="-128"/>
              </a:rPr>
              <a:t>    </a:t>
            </a:r>
            <a:r>
              <a:rPr lang="en-US" altLang="en-US" sz="2800">
                <a:ea typeface="ＭＳ Ｐゴシック" panose="020B0600070205080204" pitchFamily="34" charset="-128"/>
              </a:rPr>
              <a:t>	</a:t>
            </a:r>
            <a:r>
              <a:rPr lang="en-US" altLang="en-US" sz="2200">
                <a:ea typeface="ＭＳ Ｐゴシック" panose="020B0600070205080204" pitchFamily="34" charset="-128"/>
              </a:rPr>
              <a:t> 							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[Identifying the distribution]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0CD9142A-9834-8C82-2D59-637C2F37270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800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Conduct hypothesis testing on input data distribution using: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Kolmogorov-Smirnov test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Chi-square test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No single correct distribution in a real application exists. 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If very little data are available, it is unlikely to reject any candidate distributions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If a lot of data are available, it is likely to reject all candidate distributions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400">
              <a:ea typeface="ＭＳ Ｐゴシック" panose="020B0600070205080204" pitchFamily="34" charset="-128"/>
            </a:endParaRPr>
          </a:p>
        </p:txBody>
      </p:sp>
      <p:sp>
        <p:nvSpPr>
          <p:cNvPr id="40965" name="AutoShape 4">
            <a:extLst>
              <a:ext uri="{FF2B5EF4-FFF2-40B4-BE49-F238E27FC236}">
                <a16:creationId xmlns:a16="http://schemas.microsoft.com/office/drawing/2014/main" id="{1A983EF0-1304-B89B-71C5-10E9A94C4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5">
            <a:extLst>
              <a:ext uri="{FF2B5EF4-FFF2-40B4-BE49-F238E27FC236}">
                <a16:creationId xmlns:a16="http://schemas.microsoft.com/office/drawing/2014/main" id="{CA80C011-1C66-A3E9-377F-4639D0F782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C93CE9-540B-4F3E-B370-F3FA95AFC8A9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8A23888-1840-42DA-3164-2B8C26B37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Chi-Square test		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BDDB7DE3-3116-AB51-DE3F-22D4A802F71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7244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Intuition: comparing the histogram of the data to the shape of the candidate density or mass function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Valid for </a:t>
            </a:r>
            <a:r>
              <a:rPr lang="en-US" altLang="en-US" sz="2200" b="1">
                <a:solidFill>
                  <a:schemeClr val="bg2"/>
                </a:solidFill>
                <a:ea typeface="ＭＳ Ｐゴシック" panose="020B0600070205080204" pitchFamily="34" charset="-128"/>
              </a:rPr>
              <a:t>large</a:t>
            </a:r>
            <a:r>
              <a:rPr lang="en-US" altLang="en-US" sz="2200">
                <a:ea typeface="ＭＳ Ｐゴシック" panose="020B0600070205080204" pitchFamily="34" charset="-128"/>
              </a:rPr>
              <a:t> sample sizes when parameters are estimated by maximum likelihood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By arranging the </a:t>
            </a:r>
            <a:r>
              <a:rPr lang="en-US" altLang="en-US" sz="2200" i="1">
                <a:ea typeface="ＭＳ Ｐゴシック" panose="020B0600070205080204" pitchFamily="34" charset="-128"/>
              </a:rPr>
              <a:t>n</a:t>
            </a:r>
            <a:r>
              <a:rPr lang="en-US" altLang="en-US" sz="2200">
                <a:ea typeface="ＭＳ Ｐゴシック" panose="020B0600070205080204" pitchFamily="34" charset="-128"/>
              </a:rPr>
              <a:t> observations into a set of </a:t>
            </a:r>
            <a:r>
              <a:rPr lang="en-US" altLang="en-US" sz="2200" i="1">
                <a:ea typeface="ＭＳ Ｐゴシック" panose="020B0600070205080204" pitchFamily="34" charset="-128"/>
              </a:rPr>
              <a:t>k</a:t>
            </a:r>
            <a:r>
              <a:rPr lang="en-US" altLang="en-US" sz="2200">
                <a:ea typeface="ＭＳ Ｐゴシック" panose="020B0600070205080204" pitchFamily="34" charset="-128"/>
              </a:rPr>
              <a:t> class intervals or cells, the test statistics is: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</a:t>
            </a:r>
            <a:r>
              <a:rPr lang="en-US" altLang="en-US" sz="1800">
                <a:ea typeface="ＭＳ Ｐゴシック" panose="020B0600070205080204" pitchFamily="34" charset="-128"/>
              </a:rPr>
              <a:t>which </a:t>
            </a:r>
            <a:r>
              <a:rPr lang="en-US" altLang="en-US" sz="1800" b="1">
                <a:solidFill>
                  <a:schemeClr val="bg2"/>
                </a:solidFill>
                <a:ea typeface="ＭＳ Ｐゴシック" panose="020B0600070205080204" pitchFamily="34" charset="-128"/>
              </a:rPr>
              <a:t>approximately</a:t>
            </a:r>
            <a:r>
              <a:rPr lang="en-US" altLang="en-US" sz="1800">
                <a:ea typeface="ＭＳ Ｐゴシック" panose="020B0600070205080204" pitchFamily="34" charset="-128"/>
              </a:rPr>
              <a:t> follows the </a:t>
            </a:r>
            <a:r>
              <a:rPr lang="en-US" altLang="en-US" sz="1800">
                <a:solidFill>
                  <a:schemeClr val="bg2"/>
                </a:solidFill>
                <a:ea typeface="ＭＳ Ｐゴシック" panose="020B0600070205080204" pitchFamily="34" charset="-128"/>
              </a:rPr>
              <a:t>chi-square distribution with </a:t>
            </a:r>
            <a:r>
              <a:rPr lang="en-US" altLang="en-US" sz="1800" i="1">
                <a:solidFill>
                  <a:schemeClr val="bg2"/>
                </a:solidFill>
                <a:ea typeface="ＭＳ Ｐゴシック" panose="020B0600070205080204" pitchFamily="34" charset="-128"/>
              </a:rPr>
              <a:t>k-s-1</a:t>
            </a:r>
            <a:r>
              <a:rPr lang="en-US" altLang="en-US" sz="1800">
                <a:solidFill>
                  <a:schemeClr val="bg2"/>
                </a:solidFill>
                <a:ea typeface="ＭＳ Ｐゴシック" panose="020B0600070205080204" pitchFamily="34" charset="-128"/>
              </a:rPr>
              <a:t> degrees</a:t>
            </a:r>
            <a:r>
              <a:rPr lang="en-US" altLang="en-US" sz="1800">
                <a:ea typeface="ＭＳ Ｐゴシック" panose="020B0600070205080204" pitchFamily="34" charset="-128"/>
              </a:rPr>
              <a:t> of freedom, where s = # of parameters of the hypothesized distribution estimated by the sample statistics.</a:t>
            </a:r>
          </a:p>
        </p:txBody>
      </p:sp>
      <p:sp>
        <p:nvSpPr>
          <p:cNvPr id="43013" name="AutoShape 4">
            <a:extLst>
              <a:ext uri="{FF2B5EF4-FFF2-40B4-BE49-F238E27FC236}">
                <a16:creationId xmlns:a16="http://schemas.microsoft.com/office/drawing/2014/main" id="{5915E9CB-C93B-2E7F-B858-75B468FC0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43014" name="Object 5">
            <a:extLst>
              <a:ext uri="{FF2B5EF4-FFF2-40B4-BE49-F238E27FC236}">
                <a16:creationId xmlns:a16="http://schemas.microsoft.com/office/drawing/2014/main" id="{778FD78B-AC78-254F-0D00-F04DD16DB432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3351213" y="3657600"/>
          <a:ext cx="19843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337" imgH="444307" progId="Equation.3">
                  <p:embed/>
                </p:oleObj>
              </mc:Choice>
              <mc:Fallback>
                <p:oleObj name="Equation" r:id="rId3" imgW="1066337" imgH="444307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1213" y="3657600"/>
                        <a:ext cx="19843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AutoShape 7">
            <a:extLst>
              <a:ext uri="{FF2B5EF4-FFF2-40B4-BE49-F238E27FC236}">
                <a16:creationId xmlns:a16="http://schemas.microsoft.com/office/drawing/2014/main" id="{082E4462-5805-D6BC-955E-EC976B4CC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419600"/>
            <a:ext cx="1143000" cy="609600"/>
          </a:xfrm>
          <a:prstGeom prst="wedgeRoundRectCallout">
            <a:avLst>
              <a:gd name="adj1" fmla="val 139722"/>
              <a:gd name="adj2" fmla="val -119009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Observed Frequency</a:t>
            </a:r>
          </a:p>
        </p:txBody>
      </p:sp>
      <p:sp>
        <p:nvSpPr>
          <p:cNvPr id="43016" name="AutoShape 8">
            <a:extLst>
              <a:ext uri="{FF2B5EF4-FFF2-40B4-BE49-F238E27FC236}">
                <a16:creationId xmlns:a16="http://schemas.microsoft.com/office/drawing/2014/main" id="{2E48AE59-A838-6376-7D93-BEFF8BB45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657600"/>
            <a:ext cx="2514600" cy="1447800"/>
          </a:xfrm>
          <a:prstGeom prst="wedgeRoundRectCallout">
            <a:avLst>
              <a:gd name="adj1" fmla="val -79421"/>
              <a:gd name="adj2" fmla="val -32019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Expected Frequency</a:t>
            </a:r>
          </a:p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 i="1"/>
              <a:t>E</a:t>
            </a:r>
            <a:r>
              <a:rPr lang="en-US" altLang="en-US" sz="1400" i="1" baseline="-25000"/>
              <a:t>i</a:t>
            </a:r>
            <a:r>
              <a:rPr lang="en-US" altLang="en-US" sz="1400" i="1"/>
              <a:t> = n*p</a:t>
            </a:r>
            <a:r>
              <a:rPr lang="en-US" altLang="en-US" sz="1400" i="1" baseline="-25000"/>
              <a:t>i</a:t>
            </a:r>
          </a:p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where </a:t>
            </a:r>
            <a:r>
              <a:rPr lang="en-US" altLang="en-US" sz="1400" i="1"/>
              <a:t>p</a:t>
            </a:r>
            <a:r>
              <a:rPr lang="en-US" altLang="en-US" sz="1400" baseline="-25000"/>
              <a:t>i</a:t>
            </a:r>
            <a:r>
              <a:rPr lang="en-US" altLang="en-US" sz="1400"/>
              <a:t> is the theoretical prob. of the </a:t>
            </a:r>
            <a:r>
              <a:rPr lang="en-US" altLang="en-US" sz="1400" i="1"/>
              <a:t>i</a:t>
            </a:r>
            <a:r>
              <a:rPr lang="en-US" altLang="en-US" sz="1400"/>
              <a:t>th interval.</a:t>
            </a:r>
          </a:p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 i="1"/>
              <a:t>Suggested Minimum = 5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6">
            <a:extLst>
              <a:ext uri="{FF2B5EF4-FFF2-40B4-BE49-F238E27FC236}">
                <a16:creationId xmlns:a16="http://schemas.microsoft.com/office/drawing/2014/main" id="{72A70C1B-7D98-C52E-F859-EAB4C660D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A67631-498C-42A4-9DBD-D8A1A594E37A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EA6754A-3B83-5ACA-DDD6-E938E902D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Chi-Square test		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334F1F6-0475-E978-9DF8-B61ED3D8C3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The hypothesis of a chi-square test is: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200" i="1">
                <a:ea typeface="ＭＳ Ｐゴシック" panose="020B0600070205080204" pitchFamily="34" charset="-128"/>
              </a:rPr>
              <a:t>		</a:t>
            </a:r>
            <a:r>
              <a:rPr lang="en-US" altLang="en-US" sz="2000" i="1">
                <a:ea typeface="ＭＳ Ｐゴシック" panose="020B0600070205080204" pitchFamily="34" charset="-128"/>
              </a:rPr>
              <a:t>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0</a:t>
            </a:r>
            <a:r>
              <a:rPr lang="en-US" altLang="en-US" sz="2000" i="1">
                <a:ea typeface="ＭＳ Ｐゴシック" panose="020B0600070205080204" pitchFamily="34" charset="-128"/>
              </a:rPr>
              <a:t>: </a:t>
            </a:r>
            <a:r>
              <a:rPr lang="en-US" altLang="en-US" sz="2000">
                <a:ea typeface="ＭＳ Ｐゴシック" panose="020B0600070205080204" pitchFamily="34" charset="-128"/>
              </a:rPr>
              <a:t>The random variable,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>
                <a:ea typeface="ＭＳ Ｐゴシック" panose="020B0600070205080204" pitchFamily="34" charset="-128"/>
              </a:rPr>
              <a:t>, conforms to the distributional 		assumption with the parameter(s) given by the estimate(s).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i="1">
                <a:ea typeface="ＭＳ Ｐゴシック" panose="020B0600070205080204" pitchFamily="34" charset="-128"/>
              </a:rPr>
              <a:t>		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>
                <a:ea typeface="ＭＳ Ｐゴシック" panose="020B0600070205080204" pitchFamily="34" charset="-128"/>
              </a:rPr>
              <a:t>: </a:t>
            </a:r>
            <a:r>
              <a:rPr lang="en-US" altLang="en-US" sz="2000">
                <a:ea typeface="ＭＳ Ｐゴシック" panose="020B0600070205080204" pitchFamily="34" charset="-128"/>
              </a:rPr>
              <a:t>The random variable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>
                <a:ea typeface="ＭＳ Ｐゴシック" panose="020B0600070205080204" pitchFamily="34" charset="-128"/>
              </a:rPr>
              <a:t> does not conform.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the distribution tested is discrete and combining adjacent cell is not required</a:t>
            </a:r>
            <a:r>
              <a:rPr lang="en-US" altLang="en-US" sz="2000">
                <a:ea typeface="ＭＳ Ｐゴシック" panose="020B0600070205080204" pitchFamily="34" charset="-128"/>
              </a:rPr>
              <a:t> (so that </a:t>
            </a:r>
            <a:r>
              <a:rPr lang="en-US" altLang="en-US" sz="2000" i="1">
                <a:ea typeface="ＭＳ Ｐゴシック" panose="020B0600070205080204" pitchFamily="34" charset="-128"/>
              </a:rPr>
              <a:t>E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2000" i="1">
                <a:ea typeface="ＭＳ Ｐゴシック" panose="020B0600070205080204" pitchFamily="34" charset="-128"/>
              </a:rPr>
              <a:t> &gt; </a:t>
            </a:r>
            <a:r>
              <a:rPr lang="en-US" altLang="en-US" sz="2000">
                <a:ea typeface="ＭＳ Ｐゴシック" panose="020B0600070205080204" pitchFamily="34" charset="-128"/>
              </a:rPr>
              <a:t>minimum requirement):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Each value of the random variable should be a class interval, unless combining is necessary, and</a:t>
            </a:r>
          </a:p>
        </p:txBody>
      </p:sp>
      <p:graphicFrame>
        <p:nvGraphicFramePr>
          <p:cNvPr id="45061" name="Object 9">
            <a:extLst>
              <a:ext uri="{FF2B5EF4-FFF2-40B4-BE49-F238E27FC236}">
                <a16:creationId xmlns:a16="http://schemas.microsoft.com/office/drawing/2014/main" id="{2E32C9D8-C72E-7C66-C772-71BC515E9860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3048000" y="4876800"/>
          <a:ext cx="2667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00200" imgH="228600" progId="Equation.3">
                  <p:embed/>
                </p:oleObj>
              </mc:Choice>
              <mc:Fallback>
                <p:oleObj name="Equation" r:id="rId3" imgW="16002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876800"/>
                        <a:ext cx="2667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6">
            <a:extLst>
              <a:ext uri="{FF2B5EF4-FFF2-40B4-BE49-F238E27FC236}">
                <a16:creationId xmlns:a16="http://schemas.microsoft.com/office/drawing/2014/main" id="{97C87B77-0265-5A27-726D-79262643B0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0E4472-99BD-4002-8D83-6808EB340C0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41C9EDFD-E73F-D8A4-9AE8-AC8067D2D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Chi-Square test		</a:t>
            </a:r>
            <a:r>
              <a:rPr lang="en-US" altLang="en-US" sz="2600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1CD1EDC3-5C72-5674-14F9-7D26F87D0E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the distribution tested is continuous: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200">
              <a:ea typeface="ＭＳ Ｐゴシック" panose="020B0600070205080204" pitchFamily="34" charset="-128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1800">
              <a:ea typeface="ＭＳ Ｐゴシック" panose="020B0600070205080204" pitchFamily="34" charset="-128"/>
            </a:endParaRPr>
          </a:p>
          <a:p>
            <a:pPr lvl="1" algn="r" eaLnBrk="1" hangingPunct="1">
              <a:buFont typeface="Wingdings" panose="05000000000000000000" pitchFamily="2" charset="2"/>
              <a:buNone/>
            </a:pPr>
            <a:endParaRPr lang="en-US" altLang="en-US" sz="1800">
              <a:ea typeface="ＭＳ Ｐゴシック" panose="020B0600070205080204" pitchFamily="34" charset="-128"/>
            </a:endParaRPr>
          </a:p>
          <a:p>
            <a:pPr lvl="1" algn="r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where </a:t>
            </a:r>
            <a:r>
              <a:rPr lang="en-US" altLang="en-US" sz="1800" i="1">
                <a:ea typeface="ＭＳ Ｐゴシック" panose="020B0600070205080204" pitchFamily="34" charset="-128"/>
              </a:rPr>
              <a:t>a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 i="1">
                <a:ea typeface="ＭＳ Ｐゴシック" panose="020B0600070205080204" pitchFamily="34" charset="-128"/>
              </a:rPr>
              <a:t>-1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a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i</a:t>
            </a:r>
            <a:r>
              <a:rPr lang="en-US" altLang="en-US" sz="1800">
                <a:ea typeface="ＭＳ Ｐゴシック" panose="020B0600070205080204" pitchFamily="34" charset="-128"/>
              </a:rPr>
              <a:t> are the endpoints of the </a:t>
            </a:r>
            <a:r>
              <a:rPr lang="en-US" altLang="en-US" sz="1800" i="1">
                <a:ea typeface="ＭＳ Ｐゴシック" panose="020B0600070205080204" pitchFamily="34" charset="-128"/>
              </a:rPr>
              <a:t>i</a:t>
            </a:r>
            <a:r>
              <a:rPr lang="en-US" altLang="en-US" sz="1800" i="1" baseline="30000">
                <a:ea typeface="ＭＳ Ｐゴシック" panose="020B0600070205080204" pitchFamily="34" charset="-128"/>
              </a:rPr>
              <a:t>th</a:t>
            </a:r>
            <a:r>
              <a:rPr lang="en-US" altLang="en-US" sz="1800">
                <a:ea typeface="ＭＳ Ｐゴシック" panose="020B0600070205080204" pitchFamily="34" charset="-128"/>
              </a:rPr>
              <a:t> class interval</a:t>
            </a:r>
          </a:p>
          <a:p>
            <a:pPr lvl="1" algn="r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and </a:t>
            </a:r>
            <a:r>
              <a:rPr lang="en-US" altLang="en-US" sz="1800" i="1">
                <a:ea typeface="ＭＳ Ｐゴシック" panose="020B0600070205080204" pitchFamily="34" charset="-128"/>
              </a:rPr>
              <a:t>f(x)</a:t>
            </a:r>
            <a:r>
              <a:rPr lang="en-US" altLang="en-US" sz="1800">
                <a:ea typeface="ＭＳ Ｐゴシック" panose="020B0600070205080204" pitchFamily="34" charset="-128"/>
              </a:rPr>
              <a:t> is the assumed pdf, </a:t>
            </a:r>
            <a:r>
              <a:rPr lang="en-US" altLang="en-US" sz="1800" i="1">
                <a:ea typeface="ＭＳ Ｐゴシック" panose="020B0600070205080204" pitchFamily="34" charset="-128"/>
              </a:rPr>
              <a:t>F(x)</a:t>
            </a:r>
            <a:r>
              <a:rPr lang="en-US" altLang="en-US" sz="1800">
                <a:ea typeface="ＭＳ Ｐゴシック" panose="020B0600070205080204" pitchFamily="34" charset="-128"/>
              </a:rPr>
              <a:t> is the assumed cdf.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Recommended number of class intervals (</a:t>
            </a:r>
            <a:r>
              <a:rPr lang="en-US" altLang="en-US" sz="2000" i="1">
                <a:ea typeface="ＭＳ Ｐゴシック" panose="020B0600070205080204" pitchFamily="34" charset="-128"/>
              </a:rPr>
              <a:t>k</a:t>
            </a:r>
            <a:r>
              <a:rPr lang="en-US" altLang="en-US" sz="2000">
                <a:ea typeface="ＭＳ Ｐゴシック" panose="020B0600070205080204" pitchFamily="34" charset="-128"/>
              </a:rPr>
              <a:t>):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Caution: Different grouping of data (i.e., </a:t>
            </a:r>
            <a:r>
              <a:rPr lang="en-US" altLang="en-US" sz="2000" i="1">
                <a:ea typeface="ＭＳ Ｐゴシック" panose="020B0600070205080204" pitchFamily="34" charset="-128"/>
              </a:rPr>
              <a:t>k</a:t>
            </a:r>
            <a:r>
              <a:rPr lang="en-US" altLang="en-US" sz="2000">
                <a:ea typeface="ＭＳ Ｐゴシック" panose="020B0600070205080204" pitchFamily="34" charset="-128"/>
              </a:rPr>
              <a:t>) can affect the hypothesis testing result.</a:t>
            </a:r>
          </a:p>
        </p:txBody>
      </p:sp>
      <p:graphicFrame>
        <p:nvGraphicFramePr>
          <p:cNvPr id="47109" name="Object 6">
            <a:extLst>
              <a:ext uri="{FF2B5EF4-FFF2-40B4-BE49-F238E27FC236}">
                <a16:creationId xmlns:a16="http://schemas.microsoft.com/office/drawing/2014/main" id="{29FF0892-B4C4-694E-D100-673079CD2AFE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209800" y="1981200"/>
          <a:ext cx="35814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45369" imgH="355446" progId="Equation.3">
                  <p:embed/>
                </p:oleObj>
              </mc:Choice>
              <mc:Fallback>
                <p:oleObj name="Equation" r:id="rId3" imgW="2145369" imgH="355446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81200"/>
                        <a:ext cx="35814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AutoShape 5">
            <a:extLst>
              <a:ext uri="{FF2B5EF4-FFF2-40B4-BE49-F238E27FC236}">
                <a16:creationId xmlns:a16="http://schemas.microsoft.com/office/drawing/2014/main" id="{F91A98B4-FA27-619A-1C45-8882B531E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47111" name="Object 8">
            <a:extLst>
              <a:ext uri="{FF2B5EF4-FFF2-40B4-BE49-F238E27FC236}">
                <a16:creationId xmlns:a16="http://schemas.microsoft.com/office/drawing/2014/main" id="{3C110344-2040-3B07-733B-61CA87300467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057400" y="4038600"/>
          <a:ext cx="4343400" cy="149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278015" imgH="1126178" progId="Excel.Sheet.8">
                  <p:embed/>
                </p:oleObj>
              </mc:Choice>
              <mc:Fallback>
                <p:oleObj name="Worksheet" r:id="rId5" imgW="3278015" imgH="1126178" progId="Excel.Sheet.8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4038600"/>
                        <a:ext cx="4343400" cy="1490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6">
            <a:extLst>
              <a:ext uri="{FF2B5EF4-FFF2-40B4-BE49-F238E27FC236}">
                <a16:creationId xmlns:a16="http://schemas.microsoft.com/office/drawing/2014/main" id="{03EB8C9E-2213-F340-B77C-DA0F639FE1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78BD7F-564F-44BF-B1EB-22344E477D47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58077CA-B7F0-1497-0EE1-B659910F1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Chi-Square test</a:t>
            </a:r>
            <a:r>
              <a:rPr lang="en-US" altLang="en-US">
                <a:ea typeface="ＭＳ Ｐゴシック" panose="020B0600070205080204" pitchFamily="34" charset="-128"/>
              </a:rPr>
              <a:t>	</a:t>
            </a:r>
            <a:r>
              <a:rPr lang="en-US" altLang="en-US" sz="2200">
                <a:ea typeface="ＭＳ Ｐゴシック" panose="020B0600070205080204" pitchFamily="34" charset="-128"/>
              </a:rPr>
              <a:t>Ex 9.5,9.12.9.17</a:t>
            </a:r>
            <a:endParaRPr lang="en-US" altLang="en-US" sz="22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763D82F-E317-69A6-F726-28B529EFDF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800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Vehicle Arrival :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i="1">
                <a:ea typeface="ＭＳ Ｐゴシック" panose="020B0600070205080204" pitchFamily="34" charset="-128"/>
              </a:rPr>
              <a:t>		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0</a:t>
            </a:r>
            <a:r>
              <a:rPr lang="en-US" altLang="en-US" sz="2000" i="1">
                <a:ea typeface="ＭＳ Ｐゴシック" panose="020B0600070205080204" pitchFamily="34" charset="-128"/>
              </a:rPr>
              <a:t>: </a:t>
            </a:r>
            <a:r>
              <a:rPr lang="en-US" altLang="en-US" sz="2000">
                <a:ea typeface="ＭＳ Ｐゴシック" panose="020B0600070205080204" pitchFamily="34" charset="-128"/>
              </a:rPr>
              <a:t> the random variable is Poisson distributed.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 i="1">
                <a:ea typeface="ＭＳ Ｐゴシック" panose="020B0600070205080204" pitchFamily="34" charset="-128"/>
              </a:rPr>
              <a:t>		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>
                <a:ea typeface="ＭＳ Ｐゴシック" panose="020B0600070205080204" pitchFamily="34" charset="-128"/>
              </a:rPr>
              <a:t>:  </a:t>
            </a:r>
            <a:r>
              <a:rPr lang="en-US" altLang="en-US" sz="2000">
                <a:ea typeface="ＭＳ Ｐゴシック" panose="020B0600070205080204" pitchFamily="34" charset="-128"/>
              </a:rPr>
              <a:t>the random variable is not Poisson distributed.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Degree of freedom is </a:t>
            </a:r>
            <a:r>
              <a:rPr lang="en-US" altLang="en-US" sz="2000" i="1">
                <a:ea typeface="ＭＳ Ｐゴシック" panose="020B0600070205080204" pitchFamily="34" charset="-128"/>
              </a:rPr>
              <a:t>k-s-1 = 7-1-1 = 5</a:t>
            </a:r>
            <a:r>
              <a:rPr lang="en-US" altLang="en-US" sz="2000">
                <a:ea typeface="ＭＳ Ｐゴシック" panose="020B0600070205080204" pitchFamily="34" charset="-128"/>
              </a:rPr>
              <a:t>, hence, the hypothesis is rejected at the </a:t>
            </a:r>
            <a:r>
              <a:rPr lang="en-US" altLang="en-US" sz="2000" i="1">
                <a:ea typeface="ＭＳ Ｐゴシック" panose="020B0600070205080204" pitchFamily="34" charset="-128"/>
              </a:rPr>
              <a:t>0.05</a:t>
            </a:r>
            <a:r>
              <a:rPr lang="en-US" altLang="en-US" sz="2000">
                <a:ea typeface="ＭＳ Ｐゴシック" panose="020B0600070205080204" pitchFamily="34" charset="-128"/>
              </a:rPr>
              <a:t> level of significance.</a:t>
            </a:r>
            <a:endParaRPr lang="en-US" altLang="en-US" sz="1800">
              <a:ea typeface="ＭＳ Ｐゴシック" panose="020B0600070205080204" pitchFamily="34" charset="-128"/>
            </a:endParaRPr>
          </a:p>
        </p:txBody>
      </p:sp>
      <p:graphicFrame>
        <p:nvGraphicFramePr>
          <p:cNvPr id="49157" name="Object 9">
            <a:extLst>
              <a:ext uri="{FF2B5EF4-FFF2-40B4-BE49-F238E27FC236}">
                <a16:creationId xmlns:a16="http://schemas.microsoft.com/office/drawing/2014/main" id="{E9AF504F-3F4F-ED00-D90B-6CEFB8340623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7620000" y="2590800"/>
          <a:ext cx="1143000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500" imgH="660400" progId="Equation.3">
                  <p:embed/>
                </p:oleObj>
              </mc:Choice>
              <mc:Fallback>
                <p:oleObj name="Equation" r:id="rId3" imgW="825500" imgH="6604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2590800"/>
                        <a:ext cx="1143000" cy="915988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bg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AutoShape 5">
            <a:extLst>
              <a:ext uri="{FF2B5EF4-FFF2-40B4-BE49-F238E27FC236}">
                <a16:creationId xmlns:a16="http://schemas.microsoft.com/office/drawing/2014/main" id="{9CEF5AA9-2B4E-43C7-CE74-2601F3C71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49159" name="Object 15">
            <a:extLst>
              <a:ext uri="{FF2B5EF4-FFF2-40B4-BE49-F238E27FC236}">
                <a16:creationId xmlns:a16="http://schemas.microsoft.com/office/drawing/2014/main" id="{DBCE5013-8512-AF2C-5276-4D673997B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95400" y="2590800"/>
          <a:ext cx="5715000" cy="255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910174" imgH="2191570" progId="Excel.Sheet.8">
                  <p:embed/>
                </p:oleObj>
              </mc:Choice>
              <mc:Fallback>
                <p:oleObj name="Worksheet" r:id="rId5" imgW="4910174" imgH="2191570" progId="Excel.Sheet.8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590800"/>
                        <a:ext cx="5715000" cy="255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Line 16">
            <a:extLst>
              <a:ext uri="{FF2B5EF4-FFF2-40B4-BE49-F238E27FC236}">
                <a16:creationId xmlns:a16="http://schemas.microsoft.com/office/drawing/2014/main" id="{484DD2B0-535D-C8E9-384E-1B69E89E38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819400"/>
            <a:ext cx="1828800" cy="30480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49161" name="AutoShape 17">
            <a:extLst>
              <a:ext uri="{FF2B5EF4-FFF2-40B4-BE49-F238E27FC236}">
                <a16:creationId xmlns:a16="http://schemas.microsoft.com/office/drawing/2014/main" id="{CACADA59-2443-BCC1-93F9-4A6B35C45BE3}"/>
              </a:ext>
            </a:extLst>
          </p:cNvPr>
          <p:cNvSpPr>
            <a:spLocks/>
          </p:cNvSpPr>
          <p:nvPr/>
        </p:nvSpPr>
        <p:spPr bwMode="auto">
          <a:xfrm>
            <a:off x="3124200" y="2971800"/>
            <a:ext cx="76200" cy="228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49162" name="AutoShape 18">
            <a:extLst>
              <a:ext uri="{FF2B5EF4-FFF2-40B4-BE49-F238E27FC236}">
                <a16:creationId xmlns:a16="http://schemas.microsoft.com/office/drawing/2014/main" id="{958D3672-DBB6-FBA9-B1E4-0F8C818501D0}"/>
              </a:ext>
            </a:extLst>
          </p:cNvPr>
          <p:cNvSpPr>
            <a:spLocks/>
          </p:cNvSpPr>
          <p:nvPr/>
        </p:nvSpPr>
        <p:spPr bwMode="auto">
          <a:xfrm>
            <a:off x="3124200" y="4114800"/>
            <a:ext cx="152400" cy="762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49163" name="AutoShape 19">
            <a:extLst>
              <a:ext uri="{FF2B5EF4-FFF2-40B4-BE49-F238E27FC236}">
                <a16:creationId xmlns:a16="http://schemas.microsoft.com/office/drawing/2014/main" id="{1AAECC6B-B90B-9298-A1DC-20D7FF501FA4}"/>
              </a:ext>
            </a:extLst>
          </p:cNvPr>
          <p:cNvSpPr>
            <a:spLocks/>
          </p:cNvSpPr>
          <p:nvPr/>
        </p:nvSpPr>
        <p:spPr bwMode="auto">
          <a:xfrm>
            <a:off x="5105400" y="4114800"/>
            <a:ext cx="152400" cy="762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49164" name="AutoShape 20">
            <a:extLst>
              <a:ext uri="{FF2B5EF4-FFF2-40B4-BE49-F238E27FC236}">
                <a16:creationId xmlns:a16="http://schemas.microsoft.com/office/drawing/2014/main" id="{F8BF384D-9645-CA48-4133-0846AC7F439F}"/>
              </a:ext>
            </a:extLst>
          </p:cNvPr>
          <p:cNvSpPr>
            <a:spLocks/>
          </p:cNvSpPr>
          <p:nvPr/>
        </p:nvSpPr>
        <p:spPr bwMode="auto">
          <a:xfrm>
            <a:off x="5181600" y="2971800"/>
            <a:ext cx="76200" cy="228600"/>
          </a:xfrm>
          <a:prstGeom prst="righ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49165" name="Text Box 21">
            <a:extLst>
              <a:ext uri="{FF2B5EF4-FFF2-40B4-BE49-F238E27FC236}">
                <a16:creationId xmlns:a16="http://schemas.microsoft.com/office/drawing/2014/main" id="{C6879FB4-F28C-A0C9-2499-97789BCE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4419600"/>
            <a:ext cx="1828800" cy="536575"/>
          </a:xfrm>
          <a:prstGeom prst="rect">
            <a:avLst/>
          </a:prstGeom>
          <a:noFill/>
          <a:ln w="1905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Combined because of min </a:t>
            </a:r>
            <a:r>
              <a:rPr lang="en-US" altLang="en-US" sz="1400" i="1"/>
              <a:t>E</a:t>
            </a:r>
            <a:r>
              <a:rPr lang="en-US" altLang="en-US" sz="1400" i="1" baseline="-25000"/>
              <a:t>i</a:t>
            </a:r>
          </a:p>
        </p:txBody>
      </p:sp>
      <p:sp>
        <p:nvSpPr>
          <p:cNvPr id="49166" name="Line 22">
            <a:extLst>
              <a:ext uri="{FF2B5EF4-FFF2-40B4-BE49-F238E27FC236}">
                <a16:creationId xmlns:a16="http://schemas.microsoft.com/office/drawing/2014/main" id="{927A2EA4-782B-535B-FB42-2C206C6811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4495800"/>
            <a:ext cx="1828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sp>
        <p:nvSpPr>
          <p:cNvPr id="49167" name="Line 23">
            <a:extLst>
              <a:ext uri="{FF2B5EF4-FFF2-40B4-BE49-F238E27FC236}">
                <a16:creationId xmlns:a16="http://schemas.microsoft.com/office/drawing/2014/main" id="{0370097D-3E72-A8CE-A455-A8365780AD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334000" y="3124200"/>
            <a:ext cx="18288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D"/>
          </a:p>
        </p:txBody>
      </p:sp>
      <p:graphicFrame>
        <p:nvGraphicFramePr>
          <p:cNvPr id="49168" name="Object 25">
            <a:extLst>
              <a:ext uri="{FF2B5EF4-FFF2-40B4-BE49-F238E27FC236}">
                <a16:creationId xmlns:a16="http://schemas.microsoft.com/office/drawing/2014/main" id="{2C91D01C-3F48-95DA-1B11-E62F70486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5791200"/>
          <a:ext cx="32766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7000" imgH="228600" progId="Equation.3">
                  <p:embed/>
                </p:oleObj>
              </mc:Choice>
              <mc:Fallback>
                <p:oleObj name="Equation" r:id="rId7" imgW="1397000" imgH="2286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791200"/>
                        <a:ext cx="32766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>
            <a:extLst>
              <a:ext uri="{FF2B5EF4-FFF2-40B4-BE49-F238E27FC236}">
                <a16:creationId xmlns:a16="http://schemas.microsoft.com/office/drawing/2014/main" id="{6EA8D0A1-F3E0-E79D-44FB-BDB2176FE3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3EA4A0-09BE-4E15-A411-C5A07BE3E4A3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56C16700-F29B-61A0-0C6F-3AF1B45A6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Kolmogorov-Smirnov Test </a:t>
            </a:r>
            <a:br>
              <a:rPr lang="en-US" altLang="en-US" sz="2800">
                <a:ea typeface="ＭＳ Ｐゴシック" panose="020B0600070205080204" pitchFamily="34" charset="-128"/>
              </a:rPr>
            </a:br>
            <a:r>
              <a:rPr lang="en-US" altLang="en-US" sz="2800">
                <a:ea typeface="ＭＳ Ｐゴシック" panose="020B0600070205080204" pitchFamily="34" charset="-128"/>
              </a:rPr>
              <a:t>				</a:t>
            </a:r>
            <a:r>
              <a:rPr lang="en-US" altLang="en-US" sz="2200">
                <a:ea typeface="ＭＳ Ｐゴシック" panose="020B0600070205080204" pitchFamily="34" charset="-128"/>
              </a:rPr>
              <a:t> 	</a:t>
            </a:r>
            <a:r>
              <a:rPr lang="en-US" altLang="en-US" sz="22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BDFF3CBE-011F-0450-B819-9A40E009B04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Intuition: formalize the idea behind examining a </a:t>
            </a:r>
            <a:r>
              <a:rPr lang="en-US" altLang="en-US" sz="2200" i="1">
                <a:ea typeface="ＭＳ Ｐゴシック" panose="020B0600070205080204" pitchFamily="34" charset="-128"/>
              </a:rPr>
              <a:t>q-q</a:t>
            </a:r>
            <a:r>
              <a:rPr lang="en-US" altLang="en-US" sz="2200">
                <a:ea typeface="ＭＳ Ｐゴシック" panose="020B0600070205080204" pitchFamily="34" charset="-128"/>
              </a:rPr>
              <a:t> plot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Recall from Chapter 7.4.1: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The test compares the </a:t>
            </a:r>
            <a:r>
              <a:rPr lang="en-US" altLang="en-US" sz="2000" b="1">
                <a:solidFill>
                  <a:schemeClr val="bg2"/>
                </a:solidFill>
                <a:ea typeface="ＭＳ Ｐゴシック" panose="020B0600070205080204" pitchFamily="34" charset="-128"/>
              </a:rPr>
              <a:t>continuous</a:t>
            </a:r>
            <a:r>
              <a:rPr lang="en-US" altLang="en-US" sz="2000" b="1">
                <a:ea typeface="ＭＳ Ｐゴシック" panose="020B0600070205080204" pitchFamily="34" charset="-128"/>
              </a:rPr>
              <a:t> </a:t>
            </a:r>
            <a:r>
              <a:rPr lang="en-US" altLang="en-US" sz="2000">
                <a:ea typeface="ＭＳ Ｐゴシック" panose="020B0600070205080204" pitchFamily="34" charset="-128"/>
              </a:rPr>
              <a:t>cdf, </a:t>
            </a:r>
            <a:r>
              <a:rPr lang="en-US" altLang="en-US" sz="2000" i="1">
                <a:ea typeface="ＭＳ Ｐゴシック" panose="020B0600070205080204" pitchFamily="34" charset="-128"/>
              </a:rPr>
              <a:t>F(x)</a:t>
            </a:r>
            <a:r>
              <a:rPr lang="en-US" altLang="en-US" sz="2000">
                <a:ea typeface="ＭＳ Ｐゴシック" panose="020B0600070205080204" pitchFamily="34" charset="-128"/>
              </a:rPr>
              <a:t>, of the hypothesized distribution with the empirical cdf, </a:t>
            </a:r>
            <a:r>
              <a:rPr lang="en-US" altLang="en-US" sz="2000" i="1">
                <a:ea typeface="ＭＳ Ｐゴシック" panose="020B0600070205080204" pitchFamily="34" charset="-128"/>
              </a:rPr>
              <a:t>S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N</a:t>
            </a:r>
            <a:r>
              <a:rPr lang="en-US" altLang="en-US" sz="2000" i="1">
                <a:ea typeface="ＭＳ Ｐゴシック" panose="020B0600070205080204" pitchFamily="34" charset="-128"/>
              </a:rPr>
              <a:t>(x), </a:t>
            </a:r>
            <a:r>
              <a:rPr lang="en-US" altLang="en-US" sz="2000">
                <a:ea typeface="ＭＳ Ｐゴシック" panose="020B0600070205080204" pitchFamily="34" charset="-128"/>
              </a:rPr>
              <a:t>of the </a:t>
            </a:r>
            <a:r>
              <a:rPr lang="en-US" altLang="en-US" sz="2000" i="1">
                <a:ea typeface="ＭＳ Ｐゴシック" panose="020B0600070205080204" pitchFamily="34" charset="-128"/>
              </a:rPr>
              <a:t>N </a:t>
            </a:r>
            <a:r>
              <a:rPr lang="en-US" altLang="en-US" sz="2000">
                <a:ea typeface="ＭＳ Ｐゴシック" panose="020B0600070205080204" pitchFamily="34" charset="-128"/>
              </a:rPr>
              <a:t>sample observations.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Based on the maximum difference statistics (Tabulated in A.8):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i="1">
                <a:ea typeface="ＭＳ Ｐゴシック" panose="020B0600070205080204" pitchFamily="34" charset="-128"/>
              </a:rPr>
              <a:t>			</a:t>
            </a:r>
            <a:r>
              <a:rPr lang="en-US" altLang="en-US" sz="2000" i="1">
                <a:ea typeface="ＭＳ Ｐゴシック" panose="020B0600070205080204" pitchFamily="34" charset="-128"/>
              </a:rPr>
              <a:t>D = max| F(x) - S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N</a:t>
            </a:r>
            <a:r>
              <a:rPr lang="en-US" altLang="en-US" sz="2000" i="1">
                <a:ea typeface="ＭＳ Ｐゴシック" panose="020B0600070205080204" pitchFamily="34" charset="-128"/>
              </a:rPr>
              <a:t>(x)|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A more powerful test, particularly useful when: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Sample sizes are small,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No parameters have been estimated from the data.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When parameter estimates have been made: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Critical values in Table A.8 are biased, too large.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More conservative, i.e., smaller Type I error than specified.</a:t>
            </a:r>
            <a:endParaRPr lang="en-US" altLang="en-US" sz="2000" i="1">
              <a:ea typeface="ＭＳ Ｐゴシック" panose="020B0600070205080204" pitchFamily="34" charset="-128"/>
            </a:endParaRPr>
          </a:p>
        </p:txBody>
      </p:sp>
      <p:sp>
        <p:nvSpPr>
          <p:cNvPr id="51205" name="AutoShape 4">
            <a:extLst>
              <a:ext uri="{FF2B5EF4-FFF2-40B4-BE49-F238E27FC236}">
                <a16:creationId xmlns:a16="http://schemas.microsoft.com/office/drawing/2014/main" id="{76BEEE33-3D4A-DB9F-2173-093A632A4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6">
            <a:extLst>
              <a:ext uri="{FF2B5EF4-FFF2-40B4-BE49-F238E27FC236}">
                <a16:creationId xmlns:a16="http://schemas.microsoft.com/office/drawing/2014/main" id="{3DD7643C-B6AC-B3F2-C508-A1245967B2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DA528D-F924-4EA3-914D-DD6282BA741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38658B5-3AE1-E575-AF15-D155EE627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p-Values and “Best Fits”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88705D39-02D7-C413-F5BE-13D700B17D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200" i="1">
                <a:ea typeface="ＭＳ Ｐゴシック" panose="020B0600070205080204" pitchFamily="34" charset="-128"/>
              </a:rPr>
              <a:t>p-value</a:t>
            </a:r>
            <a:r>
              <a:rPr lang="en-US" altLang="en-US" sz="2200">
                <a:ea typeface="ＭＳ Ｐゴシック" panose="020B0600070205080204" pitchFamily="34" charset="-128"/>
              </a:rPr>
              <a:t> for the test statistics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significance level at which one would 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just reject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 i="1">
                <a:ea typeface="ＭＳ Ｐゴシック" panose="020B0600070205080204" pitchFamily="34" charset="-128"/>
              </a:rPr>
              <a:t>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ea typeface="ＭＳ Ｐゴシック" panose="020B0600070205080204" pitchFamily="34" charset="-128"/>
              </a:rPr>
              <a:t> for the given test statistic value.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 measure of fit, the larger the better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Large </a:t>
            </a:r>
            <a:r>
              <a:rPr lang="en-US" altLang="en-US" sz="2000" i="1">
                <a:ea typeface="ＭＳ Ｐゴシック" panose="020B0600070205080204" pitchFamily="34" charset="-128"/>
              </a:rPr>
              <a:t>p-value</a:t>
            </a:r>
            <a:r>
              <a:rPr lang="en-US" altLang="en-US" sz="2000">
                <a:ea typeface="ＭＳ Ｐゴシック" panose="020B0600070205080204" pitchFamily="34" charset="-128"/>
              </a:rPr>
              <a:t>: good fit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Small </a:t>
            </a:r>
            <a:r>
              <a:rPr lang="en-US" altLang="en-US" sz="2000" i="1">
                <a:ea typeface="ＭＳ Ｐゴシック" panose="020B0600070205080204" pitchFamily="34" charset="-128"/>
              </a:rPr>
              <a:t>p-value</a:t>
            </a:r>
            <a:r>
              <a:rPr lang="en-US" altLang="en-US" sz="2000">
                <a:ea typeface="ＭＳ Ｐゴシック" panose="020B0600070205080204" pitchFamily="34" charset="-128"/>
              </a:rPr>
              <a:t>: poor fit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Vehicle Arrival Example (cont.): </a:t>
            </a: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ea typeface="ＭＳ Ｐゴシック" panose="020B0600070205080204" pitchFamily="34" charset="-128"/>
              </a:rPr>
              <a:t>: data is Possion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Test statistics:                   , with </a:t>
            </a:r>
            <a:r>
              <a:rPr lang="en-US" altLang="en-US" sz="2000" i="1">
                <a:ea typeface="ＭＳ Ｐゴシック" panose="020B0600070205080204" pitchFamily="34" charset="-128"/>
              </a:rPr>
              <a:t>5</a:t>
            </a:r>
            <a:r>
              <a:rPr lang="en-US" altLang="en-US" sz="2000">
                <a:ea typeface="ＭＳ Ｐゴシック" panose="020B0600070205080204" pitchFamily="34" charset="-128"/>
              </a:rPr>
              <a:t> degrees of freedom</a:t>
            </a: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p-value = 0.00004</a:t>
            </a:r>
            <a:r>
              <a:rPr lang="en-US" altLang="en-US" sz="2000">
                <a:ea typeface="ＭＳ Ｐゴシック" panose="020B0600070205080204" pitchFamily="34" charset="-128"/>
              </a:rPr>
              <a:t>, meaning we would reject </a:t>
            </a:r>
            <a:r>
              <a:rPr lang="en-US" altLang="en-US" sz="2000" i="1">
                <a:ea typeface="ＭＳ Ｐゴシック" panose="020B0600070205080204" pitchFamily="34" charset="-128"/>
              </a:rPr>
              <a:t>H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0</a:t>
            </a:r>
            <a:r>
              <a:rPr lang="en-US" altLang="en-US" sz="2000">
                <a:ea typeface="ＭＳ Ｐゴシック" panose="020B0600070205080204" pitchFamily="34" charset="-128"/>
              </a:rPr>
              <a:t> with </a:t>
            </a:r>
            <a:r>
              <a:rPr lang="en-US" altLang="en-US" sz="2000" i="1">
                <a:ea typeface="ＭＳ Ｐゴシック" panose="020B0600070205080204" pitchFamily="34" charset="-128"/>
              </a:rPr>
              <a:t>0.00004</a:t>
            </a:r>
            <a:r>
              <a:rPr lang="en-US" altLang="en-US" sz="2000">
                <a:ea typeface="ＭＳ Ｐゴシック" panose="020B0600070205080204" pitchFamily="34" charset="-128"/>
              </a:rPr>
              <a:t> significance level, hence Poisson is a poor fit.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53253" name="AutoShape 5">
            <a:extLst>
              <a:ext uri="{FF2B5EF4-FFF2-40B4-BE49-F238E27FC236}">
                <a16:creationId xmlns:a16="http://schemas.microsoft.com/office/drawing/2014/main" id="{B2C6799E-13EB-2F8D-7A0D-E05A3B607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53254" name="Object 7">
            <a:extLst>
              <a:ext uri="{FF2B5EF4-FFF2-40B4-BE49-F238E27FC236}">
                <a16:creationId xmlns:a16="http://schemas.microsoft.com/office/drawing/2014/main" id="{ADDA602B-5284-F161-515B-94A565AD5D4F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995613" y="4724400"/>
          <a:ext cx="11715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22030" imgH="215806" progId="Equation.3">
                  <p:embed/>
                </p:oleObj>
              </mc:Choice>
              <mc:Fallback>
                <p:oleObj name="Equation" r:id="rId3" imgW="622030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5613" y="4724400"/>
                        <a:ext cx="11715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6">
            <a:extLst>
              <a:ext uri="{FF2B5EF4-FFF2-40B4-BE49-F238E27FC236}">
                <a16:creationId xmlns:a16="http://schemas.microsoft.com/office/drawing/2014/main" id="{E7D258CE-1F04-CBC5-EF34-A5838CD66A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0A7E78-04F6-4D85-B8C5-C0EB32D67B8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A33AD5EE-5799-06B9-F8F5-0926EE3B3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p-Values and “Best Fits”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[Goodness-of-Fit Tests]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5DB900F-50E7-21EC-46E1-3375C30D561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Many software use </a:t>
            </a:r>
            <a:r>
              <a:rPr lang="en-US" altLang="en-US" sz="2200" i="1">
                <a:ea typeface="ＭＳ Ｐゴシック" panose="020B0600070205080204" pitchFamily="34" charset="-128"/>
              </a:rPr>
              <a:t>p-value</a:t>
            </a:r>
            <a:r>
              <a:rPr lang="en-US" altLang="en-US" sz="2200">
                <a:ea typeface="ＭＳ Ｐゴシック" panose="020B0600070205080204" pitchFamily="34" charset="-128"/>
              </a:rPr>
              <a:t> as the ranking measure to automatically determine the “best fit”.  Things to be cautious about: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Software may not know about the physical basis of the data, distribution families it suggests may be inappropriate.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Close conformance to the data does not always lead to the most appropriate input model.</a:t>
            </a: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p-value</a:t>
            </a:r>
            <a:r>
              <a:rPr lang="en-US" altLang="en-US" sz="2000">
                <a:ea typeface="ＭＳ Ｐゴシック" panose="020B0600070205080204" pitchFamily="34" charset="-128"/>
              </a:rPr>
              <a:t> does not say much about where the lack of fit occurs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Recommended: always inspect the automatic selection using graphical methods.</a:t>
            </a:r>
          </a:p>
        </p:txBody>
      </p:sp>
      <p:sp>
        <p:nvSpPr>
          <p:cNvPr id="55301" name="AutoShape 4">
            <a:extLst>
              <a:ext uri="{FF2B5EF4-FFF2-40B4-BE49-F238E27FC236}">
                <a16:creationId xmlns:a16="http://schemas.microsoft.com/office/drawing/2014/main" id="{F801C123-87CC-DCAE-24B8-AEF7BD19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6">
            <a:extLst>
              <a:ext uri="{FF2B5EF4-FFF2-40B4-BE49-F238E27FC236}">
                <a16:creationId xmlns:a16="http://schemas.microsoft.com/office/drawing/2014/main" id="{26207AF4-4E5C-9517-FDB5-F43978761B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79B196-C287-461F-A699-83391C52D89C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9DA2992-1FFC-3048-A2BB-22358610E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>
                <a:solidFill>
                  <a:srgbClr val="FF0000"/>
                </a:solidFill>
                <a:ea typeface="ＭＳ Ｐゴシック" panose="020B0600070205080204" pitchFamily="34" charset="-128"/>
              </a:rPr>
              <a:t>9.5</a:t>
            </a:r>
            <a:r>
              <a:rPr lang="en-US" altLang="en-US" sz="3000">
                <a:ea typeface="ＭＳ Ｐゴシック" panose="020B0600070205080204" pitchFamily="34" charset="-128"/>
              </a:rPr>
              <a:t> Fitting a Non-stationary Poisson Process</a:t>
            </a:r>
            <a:endParaRPr lang="en-US" altLang="en-US" sz="30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71D71F20-8FD9-15B3-0C28-63315B52E58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48768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Fitting a NSPP to arrival data is difficult, possible approaches: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Fit a very flexible model with lots of parameters or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Approximate constant arrival rate over some basic interval of time, but vary it from time interval to time interval.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Suppose we need to model arrivals over time [0,T], our approach is the most appropriate when we can: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Observe the time period repeatedly and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Count arrivals / record arrival times.</a:t>
            </a:r>
          </a:p>
        </p:txBody>
      </p:sp>
      <p:sp>
        <p:nvSpPr>
          <p:cNvPr id="57349" name="AutoShape 4">
            <a:extLst>
              <a:ext uri="{FF2B5EF4-FFF2-40B4-BE49-F238E27FC236}">
                <a16:creationId xmlns:a16="http://schemas.microsoft.com/office/drawing/2014/main" id="{F9854B09-035D-80CF-7D59-D65FFADA8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sp>
        <p:nvSpPr>
          <p:cNvPr id="57350" name="AutoShape 5">
            <a:extLst>
              <a:ext uri="{FF2B5EF4-FFF2-40B4-BE49-F238E27FC236}">
                <a16:creationId xmlns:a16="http://schemas.microsoft.com/office/drawing/2014/main" id="{67626303-9F4D-52FC-E3FC-4C907994A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514600"/>
            <a:ext cx="1371600" cy="609600"/>
          </a:xfrm>
          <a:prstGeom prst="leftArrow">
            <a:avLst>
              <a:gd name="adj1" fmla="val 50000"/>
              <a:gd name="adj2" fmla="val 56250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 b="1"/>
              <a:t>Our focus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6">
            <a:extLst>
              <a:ext uri="{FF2B5EF4-FFF2-40B4-BE49-F238E27FC236}">
                <a16:creationId xmlns:a16="http://schemas.microsoft.com/office/drawing/2014/main" id="{9E31EB8B-6BE4-BBD0-EE5C-3F51DCC314C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AEEECF-B809-4CE2-9BFE-F4EBACE7065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729AAA8A-5C16-5ACA-5DEB-7932D1DA20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>
                <a:ea typeface="ＭＳ Ｐゴシック" panose="020B0600070205080204" pitchFamily="34" charset="-128"/>
              </a:rPr>
              <a:t>Fitting a Non-stationary Poisson Process	</a:t>
            </a:r>
            <a:endParaRPr lang="en-US" altLang="en-US" sz="30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15FBADA-C6D4-FFEC-BCF1-28B89C0F337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The estimated arrival rate during the </a:t>
            </a:r>
            <a:r>
              <a:rPr lang="en-US" altLang="en-US" sz="2200" i="1">
                <a:ea typeface="ＭＳ Ｐゴシック" panose="020B0600070205080204" pitchFamily="34" charset="-128"/>
              </a:rPr>
              <a:t>i</a:t>
            </a:r>
            <a:r>
              <a:rPr lang="en-US" altLang="en-US" sz="2200">
                <a:ea typeface="ＭＳ Ｐゴシック" panose="020B0600070205080204" pitchFamily="34" charset="-128"/>
              </a:rPr>
              <a:t>th time period is: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algn="r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algn="r"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where n = # of observation periods,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en-US" altLang="en-US" sz="2000" i="1">
                <a:ea typeface="ＭＳ Ｐゴシック" panose="020B0600070205080204" pitchFamily="34" charset="-128"/>
              </a:rPr>
              <a:t>t = time interval length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 lvl="1" algn="r" eaLnBrk="1" hangingPunct="1">
              <a:buFont typeface="Wingdings" panose="05000000000000000000" pitchFamily="2" charset="2"/>
              <a:buNone/>
            </a:pPr>
            <a:r>
              <a:rPr lang="en-US" altLang="en-US" sz="2000" i="1">
                <a:ea typeface="ＭＳ Ｐゴシック" panose="020B0600070205080204" pitchFamily="34" charset="-128"/>
              </a:rPr>
              <a:t>C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ij</a:t>
            </a:r>
            <a:r>
              <a:rPr lang="en-US" altLang="en-US" sz="2000">
                <a:ea typeface="ＭＳ Ｐゴシック" panose="020B0600070205080204" pitchFamily="34" charset="-128"/>
              </a:rPr>
              <a:t> = # of arrivals during the </a:t>
            </a:r>
            <a:r>
              <a:rPr lang="en-US" altLang="en-US" sz="2000" i="1">
                <a:ea typeface="ＭＳ Ｐゴシック" panose="020B0600070205080204" pitchFamily="34" charset="-128"/>
              </a:rPr>
              <a:t>i</a:t>
            </a:r>
            <a:r>
              <a:rPr lang="en-US" altLang="en-US" sz="2000" baseline="30000">
                <a:ea typeface="ＭＳ Ｐゴシック" panose="020B0600070205080204" pitchFamily="34" charset="-128"/>
              </a:rPr>
              <a:t>th</a:t>
            </a:r>
            <a:r>
              <a:rPr lang="en-US" altLang="en-US" sz="2000">
                <a:ea typeface="ＭＳ Ｐゴシック" panose="020B0600070205080204" pitchFamily="34" charset="-128"/>
              </a:rPr>
              <a:t> time interval on the </a:t>
            </a:r>
            <a:r>
              <a:rPr lang="en-US" altLang="en-US" sz="2000" i="1">
                <a:ea typeface="ＭＳ Ｐゴシック" panose="020B0600070205080204" pitchFamily="34" charset="-128"/>
              </a:rPr>
              <a:t>j</a:t>
            </a:r>
            <a:r>
              <a:rPr lang="en-US" altLang="en-US" sz="2000" baseline="30000">
                <a:ea typeface="ＭＳ Ｐゴシック" panose="020B0600070205080204" pitchFamily="34" charset="-128"/>
              </a:rPr>
              <a:t>th</a:t>
            </a:r>
            <a:r>
              <a:rPr lang="en-US" altLang="en-US" sz="2000">
                <a:ea typeface="ＭＳ Ｐゴシック" panose="020B0600070205080204" pitchFamily="34" charset="-128"/>
              </a:rPr>
              <a:t> observation period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Example: Divide a </a:t>
            </a:r>
            <a:r>
              <a:rPr lang="en-US" altLang="en-US" sz="2200" i="1">
                <a:ea typeface="ＭＳ Ｐゴシック" panose="020B0600070205080204" pitchFamily="34" charset="-128"/>
              </a:rPr>
              <a:t>10</a:t>
            </a:r>
            <a:r>
              <a:rPr lang="en-US" altLang="en-US" sz="2200">
                <a:ea typeface="ＭＳ Ｐゴシック" panose="020B0600070205080204" pitchFamily="34" charset="-128"/>
              </a:rPr>
              <a:t>-hour business day [</a:t>
            </a:r>
            <a:r>
              <a:rPr lang="en-US" altLang="en-US" sz="2200" i="1">
                <a:ea typeface="ＭＳ Ｐゴシック" panose="020B0600070205080204" pitchFamily="34" charset="-128"/>
              </a:rPr>
              <a:t>8am,6pm</a:t>
            </a:r>
            <a:r>
              <a:rPr lang="en-US" altLang="en-US" sz="2200">
                <a:ea typeface="ＭＳ Ｐゴシック" panose="020B0600070205080204" pitchFamily="34" charset="-128"/>
              </a:rPr>
              <a:t>] into equal intervals </a:t>
            </a:r>
            <a:r>
              <a:rPr lang="en-US" altLang="en-US" sz="2200" i="1">
                <a:ea typeface="ＭＳ Ｐゴシック" panose="020B0600070205080204" pitchFamily="34" charset="-128"/>
              </a:rPr>
              <a:t>k = 20</a:t>
            </a:r>
            <a:r>
              <a:rPr lang="en-US" altLang="en-US" sz="2200">
                <a:ea typeface="ＭＳ Ｐゴシック" panose="020B0600070205080204" pitchFamily="34" charset="-128"/>
              </a:rPr>
              <a:t> whose length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D</a:t>
            </a:r>
            <a:r>
              <a:rPr lang="en-US" altLang="en-US" sz="2200" i="1">
                <a:ea typeface="ＭＳ Ｐゴシック" panose="020B0600070205080204" pitchFamily="34" charset="-128"/>
              </a:rPr>
              <a:t>t = ½</a:t>
            </a:r>
            <a:r>
              <a:rPr lang="en-US" altLang="en-US" sz="2200">
                <a:ea typeface="ＭＳ Ｐゴシック" panose="020B0600070205080204" pitchFamily="34" charset="-128"/>
              </a:rPr>
              <a:t>, and observe over n =3 days 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</p:txBody>
      </p:sp>
      <p:graphicFrame>
        <p:nvGraphicFramePr>
          <p:cNvPr id="59397" name="Object 6">
            <a:extLst>
              <a:ext uri="{FF2B5EF4-FFF2-40B4-BE49-F238E27FC236}">
                <a16:creationId xmlns:a16="http://schemas.microsoft.com/office/drawing/2014/main" id="{C82F3A85-32B7-8885-2D5D-6B5499A57E7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971800" y="1898650"/>
          <a:ext cx="220980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337" imgH="444307" progId="Equation.3">
                  <p:embed/>
                </p:oleObj>
              </mc:Choice>
              <mc:Fallback>
                <p:oleObj name="Equation" r:id="rId3" imgW="1066337" imgH="44430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898650"/>
                        <a:ext cx="2209800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AutoShape 4">
            <a:extLst>
              <a:ext uri="{FF2B5EF4-FFF2-40B4-BE49-F238E27FC236}">
                <a16:creationId xmlns:a16="http://schemas.microsoft.com/office/drawing/2014/main" id="{495401ED-DA9D-641F-E0FD-01B935CE0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59399" name="Object 10">
            <a:extLst>
              <a:ext uri="{FF2B5EF4-FFF2-40B4-BE49-F238E27FC236}">
                <a16:creationId xmlns:a16="http://schemas.microsoft.com/office/drawing/2014/main" id="{D33A5E84-F7A9-5CB6-C3DC-0C22AA3C24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4743450"/>
          <a:ext cx="4953000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029573" imgH="1347386" progId="Excel.Sheet.8">
                  <p:embed/>
                </p:oleObj>
              </mc:Choice>
              <mc:Fallback>
                <p:oleObj name="Worksheet" r:id="rId5" imgW="4029573" imgH="1347386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743450"/>
                        <a:ext cx="4953000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AutoShape 14">
            <a:extLst>
              <a:ext uri="{FF2B5EF4-FFF2-40B4-BE49-F238E27FC236}">
                <a16:creationId xmlns:a16="http://schemas.microsoft.com/office/drawing/2014/main" id="{09D00A31-BF27-85AD-993B-491E8A6F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5105400"/>
            <a:ext cx="1981200" cy="762000"/>
          </a:xfrm>
          <a:prstGeom prst="wedgeRoundRectCallout">
            <a:avLst>
              <a:gd name="adj1" fmla="val -85495"/>
              <a:gd name="adj2" fmla="val 24375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For instance, 1/3(0.5)*(23+26+32)</a:t>
            </a:r>
          </a:p>
          <a:p>
            <a:pPr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= 54 arrivals/hour</a:t>
            </a:r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>
            <a:extLst>
              <a:ext uri="{FF2B5EF4-FFF2-40B4-BE49-F238E27FC236}">
                <a16:creationId xmlns:a16="http://schemas.microsoft.com/office/drawing/2014/main" id="{D9F86814-741E-EA3C-51AA-F1C36D3626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37CB66-05AF-4932-BAA2-8C10FE4322A2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F05180F7-0AE2-21F0-CF12-74604A1D0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  <a:ea typeface="ＭＳ Ｐゴシック" panose="020B0600070205080204" pitchFamily="34" charset="-128"/>
              </a:rPr>
              <a:t>9.6</a:t>
            </a:r>
            <a:r>
              <a:rPr lang="en-US" altLang="en-US">
                <a:ea typeface="ＭＳ Ｐゴシック" panose="020B0600070205080204" pitchFamily="34" charset="-128"/>
              </a:rPr>
              <a:t> Selecting Model without Data</a:t>
            </a:r>
            <a:endParaRPr lang="en-U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1697192E-8E61-DCC7-4579-6BD60CC8C5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data is not available, some possible sources to obtain information about the process are: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Engineering data: often product or process has performance ratings provided by the manufacturer or company rules specify time or production standards.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Expert option: people who are experienced with the process or similar processes, often, they can provide optimistic, pessimistic and most-likely times, and they may know the variability as well.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Physical or conventional limitations: physical limits on performance, limits or bounds that narrow the range of the input process.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nature of the process.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The uniform, triangular, and beta distributions are often used as input models.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>
            <a:extLst>
              <a:ext uri="{FF2B5EF4-FFF2-40B4-BE49-F238E27FC236}">
                <a16:creationId xmlns:a16="http://schemas.microsoft.com/office/drawing/2014/main" id="{7CB3490C-D328-DB29-CEF4-25B325F4B9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975CDD-E824-48B2-A342-53FABDA0C25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7E87D5E-4F51-9AD7-0091-4288931B29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Selecting Model without Data</a:t>
            </a:r>
            <a:endParaRPr lang="en-US" altLang="en-US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4874E86-9F82-0192-F04B-F0A9E2759A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458200" cy="51054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Example 9.20: Production planning simulation.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Input of sales volume of various products is required, salesperson of product XYZ says that: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No fewer than </a:t>
            </a:r>
            <a:r>
              <a:rPr lang="en-US" altLang="en-US" sz="2000" i="1">
                <a:ea typeface="ＭＳ Ｐゴシック" panose="020B0600070205080204" pitchFamily="34" charset="-128"/>
              </a:rPr>
              <a:t>1,000</a:t>
            </a:r>
            <a:r>
              <a:rPr lang="en-US" altLang="en-US" sz="2000">
                <a:ea typeface="ＭＳ Ｐゴシック" panose="020B0600070205080204" pitchFamily="34" charset="-128"/>
              </a:rPr>
              <a:t> units and no more than </a:t>
            </a:r>
            <a:r>
              <a:rPr lang="en-US" altLang="en-US" sz="2000" i="1">
                <a:ea typeface="ＭＳ Ｐゴシック" panose="020B0600070205080204" pitchFamily="34" charset="-128"/>
              </a:rPr>
              <a:t>5,000</a:t>
            </a:r>
            <a:r>
              <a:rPr lang="en-US" altLang="en-US" sz="2000">
                <a:ea typeface="ＭＳ Ｐゴシック" panose="020B0600070205080204" pitchFamily="34" charset="-128"/>
              </a:rPr>
              <a:t> units will be sold.  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Given her experience, she believes there is a </a:t>
            </a:r>
            <a:r>
              <a:rPr lang="en-US" altLang="en-US" sz="2000" i="1">
                <a:ea typeface="ＭＳ Ｐゴシック" panose="020B0600070205080204" pitchFamily="34" charset="-128"/>
              </a:rPr>
              <a:t>90%</a:t>
            </a:r>
            <a:r>
              <a:rPr lang="en-US" altLang="en-US" sz="2000">
                <a:ea typeface="ＭＳ Ｐゴシック" panose="020B0600070205080204" pitchFamily="34" charset="-128"/>
              </a:rPr>
              <a:t> chance of selling more than </a:t>
            </a:r>
            <a:r>
              <a:rPr lang="en-US" altLang="en-US" sz="2000" i="1">
                <a:ea typeface="ＭＳ Ｐゴシック" panose="020B0600070205080204" pitchFamily="34" charset="-128"/>
              </a:rPr>
              <a:t>2,000</a:t>
            </a:r>
            <a:r>
              <a:rPr lang="en-US" altLang="en-US" sz="2000">
                <a:ea typeface="ＭＳ Ｐゴシック" panose="020B0600070205080204" pitchFamily="34" charset="-128"/>
              </a:rPr>
              <a:t> units, a </a:t>
            </a:r>
            <a:r>
              <a:rPr lang="en-US" altLang="en-US" sz="2000" i="1">
                <a:ea typeface="ＭＳ Ｐゴシック" panose="020B0600070205080204" pitchFamily="34" charset="-128"/>
              </a:rPr>
              <a:t>25%</a:t>
            </a:r>
            <a:r>
              <a:rPr lang="en-US" altLang="en-US" sz="2000">
                <a:ea typeface="ＭＳ Ｐゴシック" panose="020B0600070205080204" pitchFamily="34" charset="-128"/>
              </a:rPr>
              <a:t> chance of selling more than </a:t>
            </a:r>
            <a:r>
              <a:rPr lang="en-US" altLang="en-US" sz="2000" i="1">
                <a:ea typeface="ＭＳ Ｐゴシック" panose="020B0600070205080204" pitchFamily="34" charset="-128"/>
              </a:rPr>
              <a:t>2,500</a:t>
            </a:r>
            <a:r>
              <a:rPr lang="en-US" altLang="en-US" sz="2000">
                <a:ea typeface="ＭＳ Ｐゴシック" panose="020B0600070205080204" pitchFamily="34" charset="-128"/>
              </a:rPr>
              <a:t> units, and only a </a:t>
            </a:r>
            <a:r>
              <a:rPr lang="en-US" altLang="en-US" sz="2000" i="1">
                <a:ea typeface="ＭＳ Ｐゴシック" panose="020B0600070205080204" pitchFamily="34" charset="-128"/>
              </a:rPr>
              <a:t>1%</a:t>
            </a:r>
            <a:r>
              <a:rPr lang="en-US" altLang="en-US" sz="2000">
                <a:ea typeface="ＭＳ Ｐゴシック" panose="020B0600070205080204" pitchFamily="34" charset="-128"/>
              </a:rPr>
              <a:t> chance of selling more than </a:t>
            </a:r>
            <a:r>
              <a:rPr lang="en-US" altLang="en-US" sz="2000" i="1">
                <a:ea typeface="ＭＳ Ｐゴシック" panose="020B0600070205080204" pitchFamily="34" charset="-128"/>
              </a:rPr>
              <a:t>4,500</a:t>
            </a:r>
            <a:r>
              <a:rPr lang="en-US" altLang="en-US" sz="2000">
                <a:ea typeface="ＭＳ Ｐゴシック" panose="020B0600070205080204" pitchFamily="34" charset="-128"/>
              </a:rPr>
              <a:t> units.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Translating these information into a cumulative probability of being less than or equal to those goals for simulation input: </a:t>
            </a:r>
          </a:p>
        </p:txBody>
      </p:sp>
      <p:graphicFrame>
        <p:nvGraphicFramePr>
          <p:cNvPr id="63493" name="Object 7">
            <a:extLst>
              <a:ext uri="{FF2B5EF4-FFF2-40B4-BE49-F238E27FC236}">
                <a16:creationId xmlns:a16="http://schemas.microsoft.com/office/drawing/2014/main" id="{D1F54087-42F1-66D8-EA6D-A3E7EE4C2336}"/>
              </a:ext>
            </a:extLst>
          </p:cNvPr>
          <p:cNvGraphicFramePr>
            <a:graphicFrameLocks noChangeAspect="1"/>
          </p:cNvGraphicFramePr>
          <p:nvPr>
            <p:ph sz="half" idx="2"/>
          </p:nvPr>
        </p:nvGraphicFramePr>
        <p:xfrm>
          <a:off x="2133600" y="5257800"/>
          <a:ext cx="5181600" cy="1300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3797797" imgH="952450" progId="Excel.Sheet.8">
                  <p:embed/>
                </p:oleObj>
              </mc:Choice>
              <mc:Fallback>
                <p:oleObj name="Worksheet" r:id="rId3" imgW="3797797" imgH="952450" progId="Excel.Sheet.8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257800"/>
                        <a:ext cx="5181600" cy="1300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6">
            <a:extLst>
              <a:ext uri="{FF2B5EF4-FFF2-40B4-BE49-F238E27FC236}">
                <a16:creationId xmlns:a16="http://schemas.microsoft.com/office/drawing/2014/main" id="{C66525B2-A57B-A33D-1FB9-C968B4B3E1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56C8217-C7AD-487B-BF2F-E444BA3C8B1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B5357D81-7994-71F6-2DEE-07B88DA16C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>
                <a:solidFill>
                  <a:srgbClr val="FF0000"/>
                </a:solidFill>
                <a:ea typeface="ＭＳ Ｐゴシック" panose="020B0600070205080204" pitchFamily="34" charset="-128"/>
              </a:rPr>
              <a:t>9.7</a:t>
            </a:r>
            <a:r>
              <a:rPr lang="en-US" altLang="en-US" sz="3000">
                <a:ea typeface="ＭＳ Ｐゴシック" panose="020B0600070205080204" pitchFamily="34" charset="-128"/>
              </a:rPr>
              <a:t> Multivariate and Time-Series Input Models</a:t>
            </a:r>
            <a:endParaRPr lang="en-US" altLang="en-US" sz="30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2EC9552-D3B2-FEE6-92BD-3C28F93F23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9530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Multivariate: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For example, lead time and annual demand for an inventory model, increase in demand results in lead time increase, hence variables are dependent.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Time-series: 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For example, time between arrivals of orders to buy and sell stocks, buy and sell orders tend to arrive in bursts, hence, times between arrivals are dependent.</a:t>
            </a:r>
          </a:p>
        </p:txBody>
      </p:sp>
      <p:sp>
        <p:nvSpPr>
          <p:cNvPr id="65541" name="AutoShape 5">
            <a:extLst>
              <a:ext uri="{FF2B5EF4-FFF2-40B4-BE49-F238E27FC236}">
                <a16:creationId xmlns:a16="http://schemas.microsoft.com/office/drawing/2014/main" id="{BFC05A96-D1F4-3E15-EFE0-9E2682ED9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6">
            <a:extLst>
              <a:ext uri="{FF2B5EF4-FFF2-40B4-BE49-F238E27FC236}">
                <a16:creationId xmlns:a16="http://schemas.microsoft.com/office/drawing/2014/main" id="{BC2F1EFB-1DD0-AA70-024B-A2F6CAB1DE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5FCBA9B-A881-4E8A-8F0F-B498FAB840E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B1997B55-19AE-8658-D4A1-562594FEA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Covariance and Correlation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4AE5E96B-39E4-943B-DF88-EC89D0B209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Consider the model that describes relationship between </a:t>
            </a:r>
            <a:r>
              <a:rPr lang="en-US" altLang="en-US" sz="1800" i="1">
                <a:ea typeface="ＭＳ Ｐゴシック" panose="020B0600070205080204" pitchFamily="34" charset="-128"/>
              </a:rPr>
              <a:t>X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1800">
                <a:ea typeface="ＭＳ Ｐゴシック" panose="020B0600070205080204" pitchFamily="34" charset="-128"/>
              </a:rPr>
              <a:t> and </a:t>
            </a:r>
            <a:r>
              <a:rPr lang="en-US" altLang="en-US" sz="1800" i="1">
                <a:ea typeface="ＭＳ Ｐゴシック" panose="020B0600070205080204" pitchFamily="34" charset="-128"/>
              </a:rPr>
              <a:t>X</a:t>
            </a:r>
            <a:r>
              <a:rPr lang="en-US" altLang="en-US" sz="18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sz="2000" i="1">
              <a:latin typeface="Symbol" panose="05050102010706020507" pitchFamily="18" charset="2"/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b</a:t>
            </a:r>
            <a:r>
              <a:rPr lang="en-US" altLang="en-US" sz="2000" i="1">
                <a:ea typeface="ＭＳ Ｐゴシック" panose="020B0600070205080204" pitchFamily="34" charset="-128"/>
              </a:rPr>
              <a:t> = 0,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 are statistically independent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b</a:t>
            </a:r>
            <a:r>
              <a:rPr lang="en-US" altLang="en-US" sz="2000" i="1">
                <a:ea typeface="ＭＳ Ｐゴシック" panose="020B0600070205080204" pitchFamily="34" charset="-128"/>
              </a:rPr>
              <a:t> &gt; 0,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 tend to be above or below their means together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b</a:t>
            </a:r>
            <a:r>
              <a:rPr lang="en-US" altLang="en-US" sz="2000" i="1">
                <a:ea typeface="ＭＳ Ｐゴシック" panose="020B0600070205080204" pitchFamily="34" charset="-128"/>
              </a:rPr>
              <a:t> &lt; 0,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 tend to be on opposite sides of their means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Covariance between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>
                <a:ea typeface="ＭＳ Ｐゴシック" panose="020B0600070205080204" pitchFamily="34" charset="-128"/>
              </a:rPr>
              <a:t> and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>
                <a:ea typeface="ＭＳ Ｐゴシック" panose="020B0600070205080204" pitchFamily="34" charset="-128"/>
              </a:rPr>
              <a:t> :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000">
              <a:ea typeface="ＭＳ Ｐゴシック" panose="020B0600070205080204" pitchFamily="34" charset="-128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	  	</a:t>
            </a:r>
            <a:r>
              <a:rPr lang="en-US" altLang="en-US" sz="2000" i="1">
                <a:ea typeface="ＭＳ Ｐゴシック" panose="020B0600070205080204" pitchFamily="34" charset="-128"/>
              </a:rPr>
              <a:t>= 0</a:t>
            </a:r>
            <a:r>
              <a:rPr lang="en-US" altLang="en-US" sz="2000">
                <a:ea typeface="ＭＳ Ｐゴシック" panose="020B0600070205080204" pitchFamily="34" charset="-128"/>
              </a:rPr>
              <a:t>, 		  </a:t>
            </a:r>
            <a:r>
              <a:rPr lang="en-US" altLang="en-US" sz="2000" i="1">
                <a:ea typeface="ＭＳ Ｐゴシック" panose="020B0600070205080204" pitchFamily="34" charset="-128"/>
              </a:rPr>
              <a:t>= 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>
                <a:ea typeface="ＭＳ Ｐゴシック" panose="020B0600070205080204" pitchFamily="34" charset="-128"/>
              </a:rPr>
              <a:t>where      c</a:t>
            </a:r>
            <a:r>
              <a:rPr lang="en-US" altLang="en-US" sz="2000" i="1">
                <a:ea typeface="ＭＳ Ｐゴシック" panose="020B0600070205080204" pitchFamily="34" charset="-128"/>
              </a:rPr>
              <a:t>ov</a:t>
            </a:r>
            <a:r>
              <a:rPr lang="en-US" altLang="en-US" sz="2000">
                <a:ea typeface="ＭＳ Ｐゴシック" panose="020B0600070205080204" pitchFamily="34" charset="-128"/>
              </a:rPr>
              <a:t>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) 	</a:t>
            </a:r>
            <a:r>
              <a:rPr lang="en-US" altLang="en-US" sz="2000" i="1">
                <a:ea typeface="ＭＳ Ｐゴシック" panose="020B0600070205080204" pitchFamily="34" charset="-128"/>
              </a:rPr>
              <a:t>&lt; 0</a:t>
            </a:r>
            <a:r>
              <a:rPr lang="en-US" altLang="en-US" sz="2000">
                <a:ea typeface="ＭＳ Ｐゴシック" panose="020B0600070205080204" pitchFamily="34" charset="-128"/>
              </a:rPr>
              <a:t>, 	then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a typeface="ＭＳ Ｐゴシック" panose="020B0600070205080204" pitchFamily="34" charset="-128"/>
              </a:rPr>
              <a:t> 	  </a:t>
            </a:r>
            <a:r>
              <a:rPr lang="en-US" altLang="en-US" sz="2000" i="1">
                <a:ea typeface="ＭＳ Ｐゴシック" panose="020B0600070205080204" pitchFamily="34" charset="-128"/>
              </a:rPr>
              <a:t>&lt; 0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		  	</a:t>
            </a:r>
            <a:r>
              <a:rPr lang="en-US" altLang="en-US" sz="2000" i="1">
                <a:ea typeface="ＭＳ Ｐゴシック" panose="020B0600070205080204" pitchFamily="34" charset="-128"/>
              </a:rPr>
              <a:t>&gt; 0</a:t>
            </a:r>
            <a:r>
              <a:rPr lang="en-US" altLang="en-US" sz="2000">
                <a:ea typeface="ＭＳ Ｐゴシック" panose="020B0600070205080204" pitchFamily="34" charset="-128"/>
              </a:rPr>
              <a:t>, 		  </a:t>
            </a:r>
            <a:r>
              <a:rPr lang="en-US" altLang="en-US" sz="2000" i="1">
                <a:ea typeface="ＭＳ Ｐゴシック" panose="020B0600070205080204" pitchFamily="34" charset="-128"/>
              </a:rPr>
              <a:t>&gt; 0</a:t>
            </a:r>
          </a:p>
        </p:txBody>
      </p:sp>
      <p:graphicFrame>
        <p:nvGraphicFramePr>
          <p:cNvPr id="67589" name="Object 7">
            <a:extLst>
              <a:ext uri="{FF2B5EF4-FFF2-40B4-BE49-F238E27FC236}">
                <a16:creationId xmlns:a16="http://schemas.microsoft.com/office/drawing/2014/main" id="{417F9D7C-2AAE-9DF6-873C-CBE5FFACFFBC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971800" y="1905000"/>
          <a:ext cx="32766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215900" progId="Equation.3">
                  <p:embed/>
                </p:oleObj>
              </mc:Choice>
              <mc:Fallback>
                <p:oleObj name="Equation" r:id="rId3" imgW="16510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1905000"/>
                        <a:ext cx="32766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AutoShape 4">
            <a:extLst>
              <a:ext uri="{FF2B5EF4-FFF2-40B4-BE49-F238E27FC236}">
                <a16:creationId xmlns:a16="http://schemas.microsoft.com/office/drawing/2014/main" id="{B2DFDA66-45DF-A281-FD83-CA7AA63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sp>
        <p:nvSpPr>
          <p:cNvPr id="67591" name="AutoShape 5">
            <a:extLst>
              <a:ext uri="{FF2B5EF4-FFF2-40B4-BE49-F238E27FC236}">
                <a16:creationId xmlns:a16="http://schemas.microsoft.com/office/drawing/2014/main" id="{D036BA31-8A26-E949-9FFC-0194DE9FC993}"/>
              </a:ext>
            </a:extLst>
          </p:cNvPr>
          <p:cNvSpPr>
            <a:spLocks/>
          </p:cNvSpPr>
          <p:nvPr/>
        </p:nvSpPr>
        <p:spPr bwMode="auto">
          <a:xfrm>
            <a:off x="3962400" y="49530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67592" name="AutoShape 6">
            <a:extLst>
              <a:ext uri="{FF2B5EF4-FFF2-40B4-BE49-F238E27FC236}">
                <a16:creationId xmlns:a16="http://schemas.microsoft.com/office/drawing/2014/main" id="{D57C0F63-C587-B00A-0B97-33A9E4C358E3}"/>
              </a:ext>
            </a:extLst>
          </p:cNvPr>
          <p:cNvSpPr>
            <a:spLocks/>
          </p:cNvSpPr>
          <p:nvPr/>
        </p:nvSpPr>
        <p:spPr bwMode="auto">
          <a:xfrm>
            <a:off x="6019800" y="48768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graphicFrame>
        <p:nvGraphicFramePr>
          <p:cNvPr id="67593" name="Object 9">
            <a:extLst>
              <a:ext uri="{FF2B5EF4-FFF2-40B4-BE49-F238E27FC236}">
                <a16:creationId xmlns:a16="http://schemas.microsoft.com/office/drawing/2014/main" id="{5385BEE0-2BE4-F22C-6758-F7248C905800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1752600" y="4262438"/>
          <a:ext cx="60960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78200" imgH="215900" progId="Equation.3">
                  <p:embed/>
                </p:oleObj>
              </mc:Choice>
              <mc:Fallback>
                <p:oleObj name="Equation" r:id="rId5" imgW="3378200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262438"/>
                        <a:ext cx="60960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4" name="AutoShape 11">
            <a:extLst>
              <a:ext uri="{FF2B5EF4-FFF2-40B4-BE49-F238E27FC236}">
                <a16:creationId xmlns:a16="http://schemas.microsoft.com/office/drawing/2014/main" id="{41EE24A4-C9D7-770A-3BBA-DFFDB5F3C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981200"/>
            <a:ext cx="1752600" cy="838200"/>
          </a:xfrm>
          <a:prstGeom prst="wedgeRoundRectCallout">
            <a:avLst>
              <a:gd name="adj1" fmla="val -79167"/>
              <a:gd name="adj2" fmla="val -24241"/>
              <a:gd name="adj3" fmla="val 16667"/>
            </a:avLst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200">
                <a:latin typeface="Symbol" panose="05050102010706020507" pitchFamily="18" charset="2"/>
              </a:rPr>
              <a:t>e</a:t>
            </a:r>
            <a:r>
              <a:rPr lang="en-US" altLang="en-US" sz="1200"/>
              <a:t> is a random variable with mean </a:t>
            </a:r>
            <a:r>
              <a:rPr lang="en-US" altLang="en-US" sz="1200" i="1"/>
              <a:t>0</a:t>
            </a:r>
            <a:r>
              <a:rPr lang="en-US" altLang="en-US" sz="1200"/>
              <a:t> and is independent of </a:t>
            </a:r>
            <a:r>
              <a:rPr lang="en-US" altLang="en-US" sz="1200" i="1"/>
              <a:t>X</a:t>
            </a:r>
            <a:r>
              <a:rPr lang="en-US" altLang="en-US" sz="1200" i="1" baseline="-25000"/>
              <a:t>2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6">
            <a:extLst>
              <a:ext uri="{FF2B5EF4-FFF2-40B4-BE49-F238E27FC236}">
                <a16:creationId xmlns:a16="http://schemas.microsoft.com/office/drawing/2014/main" id="{242FDCEE-5047-0B44-8D52-C9E98407B6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FEED11-C639-45BD-9144-56EB24D41E6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0955F400-2627-D687-5FCE-CD511EF971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Covariance and Correlation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2A293AAC-4A4E-CF61-D986-FB0DDFBBAC5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Correlation between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 (values between </a:t>
            </a:r>
            <a:r>
              <a:rPr lang="en-US" altLang="en-US" sz="2000" i="1">
                <a:ea typeface="ＭＳ Ｐゴシック" panose="020B0600070205080204" pitchFamily="34" charset="-128"/>
              </a:rPr>
              <a:t>-1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)</a:t>
            </a:r>
            <a:r>
              <a:rPr lang="en-US" altLang="en-US" sz="2200">
                <a:ea typeface="ＭＳ Ｐゴシック" panose="020B0600070205080204" pitchFamily="34" charset="-128"/>
              </a:rPr>
              <a:t>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1800">
                <a:ea typeface="ＭＳ Ｐゴシック" panose="020B0600070205080204" pitchFamily="34" charset="-128"/>
              </a:rPr>
              <a:t>	</a:t>
            </a:r>
            <a:r>
              <a:rPr lang="en-US" altLang="en-US" sz="2000">
                <a:ea typeface="ＭＳ Ｐゴシック" panose="020B0600070205080204" pitchFamily="34" charset="-128"/>
              </a:rPr>
              <a:t>		  	</a:t>
            </a:r>
            <a:r>
              <a:rPr lang="en-US" altLang="en-US" sz="2000" i="1">
                <a:ea typeface="ＭＳ Ｐゴシック" panose="020B0600070205080204" pitchFamily="34" charset="-128"/>
              </a:rPr>
              <a:t>= 0</a:t>
            </a:r>
            <a:r>
              <a:rPr lang="en-US" altLang="en-US" sz="2000">
                <a:ea typeface="ＭＳ Ｐゴシック" panose="020B0600070205080204" pitchFamily="34" charset="-128"/>
              </a:rPr>
              <a:t>, 		  </a:t>
            </a:r>
            <a:r>
              <a:rPr lang="en-US" altLang="en-US" sz="2000" i="1">
                <a:ea typeface="ＭＳ Ｐゴシック" panose="020B0600070205080204" pitchFamily="34" charset="-128"/>
              </a:rPr>
              <a:t>= 0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where      c</a:t>
            </a:r>
            <a:r>
              <a:rPr lang="en-US" altLang="en-US" sz="2000" i="1">
                <a:ea typeface="ＭＳ Ｐゴシック" panose="020B0600070205080204" pitchFamily="34" charset="-128"/>
              </a:rPr>
              <a:t>orr</a:t>
            </a:r>
            <a:r>
              <a:rPr lang="en-US" altLang="en-US" sz="2000">
                <a:ea typeface="ＭＳ Ｐゴシック" panose="020B0600070205080204" pitchFamily="34" charset="-128"/>
              </a:rPr>
              <a:t>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,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) 	</a:t>
            </a:r>
            <a:r>
              <a:rPr lang="en-US" altLang="en-US" sz="2000" i="1">
                <a:ea typeface="ＭＳ Ｐゴシック" panose="020B0600070205080204" pitchFamily="34" charset="-128"/>
              </a:rPr>
              <a:t>&lt; 0</a:t>
            </a:r>
            <a:r>
              <a:rPr lang="en-US" altLang="en-US" sz="2000">
                <a:ea typeface="ＭＳ Ｐゴシック" panose="020B0600070205080204" pitchFamily="34" charset="-128"/>
              </a:rPr>
              <a:t>, 	then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b</a:t>
            </a:r>
            <a:r>
              <a:rPr lang="en-US" altLang="en-US" sz="2000">
                <a:ea typeface="ＭＳ Ｐゴシック" panose="020B0600070205080204" pitchFamily="34" charset="-128"/>
              </a:rPr>
              <a:t> 	  </a:t>
            </a:r>
            <a:r>
              <a:rPr lang="en-US" altLang="en-US" sz="2000" i="1">
                <a:ea typeface="ＭＳ Ｐゴシック" panose="020B0600070205080204" pitchFamily="34" charset="-128"/>
              </a:rPr>
              <a:t>&lt; 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ea typeface="ＭＳ Ｐゴシック" panose="020B0600070205080204" pitchFamily="34" charset="-128"/>
              </a:rPr>
              <a:t>				 	</a:t>
            </a:r>
            <a:r>
              <a:rPr lang="en-US" altLang="en-US" sz="2000" i="1">
                <a:ea typeface="ＭＳ Ｐゴシック" panose="020B0600070205080204" pitchFamily="34" charset="-128"/>
              </a:rPr>
              <a:t>&gt; 0</a:t>
            </a:r>
            <a:r>
              <a:rPr lang="en-US" altLang="en-US" sz="2000">
                <a:ea typeface="ＭＳ Ｐゴシック" panose="020B0600070205080204" pitchFamily="34" charset="-128"/>
              </a:rPr>
              <a:t>, 		  </a:t>
            </a:r>
            <a:r>
              <a:rPr lang="en-US" altLang="en-US" sz="2000" i="1">
                <a:ea typeface="ＭＳ Ｐゴシック" panose="020B0600070205080204" pitchFamily="34" charset="-128"/>
              </a:rPr>
              <a:t>&gt; 0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The closer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r</a:t>
            </a:r>
            <a:r>
              <a:rPr lang="en-US" altLang="en-US" sz="2000">
                <a:ea typeface="ＭＳ Ｐゴシック" panose="020B0600070205080204" pitchFamily="34" charset="-128"/>
              </a:rPr>
              <a:t> is to </a:t>
            </a:r>
            <a:r>
              <a:rPr lang="en-US" altLang="en-US" sz="2000" i="1">
                <a:ea typeface="ＭＳ Ｐゴシック" panose="020B0600070205080204" pitchFamily="34" charset="-128"/>
              </a:rPr>
              <a:t>-1</a:t>
            </a:r>
            <a:r>
              <a:rPr lang="en-US" altLang="en-US" sz="2000">
                <a:ea typeface="ＭＳ Ｐゴシック" panose="020B0600070205080204" pitchFamily="34" charset="-128"/>
              </a:rPr>
              <a:t> or </a:t>
            </a:r>
            <a:r>
              <a:rPr lang="en-US" altLang="en-US" sz="2000" i="1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, the stronger the linear relationship is between</a:t>
            </a:r>
            <a:r>
              <a:rPr lang="en-US" altLang="en-US" sz="2000" i="1">
                <a:ea typeface="ＭＳ Ｐゴシック" panose="020B0600070205080204" pitchFamily="34" charset="-128"/>
              </a:rPr>
              <a:t> 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>
                <a:ea typeface="ＭＳ Ｐゴシック" panose="020B0600070205080204" pitchFamily="34" charset="-128"/>
              </a:rPr>
              <a:t> and 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.</a:t>
            </a:r>
          </a:p>
        </p:txBody>
      </p:sp>
      <p:graphicFrame>
        <p:nvGraphicFramePr>
          <p:cNvPr id="69637" name="Object 4">
            <a:extLst>
              <a:ext uri="{FF2B5EF4-FFF2-40B4-BE49-F238E27FC236}">
                <a16:creationId xmlns:a16="http://schemas.microsoft.com/office/drawing/2014/main" id="{03B74528-18DC-1F5B-CFB2-EE01EAB8098E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743200" y="1965325"/>
          <a:ext cx="3200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500" imgH="431800" progId="Equation.3">
                  <p:embed/>
                </p:oleObj>
              </mc:Choice>
              <mc:Fallback>
                <p:oleObj name="Equation" r:id="rId3" imgW="19685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65325"/>
                        <a:ext cx="3200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8" name="AutoShape 5">
            <a:extLst>
              <a:ext uri="{FF2B5EF4-FFF2-40B4-BE49-F238E27FC236}">
                <a16:creationId xmlns:a16="http://schemas.microsoft.com/office/drawing/2014/main" id="{9EEB2A08-5BED-9158-294F-9938DF953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sp>
        <p:nvSpPr>
          <p:cNvPr id="69639" name="AutoShape 10">
            <a:extLst>
              <a:ext uri="{FF2B5EF4-FFF2-40B4-BE49-F238E27FC236}">
                <a16:creationId xmlns:a16="http://schemas.microsoft.com/office/drawing/2014/main" id="{348547AD-2F7D-73B8-ED2D-10C43E764473}"/>
              </a:ext>
            </a:extLst>
          </p:cNvPr>
          <p:cNvSpPr>
            <a:spLocks/>
          </p:cNvSpPr>
          <p:nvPr/>
        </p:nvSpPr>
        <p:spPr bwMode="auto">
          <a:xfrm>
            <a:off x="4038600" y="32004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  <p:sp>
        <p:nvSpPr>
          <p:cNvPr id="69640" name="AutoShape 11">
            <a:extLst>
              <a:ext uri="{FF2B5EF4-FFF2-40B4-BE49-F238E27FC236}">
                <a16:creationId xmlns:a16="http://schemas.microsoft.com/office/drawing/2014/main" id="{092EFB10-57F3-9377-0E61-FCC2FB61F7A5}"/>
              </a:ext>
            </a:extLst>
          </p:cNvPr>
          <p:cNvSpPr>
            <a:spLocks/>
          </p:cNvSpPr>
          <p:nvPr/>
        </p:nvSpPr>
        <p:spPr bwMode="auto">
          <a:xfrm>
            <a:off x="6019800" y="3276600"/>
            <a:ext cx="76200" cy="838200"/>
          </a:xfrm>
          <a:prstGeom prst="leftBrace">
            <a:avLst>
              <a:gd name="adj1" fmla="val 9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endParaRPr lang="en-US" altLang="en-US" sz="1400"/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6">
            <a:extLst>
              <a:ext uri="{FF2B5EF4-FFF2-40B4-BE49-F238E27FC236}">
                <a16:creationId xmlns:a16="http://schemas.microsoft.com/office/drawing/2014/main" id="{8EDD9EE2-C3BA-2262-2180-232517A78E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AA0BCF-DC15-48B4-9448-9A4783670D0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A0CEC49E-B4CA-424A-8792-D1A29E0B7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Covariance and Correlation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459D6BFE-304D-1031-C879-B1407C17A4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A time series is a sequence of random variables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3</a:t>
            </a:r>
            <a:r>
              <a:rPr lang="en-US" altLang="en-US" sz="2200">
                <a:ea typeface="ＭＳ Ｐゴシック" panose="020B0600070205080204" pitchFamily="34" charset="-128"/>
              </a:rPr>
              <a:t>, … , are identically distributed (same mean and variance) but dependent.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cov(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t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t+h</a:t>
            </a:r>
            <a:r>
              <a:rPr lang="en-US" altLang="en-US" sz="2000">
                <a:ea typeface="ＭＳ Ｐゴシック" panose="020B0600070205080204" pitchFamily="34" charset="-128"/>
              </a:rPr>
              <a:t>) is the </a:t>
            </a:r>
            <a:r>
              <a:rPr lang="en-US" altLang="en-US" sz="2000" i="1">
                <a:ea typeface="ＭＳ Ｐゴシック" panose="020B0600070205080204" pitchFamily="34" charset="-128"/>
              </a:rPr>
              <a:t>lag-h autocovariance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corr(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t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t+h</a:t>
            </a:r>
            <a:r>
              <a:rPr lang="en-US" altLang="en-US" sz="2000">
                <a:ea typeface="ＭＳ Ｐゴシック" panose="020B0600070205080204" pitchFamily="34" charset="-128"/>
              </a:rPr>
              <a:t>) is the </a:t>
            </a:r>
            <a:r>
              <a:rPr lang="en-US" altLang="en-US" sz="2000" i="1">
                <a:ea typeface="ＭＳ Ｐゴシック" panose="020B0600070205080204" pitchFamily="34" charset="-128"/>
              </a:rPr>
              <a:t>lag-h autocorrelation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If the autocovariance value depends only on </a:t>
            </a:r>
            <a:r>
              <a:rPr lang="en-US" altLang="en-US" sz="2000" i="1">
                <a:ea typeface="ＭＳ Ｐゴシック" panose="020B0600070205080204" pitchFamily="34" charset="-128"/>
              </a:rPr>
              <a:t>h</a:t>
            </a:r>
            <a:r>
              <a:rPr lang="en-US" altLang="en-US" sz="2000">
                <a:ea typeface="ＭＳ Ｐゴシック" panose="020B0600070205080204" pitchFamily="34" charset="-128"/>
              </a:rPr>
              <a:t> and not on</a:t>
            </a:r>
            <a:r>
              <a:rPr lang="en-US" altLang="en-US" sz="2000" i="1">
                <a:ea typeface="ＭＳ Ｐゴシック" panose="020B0600070205080204" pitchFamily="34" charset="-128"/>
              </a:rPr>
              <a:t> t</a:t>
            </a:r>
            <a:r>
              <a:rPr lang="en-US" altLang="en-US" sz="2000">
                <a:ea typeface="ＭＳ Ｐゴシック" panose="020B0600070205080204" pitchFamily="34" charset="-128"/>
              </a:rPr>
              <a:t>, the time series is covariance stationary</a:t>
            </a:r>
          </a:p>
        </p:txBody>
      </p:sp>
      <p:sp>
        <p:nvSpPr>
          <p:cNvPr id="71685" name="AutoShape 5">
            <a:extLst>
              <a:ext uri="{FF2B5EF4-FFF2-40B4-BE49-F238E27FC236}">
                <a16:creationId xmlns:a16="http://schemas.microsoft.com/office/drawing/2014/main" id="{C4D836D2-A0C7-2C42-08AF-3669197A9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6">
            <a:extLst>
              <a:ext uri="{FF2B5EF4-FFF2-40B4-BE49-F238E27FC236}">
                <a16:creationId xmlns:a16="http://schemas.microsoft.com/office/drawing/2014/main" id="{166DC76F-4242-9E3A-B6E2-6C208B9F20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D684F8-C171-4973-8166-8524A76520C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8DEE601C-9E06-E07A-FB00-B036BF3CFD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Multivariate Input Models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DF73EB70-90CA-40E1-1DDC-54EE6D5E435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47800"/>
            <a:ext cx="8382000" cy="50292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ea typeface="ＭＳ Ｐゴシック" panose="020B0600070205080204" pitchFamily="34" charset="-128"/>
              </a:rPr>
              <a:t>and</a:t>
            </a:r>
            <a:r>
              <a:rPr lang="en-US" altLang="en-US" sz="2200" i="1">
                <a:ea typeface="ＭＳ Ｐゴシック" panose="020B0600070205080204" pitchFamily="34" charset="-128"/>
              </a:rPr>
              <a:t>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ea typeface="ＭＳ Ｐゴシック" panose="020B0600070205080204" pitchFamily="34" charset="-128"/>
              </a:rPr>
              <a:t>are normally distributed, dependence between them can be modeled by the bivariate normal distribution with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m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>
                <a:ea typeface="ＭＳ Ｐゴシック" panose="020B0600070205080204" pitchFamily="34" charset="-128"/>
              </a:rPr>
              <a:t>,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m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,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,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200">
                <a:ea typeface="ＭＳ Ｐゴシック" panose="020B0600070205080204" pitchFamily="34" charset="-128"/>
              </a:rPr>
              <a:t> and correlation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r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To Estimate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m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>
                <a:ea typeface="ＭＳ Ｐゴシック" panose="020B0600070205080204" pitchFamily="34" charset="-128"/>
              </a:rPr>
              <a:t>,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m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,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,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000">
                <a:ea typeface="ＭＳ Ｐゴシック" panose="020B0600070205080204" pitchFamily="34" charset="-128"/>
              </a:rPr>
              <a:t>, see “Parameter Estimation” </a:t>
            </a:r>
            <a:r>
              <a:rPr lang="en-US" altLang="en-US" sz="1800">
                <a:ea typeface="ＭＳ Ｐゴシック" panose="020B0600070205080204" pitchFamily="34" charset="-128"/>
              </a:rPr>
              <a:t>(Section 9.3.2)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To Estimate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r</a:t>
            </a:r>
            <a:r>
              <a:rPr lang="en-US" altLang="en-US" sz="2000">
                <a:ea typeface="ＭＳ Ｐゴシック" panose="020B0600070205080204" pitchFamily="34" charset="-128"/>
              </a:rPr>
              <a:t>, suppose we have n independent and identically distributed pairs 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11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21</a:t>
            </a:r>
            <a:r>
              <a:rPr lang="en-US" altLang="en-US" sz="2000">
                <a:ea typeface="ＭＳ Ｐゴシック" panose="020B0600070205080204" pitchFamily="34" charset="-128"/>
              </a:rPr>
              <a:t>), 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12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22</a:t>
            </a:r>
            <a:r>
              <a:rPr lang="en-US" altLang="en-US" sz="2000">
                <a:ea typeface="ＭＳ Ｐゴシック" panose="020B0600070205080204" pitchFamily="34" charset="-128"/>
              </a:rPr>
              <a:t>), … (</a:t>
            </a:r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1n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2n</a:t>
            </a:r>
            <a:r>
              <a:rPr lang="en-US" altLang="en-US" sz="2000">
                <a:ea typeface="ＭＳ Ｐゴシック" panose="020B0600070205080204" pitchFamily="34" charset="-128"/>
              </a:rPr>
              <a:t>), then: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73733" name="AutoShape 4">
            <a:extLst>
              <a:ext uri="{FF2B5EF4-FFF2-40B4-BE49-F238E27FC236}">
                <a16:creationId xmlns:a16="http://schemas.microsoft.com/office/drawing/2014/main" id="{7385C9BD-88B2-4005-D68F-1D0C3B053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73734" name="Object 5">
            <a:extLst>
              <a:ext uri="{FF2B5EF4-FFF2-40B4-BE49-F238E27FC236}">
                <a16:creationId xmlns:a16="http://schemas.microsoft.com/office/drawing/2014/main" id="{1D5B5654-1B88-178C-948F-EE03B3D37660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2667000" y="3962400"/>
          <a:ext cx="4419600" cy="157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05100" imgH="965200" progId="Equation.3">
                  <p:embed/>
                </p:oleObj>
              </mc:Choice>
              <mc:Fallback>
                <p:oleObj name="Equation" r:id="rId3" imgW="2705100" imgH="965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4419600" cy="1576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6">
            <a:extLst>
              <a:ext uri="{FF2B5EF4-FFF2-40B4-BE49-F238E27FC236}">
                <a16:creationId xmlns:a16="http://schemas.microsoft.com/office/drawing/2014/main" id="{571D97F2-D51A-5484-3B13-B859BF607C14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667000" y="5715000"/>
          <a:ext cx="1712913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100" imgH="431800" progId="Equation.3">
                  <p:embed/>
                </p:oleObj>
              </mc:Choice>
              <mc:Fallback>
                <p:oleObj name="Equation" r:id="rId5" imgW="10541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715000"/>
                        <a:ext cx="1712913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6" name="AutoShape 8">
            <a:extLst>
              <a:ext uri="{FF2B5EF4-FFF2-40B4-BE49-F238E27FC236}">
                <a16:creationId xmlns:a16="http://schemas.microsoft.com/office/drawing/2014/main" id="{E3476AEE-D124-988A-140D-F5B3D8AD3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6172200"/>
            <a:ext cx="1981200" cy="381000"/>
          </a:xfrm>
          <a:prstGeom prst="wedgeRoundRectCallout">
            <a:avLst>
              <a:gd name="adj1" fmla="val -91986"/>
              <a:gd name="adj2" fmla="val -39583"/>
              <a:gd name="adj3" fmla="val 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None/>
            </a:pPr>
            <a:r>
              <a:rPr lang="en-US" altLang="en-US" sz="1400"/>
              <a:t>Sample deviation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6">
            <a:extLst>
              <a:ext uri="{FF2B5EF4-FFF2-40B4-BE49-F238E27FC236}">
                <a16:creationId xmlns:a16="http://schemas.microsoft.com/office/drawing/2014/main" id="{3E9C847F-7A0E-CA23-EF43-FC401EE302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265731-415B-49A3-B3E6-368C9308F19F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C702D02E-446C-0D1D-16B4-8ADAFE3FD8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Time-Series Input Models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5407C2D0-5A11-A1C1-531B-A400C9E142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 i="1">
                <a:ea typeface="ＭＳ Ｐゴシック" panose="020B0600070205080204" pitchFamily="34" charset="-128"/>
              </a:rPr>
              <a:t>,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3</a:t>
            </a:r>
            <a:r>
              <a:rPr lang="en-US" altLang="en-US" sz="2200" i="1">
                <a:ea typeface="ＭＳ Ｐゴシック" panose="020B0600070205080204" pitchFamily="34" charset="-128"/>
              </a:rPr>
              <a:t>,…</a:t>
            </a:r>
            <a:r>
              <a:rPr lang="en-US" altLang="en-US" sz="2200">
                <a:ea typeface="ＭＳ Ｐゴシック" panose="020B0600070205080204" pitchFamily="34" charset="-128"/>
              </a:rPr>
              <a:t> is a sequence of identically distributed, but dependent and covariance-stationary random variables, then we can represent the process as follows: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Autoregressive order-1 model, AR(1)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Exponential autoregressive order-1 model, EAR(1)</a:t>
            </a:r>
          </a:p>
          <a:p>
            <a:pPr lvl="2" eaLnBrk="1" hangingPunct="1"/>
            <a:r>
              <a:rPr lang="en-US" altLang="en-US" sz="2000">
                <a:ea typeface="ＭＳ Ｐゴシック" panose="020B0600070205080204" pitchFamily="34" charset="-128"/>
              </a:rPr>
              <a:t>Both have the characteristics that:</a:t>
            </a: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2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Lag-h</a:t>
            </a:r>
            <a:r>
              <a:rPr lang="en-US" altLang="en-US" sz="2000">
                <a:ea typeface="ＭＳ Ｐゴシック" panose="020B0600070205080204" pitchFamily="34" charset="-128"/>
              </a:rPr>
              <a:t> autocorrelation decreases geometrically as the lag increases, hence, observations far apart in time are nearly independent</a:t>
            </a:r>
          </a:p>
        </p:txBody>
      </p:sp>
      <p:sp>
        <p:nvSpPr>
          <p:cNvPr id="75781" name="AutoShape 4">
            <a:extLst>
              <a:ext uri="{FF2B5EF4-FFF2-40B4-BE49-F238E27FC236}">
                <a16:creationId xmlns:a16="http://schemas.microsoft.com/office/drawing/2014/main" id="{3D4AA19F-D87B-43D0-10B7-6DE4B7FDA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75782" name="Object 6">
            <a:extLst>
              <a:ext uri="{FF2B5EF4-FFF2-40B4-BE49-F238E27FC236}">
                <a16:creationId xmlns:a16="http://schemas.microsoft.com/office/drawing/2014/main" id="{066DF2FE-5BF3-19E5-51D6-26ED0569CEA2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2438400" y="3751263"/>
          <a:ext cx="457200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14600" imgH="241300" progId="Equation.3">
                  <p:embed/>
                </p:oleObj>
              </mc:Choice>
              <mc:Fallback>
                <p:oleObj name="Equation" r:id="rId3" imgW="25146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3751263"/>
                        <a:ext cx="4572000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6">
            <a:extLst>
              <a:ext uri="{FF2B5EF4-FFF2-40B4-BE49-F238E27FC236}">
                <a16:creationId xmlns:a16="http://schemas.microsoft.com/office/drawing/2014/main" id="{4F28F7C9-FB40-3D37-5C43-48961FA989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2EE4A08-6490-4598-9113-235EFFEA3170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EC4E80A-AF23-7878-B228-846FDEA36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AR(1) Time-Series Input Models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3F0FA641-203D-D29B-E0A0-E8F5112D1E4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419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Consider the time-series model: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>
                <a:ea typeface="ＭＳ Ｐゴシック" panose="020B0600070205080204" pitchFamily="34" charset="-128"/>
              </a:rPr>
              <a:t> is chosen appropriately, then </a:t>
            </a: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, …</a:t>
            </a:r>
            <a:r>
              <a:rPr lang="en-US" altLang="en-US" sz="2000">
                <a:ea typeface="ＭＳ Ｐゴシック" panose="020B0600070205080204" pitchFamily="34" charset="-128"/>
              </a:rPr>
              <a:t> are normally distributed with </a:t>
            </a:r>
            <a:r>
              <a:rPr lang="en-US" altLang="en-US" sz="2000" i="1">
                <a:ea typeface="ＭＳ Ｐゴシック" panose="020B0600070205080204" pitchFamily="34" charset="-128"/>
              </a:rPr>
              <a:t>mean =</a:t>
            </a:r>
            <a:r>
              <a:rPr lang="en-US" altLang="en-US" sz="2000">
                <a:ea typeface="ＭＳ Ｐゴシック" panose="020B0600070205080204" pitchFamily="34" charset="-128"/>
              </a:rPr>
              <a:t>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m</a:t>
            </a:r>
            <a:r>
              <a:rPr lang="en-US" altLang="en-US" sz="2000" i="1">
                <a:ea typeface="ＭＳ Ｐゴシック" panose="020B0600070205080204" pitchFamily="34" charset="-128"/>
              </a:rPr>
              <a:t>, </a:t>
            </a:r>
            <a:r>
              <a:rPr lang="en-US" altLang="en-US" sz="2000">
                <a:ea typeface="ＭＳ Ｐゴシック" panose="020B0600070205080204" pitchFamily="34" charset="-128"/>
              </a:rPr>
              <a:t>and </a:t>
            </a:r>
            <a:r>
              <a:rPr lang="en-US" altLang="en-US" sz="2000" i="1">
                <a:ea typeface="ＭＳ Ｐゴシック" panose="020B0600070205080204" pitchFamily="34" charset="-128"/>
              </a:rPr>
              <a:t>variance =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000" i="1" baseline="30000">
                <a:latin typeface="Symbol" panose="05050102010706020507" pitchFamily="18" charset="2"/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/(1-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f</a:t>
            </a:r>
            <a:r>
              <a:rPr lang="en-US" altLang="en-US" sz="2000" i="1" baseline="30000">
                <a:latin typeface="Symbol" panose="05050102010706020507" pitchFamily="18" charset="2"/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)</a:t>
            </a:r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Autocorrelation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r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h  </a:t>
            </a:r>
            <a:r>
              <a:rPr lang="en-US" altLang="en-US" sz="2000" i="1">
                <a:ea typeface="ＭＳ Ｐゴシック" panose="020B0600070205080204" pitchFamily="34" charset="-128"/>
              </a:rPr>
              <a:t>=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f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h</a:t>
            </a: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To estimate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f, m</a:t>
            </a:r>
            <a:r>
              <a:rPr lang="en-US" altLang="en-US" sz="2200">
                <a:ea typeface="ＭＳ Ｐゴシック" panose="020B0600070205080204" pitchFamily="34" charset="-128"/>
              </a:rPr>
              <a:t>, </a:t>
            </a:r>
            <a:r>
              <a:rPr lang="en-US" altLang="en-US" sz="2200">
                <a:latin typeface="Symbol" panose="05050102010706020507" pitchFamily="18" charset="2"/>
                <a:ea typeface="ＭＳ Ｐゴシック" panose="020B0600070205080204" pitchFamily="34" charset="-128"/>
              </a:rPr>
              <a:t>s</a:t>
            </a:r>
            <a:r>
              <a:rPr lang="en-US" altLang="en-US" sz="2200" baseline="-25000">
                <a:latin typeface="Symbol" panose="05050102010706020507" pitchFamily="18" charset="2"/>
                <a:ea typeface="ＭＳ Ｐゴシック" panose="020B0600070205080204" pitchFamily="34" charset="-128"/>
              </a:rPr>
              <a:t>e</a:t>
            </a:r>
            <a:r>
              <a:rPr lang="en-US" altLang="en-US" sz="2200" baseline="30000">
                <a:ea typeface="ＭＳ Ｐゴシック" panose="020B0600070205080204" pitchFamily="34" charset="-128"/>
              </a:rPr>
              <a:t>2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 </a:t>
            </a:r>
            <a:r>
              <a:rPr lang="en-US" altLang="en-US" sz="2200">
                <a:ea typeface="ＭＳ Ｐゴシック" panose="020B0600070205080204" pitchFamily="34" charset="-128"/>
              </a:rPr>
              <a:t>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>
              <a:ea typeface="ＭＳ Ｐゴシック" panose="020B0600070205080204" pitchFamily="34" charset="-128"/>
            </a:endParaRPr>
          </a:p>
        </p:txBody>
      </p:sp>
      <p:graphicFrame>
        <p:nvGraphicFramePr>
          <p:cNvPr id="77829" name="Object 7">
            <a:extLst>
              <a:ext uri="{FF2B5EF4-FFF2-40B4-BE49-F238E27FC236}">
                <a16:creationId xmlns:a16="http://schemas.microsoft.com/office/drawing/2014/main" id="{CAEF0A82-1D27-0E89-3D6F-6DF0CB0D41A5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752600" y="1943100"/>
          <a:ext cx="48006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489200" imgH="228600" progId="Equation.3">
                  <p:embed/>
                </p:oleObj>
              </mc:Choice>
              <mc:Fallback>
                <p:oleObj name="Equation" r:id="rId3" imgW="24892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943100"/>
                        <a:ext cx="48006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30" name="AutoShape 4">
            <a:extLst>
              <a:ext uri="{FF2B5EF4-FFF2-40B4-BE49-F238E27FC236}">
                <a16:creationId xmlns:a16="http://schemas.microsoft.com/office/drawing/2014/main" id="{1DCBB260-DB24-4619-67A9-9B8C1580C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77831" name="Object 10">
            <a:extLst>
              <a:ext uri="{FF2B5EF4-FFF2-40B4-BE49-F238E27FC236}">
                <a16:creationId xmlns:a16="http://schemas.microsoft.com/office/drawing/2014/main" id="{B0C03B5F-A0A2-662D-270F-B52ABC703BA9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1447800" y="2425700"/>
          <a:ext cx="723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445000" imgH="241300" progId="Equation.3">
                  <p:embed/>
                </p:oleObj>
              </mc:Choice>
              <mc:Fallback>
                <p:oleObj name="Equation" r:id="rId5" imgW="4445000" imgH="2413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25700"/>
                        <a:ext cx="723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2" name="Object 12">
            <a:extLst>
              <a:ext uri="{FF2B5EF4-FFF2-40B4-BE49-F238E27FC236}">
                <a16:creationId xmlns:a16="http://schemas.microsoft.com/office/drawing/2014/main" id="{4EACE3E8-CF72-BBCD-3CB6-E55C15E336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4000" y="4800600"/>
          <a:ext cx="22098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04900" imgH="393700" progId="Equation.3">
                  <p:embed/>
                </p:oleObj>
              </mc:Choice>
              <mc:Fallback>
                <p:oleObj name="Equation" r:id="rId7" imgW="11049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0" y="4800600"/>
                        <a:ext cx="22098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3" name="Object 13">
            <a:extLst>
              <a:ext uri="{FF2B5EF4-FFF2-40B4-BE49-F238E27FC236}">
                <a16:creationId xmlns:a16="http://schemas.microsoft.com/office/drawing/2014/main" id="{17F92F99-F458-8E2E-07D3-0967C7DCA2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5715000"/>
          <a:ext cx="47244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600" imgH="228600" progId="Equation.3">
                  <p:embed/>
                </p:oleObj>
              </mc:Choice>
              <mc:Fallback>
                <p:oleObj name="Equation" r:id="rId9" imgW="2895600" imgH="228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715000"/>
                        <a:ext cx="47244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4" name="Object 14">
            <a:extLst>
              <a:ext uri="{FF2B5EF4-FFF2-40B4-BE49-F238E27FC236}">
                <a16:creationId xmlns:a16="http://schemas.microsoft.com/office/drawing/2014/main" id="{BF4961F2-D480-2FB3-3C5D-5500B53B6B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31900" y="5027613"/>
          <a:ext cx="9906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85" imgH="228501" progId="Equation.3">
                  <p:embed/>
                </p:oleObj>
              </mc:Choice>
              <mc:Fallback>
                <p:oleObj name="Equation" r:id="rId11" imgW="495085" imgH="22850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900" y="5027613"/>
                        <a:ext cx="9906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35" name="Object 15">
            <a:extLst>
              <a:ext uri="{FF2B5EF4-FFF2-40B4-BE49-F238E27FC236}">
                <a16:creationId xmlns:a16="http://schemas.microsoft.com/office/drawing/2014/main" id="{8E6B3C59-7C5E-6D8B-6DA4-E7C32F9CF1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9700" y="4953000"/>
          <a:ext cx="208280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40948" imgH="266584" progId="Equation.3">
                  <p:embed/>
                </p:oleObj>
              </mc:Choice>
              <mc:Fallback>
                <p:oleObj name="Equation" r:id="rId13" imgW="1040948" imgH="26658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4953000"/>
                        <a:ext cx="208280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Number Placeholder 6">
            <a:extLst>
              <a:ext uri="{FF2B5EF4-FFF2-40B4-BE49-F238E27FC236}">
                <a16:creationId xmlns:a16="http://schemas.microsoft.com/office/drawing/2014/main" id="{996EE40D-44B5-0BCB-CA23-23BD1AC4E5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58EDF0-12FE-425E-8DCA-6410715FD681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032F4A0-FE8D-9C2E-F16B-31FA2CE47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ea typeface="ＭＳ Ｐゴシック" panose="020B0600070205080204" pitchFamily="34" charset="-128"/>
              </a:rPr>
              <a:t>EAR(1) Time-Series Input Models</a:t>
            </a:r>
            <a:r>
              <a:rPr lang="en-US" altLang="en-US" sz="2200">
                <a:ea typeface="ＭＳ Ｐゴシック" panose="020B0600070205080204" pitchFamily="34" charset="-128"/>
              </a:rPr>
              <a:t>	</a:t>
            </a:r>
            <a:br>
              <a:rPr lang="en-US" altLang="en-US" sz="2200">
                <a:ea typeface="ＭＳ Ｐゴシック" panose="020B0600070205080204" pitchFamily="34" charset="-128"/>
              </a:rPr>
            </a:br>
            <a:r>
              <a:rPr lang="en-US" altLang="en-US" sz="2200">
                <a:ea typeface="ＭＳ Ｐゴシック" panose="020B0600070205080204" pitchFamily="34" charset="-128"/>
              </a:rPr>
              <a:t>					</a:t>
            </a:r>
            <a:r>
              <a:rPr lang="en-US" altLang="en-US" sz="2000">
                <a:solidFill>
                  <a:schemeClr val="bg2"/>
                </a:solidFill>
                <a:ea typeface="ＭＳ Ｐゴシック" panose="020B0600070205080204" pitchFamily="34" charset="-128"/>
              </a:rPr>
              <a:t>[Multivariate/Time Series]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17D7C05F-47D1-BF34-2CE0-DF12134492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305800" cy="47244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Consider the time-series model: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lvl="1" eaLnBrk="1" hangingPunct="1"/>
            <a:endParaRPr lang="en-US" altLang="en-US" sz="20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If </a:t>
            </a:r>
            <a:r>
              <a:rPr lang="en-US" altLang="en-US" sz="22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200">
                <a:ea typeface="ＭＳ Ｐゴシック" panose="020B0600070205080204" pitchFamily="34" charset="-128"/>
              </a:rPr>
              <a:t> is chosen appropriately, then </a:t>
            </a:r>
          </a:p>
          <a:p>
            <a:pPr lvl="1" eaLnBrk="1" hangingPunct="1"/>
            <a:r>
              <a:rPr lang="en-US" altLang="en-US" sz="2000" i="1">
                <a:ea typeface="ＭＳ Ｐゴシック" panose="020B0600070205080204" pitchFamily="34" charset="-128"/>
              </a:rPr>
              <a:t>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1</a:t>
            </a:r>
            <a:r>
              <a:rPr lang="en-US" altLang="en-US" sz="2000" i="1">
                <a:ea typeface="ＭＳ Ｐゴシック" panose="020B0600070205080204" pitchFamily="34" charset="-128"/>
              </a:rPr>
              <a:t>, X</a:t>
            </a:r>
            <a:r>
              <a:rPr lang="en-US" altLang="en-US" sz="2200" i="1" baseline="-25000">
                <a:ea typeface="ＭＳ Ｐゴシック" panose="020B0600070205080204" pitchFamily="34" charset="-128"/>
              </a:rPr>
              <a:t>2</a:t>
            </a:r>
            <a:r>
              <a:rPr lang="en-US" altLang="en-US" sz="2000" i="1">
                <a:ea typeface="ＭＳ Ｐゴシック" panose="020B0600070205080204" pitchFamily="34" charset="-128"/>
              </a:rPr>
              <a:t>, …</a:t>
            </a:r>
            <a:r>
              <a:rPr lang="en-US" altLang="en-US" sz="2000">
                <a:ea typeface="ＭＳ Ｐゴシック" panose="020B0600070205080204" pitchFamily="34" charset="-128"/>
              </a:rPr>
              <a:t> are exponentially distributed with </a:t>
            </a:r>
            <a:r>
              <a:rPr lang="en-US" altLang="en-US" sz="2000" i="1">
                <a:ea typeface="ＭＳ Ｐゴシック" panose="020B0600070205080204" pitchFamily="34" charset="-128"/>
              </a:rPr>
              <a:t>mean =</a:t>
            </a:r>
            <a:r>
              <a:rPr lang="en-US" altLang="en-US" sz="2000">
                <a:ea typeface="ＭＳ Ｐゴシック" panose="020B0600070205080204" pitchFamily="34" charset="-128"/>
              </a:rPr>
              <a:t> 1/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l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Autocorrelation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r</a:t>
            </a:r>
            <a:r>
              <a:rPr lang="en-US" altLang="en-US" sz="2000" i="1" baseline="-25000">
                <a:ea typeface="ＭＳ Ｐゴシック" panose="020B0600070205080204" pitchFamily="34" charset="-128"/>
              </a:rPr>
              <a:t>h  </a:t>
            </a:r>
            <a:r>
              <a:rPr lang="en-US" altLang="en-US" sz="2000" i="1">
                <a:ea typeface="ＭＳ Ｐゴシック" panose="020B0600070205080204" pitchFamily="34" charset="-128"/>
              </a:rPr>
              <a:t>= </a:t>
            </a:r>
            <a:r>
              <a:rPr lang="en-US" altLang="en-US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f</a:t>
            </a:r>
            <a:r>
              <a:rPr lang="en-US" altLang="en-US" sz="2000" i="1" baseline="30000">
                <a:ea typeface="ＭＳ Ｐゴシック" panose="020B0600070205080204" pitchFamily="34" charset="-128"/>
              </a:rPr>
              <a:t>h </a:t>
            </a:r>
            <a:r>
              <a:rPr lang="en-US" altLang="en-US" sz="2000">
                <a:ea typeface="ＭＳ Ｐゴシック" panose="020B0600070205080204" pitchFamily="34" charset="-128"/>
              </a:rPr>
              <a:t>, and only positive correlation is allowed.</a:t>
            </a:r>
            <a:endParaRPr lang="en-US" altLang="en-US" sz="2000" i="1" baseline="3000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To estimate </a:t>
            </a:r>
            <a:r>
              <a:rPr lang="en-US" altLang="en-US" sz="2200" i="1">
                <a:latin typeface="Symbol" panose="05050102010706020507" pitchFamily="18" charset="2"/>
                <a:ea typeface="ＭＳ Ｐゴシック" panose="020B0600070205080204" pitchFamily="34" charset="-128"/>
              </a:rPr>
              <a:t>f, l </a:t>
            </a:r>
            <a:r>
              <a:rPr lang="en-US" altLang="en-US" sz="2200">
                <a:ea typeface="ＭＳ Ｐゴシック" panose="020B0600070205080204" pitchFamily="34" charset="-128"/>
              </a:rPr>
              <a:t>:</a:t>
            </a:r>
          </a:p>
          <a:p>
            <a:pPr eaLnBrk="1" hangingPunct="1"/>
            <a:endParaRPr lang="en-US" altLang="en-US" sz="22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200">
              <a:ea typeface="ＭＳ Ｐゴシック" panose="020B0600070205080204" pitchFamily="34" charset="-128"/>
            </a:endParaRPr>
          </a:p>
        </p:txBody>
      </p:sp>
      <p:graphicFrame>
        <p:nvGraphicFramePr>
          <p:cNvPr id="79877" name="Object 4">
            <a:extLst>
              <a:ext uri="{FF2B5EF4-FFF2-40B4-BE49-F238E27FC236}">
                <a16:creationId xmlns:a16="http://schemas.microsoft.com/office/drawing/2014/main" id="{72E8E6FF-CD03-C56B-557C-06BA7133C349}"/>
              </a:ext>
            </a:extLst>
          </p:cNvPr>
          <p:cNvGraphicFramePr>
            <a:graphicFrameLocks noChangeAspect="1"/>
          </p:cNvGraphicFramePr>
          <p:nvPr>
            <p:ph sz="quarter" idx="2"/>
          </p:nvPr>
        </p:nvGraphicFramePr>
        <p:xfrm>
          <a:off x="1524000" y="1885950"/>
          <a:ext cx="6172200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79800" imgH="482600" progId="Equation.3">
                  <p:embed/>
                </p:oleObj>
              </mc:Choice>
              <mc:Fallback>
                <p:oleObj name="Equation" r:id="rId3" imgW="3479800" imgH="482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885950"/>
                        <a:ext cx="6172200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8" name="AutoShape 5">
            <a:extLst>
              <a:ext uri="{FF2B5EF4-FFF2-40B4-BE49-F238E27FC236}">
                <a16:creationId xmlns:a16="http://schemas.microsoft.com/office/drawing/2014/main" id="{3F73AC81-6DA6-93F3-214A-D383C071F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200400"/>
            <a:ext cx="685800" cy="685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SzPct val="100000"/>
              <a:buFont typeface="Wingdings" panose="05000000000000000000" pitchFamily="2" charset="2"/>
              <a:buChar char="•"/>
            </a:pPr>
            <a:endParaRPr lang="en-US" altLang="en-US" sz="1600"/>
          </a:p>
        </p:txBody>
      </p:sp>
      <p:graphicFrame>
        <p:nvGraphicFramePr>
          <p:cNvPr id="79879" name="Object 6">
            <a:extLst>
              <a:ext uri="{FF2B5EF4-FFF2-40B4-BE49-F238E27FC236}">
                <a16:creationId xmlns:a16="http://schemas.microsoft.com/office/drawing/2014/main" id="{C205BED1-93E1-5259-B475-A0115363C49D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1295400" y="2890838"/>
          <a:ext cx="72390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711700" imgH="228600" progId="Equation.3">
                  <p:embed/>
                </p:oleObj>
              </mc:Choice>
              <mc:Fallback>
                <p:oleObj name="Equation" r:id="rId5" imgW="47117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890838"/>
                        <a:ext cx="72390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0" name="Object 7">
            <a:extLst>
              <a:ext uri="{FF2B5EF4-FFF2-40B4-BE49-F238E27FC236}">
                <a16:creationId xmlns:a16="http://schemas.microsoft.com/office/drawing/2014/main" id="{7D88268D-EB2F-D861-E577-FE3E992D62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4000" y="4876800"/>
          <a:ext cx="2717800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310" imgH="393529" progId="Equation.3">
                  <p:embed/>
                </p:oleObj>
              </mc:Choice>
              <mc:Fallback>
                <p:oleObj name="Equation" r:id="rId7" imgW="1358310" imgH="39352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876800"/>
                        <a:ext cx="2717800" cy="78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8">
            <a:extLst>
              <a:ext uri="{FF2B5EF4-FFF2-40B4-BE49-F238E27FC236}">
                <a16:creationId xmlns:a16="http://schemas.microsoft.com/office/drawing/2014/main" id="{1494A5A4-84ED-26AB-EF62-4FF0C57C32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5715000"/>
          <a:ext cx="47244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95600" imgH="228600" progId="Equation.3">
                  <p:embed/>
                </p:oleObj>
              </mc:Choice>
              <mc:Fallback>
                <p:oleObj name="Equation" r:id="rId9" imgW="28956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5715000"/>
                        <a:ext cx="47244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2" name="Object 9">
            <a:extLst>
              <a:ext uri="{FF2B5EF4-FFF2-40B4-BE49-F238E27FC236}">
                <a16:creationId xmlns:a16="http://schemas.microsoft.com/office/drawing/2014/main" id="{EC76B2A0-0AFF-0336-BAA5-CC35CFF5382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0" y="5029200"/>
          <a:ext cx="1320800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113" imgH="241195" progId="Equation.3">
                  <p:embed/>
                </p:oleObj>
              </mc:Choice>
              <mc:Fallback>
                <p:oleObj name="Equation" r:id="rId11" imgW="660113" imgH="241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029200"/>
                        <a:ext cx="1320800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6">
            <a:extLst>
              <a:ext uri="{FF2B5EF4-FFF2-40B4-BE49-F238E27FC236}">
                <a16:creationId xmlns:a16="http://schemas.microsoft.com/office/drawing/2014/main" id="{1BC3DF7E-2853-F86C-E1FF-0C26128F1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Normal to Anything</a:t>
            </a:r>
          </a:p>
        </p:txBody>
      </p:sp>
      <p:sp>
        <p:nvSpPr>
          <p:cNvPr id="81923" name="Content Placeholder 7">
            <a:extLst>
              <a:ext uri="{FF2B5EF4-FFF2-40B4-BE49-F238E27FC236}">
                <a16:creationId xmlns:a16="http://schemas.microsoft.com/office/drawing/2014/main" id="{A73EF108-190D-75B9-2534-3FFD492CE2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NORTA method on page 375</a:t>
            </a:r>
          </a:p>
        </p:txBody>
      </p:sp>
      <p:sp>
        <p:nvSpPr>
          <p:cNvPr id="81924" name="Slide Number Placeholder 5">
            <a:extLst>
              <a:ext uri="{FF2B5EF4-FFF2-40B4-BE49-F238E27FC236}">
                <a16:creationId xmlns:a16="http://schemas.microsoft.com/office/drawing/2014/main" id="{5744E292-58B9-6DFE-CD2F-6F299F213A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C1E24F5-30A3-43CC-A575-FEC9A8FDB1E8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Number Placeholder 6">
            <a:extLst>
              <a:ext uri="{FF2B5EF4-FFF2-40B4-BE49-F238E27FC236}">
                <a16:creationId xmlns:a16="http://schemas.microsoft.com/office/drawing/2014/main" id="{A8CE99B3-939F-CA9D-00C7-1469171EE7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45B62B8-64F2-49EA-BCA1-C06ABE43315D}" type="slidenum">
              <a:rPr lang="en-US" altLang="en-US" sz="1200" smtClean="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06B447D2-065F-8127-F2B1-DA9AA83942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  <a:endParaRPr lang="en-US" altLang="en-US" sz="2000">
              <a:solidFill>
                <a:schemeClr val="bg2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943F486-93CD-695F-3D1B-506F280B830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478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200">
                <a:ea typeface="ＭＳ Ｐゴシック" panose="020B0600070205080204" pitchFamily="34" charset="-128"/>
              </a:rPr>
              <a:t>In this chapter, we described the 4 steps in developing input data models: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Collecting the raw data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Identifying the underlying statistical distribution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Estimating the parameters</a:t>
            </a:r>
          </a:p>
          <a:p>
            <a:pPr lvl="1" eaLnBrk="1" hangingPunct="1"/>
            <a:r>
              <a:rPr lang="en-US" altLang="en-US" sz="2000">
                <a:ea typeface="ＭＳ Ｐゴシック" panose="020B0600070205080204" pitchFamily="34" charset="-128"/>
              </a:rPr>
              <a:t>Testing for goodness of fit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100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4427</TotalTime>
  <Words>3414</Words>
  <Application>Microsoft Office PowerPoint</Application>
  <PresentationFormat>On-screen Show (4:3)</PresentationFormat>
  <Paragraphs>440</Paragraphs>
  <Slides>42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42</vt:i4>
      </vt:variant>
    </vt:vector>
  </HeadingPairs>
  <TitlesOfParts>
    <vt:vector size="52" baseType="lpstr">
      <vt:lpstr>Arial</vt:lpstr>
      <vt:lpstr>ＭＳ Ｐゴシック</vt:lpstr>
      <vt:lpstr>Wingdings</vt:lpstr>
      <vt:lpstr>Arial Black</vt:lpstr>
      <vt:lpstr>Times New Roman</vt:lpstr>
      <vt:lpstr>Symbol</vt:lpstr>
      <vt:lpstr>Pixel</vt:lpstr>
      <vt:lpstr>Microsoft Excel Worksheet</vt:lpstr>
      <vt:lpstr>MathType 5.0 Equation</vt:lpstr>
      <vt:lpstr>Microsoft Equation 3.0</vt:lpstr>
      <vt:lpstr>Chapter 9  Input Modeling</vt:lpstr>
      <vt:lpstr>Purpose &amp; Overview</vt:lpstr>
      <vt:lpstr>9.1 Data Collection</vt:lpstr>
      <vt:lpstr>Data Collection - suggestions start on page 340</vt:lpstr>
      <vt:lpstr>9.2 Identifying the Distribution</vt:lpstr>
      <vt:lpstr>Histograms   [Identifying the distribution]</vt:lpstr>
      <vt:lpstr>Histograms continued</vt:lpstr>
      <vt:lpstr>Histograms Ex 9.5  [Identifying the distribution]</vt:lpstr>
      <vt:lpstr>9.2.2 Selecting the Family of Distributions        [Identifying the distribution]</vt:lpstr>
      <vt:lpstr>Selecting the Family of Distributions        [Identifying the distribution]</vt:lpstr>
      <vt:lpstr>Selecting the Family of Distributions        [Identifying the distribution]</vt:lpstr>
      <vt:lpstr>Quantile-Quantile Plots  [Identifying the distribution]</vt:lpstr>
      <vt:lpstr>Quantile-Quantile Plots  [Identifying the distribution]</vt:lpstr>
      <vt:lpstr>Quantile-Quantile Plots Ex 9.4  [Identifying the distribution]</vt:lpstr>
      <vt:lpstr>Quantile-Quantile Plots  [Identifying the distribution]</vt:lpstr>
      <vt:lpstr>Quantile-Quantile Plots  [Identifying the distribution]</vt:lpstr>
      <vt:lpstr>9.3 Parameter Estimation  [Identifying the distribution]</vt:lpstr>
      <vt:lpstr>Grouped data – example 9.8 on page 350    [Parameter estimation - Identifying the distribution]</vt:lpstr>
      <vt:lpstr>Parameter Estimation   [Identifying the distribution]</vt:lpstr>
      <vt:lpstr>9.3.2 on page 352</vt:lpstr>
      <vt:lpstr>9.4 Goodness-of-Fit Tests              [Identifying the distribution]</vt:lpstr>
      <vt:lpstr>Chi-Square test   [Goodness-of-Fit Tests]</vt:lpstr>
      <vt:lpstr>Chi-Square test   [Goodness-of-Fit Tests]</vt:lpstr>
      <vt:lpstr>Chi-Square test   [Goodness-of-Fit Tests]</vt:lpstr>
      <vt:lpstr>Chi-Square test Ex 9.5,9.12.9.17</vt:lpstr>
      <vt:lpstr>Kolmogorov-Smirnov Test        [Goodness-of-Fit Tests]</vt:lpstr>
      <vt:lpstr>p-Values and “Best Fits”       [Goodness-of-Fit Tests]</vt:lpstr>
      <vt:lpstr>p-Values and “Best Fits”       [Goodness-of-Fit Tests]</vt:lpstr>
      <vt:lpstr>9.5 Fitting a Non-stationary Poisson Process</vt:lpstr>
      <vt:lpstr>Fitting a Non-stationary Poisson Process </vt:lpstr>
      <vt:lpstr>9.6 Selecting Model without Data</vt:lpstr>
      <vt:lpstr>Selecting Model without Data</vt:lpstr>
      <vt:lpstr>9.7 Multivariate and Time-Series Input Models</vt:lpstr>
      <vt:lpstr>Covariance and Correlation       [Multivariate/Time Series]</vt:lpstr>
      <vt:lpstr>Covariance and Correlation       [Multivariate/Time Series]</vt:lpstr>
      <vt:lpstr>Covariance and Correlation       [Multivariate/Time Series]</vt:lpstr>
      <vt:lpstr>Multivariate Input Models       [Multivariate/Time Series]</vt:lpstr>
      <vt:lpstr>Time-Series Input Models       [Multivariate/Time Series]</vt:lpstr>
      <vt:lpstr>AR(1) Time-Series Input Models       [Multivariate/Time Series]</vt:lpstr>
      <vt:lpstr>EAR(1) Time-Series Input Models       [Multivariate/Time Series]</vt:lpstr>
      <vt:lpstr>Normal to Anything</vt:lpstr>
      <vt:lpstr>Summary</vt:lpstr>
    </vt:vector>
  </TitlesOfParts>
  <Company>Kellogg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8: Random-Variant Generation</dc:title>
  <dc:creator>Gigi Yuen</dc:creator>
  <cp:lastModifiedBy>Mohammad Isa Irawan</cp:lastModifiedBy>
  <cp:revision>1427</cp:revision>
  <dcterms:created xsi:type="dcterms:W3CDTF">2010-11-01T17:41:33Z</dcterms:created>
  <dcterms:modified xsi:type="dcterms:W3CDTF">2025-08-23T08:44:16Z</dcterms:modified>
</cp:coreProperties>
</file>