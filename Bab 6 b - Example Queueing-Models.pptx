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314" r:id="rId2"/>
    <p:sldId id="316" r:id="rId3"/>
    <p:sldId id="318" r:id="rId4"/>
    <p:sldId id="273" r:id="rId5"/>
    <p:sldId id="315" r:id="rId6"/>
    <p:sldId id="297" r:id="rId7"/>
    <p:sldId id="299" r:id="rId8"/>
    <p:sldId id="302" r:id="rId9"/>
    <p:sldId id="303" r:id="rId10"/>
    <p:sldId id="333" r:id="rId11"/>
    <p:sldId id="304" r:id="rId12"/>
    <p:sldId id="319" r:id="rId13"/>
    <p:sldId id="306" r:id="rId14"/>
    <p:sldId id="312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2" r:id="rId27"/>
  </p:sldIdLst>
  <p:sldSz cx="9144000" cy="6858000" type="screen4x3"/>
  <p:notesSz cx="6794500" cy="9906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4" autoAdjust="0"/>
    <p:restoredTop sz="90929"/>
  </p:normalViewPr>
  <p:slideViewPr>
    <p:cSldViewPr>
      <p:cViewPr varScale="1">
        <p:scale>
          <a:sx n="54" d="100"/>
          <a:sy n="54" d="100"/>
        </p:scale>
        <p:origin x="166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668B7912-6177-E932-12EB-90BC9138B3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8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3F86796F-0223-78D6-C35F-2F5ED3DCB8E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8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3122059B-2427-5A50-2490-B2ABEF5CB3C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070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8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C41E5B91-139D-BA45-48A8-CBB4A65DF1A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1070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8421EA0-3DE1-4B28-8637-9586086EB7C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10C8CB5-A470-430C-A97C-A4C5D39772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8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1132E78-13EC-0923-FA52-8A58BCA414F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8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7585FBEF-07CF-6918-D591-9F126FFBA77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9162F6CA-0850-FA61-435F-F359156BBD3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05350"/>
            <a:ext cx="4981575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D9CC690F-8BAB-5B06-9E33-420ECE7A60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70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ea typeface="ＭＳ Ｐゴシック" pitchFamily="8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FD914D93-DAC5-856E-E720-2125DB4179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10700"/>
            <a:ext cx="29448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179C235-FC83-4871-B007-5BB3158FC03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8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8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8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8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2AEB68DC-18FA-A480-303E-5BD7A177C5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079757C-F68E-4A2E-97F5-AAAFFE3B054B}" type="slidenum">
              <a:rPr lang="en-GB" altLang="id-ID" sz="1200" smtClean="0">
                <a:cs typeface="Arial" panose="020B0604020202020204" pitchFamily="34" charset="0"/>
              </a:rPr>
              <a:pPr/>
              <a:t>1</a:t>
            </a:fld>
            <a:endParaRPr lang="en-GB" altLang="id-ID" sz="1200">
              <a:cs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89ACB19-5456-EAE9-241F-AEE450D2D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44D2BCD-8A39-FFDA-0331-3CF19E034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34D287F9-5E98-FB13-5A00-16CBF3B2A5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22CF18D-FF54-4061-9D05-EB22BC122DC8}" type="slidenum">
              <a:rPr lang="en-US" altLang="id-ID" sz="1200" smtClean="0"/>
              <a:pPr/>
              <a:t>2</a:t>
            </a:fld>
            <a:endParaRPr lang="en-US" altLang="id-ID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A2D4B79B-DED8-B5AF-5C18-C9B8A62EE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AE88702-0951-D2F3-182B-0CB389306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2050769F-135F-0D89-7CE0-CB0C712AC9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F89CA7A-E8C4-4571-B20C-2A72E1DDC824}" type="slidenum">
              <a:rPr lang="en-US" altLang="id-ID" sz="1200" smtClean="0"/>
              <a:pPr/>
              <a:t>3</a:t>
            </a:fld>
            <a:endParaRPr lang="en-US" altLang="id-ID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B54040C-8A84-3B18-78D6-9927FAF0EB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AFB15AF-5E20-D912-0F3B-D17904E34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9774144-20C2-8547-99CE-CB4D6189D7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99580EC-BEDF-4DC1-A904-A34CFD3D2534}" type="slidenum">
              <a:rPr lang="en-US" altLang="id-ID" sz="1200" smtClean="0"/>
              <a:pPr/>
              <a:t>4</a:t>
            </a:fld>
            <a:endParaRPr lang="en-US" altLang="id-ID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0F50E16-9572-6070-1787-037AB97F33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C8DC860-CF11-2ABC-170D-24B60504D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BB773BAD-1332-E463-E901-5A185B800E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C832DD-5395-488C-BFCA-1C7E2457D54E}" type="slidenum">
              <a:rPr lang="en-US" altLang="id-ID" sz="1200" smtClean="0"/>
              <a:pPr/>
              <a:t>5</a:t>
            </a:fld>
            <a:endParaRPr lang="en-US" altLang="id-ID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1630F9E-CE59-0FB1-39B5-1EA74A8AC9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A92E030-1884-B3B9-FE0A-4453BE16D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B2D6AA07-D340-C704-9804-1BACEED44B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B89A9FB-C3C2-47EE-AF09-16CE1028FD3F}" type="slidenum">
              <a:rPr lang="en-US" altLang="id-ID" sz="1200" smtClean="0"/>
              <a:pPr/>
              <a:t>6</a:t>
            </a:fld>
            <a:endParaRPr lang="en-US" altLang="id-ID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4D9B86F-91AD-1CB5-EC5C-A7B2F57CD5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D3F7F6A-CB4C-DD60-FD9D-70FAFA39D1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7C4B60F-8B56-4A9D-361E-AAFCAE0731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64761D5-820D-440C-B561-3E9436543782}" type="slidenum">
              <a:rPr lang="en-US" altLang="id-ID" sz="1200" smtClean="0"/>
              <a:pPr/>
              <a:t>7</a:t>
            </a:fld>
            <a:endParaRPr lang="en-US" altLang="id-ID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12F90A0-44F1-8FF2-E629-31FB735228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E1F45E1-86A8-4B6B-52BB-08C5A0E3A6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7500AF03-F1BD-3E21-3AD5-E7B100C209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91C73D8-A600-40AF-B3E0-59BC0EEDDBE8}" type="slidenum">
              <a:rPr lang="en-US" altLang="id-ID" sz="1200" smtClean="0"/>
              <a:pPr/>
              <a:t>8</a:t>
            </a:fld>
            <a:endParaRPr lang="en-US" altLang="id-ID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A14DF20-A156-239A-A47E-DCA8194EC1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26644C62-586D-11EC-BFFC-ECBE908AF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F4B203D-0E0B-AF1B-34FB-F7B131B9B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54BEDC1-DD3A-4D99-AD8D-67D10174A5C9}" type="slidenum">
              <a:rPr lang="en-US" altLang="id-ID" sz="1200" smtClean="0"/>
              <a:pPr/>
              <a:t>9</a:t>
            </a:fld>
            <a:endParaRPr lang="en-US" altLang="id-ID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ECCF1A2-98BC-3A6F-25A0-99FB513676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0F07AD0-4241-1D59-31F4-43AB3A2404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6F0288A-9994-8D58-1B0E-731E6E13EE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F1D6365-0E49-48C2-A326-916CF7B06356}" type="slidenum">
              <a:rPr lang="en-US" altLang="id-ID" sz="1200" smtClean="0"/>
              <a:pPr/>
              <a:t>11</a:t>
            </a:fld>
            <a:endParaRPr lang="en-US" altLang="id-ID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92A1873-A557-38CF-3B9E-8F88D98794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8387E260-2085-F5B8-AB85-08DBF19E1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74429A96-789B-B056-1F92-66D6ED1901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FA295B4-7EE1-4F56-86B6-AA66433892D7}" type="slidenum">
              <a:rPr lang="en-US" altLang="id-ID" sz="1200" smtClean="0"/>
              <a:pPr/>
              <a:t>12</a:t>
            </a:fld>
            <a:endParaRPr lang="en-US" altLang="id-ID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4F0D8F90-65F2-61EE-912C-74B230ECFA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F94E62E-868A-390F-FED8-0634AB590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A287529-7E51-4E9C-C91B-191C13ECBE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B69A9C1-7EDB-4CA6-8620-02FAE9A486B4}" type="slidenum">
              <a:rPr lang="en-US" altLang="id-ID" sz="1200" smtClean="0"/>
              <a:pPr/>
              <a:t>13</a:t>
            </a:fld>
            <a:endParaRPr lang="en-US" altLang="id-ID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C0C451B-FBF7-43A3-EBBF-88417C1178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EDFEC750-AD6C-1840-7F75-B2865503F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AC2D5CC7-C851-5FE1-88A4-5FACC6F262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D6D9A44-E97B-42A9-AFA6-45533071AB02}" type="slidenum">
              <a:rPr lang="en-US" altLang="id-ID" sz="1200" smtClean="0"/>
              <a:pPr/>
              <a:t>14</a:t>
            </a:fld>
            <a:endParaRPr lang="en-US" altLang="id-ID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868F27CC-2C9A-5D2C-5D7A-8B51010367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06B0B7B-0185-4036-7BE9-62187EA307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d-ID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2E73D7D4-C409-71A6-6794-CD908DBD7C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9DD3485-787F-4EF3-ADD5-F304BC02AAA6}" type="slidenum">
              <a:rPr lang="en-US" altLang="id-ID" sz="1200" smtClean="0"/>
              <a:pPr/>
              <a:t>15</a:t>
            </a:fld>
            <a:endParaRPr lang="en-US" altLang="id-ID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5097CAB-D1FC-F58D-46FC-93842D9236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5616E9C-0BA8-FF54-D464-4076B8A0D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D75D572D-30E0-1757-FC9C-2412D6582D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77DDE5D-EB97-42FD-93B9-C48D4B4BA850}" type="slidenum">
              <a:rPr lang="en-US" altLang="id-ID" sz="1200" smtClean="0"/>
              <a:pPr/>
              <a:t>16</a:t>
            </a:fld>
            <a:endParaRPr lang="en-US" altLang="id-ID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5C31E0DE-A6F3-A6EA-2523-ADED36C518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2D290265-1251-AF92-BE62-F7336F3595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DDDE4F1-3D96-CFE1-951E-8D9DA87E56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6417B98-821A-4146-9B57-61241E34A264}" type="slidenum">
              <a:rPr lang="en-US" altLang="id-ID" sz="1200" smtClean="0"/>
              <a:pPr/>
              <a:t>17</a:t>
            </a:fld>
            <a:endParaRPr lang="en-US" altLang="id-ID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B9365EE-286A-4034-5BBC-F66292C45D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2BB902D-81FE-1ED9-B1AA-7E772EA62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247A416-0E5E-130F-D83C-1FF09B1C00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4C147B-2065-406C-9CE2-A38E731F60C9}" type="slidenum">
              <a:rPr lang="en-US" altLang="id-ID" sz="1200" smtClean="0"/>
              <a:pPr/>
              <a:t>18</a:t>
            </a:fld>
            <a:endParaRPr lang="en-US" altLang="id-ID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E680886-96EE-5F46-2D9E-0954FFC100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759792D-1BAF-23CF-12A0-A7A54A518B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EA58B0E6-6875-A9B1-BEC9-45B8EDEE2D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D6ED81B-AC8C-487D-B842-C22B2EEAF255}" type="slidenum">
              <a:rPr lang="en-US" altLang="id-ID" sz="1200" smtClean="0"/>
              <a:pPr/>
              <a:t>19</a:t>
            </a:fld>
            <a:endParaRPr lang="en-US" altLang="id-ID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C898B7E4-96F0-FCAA-9DFA-C089B5E721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E58E28CF-6C23-FC32-D2D4-1D92D946A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B8D05839-B7BE-73AE-712B-FFAD3C252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F1AC2BE-BD0A-4E67-B157-B85D20C3863C}" type="slidenum">
              <a:rPr lang="en-US" altLang="id-ID" sz="1200" smtClean="0"/>
              <a:pPr/>
              <a:t>20</a:t>
            </a:fld>
            <a:endParaRPr lang="en-US" altLang="id-ID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7B17F561-A767-12BF-0DC2-191D6590FB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18BC929C-D045-5F3C-BC07-BED8AD24B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85730D29-4D9E-7785-4A26-234968060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D06313-2AC0-4A10-B604-AEC2DA6A803E}" type="slidenum">
              <a:rPr lang="en-US" altLang="id-ID" sz="1200" smtClean="0"/>
              <a:pPr/>
              <a:t>21</a:t>
            </a:fld>
            <a:endParaRPr lang="en-US" altLang="id-ID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2AD0E011-7B57-81EE-B475-B08AED74D4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A6153DC-3DD0-5994-8FCC-3C48A154EE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395CE992-6CFB-1449-1AE2-0FC9B47A4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B613961-6BFA-4125-9407-AF5AB35C14D3}" type="slidenum">
              <a:rPr lang="en-US" altLang="id-ID" sz="1200" smtClean="0"/>
              <a:pPr/>
              <a:t>22</a:t>
            </a:fld>
            <a:endParaRPr lang="en-US" altLang="id-ID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B19DB65-7CCC-7354-EB18-205B424187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489C1099-DC94-2580-A95E-97C181204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D2A6561-746E-2A92-BD36-020382A51B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AE2946-5E54-4DCC-92CC-D5D37D046FDA}" type="slidenum">
              <a:rPr lang="en-US" altLang="id-ID" sz="1200" smtClean="0"/>
              <a:pPr/>
              <a:t>23</a:t>
            </a:fld>
            <a:endParaRPr lang="en-US" altLang="id-ID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331D02FC-A8F9-03B3-7AA5-F41B069F2A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5005B66C-56A2-58BD-C56E-2A4C5F498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8883691E-E4F7-B432-12B0-654CC28FD7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DAC6E8-3F51-440D-B188-A1AED331548C}" type="slidenum">
              <a:rPr lang="en-US" altLang="id-ID" sz="1200" smtClean="0"/>
              <a:pPr/>
              <a:t>24</a:t>
            </a:fld>
            <a:endParaRPr lang="en-US" altLang="id-ID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F3C650B0-CE9E-20E9-669E-E23A8C33A6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D395EED8-67E7-724B-8B15-A4039E165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A1FB3516-AECF-5C3A-E087-1DA778363A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83B803-867C-49E3-9BB7-5CB919D08FCE}" type="slidenum">
              <a:rPr lang="en-US" altLang="id-ID" sz="1200" smtClean="0"/>
              <a:pPr/>
              <a:t>25</a:t>
            </a:fld>
            <a:endParaRPr lang="en-US" altLang="id-ID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9507E23B-7B11-ACCD-324B-96B56803E3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72C9DC36-F755-DCAE-51A9-35FA9DA43D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A3283579-8D97-09F8-47AE-8BB348FB88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93AB339-54E8-4740-9B43-4A24A7D228ED}" type="slidenum">
              <a:rPr lang="en-US" altLang="id-ID" sz="1200" smtClean="0"/>
              <a:pPr/>
              <a:t>26</a:t>
            </a:fld>
            <a:endParaRPr lang="en-US" altLang="id-ID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0F7D3B2E-279C-1D12-8071-536B8631C0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9300"/>
            <a:ext cx="4933950" cy="3702050"/>
          </a:xfrm>
          <a:solidFill>
            <a:srgbClr val="FFFFFF"/>
          </a:solidFill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916380E-D457-410E-184B-E07AD5A4C1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fr-FR" altLang="id-ID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1144B6-26D8-BCD6-40D0-95D20AA1735F}"/>
              </a:ext>
            </a:extLst>
          </p:cNvPr>
          <p:cNvSpPr/>
          <p:nvPr userDrawn="1"/>
        </p:nvSpPr>
        <p:spPr>
          <a:xfrm>
            <a:off x="0" y="0"/>
            <a:ext cx="9144000" cy="59531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9949FD-D0D2-0FEE-A436-CF669DCB0D26}"/>
              </a:ext>
            </a:extLst>
          </p:cNvPr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92F9E-C06B-C8F7-1E71-B8EE2AE46F9C}"/>
              </a:ext>
            </a:extLst>
          </p:cNvPr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52C4D-EB97-4F25-A136-0354C13F1662}"/>
              </a:ext>
            </a:extLst>
          </p:cNvPr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27">
            <a:extLst>
              <a:ext uri="{FF2B5EF4-FFF2-40B4-BE49-F238E27FC236}">
                <a16:creationId xmlns:a16="http://schemas.microsoft.com/office/drawing/2014/main" id="{94759890-CF3A-408C-1966-55CB5D1D6C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41D8A4D8-F91A-1D9C-7FA9-CD0BB160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28">
            <a:extLst>
              <a:ext uri="{FF2B5EF4-FFF2-40B4-BE49-F238E27FC236}">
                <a16:creationId xmlns:a16="http://schemas.microsoft.com/office/drawing/2014/main" id="{66CFC6E4-5A2E-4F84-792A-F24732DC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AD0DDC2-247D-4B85-9D41-ED2DD25B6E70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382059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A558C9C-A159-6D95-3427-485A11FB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BA03F23-C8B8-CC97-51BB-0FB2FA885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CA66A7F5-5D9A-4042-5ABD-758C750C7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9ED4C-C8D2-45CF-B0B3-80B85E99A2F0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518651546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166A47-E136-1638-1411-0E1556F7EC9E}"/>
              </a:ext>
            </a:extLst>
          </p:cNvPr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FACD2E-0BF4-27CE-CD4C-C5C22E379F26}"/>
              </a:ext>
            </a:extLst>
          </p:cNvPr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5565A-C9FB-3E30-CC8A-C347797558D9}"/>
              </a:ext>
            </a:extLst>
          </p:cNvPr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211DD3E6-B3FA-4AD1-9032-88F897CF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5D8B6FC0-E9BF-1737-B173-47D3ADBB9D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>
              <a:defRPr/>
            </a:pPr>
            <a:fld id="{66C1F442-E3AC-4F36-AAF7-F6223BB6765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1A9FCEF7-51EB-6ABF-E524-654AFBEB06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91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65C9B7A5-36EE-D3F3-9121-D3891D1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02329D1C-8A0E-86FB-66BE-791BC52682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1D1DDE-A707-456C-992A-EBC3A1C36BBC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AF7775E2-FA8B-8602-EB8F-499EDCA697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80041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6BFDB7E4-B060-B775-2786-88C4FE55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DCC4BB77-39CD-215F-0EFD-44C819E4E4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59800-D5F2-437C-95B4-294FAE007E7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  <p:sp>
        <p:nvSpPr>
          <p:cNvPr id="5" name="Footer Placeholder 13">
            <a:extLst>
              <a:ext uri="{FF2B5EF4-FFF2-40B4-BE49-F238E27FC236}">
                <a16:creationId xmlns:a16="http://schemas.microsoft.com/office/drawing/2014/main" id="{9A382FF0-2B46-8FCA-329F-3EF49BA79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56179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A6C139C3-6110-4573-A5D4-406506569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2CA14D5-6135-944E-17E7-D44ACDC4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3CECBB0F-B861-7D7D-C7E4-D60B2AB2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A224B6-5E6B-43AC-9D97-66CA2FAD348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23605588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0116B-C751-D1D2-284B-91DD41919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FD01C-7581-2F30-8E5E-5E56C665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8B0F6-875C-93F5-17AF-7E7657F0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48D5250-9310-40F7-A3AA-00E7BBB80A9B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73990690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C57C9D2B-5E0D-7D26-B8BB-106AB046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7BA75B6-E182-03DB-DBD7-440A2800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DBCE2EA1-7734-1A5E-81A6-94A5BD74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C64F3-9A79-48CE-B513-DF8A53E1ACBB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968143563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39722F-649B-1184-FFBE-95C65A16F991}"/>
              </a:ext>
            </a:extLst>
          </p:cNvPr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9BC2DB-401F-4370-5672-D1E6E80CC3DC}"/>
              </a:ext>
            </a:extLst>
          </p:cNvPr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FA77C4-9AB6-EFB3-7C1F-2ADD0E910A69}"/>
              </a:ext>
            </a:extLst>
          </p:cNvPr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E78A79-CB19-2CFC-C117-23AD9FB79A1B}"/>
              </a:ext>
            </a:extLst>
          </p:cNvPr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B1BE188E-D0EE-5BB2-B07E-46BB503D81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D5572A2-0133-C7DB-C3CB-D933C787D0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2C18B302-AAFB-48D7-B280-E3803524DDD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C16331B1-F30D-5CCE-7647-36DE401201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27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08480DCA-AE0C-3FB4-B117-F8CF5B23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FA86CE2-CA37-5FFF-99B1-E6466FF7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42D08E25-EE7F-F787-419A-D603AA2F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7D01F-2E97-4138-9C3D-85449EEDABDD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593626178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A8ABEB-BB8A-C97F-BD4B-A3E17F07D933}"/>
              </a:ext>
            </a:extLst>
          </p:cNvPr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C94843-913E-C1CC-BCC8-515676376C8C}"/>
              </a:ext>
            </a:extLst>
          </p:cNvPr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A71884-0D9F-B101-6D9C-DA7657882D1D}"/>
              </a:ext>
            </a:extLst>
          </p:cNvPr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2BC67A-BD61-011E-F4C3-5C965054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A87814E-744B-53B2-C116-17660E51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D06ECDE-0354-A5AE-62DC-46654E3F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B1AE7-827E-425D-903C-0689B573555C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837620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>
            <a:extLst>
              <a:ext uri="{FF2B5EF4-FFF2-40B4-BE49-F238E27FC236}">
                <a16:creationId xmlns:a16="http://schemas.microsoft.com/office/drawing/2014/main" id="{1D5C674B-697F-AC84-D04C-9EE95A4A73E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50F3F15F-7AE1-01EC-C181-E052A24D96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/>
              <a:t>Click to edit Master text styles</a:t>
            </a:r>
          </a:p>
          <a:p>
            <a:pPr lvl="1"/>
            <a:r>
              <a:rPr lang="en-US" altLang="id-ID"/>
              <a:t>Second level</a:t>
            </a:r>
          </a:p>
          <a:p>
            <a:pPr lvl="2"/>
            <a:r>
              <a:rPr lang="en-US" altLang="id-ID"/>
              <a:t>Third level</a:t>
            </a:r>
          </a:p>
          <a:p>
            <a:pPr lvl="3"/>
            <a:r>
              <a:rPr lang="en-US" altLang="id-ID"/>
              <a:t>Fourth level</a:t>
            </a:r>
          </a:p>
          <a:p>
            <a:pPr lvl="4"/>
            <a:r>
              <a:rPr lang="en-US" altLang="id-ID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B68D418-DE85-421A-BA44-2A398EB9A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2EF08B-9C90-524F-7F36-748C01CBD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  <a:ea typeface="ＭＳ Ｐゴシック" pitchFamily="8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C3CC4-3CEE-CE2F-F687-5BF17CE11376}"/>
              </a:ext>
            </a:extLst>
          </p:cNvPr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B6492-FC33-5B44-A417-22A790FDF0D7}"/>
              </a:ext>
            </a:extLst>
          </p:cNvPr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F1F868-6D58-99F4-E250-8865EBEEAEA0}"/>
              </a:ext>
            </a:extLst>
          </p:cNvPr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52A2558-03C3-6101-F5F0-41DFC20B0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69A8E1E-1EF7-488E-8574-D9D8BFB9D529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05" r:id="rId2"/>
    <p:sldLayoutId id="2147483810" r:id="rId3"/>
    <p:sldLayoutId id="2147483811" r:id="rId4"/>
    <p:sldLayoutId id="2147483812" r:id="rId5"/>
    <p:sldLayoutId id="2147483806" r:id="rId6"/>
    <p:sldLayoutId id="2147483813" r:id="rId7"/>
    <p:sldLayoutId id="2147483807" r:id="rId8"/>
    <p:sldLayoutId id="2147483814" r:id="rId9"/>
    <p:sldLayoutId id="2147483808" r:id="rId10"/>
    <p:sldLayoutId id="2147483815" r:id="rId11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wmf"/><Relationship Id="rId5" Type="http://schemas.openxmlformats.org/officeDocument/2006/relationships/image" Target="../media/image9.wmf"/><Relationship Id="rId4" Type="http://schemas.openxmlformats.org/officeDocument/2006/relationships/image" Target="../media/image5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78E0A5F-2A95-E72F-1BFF-81C9A45B2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562100"/>
            <a:ext cx="9001125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br>
              <a:rPr lang="en-US" altLang="id-ID" sz="3600" dirty="0">
                <a:solidFill>
                  <a:schemeClr val="bg2"/>
                </a:solidFill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altLang="id-ID" sz="3600" dirty="0">
                <a:solidFill>
                  <a:schemeClr val="bg2"/>
                </a:solidFill>
                <a:ea typeface="Tahoma" panose="020B0604030504040204" pitchFamily="34" charset="0"/>
                <a:cs typeface="Arial" panose="020B0604020202020204" pitchFamily="34" charset="0"/>
              </a:rPr>
              <a:t> Simulation Technique</a:t>
            </a:r>
            <a:br>
              <a:rPr lang="en-US" altLang="id-ID" sz="3600" dirty="0">
                <a:solidFill>
                  <a:schemeClr val="tx2"/>
                </a:solidFill>
                <a:ea typeface="Tahoma" panose="020B0604030504040204" pitchFamily="34" charset="0"/>
                <a:cs typeface="Arial" panose="020B0604020202020204" pitchFamily="34" charset="0"/>
              </a:rPr>
            </a:br>
            <a:endParaRPr lang="en-US" altLang="id-ID" sz="3600" b="1" dirty="0">
              <a:solidFill>
                <a:srgbClr val="FF0000"/>
              </a:solidFill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Rectangle 11">
            <a:extLst>
              <a:ext uri="{FF2B5EF4-FFF2-40B4-BE49-F238E27FC236}">
                <a16:creationId xmlns:a16="http://schemas.microsoft.com/office/drawing/2014/main" id="{403743BE-9AE9-CB60-CC23-FC4C835BA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6072188"/>
            <a:ext cx="664368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endParaRPr lang="en-US" altLang="id-ID" sz="440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19527049-ED67-C0A5-C648-2947EA8B7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058" y="2996952"/>
            <a:ext cx="9001125" cy="129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br>
              <a:rPr lang="en-US" altLang="id-ID" sz="3600" dirty="0">
                <a:solidFill>
                  <a:schemeClr val="bg2"/>
                </a:solidFill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altLang="id-ID" sz="3600" dirty="0">
                <a:solidFill>
                  <a:schemeClr val="bg2"/>
                </a:solidFill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br>
              <a:rPr lang="en-US" altLang="id-ID" sz="3600" dirty="0">
                <a:solidFill>
                  <a:schemeClr val="tx2"/>
                </a:solidFill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altLang="id-ID" sz="4800" b="1" dirty="0">
                <a:solidFill>
                  <a:srgbClr val="FF0000"/>
                </a:solidFill>
                <a:ea typeface="Tahoma" panose="020B0604030504040204" pitchFamily="34" charset="0"/>
                <a:cs typeface="Arial" panose="020B0604020202020204" pitchFamily="34" charset="0"/>
              </a:rPr>
              <a:t>Example of Queueing Model</a:t>
            </a:r>
            <a:endParaRPr lang="en-US" altLang="id-ID" sz="3600" b="1" dirty="0">
              <a:solidFill>
                <a:srgbClr val="FF0000"/>
              </a:solidFill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2BB8284-7EFD-DB32-346E-81936DAE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Objectives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60F3085-B087-F328-D358-EF33A7BA98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5750" y="1643063"/>
            <a:ext cx="8458200" cy="50006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id-ID" sz="3600">
                <a:latin typeface="Tahoma" panose="020B0604030504040204" pitchFamily="34" charset="0"/>
                <a:cs typeface="Tahoma" panose="020B0604030504040204" pitchFamily="34" charset="0"/>
              </a:rPr>
              <a:t> Understand the concept of simulation</a:t>
            </a:r>
          </a:p>
          <a:p>
            <a:pPr eaLnBrk="1" hangingPunct="1">
              <a:lnSpc>
                <a:spcPct val="150000"/>
              </a:lnSpc>
            </a:pPr>
            <a:r>
              <a:rPr lang="fr-FR" altLang="id-ID" sz="3600">
                <a:latin typeface="Tahoma" panose="020B0604030504040204" pitchFamily="34" charset="0"/>
                <a:cs typeface="Tahoma" panose="020B0604030504040204" pitchFamily="34" charset="0"/>
              </a:rPr>
              <a:t> Understand the concept of discrete event simulation</a:t>
            </a:r>
            <a:endParaRPr lang="en-US" altLang="id-ID" sz="36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4B7153-5221-0D16-6575-E1B75E64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The Airport System …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8E1EF33-0614-18A8-3D5F-8E4E186C11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5750" y="1643063"/>
            <a:ext cx="8458200" cy="5000625"/>
          </a:xfrm>
        </p:spPr>
        <p:txBody>
          <a:bodyPr/>
          <a:lstStyle/>
          <a:p>
            <a:pPr eaLnBrk="1" hangingPunct="1"/>
            <a:r>
              <a:rPr lang="en-US" altLang="id-ID" sz="2400"/>
              <a:t>A certain airport contains a </a:t>
            </a:r>
            <a:r>
              <a:rPr lang="en-US" altLang="id-ID" sz="2400" b="1"/>
              <a:t>single runway </a:t>
            </a:r>
            <a:r>
              <a:rPr lang="en-US" altLang="id-ID" sz="2400"/>
              <a:t>on which arriving </a:t>
            </a:r>
            <a:r>
              <a:rPr lang="en-US" altLang="id-ID" sz="2400" b="1"/>
              <a:t>aircrafts</a:t>
            </a:r>
            <a:r>
              <a:rPr lang="en-US" altLang="id-ID" sz="2400"/>
              <a:t> must land.  </a:t>
            </a:r>
          </a:p>
          <a:p>
            <a:pPr eaLnBrk="1" hangingPunct="1"/>
            <a:r>
              <a:rPr lang="en-US" altLang="id-ID" sz="2400"/>
              <a:t>Once an aircraft is cleared to land, it will use the runway, during which time </a:t>
            </a:r>
            <a:r>
              <a:rPr lang="en-US" altLang="id-ID" sz="2400" b="1"/>
              <a:t>no other aircraft</a:t>
            </a:r>
            <a:r>
              <a:rPr lang="en-US" altLang="id-ID" sz="2400"/>
              <a:t> can be cleared to land.  </a:t>
            </a:r>
          </a:p>
          <a:p>
            <a:pPr eaLnBrk="1" hangingPunct="1"/>
            <a:r>
              <a:rPr lang="en-US" altLang="id-ID" sz="2400"/>
              <a:t>Once the aircraft has landed, the runway is available for use by other aircraft.  The landed aircraft remains on the ground for a certain period of time before departing.</a:t>
            </a:r>
          </a:p>
        </p:txBody>
      </p:sp>
      <p:sp>
        <p:nvSpPr>
          <p:cNvPr id="15364" name="AutoShape 5">
            <a:extLst>
              <a:ext uri="{FF2B5EF4-FFF2-40B4-BE49-F238E27FC236}">
                <a16:creationId xmlns:a16="http://schemas.microsoft.com/office/drawing/2014/main" id="{3E83BD4F-8827-FCF3-6DF0-F3AFE52CD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5495925"/>
            <a:ext cx="4419600" cy="977900"/>
          </a:xfrm>
          <a:prstGeom prst="parallelogram">
            <a:avLst>
              <a:gd name="adj" fmla="val 780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id-ID" altLang="id-ID"/>
          </a:p>
        </p:txBody>
      </p:sp>
      <p:grpSp>
        <p:nvGrpSpPr>
          <p:cNvPr id="15365" name="Group 6">
            <a:extLst>
              <a:ext uri="{FF2B5EF4-FFF2-40B4-BE49-F238E27FC236}">
                <a16:creationId xmlns:a16="http://schemas.microsoft.com/office/drawing/2014/main" id="{C6EEA566-8F43-83CB-3EDB-71795EAD2807}"/>
              </a:ext>
            </a:extLst>
          </p:cNvPr>
          <p:cNvGrpSpPr>
            <a:grpSpLocks/>
          </p:cNvGrpSpPr>
          <p:nvPr/>
        </p:nvGrpSpPr>
        <p:grpSpPr bwMode="auto">
          <a:xfrm>
            <a:off x="1128713" y="5114925"/>
            <a:ext cx="292100" cy="444500"/>
            <a:chOff x="2740" y="964"/>
            <a:chExt cx="184" cy="280"/>
          </a:xfrm>
        </p:grpSpPr>
        <p:sp>
          <p:nvSpPr>
            <p:cNvPr id="15371" name="Rectangle 7">
              <a:extLst>
                <a:ext uri="{FF2B5EF4-FFF2-40B4-BE49-F238E27FC236}">
                  <a16:creationId xmlns:a16="http://schemas.microsoft.com/office/drawing/2014/main" id="{2B79B017-C123-9A26-8D2A-FBE5B485D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1060"/>
              <a:ext cx="88" cy="184"/>
            </a:xfrm>
            <a:prstGeom prst="rect">
              <a:avLst/>
            </a:pr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id-ID" altLang="id-ID"/>
            </a:p>
          </p:txBody>
        </p:sp>
        <p:sp>
          <p:nvSpPr>
            <p:cNvPr id="15372" name="AutoShape 8">
              <a:extLst>
                <a:ext uri="{FF2B5EF4-FFF2-40B4-BE49-F238E27FC236}">
                  <a16:creationId xmlns:a16="http://schemas.microsoft.com/office/drawing/2014/main" id="{33F8BC2B-9C45-FD97-BC06-59B9645362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 flipV="1">
              <a:off x="2740" y="964"/>
              <a:ext cx="184" cy="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1 w 21600"/>
                <a:gd name="T13" fmla="*/ 4418 h 21600"/>
                <a:gd name="T14" fmla="*/ 17139 w 21600"/>
                <a:gd name="T15" fmla="*/ 1718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D"/>
            </a:p>
          </p:txBody>
        </p:sp>
      </p:grpSp>
      <p:pic>
        <p:nvPicPr>
          <p:cNvPr id="15366" name="Picture 11">
            <a:extLst>
              <a:ext uri="{FF2B5EF4-FFF2-40B4-BE49-F238E27FC236}">
                <a16:creationId xmlns:a16="http://schemas.microsoft.com/office/drawing/2014/main" id="{5A4F716F-2F2A-42DF-15D6-69235F210F6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313" y="4429125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AutoShape 32">
            <a:extLst>
              <a:ext uri="{FF2B5EF4-FFF2-40B4-BE49-F238E27FC236}">
                <a16:creationId xmlns:a16="http://schemas.microsoft.com/office/drawing/2014/main" id="{12FBBFBE-FDA9-F69A-89F4-79F50E307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5800725"/>
            <a:ext cx="3048000" cy="368300"/>
          </a:xfrm>
          <a:prstGeom prst="parallelogram">
            <a:avLst>
              <a:gd name="adj" fmla="val 7275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id-ID" altLang="id-ID"/>
          </a:p>
        </p:txBody>
      </p:sp>
      <p:pic>
        <p:nvPicPr>
          <p:cNvPr id="15368" name="Picture 10">
            <a:extLst>
              <a:ext uri="{FF2B5EF4-FFF2-40B4-BE49-F238E27FC236}">
                <a16:creationId xmlns:a16="http://schemas.microsoft.com/office/drawing/2014/main" id="{D69992B9-10FE-27FF-6F78-03C7C46879BC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4958">
            <a:off x="3262313" y="5419725"/>
            <a:ext cx="11049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Picture 38">
            <a:extLst>
              <a:ext uri="{FF2B5EF4-FFF2-40B4-BE49-F238E27FC236}">
                <a16:creationId xmlns:a16="http://schemas.microsoft.com/office/drawing/2014/main" id="{2BF7DEFF-CCB7-B6C9-42C0-BBE28241348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313" y="4435475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39">
            <a:extLst>
              <a:ext uri="{FF2B5EF4-FFF2-40B4-BE49-F238E27FC236}">
                <a16:creationId xmlns:a16="http://schemas.microsoft.com/office/drawing/2014/main" id="{18FE4E2B-D86A-BCD2-DB60-AC05B58A7AB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313" y="4441825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947405B-F073-A8A1-430D-A4BB8ECE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143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id-ID"/>
              <a:t>Model Development Life Cycle</a:t>
            </a:r>
          </a:p>
        </p:txBody>
      </p:sp>
      <p:sp>
        <p:nvSpPr>
          <p:cNvPr id="3081" name="Line 10">
            <a:extLst>
              <a:ext uri="{FF2B5EF4-FFF2-40B4-BE49-F238E27FC236}">
                <a16:creationId xmlns:a16="http://schemas.microsoft.com/office/drawing/2014/main" id="{74B92809-492F-2495-1E60-3B13469FC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16376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 sz="2800">
              <a:latin typeface="+mj-lt"/>
              <a:ea typeface="ＭＳ Ｐゴシック" pitchFamily="80" charset="-128"/>
            </a:endParaRPr>
          </a:p>
        </p:txBody>
      </p:sp>
      <p:sp>
        <p:nvSpPr>
          <p:cNvPr id="3082" name="Line 11">
            <a:extLst>
              <a:ext uri="{FF2B5EF4-FFF2-40B4-BE49-F238E27FC236}">
                <a16:creationId xmlns:a16="http://schemas.microsoft.com/office/drawing/2014/main" id="{E49E5415-E398-79FB-B18C-09CE356F9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082925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 sz="2800">
              <a:latin typeface="+mj-lt"/>
              <a:ea typeface="ＭＳ Ｐゴシック" pitchFamily="80" charset="-128"/>
            </a:endParaRPr>
          </a:p>
        </p:txBody>
      </p:sp>
      <p:sp>
        <p:nvSpPr>
          <p:cNvPr id="3083" name="Line 12">
            <a:extLst>
              <a:ext uri="{FF2B5EF4-FFF2-40B4-BE49-F238E27FC236}">
                <a16:creationId xmlns:a16="http://schemas.microsoft.com/office/drawing/2014/main" id="{B4FF5BD4-98B6-9D35-E1C6-1AF14E6E4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00208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 sz="2800">
              <a:latin typeface="+mj-lt"/>
              <a:ea typeface="ＭＳ Ｐゴシック" pitchFamily="80" charset="-128"/>
            </a:endParaRPr>
          </a:p>
        </p:txBody>
      </p:sp>
      <p:sp>
        <p:nvSpPr>
          <p:cNvPr id="3084" name="Line 13">
            <a:extLst>
              <a:ext uri="{FF2B5EF4-FFF2-40B4-BE49-F238E27FC236}">
                <a16:creationId xmlns:a16="http://schemas.microsoft.com/office/drawing/2014/main" id="{588FC718-ED39-2C7E-531F-A5DCF345D1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92125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 sz="2800">
              <a:latin typeface="+mj-lt"/>
              <a:ea typeface="ＭＳ Ｐゴシック" pitchFamily="80" charset="-128"/>
            </a:endParaRPr>
          </a:p>
        </p:txBody>
      </p:sp>
      <p:sp>
        <p:nvSpPr>
          <p:cNvPr id="3085" name="Line 14">
            <a:extLst>
              <a:ext uri="{FF2B5EF4-FFF2-40B4-BE49-F238E27FC236}">
                <a16:creationId xmlns:a16="http://schemas.microsoft.com/office/drawing/2014/main" id="{BE63FB52-8439-5C60-AF2C-43E74C8E18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81183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 sz="2800">
              <a:latin typeface="+mj-lt"/>
              <a:ea typeface="ＭＳ Ｐゴシック" pitchFamily="80" charset="-128"/>
            </a:endParaRPr>
          </a:p>
        </p:txBody>
      </p:sp>
      <p:sp>
        <p:nvSpPr>
          <p:cNvPr id="3086" name="Rectangle 23">
            <a:extLst>
              <a:ext uri="{FF2B5EF4-FFF2-40B4-BE49-F238E27FC236}">
                <a16:creationId xmlns:a16="http://schemas.microsoft.com/office/drawing/2014/main" id="{4D1E039B-4A69-0174-2456-47D99AF3A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063" y="3124200"/>
            <a:ext cx="242093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>
                <a:latin typeface="+mj-lt"/>
                <a:ea typeface="ＭＳ Ｐゴシック" pitchFamily="80" charset="-128"/>
              </a:rPr>
              <a:t>Fundamentally an iterative process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54E98DC2-958B-5D9A-B97F-650BCE473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590675"/>
            <a:ext cx="5410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>
                <a:latin typeface="+mj-lt"/>
                <a:ea typeface="ＭＳ Ｐゴシック" pitchFamily="80" charset="-128"/>
              </a:rPr>
              <a:t>Define goals, objectives of study</a:t>
            </a:r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3E0670AB-0780-33AD-9DEB-9AE083DDA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09838"/>
            <a:ext cx="5410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>
                <a:latin typeface="+mj-lt"/>
                <a:ea typeface="ＭＳ Ｐゴシック" pitchFamily="80" charset="-128"/>
              </a:rPr>
              <a:t>Develop conceptual model</a:t>
            </a:r>
          </a:p>
        </p:txBody>
      </p:sp>
      <p:sp>
        <p:nvSpPr>
          <p:cNvPr id="3077" name="Rectangle 6">
            <a:extLst>
              <a:ext uri="{FF2B5EF4-FFF2-40B4-BE49-F238E27FC236}">
                <a16:creationId xmlns:a16="http://schemas.microsoft.com/office/drawing/2014/main" id="{230FAD49-48B7-CBDC-A2A5-CCB0B0ED2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429000"/>
            <a:ext cx="5410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>
                <a:latin typeface="+mj-lt"/>
                <a:ea typeface="ＭＳ Ｐゴシック" pitchFamily="80" charset="-128"/>
              </a:rPr>
              <a:t>Develop specification of model</a:t>
            </a:r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1F82BA95-66E4-3E28-E698-7B821C2A9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48163"/>
            <a:ext cx="5410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>
                <a:latin typeface="+mj-lt"/>
                <a:ea typeface="ＭＳ Ｐゴシック" pitchFamily="80" charset="-128"/>
              </a:rPr>
              <a:t>Develop computational model</a:t>
            </a:r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12319FA7-399A-007A-C902-59C610FC8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267325"/>
            <a:ext cx="5410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>
                <a:latin typeface="+mj-lt"/>
                <a:ea typeface="ＭＳ Ｐゴシック" pitchFamily="80" charset="-128"/>
              </a:rPr>
              <a:t>Verify model</a:t>
            </a:r>
          </a:p>
        </p:txBody>
      </p:sp>
      <p:sp>
        <p:nvSpPr>
          <p:cNvPr id="3080" name="Rectangle 9">
            <a:extLst>
              <a:ext uri="{FF2B5EF4-FFF2-40B4-BE49-F238E27FC236}">
                <a16:creationId xmlns:a16="http://schemas.microsoft.com/office/drawing/2014/main" id="{3FC5F9C2-A9CD-FE72-3F52-76986A443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186488"/>
            <a:ext cx="5410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>
                <a:latin typeface="+mj-lt"/>
                <a:ea typeface="ＭＳ Ｐゴシック" pitchFamily="80" charset="-128"/>
              </a:rPr>
              <a:t>Validate model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CDB9032-ECB3-CA53-5354-259809D41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8113"/>
            <a:ext cx="8839200" cy="704850"/>
          </a:xfrm>
          <a:noFill/>
        </p:spPr>
        <p:txBody>
          <a:bodyPr lIns="90487" tIns="44450" rIns="90487" bIns="44450">
            <a:spAutoFit/>
          </a:bodyPr>
          <a:lstStyle/>
          <a:p>
            <a:pPr eaLnBrk="1" hangingPunct="1"/>
            <a:r>
              <a:rPr lang="en-US" altLang="id-ID" sz="4000"/>
              <a:t>Conceptual Model: Single Server Queue</a:t>
            </a:r>
          </a:p>
        </p:txBody>
      </p:sp>
      <p:sp>
        <p:nvSpPr>
          <p:cNvPr id="7174" name="Rectangle 31">
            <a:extLst>
              <a:ext uri="{FF2B5EF4-FFF2-40B4-BE49-F238E27FC236}">
                <a16:creationId xmlns:a16="http://schemas.microsoft.com/office/drawing/2014/main" id="{F755C783-96CF-EAA2-3761-AA4260DD5EF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4648200"/>
            <a:ext cx="7772400" cy="2209800"/>
          </a:xfrm>
        </p:spPr>
        <p:txBody>
          <a:bodyPr>
            <a:normAutofit lnSpcReduction="10000"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/>
              <a:t>Customer (aircraft)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/>
              <a:t>Entities utilizing the system/resources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/>
              <a:t>Server (runway)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/>
              <a:t>Resource that is serially reused; serves one customer at a time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/>
              <a:t>Queue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/>
              <a:t>Buffer holding aircraft waiting to land</a:t>
            </a:r>
          </a:p>
        </p:txBody>
      </p:sp>
      <p:sp>
        <p:nvSpPr>
          <p:cNvPr id="19460" name="AutoShape 5">
            <a:extLst>
              <a:ext uri="{FF2B5EF4-FFF2-40B4-BE49-F238E27FC236}">
                <a16:creationId xmlns:a16="http://schemas.microsoft.com/office/drawing/2014/main" id="{97FC7C28-0D46-77C1-456E-4AFBD9EA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09800"/>
            <a:ext cx="4419600" cy="977900"/>
          </a:xfrm>
          <a:prstGeom prst="parallelogram">
            <a:avLst>
              <a:gd name="adj" fmla="val 780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id-ID" altLang="id-ID"/>
          </a:p>
        </p:txBody>
      </p:sp>
      <p:grpSp>
        <p:nvGrpSpPr>
          <p:cNvPr id="19461" name="Group 6">
            <a:extLst>
              <a:ext uri="{FF2B5EF4-FFF2-40B4-BE49-F238E27FC236}">
                <a16:creationId xmlns:a16="http://schemas.microsoft.com/office/drawing/2014/main" id="{46465F70-2052-17FE-0BBE-39D5BD597FF7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828800"/>
            <a:ext cx="292100" cy="444500"/>
            <a:chOff x="2740" y="964"/>
            <a:chExt cx="184" cy="280"/>
          </a:xfrm>
        </p:grpSpPr>
        <p:sp>
          <p:nvSpPr>
            <p:cNvPr id="19482" name="Rectangle 7">
              <a:extLst>
                <a:ext uri="{FF2B5EF4-FFF2-40B4-BE49-F238E27FC236}">
                  <a16:creationId xmlns:a16="http://schemas.microsoft.com/office/drawing/2014/main" id="{50C4441E-4640-0CC8-4459-FFF2E5B8B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1060"/>
              <a:ext cx="88" cy="184"/>
            </a:xfrm>
            <a:prstGeom prst="rect">
              <a:avLst/>
            </a:pr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id-ID" altLang="id-ID"/>
            </a:p>
          </p:txBody>
        </p:sp>
        <p:sp>
          <p:nvSpPr>
            <p:cNvPr id="19483" name="AutoShape 8">
              <a:extLst>
                <a:ext uri="{FF2B5EF4-FFF2-40B4-BE49-F238E27FC236}">
                  <a16:creationId xmlns:a16="http://schemas.microsoft.com/office/drawing/2014/main" id="{B775C517-5DF9-E337-F9D9-E452479E07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 flipV="1">
              <a:off x="2740" y="964"/>
              <a:ext cx="184" cy="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1 w 21600"/>
                <a:gd name="T13" fmla="*/ 4418 h 21600"/>
                <a:gd name="T14" fmla="*/ 17139 w 21600"/>
                <a:gd name="T15" fmla="*/ 1718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D"/>
            </a:p>
          </p:txBody>
        </p:sp>
      </p:grpSp>
      <p:pic>
        <p:nvPicPr>
          <p:cNvPr id="19462" name="Picture 11">
            <a:extLst>
              <a:ext uri="{FF2B5EF4-FFF2-40B4-BE49-F238E27FC236}">
                <a16:creationId xmlns:a16="http://schemas.microsoft.com/office/drawing/2014/main" id="{07BCB6B4-5B1C-1CCC-CA74-A7F23F732F5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143000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AutoShape 32">
            <a:extLst>
              <a:ext uri="{FF2B5EF4-FFF2-40B4-BE49-F238E27FC236}">
                <a16:creationId xmlns:a16="http://schemas.microsoft.com/office/drawing/2014/main" id="{E1672702-36F3-E7F7-8958-2E1B2FD84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514600"/>
            <a:ext cx="3048000" cy="368300"/>
          </a:xfrm>
          <a:prstGeom prst="parallelogram">
            <a:avLst>
              <a:gd name="adj" fmla="val 7275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id-ID" altLang="id-ID"/>
          </a:p>
        </p:txBody>
      </p:sp>
      <p:pic>
        <p:nvPicPr>
          <p:cNvPr id="19464" name="Picture 10">
            <a:extLst>
              <a:ext uri="{FF2B5EF4-FFF2-40B4-BE49-F238E27FC236}">
                <a16:creationId xmlns:a16="http://schemas.microsoft.com/office/drawing/2014/main" id="{0E50DE17-8C08-716B-FA67-4812D99CEEAB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4958">
            <a:off x="3200400" y="2133600"/>
            <a:ext cx="11049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Picture 38">
            <a:extLst>
              <a:ext uri="{FF2B5EF4-FFF2-40B4-BE49-F238E27FC236}">
                <a16:creationId xmlns:a16="http://schemas.microsoft.com/office/drawing/2014/main" id="{9DCC4B6B-04FE-44C6-1741-4C684D73183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149350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6" name="Picture 39">
            <a:extLst>
              <a:ext uri="{FF2B5EF4-FFF2-40B4-BE49-F238E27FC236}">
                <a16:creationId xmlns:a16="http://schemas.microsoft.com/office/drawing/2014/main" id="{C75F3775-21A5-0B44-F807-98433A027B8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155700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9" name="Oval 40">
            <a:extLst>
              <a:ext uri="{FF2B5EF4-FFF2-40B4-BE49-F238E27FC236}">
                <a16:creationId xmlns:a16="http://schemas.microsoft.com/office/drawing/2014/main" id="{9D84431B-A636-5B6E-06BE-D744DE74D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05200"/>
            <a:ext cx="990600" cy="914400"/>
          </a:xfrm>
          <a:prstGeom prst="ellipse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0" name="Oval 41">
            <a:extLst>
              <a:ext uri="{FF2B5EF4-FFF2-40B4-BE49-F238E27FC236}">
                <a16:creationId xmlns:a16="http://schemas.microsoft.com/office/drawing/2014/main" id="{07F0ECE4-C96E-B268-E217-3E4F60DF4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1" name="Rectangle 42">
            <a:extLst>
              <a:ext uri="{FF2B5EF4-FFF2-40B4-BE49-F238E27FC236}">
                <a16:creationId xmlns:a16="http://schemas.microsoft.com/office/drawing/2014/main" id="{47305EDC-0E3A-1413-7F14-99749FBF5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581400"/>
            <a:ext cx="2286000" cy="7620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2" name="Oval 43">
            <a:extLst>
              <a:ext uri="{FF2B5EF4-FFF2-40B4-BE49-F238E27FC236}">
                <a16:creationId xmlns:a16="http://schemas.microsoft.com/office/drawing/2014/main" id="{0B35565C-688A-AED3-74E8-8ED75C0DB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8862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3" name="Oval 44">
            <a:extLst>
              <a:ext uri="{FF2B5EF4-FFF2-40B4-BE49-F238E27FC236}">
                <a16:creationId xmlns:a16="http://schemas.microsoft.com/office/drawing/2014/main" id="{59E0B2E7-790C-6043-386F-484CF7047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862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4" name="Oval 45">
            <a:extLst>
              <a:ext uri="{FF2B5EF4-FFF2-40B4-BE49-F238E27FC236}">
                <a16:creationId xmlns:a16="http://schemas.microsoft.com/office/drawing/2014/main" id="{54CF4F39-FA5F-54AB-98D6-4C2436871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8862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5" name="Line 46">
            <a:extLst>
              <a:ext uri="{FF2B5EF4-FFF2-40B4-BE49-F238E27FC236}">
                <a16:creationId xmlns:a16="http://schemas.microsoft.com/office/drawing/2014/main" id="{C61A5E52-8251-C46E-BCFD-70247716EC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3962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6" name="Line 47">
            <a:extLst>
              <a:ext uri="{FF2B5EF4-FFF2-40B4-BE49-F238E27FC236}">
                <a16:creationId xmlns:a16="http://schemas.microsoft.com/office/drawing/2014/main" id="{5D95DAE2-BF52-BCA7-21E4-D03905B89F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3962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7" name="Line 48">
            <a:extLst>
              <a:ext uri="{FF2B5EF4-FFF2-40B4-BE49-F238E27FC236}">
                <a16:creationId xmlns:a16="http://schemas.microsoft.com/office/drawing/2014/main" id="{207FD4B2-7015-CDDD-6FF5-F884DE9560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7800" y="3962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8" name="Oval 49">
            <a:extLst>
              <a:ext uri="{FF2B5EF4-FFF2-40B4-BE49-F238E27FC236}">
                <a16:creationId xmlns:a16="http://schemas.microsoft.com/office/drawing/2014/main" id="{85484189-D44C-9ED7-5DBD-C14CBEF12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9" name="Oval 50">
            <a:extLst>
              <a:ext uri="{FF2B5EF4-FFF2-40B4-BE49-F238E27FC236}">
                <a16:creationId xmlns:a16="http://schemas.microsoft.com/office/drawing/2014/main" id="{65AE167A-A7B1-8409-70EA-F9EC016FA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90" name="Oval 51">
            <a:extLst>
              <a:ext uri="{FF2B5EF4-FFF2-40B4-BE49-F238E27FC236}">
                <a16:creationId xmlns:a16="http://schemas.microsoft.com/office/drawing/2014/main" id="{A4E6CF9F-68E9-625C-072D-6D560BB06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91" name="Rectangle 52">
            <a:extLst>
              <a:ext uri="{FF2B5EF4-FFF2-40B4-BE49-F238E27FC236}">
                <a16:creationId xmlns:a16="http://schemas.microsoft.com/office/drawing/2014/main" id="{42919BBB-CC75-A89E-56E6-B876A04C9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00400"/>
            <a:ext cx="1335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+mj-lt"/>
                <a:ea typeface="ＭＳ Ｐゴシック" pitchFamily="80" charset="-128"/>
              </a:rPr>
              <a:t>customer</a:t>
            </a:r>
          </a:p>
        </p:txBody>
      </p:sp>
      <p:sp>
        <p:nvSpPr>
          <p:cNvPr id="7192" name="Rectangle 53">
            <a:extLst>
              <a:ext uri="{FF2B5EF4-FFF2-40B4-BE49-F238E27FC236}">
                <a16:creationId xmlns:a16="http://schemas.microsoft.com/office/drawing/2014/main" id="{2AD24C1C-F613-FDCE-CEED-AF265ABFF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124200"/>
            <a:ext cx="968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+mj-lt"/>
                <a:ea typeface="ＭＳ Ｐゴシック" pitchFamily="80" charset="-128"/>
              </a:rPr>
              <a:t>queue</a:t>
            </a:r>
          </a:p>
        </p:txBody>
      </p:sp>
      <p:sp>
        <p:nvSpPr>
          <p:cNvPr id="7193" name="Rectangle 54">
            <a:extLst>
              <a:ext uri="{FF2B5EF4-FFF2-40B4-BE49-F238E27FC236}">
                <a16:creationId xmlns:a16="http://schemas.microsoft.com/office/drawing/2014/main" id="{904FBDB9-9138-3701-436F-A68B29240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3352800"/>
            <a:ext cx="9699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+mj-lt"/>
                <a:ea typeface="ＭＳ Ｐゴシック" pitchFamily="80" charset="-128"/>
              </a:rPr>
              <a:t>server</a:t>
            </a: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D3ACBC7-9C5A-1D6F-A9EE-F0E0DF7C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Objectives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AE203E4-5584-76F6-9EEE-5E9D3966A5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5750" y="1643063"/>
            <a:ext cx="8643938" cy="5000625"/>
          </a:xfrm>
        </p:spPr>
        <p:txBody>
          <a:bodyPr/>
          <a:lstStyle/>
          <a:p>
            <a:pPr eaLnBrk="1" hangingPunct="1"/>
            <a:r>
              <a:rPr lang="en-US" altLang="id-ID" sz="2800" b="1">
                <a:solidFill>
                  <a:srgbClr val="FF0000"/>
                </a:solidFill>
              </a:rPr>
              <a:t>Objective:</a:t>
            </a:r>
            <a:r>
              <a:rPr lang="en-US" altLang="id-ID" sz="2800" b="1"/>
              <a:t> Evaluate the performance of the Airport System</a:t>
            </a:r>
          </a:p>
          <a:p>
            <a:pPr eaLnBrk="1" hangingPunct="1"/>
            <a:r>
              <a:rPr lang="fr-FR" altLang="id-ID" sz="2800"/>
              <a:t>Performance </a:t>
            </a:r>
            <a:r>
              <a:rPr lang="en-US" altLang="id-ID" sz="2800"/>
              <a:t>Metrics</a:t>
            </a:r>
          </a:p>
          <a:p>
            <a:pPr lvl="1" eaLnBrk="1" hangingPunct="1"/>
            <a:r>
              <a:rPr lang="en-US" altLang="id-ID" sz="2400"/>
              <a:t> </a:t>
            </a:r>
            <a:r>
              <a:rPr lang="en-US" altLang="id-ID" sz="2400" b="1"/>
              <a:t>Average waiting time: </a:t>
            </a:r>
            <a:r>
              <a:rPr lang="fr-FR" altLang="id-ID" sz="2400"/>
              <a:t>Average time that</a:t>
            </a:r>
            <a:r>
              <a:rPr lang="en-US" altLang="id-ID" sz="2400" b="1"/>
              <a:t> </a:t>
            </a:r>
            <a:r>
              <a:rPr lang="en-US" altLang="id-ID" sz="2400"/>
              <a:t>an aircraft must wait when arriving at an airport before they are allowed to land.</a:t>
            </a:r>
          </a:p>
          <a:p>
            <a:pPr lvl="1" eaLnBrk="1" hangingPunct="1"/>
            <a:r>
              <a:rPr lang="en-US" altLang="id-ID" sz="2400" b="1"/>
              <a:t>Maximum number of aircraft on the ground: </a:t>
            </a:r>
            <a:r>
              <a:rPr lang="en-US" altLang="id-ID" sz="2400"/>
              <a:t>Helps to dimension the required surface for the parking area.</a:t>
            </a: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6BC2093-4555-C32E-03F5-F04F50D17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8113"/>
            <a:ext cx="8839200" cy="704850"/>
          </a:xfrm>
          <a:noFill/>
        </p:spPr>
        <p:txBody>
          <a:bodyPr lIns="90487" tIns="44450" rIns="90487" bIns="44450">
            <a:spAutoFit/>
          </a:bodyPr>
          <a:lstStyle/>
          <a:p>
            <a:pPr eaLnBrk="1" hangingPunct="1"/>
            <a:r>
              <a:rPr lang="en-US" altLang="id-ID" sz="4000"/>
              <a:t>Conceptual Model: Single Server Queue</a:t>
            </a:r>
          </a:p>
        </p:txBody>
      </p:sp>
      <p:sp>
        <p:nvSpPr>
          <p:cNvPr id="7174" name="Rectangle 31">
            <a:extLst>
              <a:ext uri="{FF2B5EF4-FFF2-40B4-BE49-F238E27FC236}">
                <a16:creationId xmlns:a16="http://schemas.microsoft.com/office/drawing/2014/main" id="{A89EA27C-4E6B-40ED-1201-B86AE4F4344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4648200"/>
            <a:ext cx="7772400" cy="2209800"/>
          </a:xfrm>
        </p:spPr>
        <p:txBody>
          <a:bodyPr>
            <a:normAutofit lnSpcReduction="10000"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/>
              <a:t>Customer (aircraft)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/>
              <a:t>Entities utilizing the system/resources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/>
              <a:t>Server (runway)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/>
              <a:t>Resource that is serially reused; serves one customer at a time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/>
              <a:t>Queue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/>
              <a:t>Buffer holding aircraft waiting to land</a:t>
            </a:r>
          </a:p>
        </p:txBody>
      </p:sp>
      <p:sp>
        <p:nvSpPr>
          <p:cNvPr id="23556" name="AutoShape 5">
            <a:extLst>
              <a:ext uri="{FF2B5EF4-FFF2-40B4-BE49-F238E27FC236}">
                <a16:creationId xmlns:a16="http://schemas.microsoft.com/office/drawing/2014/main" id="{475C58B4-CA1B-F979-1292-271FD8C28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09800"/>
            <a:ext cx="4419600" cy="977900"/>
          </a:xfrm>
          <a:prstGeom prst="parallelogram">
            <a:avLst>
              <a:gd name="adj" fmla="val 780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id-ID" altLang="id-ID"/>
          </a:p>
        </p:txBody>
      </p:sp>
      <p:grpSp>
        <p:nvGrpSpPr>
          <p:cNvPr id="23557" name="Group 6">
            <a:extLst>
              <a:ext uri="{FF2B5EF4-FFF2-40B4-BE49-F238E27FC236}">
                <a16:creationId xmlns:a16="http://schemas.microsoft.com/office/drawing/2014/main" id="{176BF80B-62EF-C168-8F04-BFE1458FD41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828800"/>
            <a:ext cx="292100" cy="444500"/>
            <a:chOff x="2740" y="964"/>
            <a:chExt cx="184" cy="280"/>
          </a:xfrm>
        </p:grpSpPr>
        <p:sp>
          <p:nvSpPr>
            <p:cNvPr id="23578" name="Rectangle 7">
              <a:extLst>
                <a:ext uri="{FF2B5EF4-FFF2-40B4-BE49-F238E27FC236}">
                  <a16:creationId xmlns:a16="http://schemas.microsoft.com/office/drawing/2014/main" id="{23A00B61-F42F-5EA6-84B1-CC7254D24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1060"/>
              <a:ext cx="88" cy="184"/>
            </a:xfrm>
            <a:prstGeom prst="rect">
              <a:avLst/>
            </a:pr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id-ID" altLang="id-ID"/>
            </a:p>
          </p:txBody>
        </p:sp>
        <p:sp>
          <p:nvSpPr>
            <p:cNvPr id="23579" name="AutoShape 8">
              <a:extLst>
                <a:ext uri="{FF2B5EF4-FFF2-40B4-BE49-F238E27FC236}">
                  <a16:creationId xmlns:a16="http://schemas.microsoft.com/office/drawing/2014/main" id="{842A371C-FAA7-79C0-F51B-5729CCED9A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 flipV="1">
              <a:off x="2740" y="964"/>
              <a:ext cx="184" cy="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1 w 21600"/>
                <a:gd name="T13" fmla="*/ 4418 h 21600"/>
                <a:gd name="T14" fmla="*/ 17139 w 21600"/>
                <a:gd name="T15" fmla="*/ 1718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D"/>
            </a:p>
          </p:txBody>
        </p:sp>
      </p:grpSp>
      <p:pic>
        <p:nvPicPr>
          <p:cNvPr id="23558" name="Picture 11">
            <a:extLst>
              <a:ext uri="{FF2B5EF4-FFF2-40B4-BE49-F238E27FC236}">
                <a16:creationId xmlns:a16="http://schemas.microsoft.com/office/drawing/2014/main" id="{221DE420-6131-A856-0176-397ADC07034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143000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AutoShape 32">
            <a:extLst>
              <a:ext uri="{FF2B5EF4-FFF2-40B4-BE49-F238E27FC236}">
                <a16:creationId xmlns:a16="http://schemas.microsoft.com/office/drawing/2014/main" id="{752D99B9-D4DF-4D20-44B8-5D69F6F2C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514600"/>
            <a:ext cx="3048000" cy="368300"/>
          </a:xfrm>
          <a:prstGeom prst="parallelogram">
            <a:avLst>
              <a:gd name="adj" fmla="val 7275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id-ID" altLang="id-ID"/>
          </a:p>
        </p:txBody>
      </p:sp>
      <p:pic>
        <p:nvPicPr>
          <p:cNvPr id="23560" name="Picture 10">
            <a:extLst>
              <a:ext uri="{FF2B5EF4-FFF2-40B4-BE49-F238E27FC236}">
                <a16:creationId xmlns:a16="http://schemas.microsoft.com/office/drawing/2014/main" id="{685A98D6-3B42-EFBD-8451-35EDB99DFAD2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4958">
            <a:off x="3200400" y="2133600"/>
            <a:ext cx="11049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1" name="Picture 38">
            <a:extLst>
              <a:ext uri="{FF2B5EF4-FFF2-40B4-BE49-F238E27FC236}">
                <a16:creationId xmlns:a16="http://schemas.microsoft.com/office/drawing/2014/main" id="{FF8CD8B2-AA2D-BAAA-C076-BDCCFEEDE33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149350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2" name="Picture 39">
            <a:extLst>
              <a:ext uri="{FF2B5EF4-FFF2-40B4-BE49-F238E27FC236}">
                <a16:creationId xmlns:a16="http://schemas.microsoft.com/office/drawing/2014/main" id="{89118412-2E1A-484F-C15C-FD982D3B6F9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155700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9" name="Oval 40">
            <a:extLst>
              <a:ext uri="{FF2B5EF4-FFF2-40B4-BE49-F238E27FC236}">
                <a16:creationId xmlns:a16="http://schemas.microsoft.com/office/drawing/2014/main" id="{D97FE13D-ADFA-5878-9CB3-6A5AAAFD7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05200"/>
            <a:ext cx="990600" cy="914400"/>
          </a:xfrm>
          <a:prstGeom prst="ellipse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0" name="Oval 41">
            <a:extLst>
              <a:ext uri="{FF2B5EF4-FFF2-40B4-BE49-F238E27FC236}">
                <a16:creationId xmlns:a16="http://schemas.microsoft.com/office/drawing/2014/main" id="{66D6447B-19D6-44FA-1240-39011F1E2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1" name="Rectangle 42">
            <a:extLst>
              <a:ext uri="{FF2B5EF4-FFF2-40B4-BE49-F238E27FC236}">
                <a16:creationId xmlns:a16="http://schemas.microsoft.com/office/drawing/2014/main" id="{865F0131-DFC3-E0F4-BC2B-95646A6FD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581400"/>
            <a:ext cx="2286000" cy="7620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2" name="Oval 43">
            <a:extLst>
              <a:ext uri="{FF2B5EF4-FFF2-40B4-BE49-F238E27FC236}">
                <a16:creationId xmlns:a16="http://schemas.microsoft.com/office/drawing/2014/main" id="{9CA0E3FF-5895-53A9-EBA8-45E113B53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8862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3" name="Oval 44">
            <a:extLst>
              <a:ext uri="{FF2B5EF4-FFF2-40B4-BE49-F238E27FC236}">
                <a16:creationId xmlns:a16="http://schemas.microsoft.com/office/drawing/2014/main" id="{2B3825D8-DE2E-6BDC-DD93-C2C9DF801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862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4" name="Oval 45">
            <a:extLst>
              <a:ext uri="{FF2B5EF4-FFF2-40B4-BE49-F238E27FC236}">
                <a16:creationId xmlns:a16="http://schemas.microsoft.com/office/drawing/2014/main" id="{C796A930-A607-29C0-F3F1-6A7FD57CC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8862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5" name="Line 46">
            <a:extLst>
              <a:ext uri="{FF2B5EF4-FFF2-40B4-BE49-F238E27FC236}">
                <a16:creationId xmlns:a16="http://schemas.microsoft.com/office/drawing/2014/main" id="{E7ED1FD6-33F3-8A8A-7C5E-FFFD556FCB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3962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6" name="Line 47">
            <a:extLst>
              <a:ext uri="{FF2B5EF4-FFF2-40B4-BE49-F238E27FC236}">
                <a16:creationId xmlns:a16="http://schemas.microsoft.com/office/drawing/2014/main" id="{E26B0D73-6AF0-9A50-BA44-1E42C7B324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3962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7" name="Line 48">
            <a:extLst>
              <a:ext uri="{FF2B5EF4-FFF2-40B4-BE49-F238E27FC236}">
                <a16:creationId xmlns:a16="http://schemas.microsoft.com/office/drawing/2014/main" id="{911270E9-DADB-4633-2ADF-4A0A0B48ED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7800" y="3962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8" name="Oval 49">
            <a:extLst>
              <a:ext uri="{FF2B5EF4-FFF2-40B4-BE49-F238E27FC236}">
                <a16:creationId xmlns:a16="http://schemas.microsoft.com/office/drawing/2014/main" id="{E9AAD4EF-E24A-202D-DC8B-86122DEE4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89" name="Oval 50">
            <a:extLst>
              <a:ext uri="{FF2B5EF4-FFF2-40B4-BE49-F238E27FC236}">
                <a16:creationId xmlns:a16="http://schemas.microsoft.com/office/drawing/2014/main" id="{4BB3EFA1-6BB9-2DF1-B589-7B0F6ED99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90" name="Oval 51">
            <a:extLst>
              <a:ext uri="{FF2B5EF4-FFF2-40B4-BE49-F238E27FC236}">
                <a16:creationId xmlns:a16="http://schemas.microsoft.com/office/drawing/2014/main" id="{FB186090-E6BD-7C38-A074-23C16BE04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7191" name="Rectangle 52">
            <a:extLst>
              <a:ext uri="{FF2B5EF4-FFF2-40B4-BE49-F238E27FC236}">
                <a16:creationId xmlns:a16="http://schemas.microsoft.com/office/drawing/2014/main" id="{FC1B36F3-0EE5-4097-D72F-435A08C96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00400"/>
            <a:ext cx="1335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+mj-lt"/>
                <a:ea typeface="ＭＳ Ｐゴシック" pitchFamily="80" charset="-128"/>
              </a:rPr>
              <a:t>customer</a:t>
            </a:r>
          </a:p>
        </p:txBody>
      </p:sp>
      <p:sp>
        <p:nvSpPr>
          <p:cNvPr id="7192" name="Rectangle 53">
            <a:extLst>
              <a:ext uri="{FF2B5EF4-FFF2-40B4-BE49-F238E27FC236}">
                <a16:creationId xmlns:a16="http://schemas.microsoft.com/office/drawing/2014/main" id="{D6CF47F4-309C-99D4-A43C-C39D75E2D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124200"/>
            <a:ext cx="968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+mj-lt"/>
                <a:ea typeface="ＭＳ Ｐゴシック" pitchFamily="80" charset="-128"/>
              </a:rPr>
              <a:t>queue</a:t>
            </a:r>
          </a:p>
        </p:txBody>
      </p:sp>
      <p:sp>
        <p:nvSpPr>
          <p:cNvPr id="7193" name="Rectangle 54">
            <a:extLst>
              <a:ext uri="{FF2B5EF4-FFF2-40B4-BE49-F238E27FC236}">
                <a16:creationId xmlns:a16="http://schemas.microsoft.com/office/drawing/2014/main" id="{5AC68856-CBA0-E000-62B7-F611A19EE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3352800"/>
            <a:ext cx="9699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latin typeface="+mj-lt"/>
                <a:ea typeface="ＭＳ Ｐゴシック" pitchFamily="80" charset="-128"/>
              </a:rPr>
              <a:t>server</a:t>
            </a: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D1AB5B4-0E58-4004-F9EC-DFBC0D1EA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915400" cy="762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Specification Model (Queueing Networks)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5800CEB-7CFF-3160-75DF-A5EB8D94957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5750" y="1571625"/>
            <a:ext cx="8686800" cy="51435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id-ID" sz="1800" b="1">
                <a:solidFill>
                  <a:srgbClr val="FF0000"/>
                </a:solidFill>
              </a:rPr>
              <a:t>Customers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sz="1600"/>
              <a:t>What is the </a:t>
            </a:r>
            <a:r>
              <a:rPr lang="en-US" altLang="id-ID" sz="1600" i="1"/>
              <a:t>arrival process</a:t>
            </a:r>
            <a:r>
              <a:rPr lang="en-US" altLang="id-ID" sz="1600"/>
              <a:t>?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1400"/>
              <a:t>Schedule of aircraft arrivals, e.g., log from specific dates (trace driven)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1400"/>
              <a:t>Often, probability distribution defines time between successive customer arrivals (interarrival time)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 sz="1200"/>
              <a:t>Assumes interarrival times </a:t>
            </a:r>
            <a:r>
              <a:rPr lang="en-US" altLang="id-ID" sz="1200" i="1"/>
              <a:t>independent, and identically distributed</a:t>
            </a:r>
            <a:r>
              <a:rPr lang="en-US" altLang="id-ID" sz="1200"/>
              <a:t> (iid)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id-ID" sz="1200"/>
              <a:t>Not always true (e.g., customers may leave if lines are too long!)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sz="1600" i="1"/>
              <a:t>Customer attributes</a:t>
            </a:r>
            <a:r>
              <a:rPr lang="en-US" altLang="id-ID" sz="1600"/>
              <a:t>?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1400"/>
              <a:t>Sometime different flavors, e.g., priorities or other properties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d-ID" sz="1800" b="1">
                <a:solidFill>
                  <a:srgbClr val="FF0000"/>
                </a:solidFill>
              </a:rPr>
              <a:t>Servers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sz="1600"/>
              <a:t>How much </a:t>
            </a:r>
            <a:r>
              <a:rPr lang="en-US" altLang="id-ID" sz="1600" i="1"/>
              <a:t>service time</a:t>
            </a:r>
            <a:r>
              <a:rPr lang="en-US" altLang="id-ID" sz="1600"/>
              <a:t> is needed for each customer?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1400"/>
              <a:t>May use probability distribution to specify customer service time (iid)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sz="1600" i="1"/>
              <a:t>How many servers</a:t>
            </a:r>
            <a:r>
              <a:rPr lang="en-US" altLang="id-ID" sz="1600"/>
              <a:t>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d-ID" sz="1800" b="1">
                <a:solidFill>
                  <a:srgbClr val="FF0000"/>
                </a:solidFill>
              </a:rPr>
              <a:t>Queue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sz="1600" i="1"/>
              <a:t>Service discipline</a:t>
            </a:r>
            <a:r>
              <a:rPr lang="en-US" altLang="id-ID" sz="1600"/>
              <a:t> - who gets service next?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1400"/>
              <a:t>First-in-first-out (FIFO), Last-in-first-out (LIFO), random …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1400"/>
              <a:t>May depend on a property of the customer (e.g., priority, “smallest” first)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id-ID" sz="1400"/>
              <a:t>Preemption?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d-ID" sz="1600" i="1"/>
              <a:t>Queue capacity</a:t>
            </a:r>
            <a:r>
              <a:rPr lang="en-US" altLang="id-ID" sz="1600"/>
              <a:t>?  What if the queue overflows?</a:t>
            </a: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9525794-429E-2D27-60F9-6B9C325D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Specification Model (cont.)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1099BFE-96C6-918C-DC04-6D501991301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04800" y="1543050"/>
            <a:ext cx="8686800" cy="50292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Assumptions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>
                <a:solidFill>
                  <a:srgbClr val="FF0000"/>
                </a:solidFill>
              </a:rPr>
              <a:t>Customers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b="1" dirty="0"/>
              <a:t>Poisson Arrival Process</a:t>
            </a:r>
            <a:r>
              <a:rPr lang="en-US" sz="2400" dirty="0"/>
              <a:t>: Assume arrivals are </a:t>
            </a:r>
            <a:r>
              <a:rPr lang="en-US" sz="2400" dirty="0" err="1"/>
              <a:t>i.i.d</a:t>
            </a:r>
            <a:r>
              <a:rPr lang="en-US" sz="2400" dirty="0"/>
              <a:t>., following an exponential distribution for inter-arrival times with mean </a:t>
            </a:r>
            <a:r>
              <a:rPr lang="en-US" sz="2400" dirty="0">
                <a:latin typeface="Courier" pitchFamily="80" charset="0"/>
              </a:rPr>
              <a:t>A</a:t>
            </a:r>
            <a:endParaRPr 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Assume all customers are identical (no specific attributes)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>
                <a:solidFill>
                  <a:srgbClr val="FF0000"/>
                </a:solidFill>
              </a:rPr>
              <a:t>Servers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b="1" dirty="0"/>
              <a:t>Exponential service time </a:t>
            </a:r>
            <a:r>
              <a:rPr lang="en-US" sz="2400" dirty="0"/>
              <a:t>(landing time)</a:t>
            </a:r>
            <a:r>
              <a:rPr lang="en-US" sz="2400" b="1" dirty="0"/>
              <a:t> </a:t>
            </a:r>
            <a:r>
              <a:rPr lang="en-US" sz="2400" dirty="0"/>
              <a:t>with mean </a:t>
            </a:r>
            <a:r>
              <a:rPr lang="en-US" sz="2400" dirty="0">
                <a:latin typeface="Courier" pitchFamily="80" charset="0"/>
              </a:rPr>
              <a:t>L</a:t>
            </a:r>
            <a:endParaRPr 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b="1" dirty="0"/>
              <a:t>One server</a:t>
            </a:r>
            <a:r>
              <a:rPr lang="en-US" sz="2400" dirty="0"/>
              <a:t> (one runway)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>
                <a:solidFill>
                  <a:srgbClr val="FF0000"/>
                </a:solidFill>
              </a:rPr>
              <a:t>Queue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Assume first-in-first-out queue (FIFO) discipline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Assume queue has unlimited capacity</a:t>
            </a: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1">
            <a:extLst>
              <a:ext uri="{FF2B5EF4-FFF2-40B4-BE49-F238E27FC236}">
                <a16:creationId xmlns:a16="http://schemas.microsoft.com/office/drawing/2014/main" id="{97ABC4B3-692B-E581-C879-C3313437D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0" t="22397" r="15356" b="4816"/>
          <a:stretch>
            <a:fillRect/>
          </a:stretch>
        </p:blipFill>
        <p:spPr bwMode="auto">
          <a:xfrm>
            <a:off x="-1588" y="941388"/>
            <a:ext cx="8847138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B4B9875-6074-794D-1A5B-19B31558F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Computational Model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448A8C0-C2ED-05AA-2BEF-15D0B86CD8F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2400" y="1643063"/>
            <a:ext cx="8610600" cy="5119687"/>
          </a:xfrm>
        </p:spPr>
        <p:txBody>
          <a:bodyPr/>
          <a:lstStyle/>
          <a:p>
            <a:pPr eaLnBrk="1" hangingPunct="1"/>
            <a:r>
              <a:rPr lang="en-US" altLang="id-ID" sz="2800"/>
              <a:t>The System correspond to M/M/1 Queue Model.</a:t>
            </a:r>
          </a:p>
          <a:p>
            <a:pPr eaLnBrk="1" hangingPunct="1"/>
            <a:r>
              <a:rPr lang="en-US" altLang="id-ID" sz="2800"/>
              <a:t>Performance evaluation</a:t>
            </a:r>
          </a:p>
          <a:p>
            <a:pPr lvl="1" eaLnBrk="1" hangingPunct="1"/>
            <a:r>
              <a:rPr lang="en-US" altLang="id-ID" sz="2400" b="1">
                <a:solidFill>
                  <a:srgbClr val="FF0000"/>
                </a:solidFill>
              </a:rPr>
              <a:t>Analytical:</a:t>
            </a:r>
            <a:r>
              <a:rPr lang="en-US" altLang="id-ID" sz="2400"/>
              <a:t> using queuing theory</a:t>
            </a:r>
          </a:p>
          <a:p>
            <a:pPr lvl="1" eaLnBrk="1" hangingPunct="1"/>
            <a:r>
              <a:rPr lang="en-US" altLang="id-ID" sz="2400" b="1">
                <a:solidFill>
                  <a:srgbClr val="FF0000"/>
                </a:solidFill>
              </a:rPr>
              <a:t>Simulation:</a:t>
            </a:r>
            <a:r>
              <a:rPr lang="en-US" altLang="id-ID" sz="2400"/>
              <a:t> using a computer program</a:t>
            </a:r>
          </a:p>
          <a:p>
            <a:pPr eaLnBrk="1" hangingPunct="1"/>
            <a:r>
              <a:rPr lang="en-US" altLang="id-ID" sz="2800"/>
              <a:t>A computer simulation is a </a:t>
            </a:r>
            <a:r>
              <a:rPr lang="en-US" altLang="id-ID" sz="2800" b="1">
                <a:solidFill>
                  <a:srgbClr val="FF0000"/>
                </a:solidFill>
              </a:rPr>
              <a:t>computer program </a:t>
            </a:r>
            <a:r>
              <a:rPr lang="en-US" altLang="id-ID" sz="2800"/>
              <a:t>that emulate the behavior of a </a:t>
            </a:r>
            <a:r>
              <a:rPr lang="en-US" altLang="id-ID" sz="2800" b="1">
                <a:solidFill>
                  <a:srgbClr val="FF0000"/>
                </a:solidFill>
              </a:rPr>
              <a:t>physical system </a:t>
            </a:r>
            <a:r>
              <a:rPr lang="en-US" altLang="id-ID" sz="2800"/>
              <a:t>over time.</a:t>
            </a:r>
          </a:p>
          <a:p>
            <a:pPr eaLnBrk="1" hangingPunct="1"/>
            <a:r>
              <a:rPr lang="en-US" altLang="id-ID" sz="2800"/>
              <a:t>How a computer simulation works?</a:t>
            </a:r>
          </a:p>
          <a:p>
            <a:pPr lvl="1" eaLnBrk="1" hangingPunct="1"/>
            <a:r>
              <a:rPr lang="en-US" altLang="id-ID" sz="2500"/>
              <a:t>Define </a:t>
            </a:r>
            <a:r>
              <a:rPr lang="en-US" altLang="id-ID" sz="2500" b="1">
                <a:solidFill>
                  <a:srgbClr val="C00000"/>
                </a:solidFill>
              </a:rPr>
              <a:t>state variables</a:t>
            </a:r>
            <a:r>
              <a:rPr lang="en-US" altLang="id-ID" sz="2500"/>
              <a:t>: variables that represent a state of the system (e.g. N: number of customers in the queue)</a:t>
            </a:r>
          </a:p>
          <a:p>
            <a:pPr lvl="1" eaLnBrk="1" hangingPunct="1"/>
            <a:r>
              <a:rPr lang="en-US" altLang="id-ID" sz="2500"/>
              <a:t>Define </a:t>
            </a:r>
            <a:r>
              <a:rPr lang="en-US" altLang="id-ID" sz="2500" b="1">
                <a:solidFill>
                  <a:srgbClr val="C00000"/>
                </a:solidFill>
              </a:rPr>
              <a:t>events</a:t>
            </a:r>
            <a:r>
              <a:rPr lang="en-US" altLang="id-ID" sz="2500"/>
              <a:t>: a event changes a state variable of the system (e.g. Arrival, Departure).</a:t>
            </a: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0A96BC0-3E0F-B2C1-70FF-DD43570C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Computational Model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C7B8F9D-5370-9FD0-6758-7A5527AED3F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2400" y="1500188"/>
            <a:ext cx="8848725" cy="5119687"/>
          </a:xfrm>
        </p:spPr>
        <p:txBody>
          <a:bodyPr/>
          <a:lstStyle/>
          <a:p>
            <a:pPr eaLnBrk="1" hangingPunct="1"/>
            <a:r>
              <a:rPr lang="en-US" altLang="id-ID" sz="2800"/>
              <a:t>The General Algorithm of a simulation program</a:t>
            </a:r>
          </a:p>
          <a:p>
            <a:pPr lvl="1" eaLnBrk="1" hangingPunct="1"/>
            <a:r>
              <a:rPr lang="en-US" altLang="id-ID" sz="2400"/>
              <a:t>Define </a:t>
            </a:r>
            <a:r>
              <a:rPr lang="en-US" altLang="id-ID" sz="2400">
                <a:solidFill>
                  <a:srgbClr val="C00000"/>
                </a:solidFill>
              </a:rPr>
              <a:t>state variables</a:t>
            </a:r>
          </a:p>
          <a:p>
            <a:pPr lvl="1" eaLnBrk="1" hangingPunct="1"/>
            <a:r>
              <a:rPr lang="en-US" altLang="id-ID" sz="2400"/>
              <a:t>Define the </a:t>
            </a:r>
            <a:r>
              <a:rPr lang="en-US" altLang="id-ID" sz="2400">
                <a:solidFill>
                  <a:srgbClr val="C00000"/>
                </a:solidFill>
              </a:rPr>
              <a:t>events</a:t>
            </a:r>
          </a:p>
          <a:p>
            <a:pPr lvl="1" eaLnBrk="1" hangingPunct="1"/>
            <a:r>
              <a:rPr lang="en-US" altLang="id-ID" sz="2400"/>
              <a:t>For each </a:t>
            </a:r>
            <a:r>
              <a:rPr lang="en-US" altLang="id-ID" sz="2400" b="1" i="1">
                <a:solidFill>
                  <a:srgbClr val="C00000"/>
                </a:solidFill>
              </a:rPr>
              <a:t>Event</a:t>
            </a:r>
            <a:r>
              <a:rPr lang="en-US" altLang="id-ID" sz="2400"/>
              <a:t> do</a:t>
            </a:r>
          </a:p>
          <a:p>
            <a:pPr lvl="2" eaLnBrk="1" hangingPunct="1"/>
            <a:r>
              <a:rPr lang="en-US" altLang="id-ID" sz="2000"/>
              <a:t>Change the corresponding state variables</a:t>
            </a:r>
          </a:p>
          <a:p>
            <a:pPr lvl="2" eaLnBrk="1" hangingPunct="1"/>
            <a:r>
              <a:rPr lang="en-US" altLang="id-ID" sz="2000"/>
              <a:t>Create next events, if any</a:t>
            </a:r>
          </a:p>
          <a:p>
            <a:pPr lvl="2" eaLnBrk="1" hangingPunct="1"/>
            <a:r>
              <a:rPr lang="en-US" altLang="id-ID" sz="2000"/>
              <a:t>Collect statistics</a:t>
            </a:r>
          </a:p>
          <a:p>
            <a:pPr lvl="2" eaLnBrk="1" hangingPunct="1"/>
            <a:r>
              <a:rPr lang="en-US" altLang="id-ID" sz="2000"/>
              <a:t>Progress simulation time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id-ID"/>
              <a:t>Simulation time can progress by two means:</a:t>
            </a:r>
          </a:p>
          <a:p>
            <a:pPr lvl="1" eaLnBrk="1" hangingPunct="1"/>
            <a:r>
              <a:rPr lang="en-US" altLang="id-ID"/>
              <a:t>Regular progress: </a:t>
            </a:r>
            <a:r>
              <a:rPr lang="en-US" altLang="id-ID" b="1"/>
              <a:t>Time Step </a:t>
            </a:r>
            <a:r>
              <a:rPr lang="en-US" altLang="id-ID"/>
              <a:t>implementation</a:t>
            </a:r>
          </a:p>
          <a:p>
            <a:pPr lvl="1" eaLnBrk="1" hangingPunct="1"/>
            <a:r>
              <a:rPr lang="en-US" altLang="id-ID"/>
              <a:t>Irregular progress: </a:t>
            </a:r>
            <a:r>
              <a:rPr lang="en-US" altLang="id-ID" b="1"/>
              <a:t>Event-based</a:t>
            </a:r>
            <a:r>
              <a:rPr lang="en-US" altLang="id-ID"/>
              <a:t> implementation</a:t>
            </a:r>
          </a:p>
          <a:p>
            <a:pPr lvl="1" eaLnBrk="1" hangingPunct="1"/>
            <a:endParaRPr lang="fr-FR" altLang="id-ID"/>
          </a:p>
          <a:p>
            <a:pPr lvl="2" eaLnBrk="1" hangingPunct="1"/>
            <a:endParaRPr lang="fr-FR" altLang="id-ID" sz="2000"/>
          </a:p>
          <a:p>
            <a:pPr lvl="2" eaLnBrk="1" hangingPunct="1"/>
            <a:endParaRPr lang="fr-FR" altLang="id-ID" sz="2000"/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AF2F3BC-17D4-1342-3516-A87F15731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38113"/>
            <a:ext cx="8839200" cy="766762"/>
          </a:xfrm>
          <a:noFill/>
        </p:spPr>
        <p:txBody>
          <a:bodyPr lIns="90487" tIns="44450" rIns="90487" bIns="44450">
            <a:spAutoFit/>
          </a:bodyPr>
          <a:lstStyle/>
          <a:p>
            <a:pPr eaLnBrk="1" hangingPunct="1"/>
            <a:r>
              <a:rPr lang="en-US" altLang="id-ID"/>
              <a:t>State Variables</a:t>
            </a:r>
          </a:p>
        </p:txBody>
      </p:sp>
      <p:sp>
        <p:nvSpPr>
          <p:cNvPr id="12294" name="Rectangle 8">
            <a:extLst>
              <a:ext uri="{FF2B5EF4-FFF2-40B4-BE49-F238E27FC236}">
                <a16:creationId xmlns:a16="http://schemas.microsoft.com/office/drawing/2014/main" id="{A94E1F13-B7C5-7B77-46A0-3CD6E41EE8F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81000" y="4572000"/>
            <a:ext cx="8077200" cy="2209800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>
                <a:latin typeface="+mj-lt"/>
              </a:rPr>
              <a:t>State: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>
                <a:solidFill>
                  <a:srgbClr val="CC0000"/>
                </a:solidFill>
                <a:latin typeface="+mj-lt"/>
              </a:rPr>
              <a:t>InTheAir</a:t>
            </a:r>
            <a:r>
              <a:rPr lang="en-US" sz="2400">
                <a:latin typeface="+mj-lt"/>
              </a:rPr>
              <a:t>: number of aircraft either landing or waiting to land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>
                <a:solidFill>
                  <a:srgbClr val="CC0000"/>
                </a:solidFill>
                <a:latin typeface="+mj-lt"/>
              </a:rPr>
              <a:t>OnTheGround</a:t>
            </a:r>
            <a:r>
              <a:rPr lang="en-US" sz="2400">
                <a:latin typeface="+mj-lt"/>
              </a:rPr>
              <a:t>: number of landed aircraft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>
                <a:solidFill>
                  <a:srgbClr val="CC0000"/>
                </a:solidFill>
                <a:latin typeface="+mj-lt"/>
              </a:rPr>
              <a:t>RunwayFree</a:t>
            </a:r>
            <a:r>
              <a:rPr lang="en-US" sz="2400">
                <a:latin typeface="+mj-lt"/>
              </a:rPr>
              <a:t>: Boolean, true if runway available</a:t>
            </a:r>
          </a:p>
        </p:txBody>
      </p:sp>
      <p:sp>
        <p:nvSpPr>
          <p:cNvPr id="12291" name="AutoShape 3">
            <a:extLst>
              <a:ext uri="{FF2B5EF4-FFF2-40B4-BE49-F238E27FC236}">
                <a16:creationId xmlns:a16="http://schemas.microsoft.com/office/drawing/2014/main" id="{7E4C2BB5-F4E0-A141-D251-DFCF61F0B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057400"/>
            <a:ext cx="4419600" cy="977900"/>
          </a:xfrm>
          <a:prstGeom prst="parallelogram">
            <a:avLst>
              <a:gd name="adj" fmla="val 780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grpSp>
        <p:nvGrpSpPr>
          <p:cNvPr id="34821" name="Group 4">
            <a:extLst>
              <a:ext uri="{FF2B5EF4-FFF2-40B4-BE49-F238E27FC236}">
                <a16:creationId xmlns:a16="http://schemas.microsoft.com/office/drawing/2014/main" id="{B9835406-CBFB-A5F1-9437-BE2B4C2755A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676400"/>
            <a:ext cx="292100" cy="444500"/>
            <a:chOff x="2740" y="964"/>
            <a:chExt cx="184" cy="280"/>
          </a:xfrm>
        </p:grpSpPr>
        <p:sp>
          <p:nvSpPr>
            <p:cNvPr id="12314" name="Rectangle 5">
              <a:extLst>
                <a:ext uri="{FF2B5EF4-FFF2-40B4-BE49-F238E27FC236}">
                  <a16:creationId xmlns:a16="http://schemas.microsoft.com/office/drawing/2014/main" id="{FDB67960-B310-2496-6CB0-E1A89BAF6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1060"/>
              <a:ext cx="88" cy="184"/>
            </a:xfrm>
            <a:prstGeom prst="rect">
              <a:avLst/>
            </a:pr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12315" name="AutoShape 6">
              <a:extLst>
                <a:ext uri="{FF2B5EF4-FFF2-40B4-BE49-F238E27FC236}">
                  <a16:creationId xmlns:a16="http://schemas.microsoft.com/office/drawing/2014/main" id="{3DF95764-0377-4398-125E-F543AA0031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 flipV="1">
              <a:off x="2740" y="964"/>
              <a:ext cx="184" cy="88"/>
            </a:xfrm>
            <a:custGeom>
              <a:avLst/>
              <a:gdLst>
                <a:gd name="T0" fmla="*/ 1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1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1 w 21600"/>
                <a:gd name="T13" fmla="*/ 4418 h 21600"/>
                <a:gd name="T14" fmla="*/ 17139 w 21600"/>
                <a:gd name="T15" fmla="*/ 1718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pitchFamily="80" charset="-128"/>
              </a:endParaRPr>
            </a:p>
          </p:txBody>
        </p:sp>
      </p:grpSp>
      <p:pic>
        <p:nvPicPr>
          <p:cNvPr id="34822" name="Picture 7">
            <a:extLst>
              <a:ext uri="{FF2B5EF4-FFF2-40B4-BE49-F238E27FC236}">
                <a16:creationId xmlns:a16="http://schemas.microsoft.com/office/drawing/2014/main" id="{185F4236-26B3-7E02-D00F-D26C4FCB63A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990600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AutoShape 9">
            <a:extLst>
              <a:ext uri="{FF2B5EF4-FFF2-40B4-BE49-F238E27FC236}">
                <a16:creationId xmlns:a16="http://schemas.microsoft.com/office/drawing/2014/main" id="{C7A2E680-AF6E-46F6-72D9-F0A6A41ED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362200"/>
            <a:ext cx="3048000" cy="368300"/>
          </a:xfrm>
          <a:prstGeom prst="parallelogram">
            <a:avLst>
              <a:gd name="adj" fmla="val 72759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pic>
        <p:nvPicPr>
          <p:cNvPr id="34824" name="Picture 10">
            <a:extLst>
              <a:ext uri="{FF2B5EF4-FFF2-40B4-BE49-F238E27FC236}">
                <a16:creationId xmlns:a16="http://schemas.microsoft.com/office/drawing/2014/main" id="{18B43FDC-1671-4078-1235-164C4EE8D2FC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4958">
            <a:off x="3200400" y="1981200"/>
            <a:ext cx="11049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5" name="Picture 11">
            <a:extLst>
              <a:ext uri="{FF2B5EF4-FFF2-40B4-BE49-F238E27FC236}">
                <a16:creationId xmlns:a16="http://schemas.microsoft.com/office/drawing/2014/main" id="{444721B8-45ED-4B58-B6E9-0603EBE1936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996950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6" name="Picture 12">
            <a:extLst>
              <a:ext uri="{FF2B5EF4-FFF2-40B4-BE49-F238E27FC236}">
                <a16:creationId xmlns:a16="http://schemas.microsoft.com/office/drawing/2014/main" id="{4723A3F9-2298-FAF7-3B28-509CB6241A0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003300"/>
            <a:ext cx="10223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9" name="Oval 13">
            <a:extLst>
              <a:ext uri="{FF2B5EF4-FFF2-40B4-BE49-F238E27FC236}">
                <a16:creationId xmlns:a16="http://schemas.microsoft.com/office/drawing/2014/main" id="{592458BE-EC85-FEBF-A5DC-3141B3AD1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505200"/>
            <a:ext cx="990600" cy="914400"/>
          </a:xfrm>
          <a:prstGeom prst="ellipse">
            <a:avLst/>
          </a:prstGeom>
          <a:solidFill>
            <a:srgbClr val="FFCC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0" name="Oval 14">
            <a:extLst>
              <a:ext uri="{FF2B5EF4-FFF2-40B4-BE49-F238E27FC236}">
                <a16:creationId xmlns:a16="http://schemas.microsoft.com/office/drawing/2014/main" id="{BF349C09-AA36-43C6-E6E0-8AE29F26B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1" name="Rectangle 15">
            <a:extLst>
              <a:ext uri="{FF2B5EF4-FFF2-40B4-BE49-F238E27FC236}">
                <a16:creationId xmlns:a16="http://schemas.microsoft.com/office/drawing/2014/main" id="{A11872E3-A760-D361-2695-C8ECE48CE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581400"/>
            <a:ext cx="2286000" cy="762000"/>
          </a:xfrm>
          <a:prstGeom prst="rect">
            <a:avLst/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2" name="Oval 16">
            <a:extLst>
              <a:ext uri="{FF2B5EF4-FFF2-40B4-BE49-F238E27FC236}">
                <a16:creationId xmlns:a16="http://schemas.microsoft.com/office/drawing/2014/main" id="{E0AD42BC-3006-CAE7-40CD-9086BBC5B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8862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3" name="Oval 17">
            <a:extLst>
              <a:ext uri="{FF2B5EF4-FFF2-40B4-BE49-F238E27FC236}">
                <a16:creationId xmlns:a16="http://schemas.microsoft.com/office/drawing/2014/main" id="{214E8FE2-D7DD-28BC-ECAC-4BB9CDD52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8862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4" name="Oval 18">
            <a:extLst>
              <a:ext uri="{FF2B5EF4-FFF2-40B4-BE49-F238E27FC236}">
                <a16:creationId xmlns:a16="http://schemas.microsoft.com/office/drawing/2014/main" id="{D0D1E9B7-D36B-0A81-CF91-E06151A86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8862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5" name="Line 19">
            <a:extLst>
              <a:ext uri="{FF2B5EF4-FFF2-40B4-BE49-F238E27FC236}">
                <a16:creationId xmlns:a16="http://schemas.microsoft.com/office/drawing/2014/main" id="{24EC9493-B2D5-15BD-FD66-65B2EFF7AB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3962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6" name="Line 20">
            <a:extLst>
              <a:ext uri="{FF2B5EF4-FFF2-40B4-BE49-F238E27FC236}">
                <a16:creationId xmlns:a16="http://schemas.microsoft.com/office/drawing/2014/main" id="{A0B64B4D-0BA7-32D5-4AF7-6AB78CC93D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3962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7" name="Line 21">
            <a:extLst>
              <a:ext uri="{FF2B5EF4-FFF2-40B4-BE49-F238E27FC236}">
                <a16:creationId xmlns:a16="http://schemas.microsoft.com/office/drawing/2014/main" id="{09F81BB3-4975-FC56-AA9D-46D5A596AF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7800" y="3962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8" name="Oval 22">
            <a:extLst>
              <a:ext uri="{FF2B5EF4-FFF2-40B4-BE49-F238E27FC236}">
                <a16:creationId xmlns:a16="http://schemas.microsoft.com/office/drawing/2014/main" id="{614D880F-02AB-DB5F-BFDB-BCCCD7BCC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09" name="Oval 23">
            <a:extLst>
              <a:ext uri="{FF2B5EF4-FFF2-40B4-BE49-F238E27FC236}">
                <a16:creationId xmlns:a16="http://schemas.microsoft.com/office/drawing/2014/main" id="{9C475825-F696-900D-BDA0-4A1BC0AE1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10" name="Oval 24">
            <a:extLst>
              <a:ext uri="{FF2B5EF4-FFF2-40B4-BE49-F238E27FC236}">
                <a16:creationId xmlns:a16="http://schemas.microsoft.com/office/drawing/2014/main" id="{339C5983-6D45-B029-E97E-AC2828E9B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3810000"/>
            <a:ext cx="228600" cy="2286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12311" name="Rectangle 25">
            <a:extLst>
              <a:ext uri="{FF2B5EF4-FFF2-40B4-BE49-F238E27FC236}">
                <a16:creationId xmlns:a16="http://schemas.microsoft.com/office/drawing/2014/main" id="{610F37DB-5980-E666-A28B-095454A02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00400"/>
            <a:ext cx="12398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j-lt"/>
                <a:ea typeface="ＭＳ Ｐゴシック" pitchFamily="80" charset="-128"/>
              </a:rPr>
              <a:t>customer</a:t>
            </a:r>
          </a:p>
        </p:txBody>
      </p:sp>
      <p:sp>
        <p:nvSpPr>
          <p:cNvPr id="12312" name="Rectangle 26">
            <a:extLst>
              <a:ext uri="{FF2B5EF4-FFF2-40B4-BE49-F238E27FC236}">
                <a16:creationId xmlns:a16="http://schemas.microsoft.com/office/drawing/2014/main" id="{7CA94E84-3DC2-67F9-5462-BC6B0F807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124200"/>
            <a:ext cx="9318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j-lt"/>
                <a:ea typeface="ＭＳ Ｐゴシック" pitchFamily="80" charset="-128"/>
              </a:rPr>
              <a:t>queue</a:t>
            </a:r>
          </a:p>
        </p:txBody>
      </p:sp>
      <p:sp>
        <p:nvSpPr>
          <p:cNvPr id="12313" name="Rectangle 27">
            <a:extLst>
              <a:ext uri="{FF2B5EF4-FFF2-40B4-BE49-F238E27FC236}">
                <a16:creationId xmlns:a16="http://schemas.microsoft.com/office/drawing/2014/main" id="{A58DA05A-618D-2B19-AB24-9E5B49B17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3" y="3352800"/>
            <a:ext cx="9413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j-lt"/>
                <a:ea typeface="ＭＳ Ｐゴシック" pitchFamily="80" charset="-128"/>
              </a:rPr>
              <a:t>server</a:t>
            </a: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C3D747B-D65A-F036-EC85-7B426464E783}"/>
              </a:ext>
            </a:extLst>
          </p:cNvPr>
          <p:cNvSpPr/>
          <p:nvPr/>
        </p:nvSpPr>
        <p:spPr>
          <a:xfrm>
            <a:off x="490538" y="5019675"/>
            <a:ext cx="6286500" cy="1214438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080062-1CC0-28A7-6431-1FD773DA66FC}"/>
              </a:ext>
            </a:extLst>
          </p:cNvPr>
          <p:cNvSpPr/>
          <p:nvPr/>
        </p:nvSpPr>
        <p:spPr>
          <a:xfrm>
            <a:off x="500034" y="3429000"/>
            <a:ext cx="6286544" cy="1571636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  <a:alpha val="58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EEAEE927-BF3D-899B-645A-43CCC1B08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563" y="357188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id-ID"/>
              <a:t>Time Step Implementation</a:t>
            </a:r>
          </a:p>
        </p:txBody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FDA702B6-2C6B-78E8-E678-12E9AD2D428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642938" y="1785938"/>
            <a:ext cx="8153400" cy="4857750"/>
          </a:xfrm>
        </p:spPr>
        <p:txBody>
          <a:bodyPr>
            <a:normAutofit fontScale="92500" lnSpcReduction="20000"/>
          </a:bodyPr>
          <a:lstStyle/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/* ignore aircraft departures */</a:t>
            </a:r>
            <a:endParaRPr lang="en-US" sz="1200">
              <a:solidFill>
                <a:srgbClr val="CC0000"/>
              </a:solidFill>
              <a:latin typeface="Courier" pitchFamily="80" charset="0"/>
            </a:endParaRP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solidFill>
                  <a:srgbClr val="CC0000"/>
                </a:solidFill>
                <a:latin typeface="Courier" pitchFamily="80" charset="0"/>
              </a:rPr>
              <a:t>Float InTheAir</a:t>
            </a:r>
            <a:r>
              <a:rPr lang="en-US" sz="1200"/>
              <a:t>: # aircraft landing or waiting to land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solidFill>
                  <a:srgbClr val="CC0000"/>
                </a:solidFill>
                <a:latin typeface="Courier" pitchFamily="80" charset="0"/>
              </a:rPr>
              <a:t>Float OnTheGround</a:t>
            </a:r>
            <a:r>
              <a:rPr lang="en-US" sz="1200"/>
              <a:t>: # landed aircraft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solidFill>
                  <a:srgbClr val="CC0000"/>
                </a:solidFill>
                <a:latin typeface="Courier" pitchFamily="80" charset="0"/>
              </a:rPr>
              <a:t>Boolean RunwayFree</a:t>
            </a:r>
            <a:r>
              <a:rPr lang="en-US" sz="1200"/>
              <a:t>: True if runway available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Float NextArrivalTime</a:t>
            </a:r>
            <a:r>
              <a:rPr lang="en-US" sz="1200"/>
              <a:t>: Time the next aircraft arrives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Float NextLanding</a:t>
            </a:r>
            <a:r>
              <a:rPr lang="en-US" sz="1200"/>
              <a:t>: Time next aircraft lands (if one is landing)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endParaRPr lang="en-US" sz="1200"/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 b="1">
                <a:solidFill>
                  <a:srgbClr val="3333FF"/>
                </a:solidFill>
                <a:latin typeface="Courier" pitchFamily="80" charset="0"/>
              </a:rPr>
              <a:t>For (Now = 1 to EndTime) {</a:t>
            </a:r>
            <a:r>
              <a:rPr lang="en-US" sz="1200">
                <a:latin typeface="Courier" pitchFamily="80" charset="0"/>
              </a:rPr>
              <a:t> /* time step size is 1.0 */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</a:t>
            </a:r>
            <a:r>
              <a:rPr lang="en-US" sz="1200" b="1">
                <a:latin typeface="Courier" pitchFamily="80" charset="0"/>
              </a:rPr>
              <a:t>if (Now &gt;= NextArrivalTime)</a:t>
            </a:r>
            <a:r>
              <a:rPr lang="en-US" sz="1200">
                <a:latin typeface="Courier" pitchFamily="80" charset="0"/>
              </a:rPr>
              <a:t> { /* if aircraft just arrived */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InTheAir := InTheAir + 1;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NextArrivalTime := NextArrivalTime + RandExp(A);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if (RunwayFree) {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	RunwayFree := False;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	NextLanding := Now + RandExp(L);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}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}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</a:t>
            </a:r>
            <a:r>
              <a:rPr lang="en-US" sz="1200" b="1">
                <a:latin typeface="Courier" pitchFamily="80" charset="0"/>
              </a:rPr>
              <a:t>if (Now &gt;= NextLanding) { </a:t>
            </a:r>
            <a:r>
              <a:rPr lang="en-US" sz="1200">
                <a:latin typeface="Courier" pitchFamily="80" charset="0"/>
              </a:rPr>
              <a:t>/* if aircraft just landed */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InTheAir := InTheAir - 1;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OnTheGround := OnTheGround + 1;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if (InTheAir &gt; 0) NextLanding := Now + RandExp(L)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	else {RunWayFree := True; NextLanding := EndTime+1;}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	</a:t>
            </a:r>
            <a:r>
              <a:rPr lang="en-US" sz="1200" b="1">
                <a:latin typeface="Courier" pitchFamily="80" charset="0"/>
              </a:rPr>
              <a:t>}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200">
                <a:latin typeface="Courier" pitchFamily="80" charset="0"/>
              </a:rPr>
              <a:t>}</a:t>
            </a:r>
            <a:endParaRPr lang="en-US"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6F5F-4308-8823-F67C-502492B8B142}"/>
              </a:ext>
            </a:extLst>
          </p:cNvPr>
          <p:cNvCxnSpPr/>
          <p:nvPr/>
        </p:nvCxnSpPr>
        <p:spPr>
          <a:xfrm rot="16200000" flipH="1">
            <a:off x="502444" y="4252119"/>
            <a:ext cx="1209675" cy="47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B3EB65-5A20-5A91-CDFB-25D73F0C8C20}"/>
              </a:ext>
            </a:extLst>
          </p:cNvPr>
          <p:cNvCxnSpPr/>
          <p:nvPr/>
        </p:nvCxnSpPr>
        <p:spPr>
          <a:xfrm rot="16200000" flipH="1">
            <a:off x="692944" y="5615782"/>
            <a:ext cx="850900" cy="476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74" name="TextBox 10">
            <a:extLst>
              <a:ext uri="{FF2B5EF4-FFF2-40B4-BE49-F238E27FC236}">
                <a16:creationId xmlns:a16="http://schemas.microsoft.com/office/drawing/2014/main" id="{3AC765CD-654C-8324-B9F9-E4CCE4FD9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1571625"/>
            <a:ext cx="2286000" cy="12001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altLang="id-ID" sz="1800">
                <a:solidFill>
                  <a:srgbClr val="FFFF00"/>
                </a:solidFill>
              </a:rPr>
              <a:t> </a:t>
            </a:r>
            <a:r>
              <a:rPr lang="fr-FR" altLang="id-ID" sz="1800" b="1">
                <a:solidFill>
                  <a:srgbClr val="FFFF00"/>
                </a:solidFill>
              </a:rPr>
              <a:t>Advantage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altLang="id-ID" sz="1800">
                <a:solidFill>
                  <a:schemeClr val="bg1"/>
                </a:solidFill>
              </a:rPr>
              <a:t> Simple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altLang="id-ID" sz="1800" b="1">
                <a:solidFill>
                  <a:srgbClr val="FFFF00"/>
                </a:solidFill>
              </a:rPr>
              <a:t> Drawback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altLang="id-ID" sz="1800">
                <a:solidFill>
                  <a:schemeClr val="bg1"/>
                </a:solidFill>
              </a:rPr>
              <a:t> Not efficient</a:t>
            </a:r>
            <a:endParaRPr lang="en-US" altLang="id-ID" sz="18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50CB25B-7434-5853-2731-46D25915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4313"/>
            <a:ext cx="7786688" cy="898525"/>
          </a:xfrm>
          <a:noFill/>
        </p:spPr>
        <p:txBody>
          <a:bodyPr lIns="90487" tIns="44450" rIns="90487" bIns="44450"/>
          <a:lstStyle/>
          <a:p>
            <a:pPr eaLnBrk="1" hangingPunct="1"/>
            <a:r>
              <a:rPr lang="en-US" altLang="id-ID"/>
              <a:t>Discrete Event Simulation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39F88D4-0F8A-1A55-797B-6C22296DE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1571625"/>
            <a:ext cx="8991600" cy="5143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3200" b="1" dirty="0">
                <a:solidFill>
                  <a:srgbClr val="FF0000"/>
                </a:solidFill>
                <a:latin typeface="+mn-lt"/>
                <a:ea typeface="ＭＳ Ｐゴシック" pitchFamily="80" charset="-128"/>
              </a:rPr>
              <a:t>Discrete Event Simulation (DES)</a:t>
            </a:r>
            <a:r>
              <a:rPr lang="en-US" sz="3200" dirty="0">
                <a:latin typeface="+mn-lt"/>
                <a:ea typeface="ＭＳ Ｐゴシック" pitchFamily="80" charset="-128"/>
              </a:rPr>
              <a:t>: computer model for a system where changes in the state of the system occur at </a:t>
            </a:r>
            <a:r>
              <a:rPr lang="en-US" sz="3200" dirty="0">
                <a:solidFill>
                  <a:srgbClr val="3333FF"/>
                </a:solidFill>
                <a:latin typeface="+mn-lt"/>
                <a:ea typeface="ＭＳ Ｐゴシック" pitchFamily="80" charset="-128"/>
              </a:rPr>
              <a:t>discrete points </a:t>
            </a:r>
            <a:r>
              <a:rPr lang="en-US" sz="3200" dirty="0">
                <a:latin typeface="+mn-lt"/>
                <a:ea typeface="ＭＳ Ｐゴシック" pitchFamily="80" charset="-128"/>
              </a:rPr>
              <a:t>in </a:t>
            </a:r>
            <a:r>
              <a:rPr lang="en-US" sz="3200" dirty="0">
                <a:solidFill>
                  <a:srgbClr val="C00000"/>
                </a:solidFill>
                <a:latin typeface="+mn-lt"/>
                <a:ea typeface="ＭＳ Ｐゴシック" pitchFamily="80" charset="-128"/>
              </a:rPr>
              <a:t>simulation time</a:t>
            </a:r>
            <a:r>
              <a:rPr lang="en-US" sz="3200" dirty="0">
                <a:latin typeface="+mn-lt"/>
                <a:ea typeface="ＭＳ Ｐゴシック" pitchFamily="80" charset="-128"/>
              </a:rPr>
              <a:t>.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en-US" sz="3200" dirty="0">
              <a:latin typeface="+mn-lt"/>
              <a:ea typeface="ＭＳ Ｐゴシック" pitchFamily="80" charset="-128"/>
            </a:endParaRP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3200" dirty="0">
                <a:latin typeface="+mn-lt"/>
                <a:ea typeface="ＭＳ Ｐゴシック" pitchFamily="80" charset="-128"/>
              </a:rPr>
              <a:t>Each Event has a </a:t>
            </a:r>
            <a:r>
              <a:rPr lang="en-US" sz="3200" b="1" dirty="0">
                <a:solidFill>
                  <a:srgbClr val="3333FF"/>
                </a:solidFill>
                <a:latin typeface="+mn-lt"/>
                <a:ea typeface="ＭＳ Ｐゴシック" pitchFamily="80" charset="-128"/>
              </a:rPr>
              <a:t>timestamp</a:t>
            </a:r>
            <a:r>
              <a:rPr lang="en-US" sz="3200" dirty="0">
                <a:latin typeface="+mn-lt"/>
                <a:ea typeface="ＭＳ Ｐゴシック" pitchFamily="80" charset="-128"/>
              </a:rPr>
              <a:t> indicating when it occurs.</a:t>
            </a:r>
          </a:p>
          <a:p>
            <a:pPr marL="342900" lvl="1" indent="-342900"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en-US" dirty="0">
              <a:latin typeface="Arial" charset="0"/>
              <a:ea typeface="ＭＳ Ｐゴシック" pitchFamily="80" charset="-128"/>
            </a:endParaRPr>
          </a:p>
          <a:p>
            <a:pPr marL="342900" lvl="1" indent="-342900"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3200" b="1" dirty="0">
                <a:solidFill>
                  <a:srgbClr val="C00000"/>
                </a:solidFill>
                <a:latin typeface="+mn-lt"/>
                <a:ea typeface="ＭＳ Ｐゴシック" pitchFamily="80" charset="-128"/>
              </a:rPr>
              <a:t>A DES computation</a:t>
            </a:r>
            <a:r>
              <a:rPr lang="en-US" sz="3200" dirty="0">
                <a:latin typeface="+mn-lt"/>
                <a:ea typeface="ＭＳ Ｐゴシック" pitchFamily="80" charset="-128"/>
              </a:rPr>
              <a:t>: a sequence of events, where each event is assigned a timestamp, which to help to order/schedule the processing of events.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en-US" sz="3200" dirty="0">
              <a:latin typeface="+mn-lt"/>
              <a:ea typeface="ＭＳ Ｐゴシック" pitchFamily="80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D0B0D1E-CAF1-D37A-4A08-1668600D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69913"/>
            <a:ext cx="8058150" cy="644525"/>
          </a:xfrm>
          <a:noFill/>
        </p:spPr>
        <p:txBody>
          <a:bodyPr lIns="90487" tIns="44450" rIns="90487" bIns="44450">
            <a:spAutoFit/>
          </a:bodyPr>
          <a:lstStyle/>
          <a:p>
            <a:pPr eaLnBrk="1" hangingPunct="1"/>
            <a:r>
              <a:rPr lang="en-US" altLang="id-ID" sz="3600"/>
              <a:t>Discrete Event Simulation Computation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EFDC109-D71C-5B49-0EED-BD1D25B26C2A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304800" y="5711825"/>
            <a:ext cx="8526463" cy="1103313"/>
          </a:xfrm>
          <a:solidFill>
            <a:srgbClr val="FFC5CF"/>
          </a:solidFill>
          <a:ln w="12700" cap="flat">
            <a:solidFill>
              <a:schemeClr val="tx1"/>
            </a:solidFill>
          </a:ln>
        </p:spPr>
        <p:txBody>
          <a:bodyPr lIns="90487" tIns="44450" rIns="90487" bIns="44450">
            <a:spAutoFit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 dirty="0">
                <a:latin typeface="+mj-lt"/>
                <a:cs typeface="+mj-cs"/>
              </a:rPr>
              <a:t>Events that have been scheduled, but have not been simulated (processed) yet are stored in a pending event list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 dirty="0">
                <a:latin typeface="+mj-lt"/>
                <a:cs typeface="+mj-cs"/>
              </a:rPr>
              <a:t>Events are processed in time stamp order; why?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CC8BFB96-E7F1-DEDA-CF6C-C82C361A1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1643063"/>
            <a:ext cx="4849812" cy="704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buClr>
                <a:srgbClr val="FF0000"/>
              </a:buClr>
              <a:buSzPct val="116000"/>
              <a:buFont typeface="Wingdings" pitchFamily="2" charset="2"/>
              <a:buChar char="§"/>
              <a:defRPr/>
            </a:pPr>
            <a:r>
              <a:rPr lang="en-US" sz="2000" dirty="0">
                <a:latin typeface="+mj-lt"/>
                <a:ea typeface="ＭＳ Ｐゴシック" pitchFamily="80" charset="-128"/>
              </a:rPr>
              <a:t> Example: air traffic at an airport</a:t>
            </a:r>
          </a:p>
          <a:p>
            <a:pPr>
              <a:buClr>
                <a:srgbClr val="FF0000"/>
              </a:buClr>
              <a:buSzPct val="116000"/>
              <a:buFont typeface="Wingdings" pitchFamily="2" charset="2"/>
              <a:buChar char="§"/>
              <a:defRPr/>
            </a:pPr>
            <a:r>
              <a:rPr lang="en-US" sz="2000" dirty="0">
                <a:latin typeface="+mj-lt"/>
                <a:ea typeface="ＭＳ Ｐゴシック" pitchFamily="80" charset="-128"/>
              </a:rPr>
              <a:t> </a:t>
            </a:r>
            <a:r>
              <a:rPr lang="en-US" sz="2000" b="1" dirty="0">
                <a:solidFill>
                  <a:srgbClr val="3333FF"/>
                </a:solidFill>
                <a:latin typeface="+mj-lt"/>
                <a:ea typeface="ＭＳ Ｐゴシック" pitchFamily="80" charset="-128"/>
              </a:rPr>
              <a:t>Events</a:t>
            </a:r>
            <a:r>
              <a:rPr lang="en-US" sz="2000" dirty="0">
                <a:latin typeface="+mj-lt"/>
                <a:ea typeface="ＭＳ Ｐゴシック" pitchFamily="80" charset="-128"/>
              </a:rPr>
              <a:t>: </a:t>
            </a:r>
            <a:r>
              <a:rPr lang="en-US" sz="2000" b="1" dirty="0">
                <a:solidFill>
                  <a:srgbClr val="C00000"/>
                </a:solidFill>
                <a:latin typeface="+mj-lt"/>
                <a:ea typeface="ＭＳ Ｐゴシック" pitchFamily="80" charset="-128"/>
              </a:rPr>
              <a:t>aircraft arrival, </a:t>
            </a:r>
            <a:r>
              <a:rPr lang="en-US" sz="2000" b="1" dirty="0">
                <a:solidFill>
                  <a:srgbClr val="00B050"/>
                </a:solidFill>
                <a:latin typeface="+mj-lt"/>
                <a:ea typeface="ＭＳ Ｐゴシック" pitchFamily="80" charset="-128"/>
              </a:rPr>
              <a:t>landing</a:t>
            </a:r>
            <a:r>
              <a:rPr lang="en-US" sz="2000" b="1" dirty="0">
                <a:solidFill>
                  <a:srgbClr val="C00000"/>
                </a:solidFill>
                <a:latin typeface="+mj-lt"/>
                <a:ea typeface="ＭＳ Ｐゴシック" pitchFamily="80" charset="-128"/>
              </a:rPr>
              <a:t>, </a:t>
            </a:r>
            <a:r>
              <a:rPr lang="en-US" sz="2000" b="1" dirty="0">
                <a:solidFill>
                  <a:srgbClr val="7030A0"/>
                </a:solidFill>
                <a:latin typeface="+mj-lt"/>
                <a:ea typeface="ＭＳ Ｐゴシック" pitchFamily="80" charset="-128"/>
              </a:rPr>
              <a:t>departure</a:t>
            </a:r>
          </a:p>
        </p:txBody>
      </p:sp>
      <p:sp>
        <p:nvSpPr>
          <p:cNvPr id="30725" name="AutoShape 5">
            <a:extLst>
              <a:ext uri="{FF2B5EF4-FFF2-40B4-BE49-F238E27FC236}">
                <a16:creationId xmlns:a16="http://schemas.microsoft.com/office/drawing/2014/main" id="{750317E7-51D5-E695-E6FE-A5568A415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760663"/>
            <a:ext cx="8140700" cy="1206500"/>
          </a:xfrm>
          <a:prstGeom prst="parallelogram">
            <a:avLst>
              <a:gd name="adj" fmla="val 116517"/>
            </a:avLst>
          </a:prstGeom>
          <a:gradFill rotWithShape="1">
            <a:gsLst>
              <a:gs pos="0">
                <a:srgbClr val="BEF397"/>
              </a:gs>
              <a:gs pos="50000">
                <a:srgbClr val="D5F6C0"/>
              </a:gs>
              <a:gs pos="100000">
                <a:srgbClr val="EAFAE0"/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fr-FR">
              <a:latin typeface="+mj-lt"/>
              <a:ea typeface="ＭＳ Ｐゴシック" pitchFamily="80" charset="-128"/>
            </a:endParaRPr>
          </a:p>
        </p:txBody>
      </p:sp>
      <p:grpSp>
        <p:nvGrpSpPr>
          <p:cNvPr id="40966" name="Group 6">
            <a:extLst>
              <a:ext uri="{FF2B5EF4-FFF2-40B4-BE49-F238E27FC236}">
                <a16:creationId xmlns:a16="http://schemas.microsoft.com/office/drawing/2014/main" id="{AA1FCCB8-C532-D5CC-2561-DFDDE6D9BFCB}"/>
              </a:ext>
            </a:extLst>
          </p:cNvPr>
          <p:cNvGrpSpPr>
            <a:grpSpLocks/>
          </p:cNvGrpSpPr>
          <p:nvPr/>
        </p:nvGrpSpPr>
        <p:grpSpPr bwMode="auto">
          <a:xfrm>
            <a:off x="4349750" y="2379663"/>
            <a:ext cx="292100" cy="444500"/>
            <a:chOff x="2740" y="964"/>
            <a:chExt cx="184" cy="280"/>
          </a:xfrm>
        </p:grpSpPr>
        <p:sp>
          <p:nvSpPr>
            <p:cNvPr id="30749" name="Rectangle 7">
              <a:extLst>
                <a:ext uri="{FF2B5EF4-FFF2-40B4-BE49-F238E27FC236}">
                  <a16:creationId xmlns:a16="http://schemas.microsoft.com/office/drawing/2014/main" id="{2E3837C9-2861-60E5-647C-AA1F61043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8" y="1060"/>
              <a:ext cx="88" cy="184"/>
            </a:xfrm>
            <a:prstGeom prst="rect">
              <a:avLst/>
            </a:pr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30750" name="AutoShape 8">
              <a:extLst>
                <a:ext uri="{FF2B5EF4-FFF2-40B4-BE49-F238E27FC236}">
                  <a16:creationId xmlns:a16="http://schemas.microsoft.com/office/drawing/2014/main" id="{9C2E2F35-8D07-E9C6-A747-C00809DBF3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 flipV="1">
              <a:off x="2740" y="964"/>
              <a:ext cx="184" cy="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61 w 21600"/>
                <a:gd name="T13" fmla="*/ 4418 h 21600"/>
                <a:gd name="T14" fmla="*/ 17139 w 21600"/>
                <a:gd name="T15" fmla="*/ 1718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+mj-lt"/>
                <a:ea typeface="ＭＳ Ｐゴシック" pitchFamily="80" charset="-128"/>
              </a:endParaRPr>
            </a:p>
          </p:txBody>
        </p:sp>
      </p:grpSp>
      <p:pic>
        <p:nvPicPr>
          <p:cNvPr id="40967" name="Picture 9">
            <a:extLst>
              <a:ext uri="{FF2B5EF4-FFF2-40B4-BE49-F238E27FC236}">
                <a16:creationId xmlns:a16="http://schemas.microsoft.com/office/drawing/2014/main" id="{C69B83E4-86E0-320E-26D0-6359A180592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679700"/>
            <a:ext cx="1257300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8" name="Picture 10">
            <a:extLst>
              <a:ext uri="{FF2B5EF4-FFF2-40B4-BE49-F238E27FC236}">
                <a16:creationId xmlns:a16="http://schemas.microsoft.com/office/drawing/2014/main" id="{AF1B18C2-C735-9521-0632-36C74D9B6DAA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100" y="2620963"/>
            <a:ext cx="16383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9" name="Picture 11">
            <a:extLst>
              <a:ext uri="{FF2B5EF4-FFF2-40B4-BE49-F238E27FC236}">
                <a16:creationId xmlns:a16="http://schemas.microsoft.com/office/drawing/2014/main" id="{F45EDE85-8AE8-F93F-53A0-4FE613FF88F3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00" y="1687513"/>
            <a:ext cx="1765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0" name="Line 12">
            <a:extLst>
              <a:ext uri="{FF2B5EF4-FFF2-40B4-BE49-F238E27FC236}">
                <a16:creationId xmlns:a16="http://schemas.microsoft.com/office/drawing/2014/main" id="{08E51D8F-B4ED-7D92-5962-0F62FBF46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800" y="5268913"/>
            <a:ext cx="7797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30731" name="Rectangle 13">
            <a:extLst>
              <a:ext uri="{FF2B5EF4-FFF2-40B4-BE49-F238E27FC236}">
                <a16:creationId xmlns:a16="http://schemas.microsoft.com/office/drawing/2014/main" id="{69B89E8E-6F03-3FDC-8D64-A91422223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049713"/>
            <a:ext cx="673100" cy="596900"/>
          </a:xfrm>
          <a:prstGeom prst="rect">
            <a:avLst/>
          </a:prstGeom>
          <a:solidFill>
            <a:srgbClr val="FDE3BA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sz="1200" b="1">
                <a:latin typeface="+mj-lt"/>
                <a:ea typeface="ＭＳ Ｐゴシック" pitchFamily="80" charset="-128"/>
              </a:rPr>
              <a:t>arrival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200" b="1">
                <a:latin typeface="+mj-lt"/>
                <a:ea typeface="ＭＳ Ｐゴシック" pitchFamily="80" charset="-128"/>
              </a:rPr>
              <a:t>8:00</a:t>
            </a:r>
          </a:p>
        </p:txBody>
      </p:sp>
      <p:sp>
        <p:nvSpPr>
          <p:cNvPr id="30732" name="Line 14">
            <a:extLst>
              <a:ext uri="{FF2B5EF4-FFF2-40B4-BE49-F238E27FC236}">
                <a16:creationId xmlns:a16="http://schemas.microsoft.com/office/drawing/2014/main" id="{4327C0A4-4DD8-6AF2-8777-C1B984364612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659313"/>
            <a:ext cx="152400" cy="603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30733" name="Rectangle 15">
            <a:extLst>
              <a:ext uri="{FF2B5EF4-FFF2-40B4-BE49-F238E27FC236}">
                <a16:creationId xmlns:a16="http://schemas.microsoft.com/office/drawing/2014/main" id="{E0FC1AD8-D889-25F3-F644-7CEDB4422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4284663"/>
            <a:ext cx="673100" cy="596900"/>
          </a:xfrm>
          <a:prstGeom prst="rect">
            <a:avLst/>
          </a:prstGeom>
          <a:solidFill>
            <a:srgbClr val="081D5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sz="1200">
                <a:solidFill>
                  <a:schemeClr val="bg1"/>
                </a:solidFill>
                <a:latin typeface="+mj-lt"/>
                <a:ea typeface="ＭＳ Ｐゴシック" pitchFamily="80" charset="-128"/>
              </a:rPr>
              <a:t>departure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200">
                <a:solidFill>
                  <a:schemeClr val="bg1"/>
                </a:solidFill>
                <a:latin typeface="+mj-lt"/>
                <a:ea typeface="ＭＳ Ｐゴシック" pitchFamily="80" charset="-128"/>
              </a:rPr>
              <a:t>9:15</a:t>
            </a:r>
          </a:p>
        </p:txBody>
      </p:sp>
      <p:sp>
        <p:nvSpPr>
          <p:cNvPr id="30734" name="Line 16">
            <a:extLst>
              <a:ext uri="{FF2B5EF4-FFF2-40B4-BE49-F238E27FC236}">
                <a16:creationId xmlns:a16="http://schemas.microsoft.com/office/drawing/2014/main" id="{21FFB270-6571-CC23-A9AD-A2F90FA60F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4894263"/>
            <a:ext cx="30480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30735" name="Rectangle 17">
            <a:extLst>
              <a:ext uri="{FF2B5EF4-FFF2-40B4-BE49-F238E27FC236}">
                <a16:creationId xmlns:a16="http://schemas.microsoft.com/office/drawing/2014/main" id="{DF6343EA-3839-81E1-05C1-25D1A1767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506913"/>
            <a:ext cx="673100" cy="5969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sz="1200" b="1">
                <a:solidFill>
                  <a:schemeClr val="bg1"/>
                </a:solidFill>
                <a:latin typeface="+mj-lt"/>
                <a:ea typeface="ＭＳ Ｐゴシック" pitchFamily="80" charset="-128"/>
              </a:rPr>
              <a:t>landed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200" b="1">
                <a:solidFill>
                  <a:schemeClr val="bg1"/>
                </a:solidFill>
                <a:latin typeface="+mj-lt"/>
                <a:ea typeface="ＭＳ Ｐゴシック" pitchFamily="80" charset="-128"/>
              </a:rPr>
              <a:t>8:05</a:t>
            </a:r>
          </a:p>
        </p:txBody>
      </p:sp>
      <p:sp>
        <p:nvSpPr>
          <p:cNvPr id="30736" name="Line 18">
            <a:extLst>
              <a:ext uri="{FF2B5EF4-FFF2-40B4-BE49-F238E27FC236}">
                <a16:creationId xmlns:a16="http://schemas.microsoft.com/office/drawing/2014/main" id="{78872A11-D295-FCFD-14DF-89C5B34BB9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1600" y="4964113"/>
            <a:ext cx="3048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30737" name="Rectangle 19">
            <a:extLst>
              <a:ext uri="{FF2B5EF4-FFF2-40B4-BE49-F238E27FC236}">
                <a16:creationId xmlns:a16="http://schemas.microsoft.com/office/drawing/2014/main" id="{87E39E45-632C-8488-043C-230D61C8E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550" y="4284663"/>
            <a:ext cx="673100" cy="596900"/>
          </a:xfrm>
          <a:prstGeom prst="rect">
            <a:avLst/>
          </a:prstGeom>
          <a:solidFill>
            <a:srgbClr val="081D5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sz="1200">
                <a:solidFill>
                  <a:schemeClr val="bg1"/>
                </a:solidFill>
                <a:latin typeface="+mj-lt"/>
                <a:ea typeface="ＭＳ Ｐゴシック" pitchFamily="80" charset="-128"/>
              </a:rPr>
              <a:t>arrival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200">
                <a:solidFill>
                  <a:schemeClr val="bg1"/>
                </a:solidFill>
                <a:latin typeface="+mj-lt"/>
                <a:ea typeface="ＭＳ Ｐゴシック" pitchFamily="80" charset="-128"/>
              </a:rPr>
              <a:t>9:30</a:t>
            </a:r>
          </a:p>
        </p:txBody>
      </p:sp>
      <p:sp>
        <p:nvSpPr>
          <p:cNvPr id="30738" name="Line 20">
            <a:extLst>
              <a:ext uri="{FF2B5EF4-FFF2-40B4-BE49-F238E27FC236}">
                <a16:creationId xmlns:a16="http://schemas.microsoft.com/office/drawing/2014/main" id="{34508050-C567-1714-1F53-C30C12DA94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4894263"/>
            <a:ext cx="30480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30739" name="Line 21">
            <a:extLst>
              <a:ext uri="{FF2B5EF4-FFF2-40B4-BE49-F238E27FC236}">
                <a16:creationId xmlns:a16="http://schemas.microsoft.com/office/drawing/2014/main" id="{EDC7CCE7-0710-A27B-36B9-1A86B2C65F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4583113"/>
            <a:ext cx="23622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30740" name="Rectangle 22">
            <a:extLst>
              <a:ext uri="{FF2B5EF4-FFF2-40B4-BE49-F238E27FC236}">
                <a16:creationId xmlns:a16="http://schemas.microsoft.com/office/drawing/2014/main" id="{1DAC7560-391E-F393-BE6F-3EFE2919D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506913"/>
            <a:ext cx="809625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1200" b="1">
                <a:latin typeface="+mj-lt"/>
                <a:ea typeface="ＭＳ Ｐゴシック" pitchFamily="80" charset="-128"/>
              </a:rPr>
              <a:t>schedules</a:t>
            </a:r>
          </a:p>
        </p:txBody>
      </p:sp>
      <p:sp>
        <p:nvSpPr>
          <p:cNvPr id="30741" name="Rectangle 23">
            <a:extLst>
              <a:ext uri="{FF2B5EF4-FFF2-40B4-BE49-F238E27FC236}">
                <a16:creationId xmlns:a16="http://schemas.microsoft.com/office/drawing/2014/main" id="{D889F162-188B-3D26-9386-E2034BEDE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313" y="5292725"/>
            <a:ext cx="133985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1400" b="1">
                <a:latin typeface="+mj-lt"/>
                <a:ea typeface="ＭＳ Ｐゴシック" pitchFamily="80" charset="-128"/>
              </a:rPr>
              <a:t>simulation time</a:t>
            </a:r>
          </a:p>
        </p:txBody>
      </p:sp>
      <p:grpSp>
        <p:nvGrpSpPr>
          <p:cNvPr id="40982" name="Group 24">
            <a:extLst>
              <a:ext uri="{FF2B5EF4-FFF2-40B4-BE49-F238E27FC236}">
                <a16:creationId xmlns:a16="http://schemas.microsoft.com/office/drawing/2014/main" id="{F1F949AF-52EA-FDC0-9A53-8D30FE9D2F83}"/>
              </a:ext>
            </a:extLst>
          </p:cNvPr>
          <p:cNvGrpSpPr>
            <a:grpSpLocks/>
          </p:cNvGrpSpPr>
          <p:nvPr/>
        </p:nvGrpSpPr>
        <p:grpSpPr bwMode="auto">
          <a:xfrm>
            <a:off x="7245350" y="4214813"/>
            <a:ext cx="1528763" cy="763587"/>
            <a:chOff x="4564" y="2216"/>
            <a:chExt cx="963" cy="481"/>
          </a:xfrm>
        </p:grpSpPr>
        <p:sp>
          <p:nvSpPr>
            <p:cNvPr id="30745" name="Rectangle 25">
              <a:extLst>
                <a:ext uri="{FF2B5EF4-FFF2-40B4-BE49-F238E27FC236}">
                  <a16:creationId xmlns:a16="http://schemas.microsoft.com/office/drawing/2014/main" id="{39422ED1-D231-7811-BE22-E3DFFCB48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0" y="2216"/>
              <a:ext cx="817" cy="4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ts val="1800"/>
                </a:lnSpc>
                <a:buFont typeface="Wingdings" pitchFamily="2" charset="2"/>
                <a:buNone/>
                <a:defRPr/>
              </a:pPr>
              <a:r>
                <a:rPr lang="en-US" sz="1200">
                  <a:latin typeface="+mj-lt"/>
                  <a:ea typeface="ＭＳ Ｐゴシック" pitchFamily="80" charset="-128"/>
                </a:rPr>
                <a:t>processed event</a:t>
              </a:r>
            </a:p>
            <a:p>
              <a:pPr>
                <a:lnSpc>
                  <a:spcPts val="1800"/>
                </a:lnSpc>
                <a:buFont typeface="Wingdings" pitchFamily="2" charset="2"/>
                <a:buNone/>
                <a:defRPr/>
              </a:pPr>
              <a:r>
                <a:rPr lang="en-US" sz="1200">
                  <a:latin typeface="+mj-lt"/>
                  <a:ea typeface="ＭＳ Ｐゴシック" pitchFamily="80" charset="-128"/>
                </a:rPr>
                <a:t>current event</a:t>
              </a:r>
            </a:p>
            <a:p>
              <a:pPr>
                <a:lnSpc>
                  <a:spcPts val="1800"/>
                </a:lnSpc>
                <a:buFont typeface="Wingdings" pitchFamily="2" charset="2"/>
                <a:buNone/>
                <a:defRPr/>
              </a:pPr>
              <a:r>
                <a:rPr lang="en-US" sz="1200">
                  <a:latin typeface="+mj-lt"/>
                  <a:ea typeface="ＭＳ Ｐゴシック" pitchFamily="80" charset="-128"/>
                </a:rPr>
                <a:t>unprocessed event</a:t>
              </a:r>
            </a:p>
          </p:txBody>
        </p:sp>
        <p:sp>
          <p:nvSpPr>
            <p:cNvPr id="30746" name="Rectangle 26">
              <a:extLst>
                <a:ext uri="{FF2B5EF4-FFF2-40B4-BE49-F238E27FC236}">
                  <a16:creationId xmlns:a16="http://schemas.microsoft.com/office/drawing/2014/main" id="{C1CDCC82-9479-5A94-461F-2E192E1A9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2260"/>
              <a:ext cx="136" cy="88"/>
            </a:xfrm>
            <a:prstGeom prst="rect">
              <a:avLst/>
            </a:prstGeom>
            <a:solidFill>
              <a:srgbClr val="FDE3BA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 typeface="Wingdings" pitchFamily="2" charset="2"/>
                <a:buNone/>
                <a:defRPr/>
              </a:pPr>
              <a:endParaRPr lang="fr-FR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30747" name="Rectangle 27">
              <a:extLst>
                <a:ext uri="{FF2B5EF4-FFF2-40B4-BE49-F238E27FC236}">
                  <a16:creationId xmlns:a16="http://schemas.microsoft.com/office/drawing/2014/main" id="{2D495CC7-3ED8-1D15-BD2C-2F27AF6DE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2404"/>
              <a:ext cx="136" cy="88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 typeface="Wingdings" pitchFamily="2" charset="2"/>
                <a:buNone/>
                <a:defRPr/>
              </a:pPr>
              <a:endParaRPr lang="fr-FR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30748" name="Rectangle 28">
              <a:extLst>
                <a:ext uri="{FF2B5EF4-FFF2-40B4-BE49-F238E27FC236}">
                  <a16:creationId xmlns:a16="http://schemas.microsoft.com/office/drawing/2014/main" id="{21594BB5-AD01-F786-8760-DA3E45563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2548"/>
              <a:ext cx="136" cy="88"/>
            </a:xfrm>
            <a:prstGeom prst="rect">
              <a:avLst/>
            </a:prstGeom>
            <a:solidFill>
              <a:srgbClr val="081D5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 typeface="Wingdings" pitchFamily="2" charset="2"/>
                <a:buNone/>
                <a:defRPr/>
              </a:pPr>
              <a:endParaRPr lang="fr-FR">
                <a:latin typeface="+mj-lt"/>
                <a:ea typeface="ＭＳ Ｐゴシック" pitchFamily="80" charset="-128"/>
              </a:endParaRPr>
            </a:p>
          </p:txBody>
        </p:sp>
      </p:grpSp>
      <p:sp>
        <p:nvSpPr>
          <p:cNvPr id="30743" name="Line 29">
            <a:extLst>
              <a:ext uri="{FF2B5EF4-FFF2-40B4-BE49-F238E27FC236}">
                <a16:creationId xmlns:a16="http://schemas.microsoft.com/office/drawing/2014/main" id="{C2E32E25-317F-0E9C-A221-946353FE8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4354513"/>
            <a:ext cx="304800" cy="3810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 type="triangle" w="med" len="med"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+mj-lt"/>
              <a:ea typeface="ＭＳ Ｐゴシック" pitchFamily="80" charset="-128"/>
            </a:endParaRPr>
          </a:p>
        </p:txBody>
      </p:sp>
      <p:sp>
        <p:nvSpPr>
          <p:cNvPr id="30744" name="Rectangle 30">
            <a:extLst>
              <a:ext uri="{FF2B5EF4-FFF2-40B4-BE49-F238E27FC236}">
                <a16:creationId xmlns:a16="http://schemas.microsoft.com/office/drawing/2014/main" id="{122FE2DB-FA5C-0CBD-2ACC-8FD505F57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202113"/>
            <a:ext cx="809625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1200" b="1">
                <a:latin typeface="+mj-lt"/>
                <a:ea typeface="ＭＳ Ｐゴシック" pitchFamily="80" charset="-128"/>
              </a:rPr>
              <a:t>schedules</a:t>
            </a: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">
            <a:extLst>
              <a:ext uri="{FF2B5EF4-FFF2-40B4-BE49-F238E27FC236}">
                <a16:creationId xmlns:a16="http://schemas.microsoft.com/office/drawing/2014/main" id="{31089D94-0E7E-D3D1-E1C5-C2E333062E41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2105025"/>
            <a:ext cx="5638800" cy="4038600"/>
            <a:chOff x="1872" y="960"/>
            <a:chExt cx="3552" cy="2544"/>
          </a:xfrm>
        </p:grpSpPr>
        <p:sp>
          <p:nvSpPr>
            <p:cNvPr id="25607" name="Rectangle 3">
              <a:extLst>
                <a:ext uri="{FF2B5EF4-FFF2-40B4-BE49-F238E27FC236}">
                  <a16:creationId xmlns:a16="http://schemas.microsoft.com/office/drawing/2014/main" id="{AFA20641-BE03-347C-E6F7-AFDBCB29C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960"/>
              <a:ext cx="3552" cy="1048"/>
            </a:xfrm>
            <a:prstGeom prst="rect">
              <a:avLst/>
            </a:prstGeom>
            <a:gradFill rotWithShape="1">
              <a:gsLst>
                <a:gs pos="0">
                  <a:srgbClr val="BEF397"/>
                </a:gs>
                <a:gs pos="50000">
                  <a:srgbClr val="D5F6C0"/>
                </a:gs>
                <a:gs pos="100000">
                  <a:srgbClr val="EAFAE0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buFont typeface="Wingdings" pitchFamily="2" charset="2"/>
                <a:buNone/>
                <a:defRPr/>
              </a:pPr>
              <a:endParaRPr lang="en-US" sz="1400">
                <a:latin typeface="+mj-lt"/>
                <a:ea typeface="ＭＳ Ｐゴシック" pitchFamily="80" charset="-128"/>
              </a:endParaRPr>
            </a:p>
            <a:p>
              <a:pPr algn="ctr">
                <a:buFont typeface="Wingdings" pitchFamily="2" charset="2"/>
                <a:buNone/>
                <a:defRPr/>
              </a:pPr>
              <a:endParaRPr lang="en-US" sz="1400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9224" name="Rectangle 4">
              <a:extLst>
                <a:ext uri="{FF2B5EF4-FFF2-40B4-BE49-F238E27FC236}">
                  <a16:creationId xmlns:a16="http://schemas.microsoft.com/office/drawing/2014/main" id="{C3D35F23-2405-D156-DC16-F7E0E9490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" y="1008"/>
              <a:ext cx="2210" cy="7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buFont typeface="Wingdings" pitchFamily="2" charset="2"/>
                <a:buNone/>
                <a:defRPr/>
              </a:pPr>
              <a:r>
                <a:rPr lang="en-US" sz="2000" b="1" dirty="0">
                  <a:latin typeface="+mj-lt"/>
                  <a:ea typeface="ＭＳ Ｐゴシック" pitchFamily="80" charset="-128"/>
                  <a:cs typeface="+mj-cs"/>
                </a:rPr>
                <a:t>Simulation Application</a:t>
              </a:r>
              <a:endParaRPr lang="en-US" sz="2000" dirty="0">
                <a:latin typeface="+mj-lt"/>
                <a:ea typeface="ＭＳ Ｐゴシック" pitchFamily="80" charset="-128"/>
                <a:cs typeface="+mj-cs"/>
              </a:endParaRPr>
            </a:p>
            <a:p>
              <a:pPr>
                <a:buFont typeface="Wingdings" pitchFamily="2" charset="2"/>
                <a:buNone/>
                <a:defRPr/>
              </a:pPr>
              <a:r>
                <a:rPr lang="en-US" sz="2000" dirty="0">
                  <a:solidFill>
                    <a:srgbClr val="CC0000"/>
                  </a:solidFill>
                  <a:latin typeface="+mj-lt"/>
                  <a:ea typeface="ＭＳ Ｐゴシック" pitchFamily="80" charset="-128"/>
                  <a:cs typeface="+mj-cs"/>
                </a:rPr>
                <a:t> state variables</a:t>
              </a:r>
            </a:p>
            <a:p>
              <a:pPr>
                <a:buFont typeface="Wingdings" pitchFamily="2" charset="2"/>
                <a:buNone/>
                <a:defRPr/>
              </a:pPr>
              <a:r>
                <a:rPr lang="en-US" sz="2000" dirty="0">
                  <a:solidFill>
                    <a:srgbClr val="CC0000"/>
                  </a:solidFill>
                  <a:latin typeface="+mj-lt"/>
                  <a:ea typeface="ＭＳ Ｐゴシック" pitchFamily="80" charset="-128"/>
                  <a:cs typeface="+mj-cs"/>
                </a:rPr>
                <a:t> code modeling system behavior</a:t>
              </a:r>
            </a:p>
            <a:p>
              <a:pPr>
                <a:buFont typeface="Wingdings" pitchFamily="2" charset="2"/>
                <a:buNone/>
                <a:defRPr/>
              </a:pPr>
              <a:r>
                <a:rPr lang="en-US" sz="2000" dirty="0">
                  <a:solidFill>
                    <a:srgbClr val="CC0000"/>
                  </a:solidFill>
                  <a:latin typeface="+mj-lt"/>
                  <a:ea typeface="ＭＳ Ｐゴシック" pitchFamily="80" charset="-128"/>
                  <a:cs typeface="+mj-cs"/>
                </a:rPr>
                <a:t> I/O and user interface software</a:t>
              </a:r>
              <a:endParaRPr lang="en-US" sz="2000" dirty="0">
                <a:latin typeface="+mj-lt"/>
                <a:ea typeface="ＭＳ Ｐゴシック" pitchFamily="80" charset="-128"/>
                <a:cs typeface="+mj-cs"/>
              </a:endParaRPr>
            </a:p>
          </p:txBody>
        </p:sp>
        <p:sp>
          <p:nvSpPr>
            <p:cNvPr id="9225" name="Rectangle 5">
              <a:extLst>
                <a:ext uri="{FF2B5EF4-FFF2-40B4-BE49-F238E27FC236}">
                  <a16:creationId xmlns:a16="http://schemas.microsoft.com/office/drawing/2014/main" id="{5896621D-E748-2CB0-1CA3-40066FC03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736"/>
              <a:ext cx="3552" cy="768"/>
            </a:xfrm>
            <a:prstGeom prst="rect">
              <a:avLst/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>
                <a:buFont typeface="Wingdings" pitchFamily="2" charset="2"/>
                <a:buNone/>
                <a:defRPr/>
              </a:pPr>
              <a:endParaRPr lang="en-US" sz="1400">
                <a:latin typeface="+mj-lt"/>
                <a:ea typeface="ＭＳ Ｐゴシック" pitchFamily="80" charset="-128"/>
              </a:endParaRPr>
            </a:p>
            <a:p>
              <a:pPr algn="ctr">
                <a:buFont typeface="Wingdings" pitchFamily="2" charset="2"/>
                <a:buNone/>
                <a:defRPr/>
              </a:pPr>
              <a:endParaRPr lang="en-US" sz="1400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9226" name="Rectangle 6">
              <a:extLst>
                <a:ext uri="{FF2B5EF4-FFF2-40B4-BE49-F238E27FC236}">
                  <a16:creationId xmlns:a16="http://schemas.microsoft.com/office/drawing/2014/main" id="{13AAEB1B-525C-8E41-3B11-3620506FB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2835"/>
              <a:ext cx="2578" cy="6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buFont typeface="Wingdings" pitchFamily="2" charset="2"/>
                <a:buNone/>
                <a:defRPr/>
              </a:pPr>
              <a:r>
                <a:rPr lang="en-US" sz="2000" b="1" dirty="0">
                  <a:latin typeface="+mj-lt"/>
                  <a:ea typeface="ＭＳ Ｐゴシック" pitchFamily="80" charset="-128"/>
                  <a:cs typeface="+mj-cs"/>
                </a:rPr>
                <a:t>Simulation Engine</a:t>
              </a:r>
              <a:endParaRPr lang="en-US" sz="2000" dirty="0">
                <a:latin typeface="+mj-lt"/>
                <a:ea typeface="ＭＳ Ｐゴシック" pitchFamily="80" charset="-128"/>
                <a:cs typeface="+mj-cs"/>
              </a:endParaRPr>
            </a:p>
            <a:p>
              <a:pPr>
                <a:buFont typeface="Wingdings" pitchFamily="2" charset="2"/>
                <a:buNone/>
                <a:defRPr/>
              </a:pPr>
              <a:r>
                <a:rPr lang="en-US" sz="2000" dirty="0">
                  <a:solidFill>
                    <a:srgbClr val="CC0000"/>
                  </a:solidFill>
                  <a:latin typeface="+mj-lt"/>
                  <a:ea typeface="ＭＳ Ｐゴシック" pitchFamily="80" charset="-128"/>
                  <a:cs typeface="+mj-cs"/>
                </a:rPr>
                <a:t> event list management</a:t>
              </a:r>
            </a:p>
            <a:p>
              <a:pPr>
                <a:buFont typeface="Wingdings" pitchFamily="2" charset="2"/>
                <a:buNone/>
                <a:defRPr/>
              </a:pPr>
              <a:r>
                <a:rPr lang="en-US" sz="2000" dirty="0">
                  <a:solidFill>
                    <a:srgbClr val="CC0000"/>
                  </a:solidFill>
                  <a:latin typeface="+mj-lt"/>
                  <a:ea typeface="ＭＳ Ｐゴシック" pitchFamily="80" charset="-128"/>
                  <a:cs typeface="+mj-cs"/>
                </a:rPr>
                <a:t> managing advances in simulation time</a:t>
              </a:r>
              <a:endParaRPr lang="en-US" sz="2000" dirty="0">
                <a:latin typeface="+mj-lt"/>
                <a:ea typeface="ＭＳ Ｐゴシック" pitchFamily="80" charset="-128"/>
                <a:cs typeface="+mj-cs"/>
              </a:endParaRPr>
            </a:p>
          </p:txBody>
        </p:sp>
        <p:sp>
          <p:nvSpPr>
            <p:cNvPr id="25613" name="Line 7">
              <a:extLst>
                <a:ext uri="{FF2B5EF4-FFF2-40B4-BE49-F238E27FC236}">
                  <a16:creationId xmlns:a16="http://schemas.microsoft.com/office/drawing/2014/main" id="{79333A7F-463E-DEED-7EC8-389100239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2016"/>
              <a:ext cx="0" cy="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25614" name="Line 8">
              <a:extLst>
                <a:ext uri="{FF2B5EF4-FFF2-40B4-BE49-F238E27FC236}">
                  <a16:creationId xmlns:a16="http://schemas.microsoft.com/office/drawing/2014/main" id="{3A6A82CF-FF1C-F371-BAF7-9EDB983CA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2016"/>
              <a:ext cx="0" cy="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25615" name="Rectangle 9">
              <a:extLst>
                <a:ext uri="{FF2B5EF4-FFF2-40B4-BE49-F238E27FC236}">
                  <a16:creationId xmlns:a16="http://schemas.microsoft.com/office/drawing/2014/main" id="{CBAC32FA-686A-0CA5-2084-1BE3A16AD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064"/>
              <a:ext cx="665" cy="6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buFont typeface="Wingdings" pitchFamily="2" charset="2"/>
                <a:buNone/>
                <a:defRPr/>
              </a:pPr>
              <a:r>
                <a:rPr lang="en-US" sz="2000">
                  <a:latin typeface="+mj-lt"/>
                  <a:ea typeface="ＭＳ Ｐゴシック" pitchFamily="80" charset="-128"/>
                </a:rPr>
                <a:t>calls to</a:t>
              </a:r>
            </a:p>
            <a:p>
              <a:pPr>
                <a:buFont typeface="Wingdings" pitchFamily="2" charset="2"/>
                <a:buNone/>
                <a:defRPr/>
              </a:pPr>
              <a:r>
                <a:rPr lang="en-US" sz="2000">
                  <a:latin typeface="+mj-lt"/>
                  <a:ea typeface="ＭＳ Ｐゴシック" pitchFamily="80" charset="-128"/>
                </a:rPr>
                <a:t>schedule</a:t>
              </a:r>
            </a:p>
            <a:p>
              <a:pPr>
                <a:buFont typeface="Wingdings" pitchFamily="2" charset="2"/>
                <a:buNone/>
                <a:defRPr/>
              </a:pPr>
              <a:r>
                <a:rPr lang="en-US" sz="2000">
                  <a:latin typeface="+mj-lt"/>
                  <a:ea typeface="ＭＳ Ｐゴシック" pitchFamily="80" charset="-128"/>
                </a:rPr>
                <a:t>events</a:t>
              </a:r>
            </a:p>
          </p:txBody>
        </p:sp>
        <p:sp>
          <p:nvSpPr>
            <p:cNvPr id="25616" name="Rectangle 10">
              <a:extLst>
                <a:ext uri="{FF2B5EF4-FFF2-40B4-BE49-F238E27FC236}">
                  <a16:creationId xmlns:a16="http://schemas.microsoft.com/office/drawing/2014/main" id="{60A7C681-4488-83EF-7FD1-5F14B9EFF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5" y="2160"/>
              <a:ext cx="947" cy="4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buFont typeface="Wingdings" pitchFamily="2" charset="2"/>
                <a:buNone/>
                <a:defRPr/>
              </a:pPr>
              <a:r>
                <a:rPr lang="en-US" sz="2000">
                  <a:latin typeface="+mj-lt"/>
                  <a:ea typeface="ＭＳ Ｐゴシック" pitchFamily="80" charset="-128"/>
                </a:rPr>
                <a:t>calls to event</a:t>
              </a:r>
            </a:p>
            <a:p>
              <a:pPr>
                <a:buFont typeface="Wingdings" pitchFamily="2" charset="2"/>
                <a:buNone/>
                <a:defRPr/>
              </a:pPr>
              <a:r>
                <a:rPr lang="en-US" sz="2000">
                  <a:latin typeface="+mj-lt"/>
                  <a:ea typeface="ＭＳ Ｐゴシック" pitchFamily="80" charset="-128"/>
                </a:rPr>
                <a:t>handlers</a:t>
              </a:r>
            </a:p>
          </p:txBody>
        </p:sp>
      </p:grpSp>
      <p:sp>
        <p:nvSpPr>
          <p:cNvPr id="43011" name="Rectangle 11">
            <a:extLst>
              <a:ext uri="{FF2B5EF4-FFF2-40B4-BE49-F238E27FC236}">
                <a16:creationId xmlns:a16="http://schemas.microsoft.com/office/drawing/2014/main" id="{9B0993B0-90CB-12D0-B450-CC6ACEAE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 sz="4000"/>
              <a:t>Discrete Event Simulation System</a:t>
            </a:r>
          </a:p>
        </p:txBody>
      </p:sp>
      <p:grpSp>
        <p:nvGrpSpPr>
          <p:cNvPr id="43012" name="Group 12">
            <a:extLst>
              <a:ext uri="{FF2B5EF4-FFF2-40B4-BE49-F238E27FC236}">
                <a16:creationId xmlns:a16="http://schemas.microsoft.com/office/drawing/2014/main" id="{DD5D3A91-AAEA-2454-9946-34789385DE2A}"/>
              </a:ext>
            </a:extLst>
          </p:cNvPr>
          <p:cNvGrpSpPr>
            <a:grpSpLocks/>
          </p:cNvGrpSpPr>
          <p:nvPr/>
        </p:nvGrpSpPr>
        <p:grpSpPr bwMode="auto">
          <a:xfrm>
            <a:off x="261938" y="2257425"/>
            <a:ext cx="2895600" cy="3455988"/>
            <a:chOff x="144" y="1056"/>
            <a:chExt cx="1824" cy="2177"/>
          </a:xfrm>
        </p:grpSpPr>
        <p:sp>
          <p:nvSpPr>
            <p:cNvPr id="25605" name="Rectangle 13">
              <a:extLst>
                <a:ext uri="{FF2B5EF4-FFF2-40B4-BE49-F238E27FC236}">
                  <a16:creationId xmlns:a16="http://schemas.microsoft.com/office/drawing/2014/main" id="{233215DA-13A9-C606-82DF-2F9F60B41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056"/>
              <a:ext cx="1632" cy="7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spAutoFit/>
            </a:bodyPr>
            <a:lstStyle/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800">
                  <a:latin typeface="+mj-lt"/>
                  <a:ea typeface="ＭＳ Ｐゴシック" pitchFamily="80" charset="-128"/>
                </a:rPr>
                <a:t>Model of the physical system </a:t>
              </a:r>
            </a:p>
          </p:txBody>
        </p:sp>
        <p:sp>
          <p:nvSpPr>
            <p:cNvPr id="25606" name="Rectangle 14">
              <a:extLst>
                <a:ext uri="{FF2B5EF4-FFF2-40B4-BE49-F238E27FC236}">
                  <a16:creationId xmlns:a16="http://schemas.microsoft.com/office/drawing/2014/main" id="{1B772874-6B73-F97E-A518-6A61E0976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304"/>
              <a:ext cx="1584" cy="9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spAutoFit/>
            </a:bodyPr>
            <a:lstStyle/>
            <a:p>
              <a:pPr marL="342900" indent="-342900" algn="ctr">
                <a:buFont typeface="Wingdings" pitchFamily="2" charset="2"/>
                <a:buNone/>
                <a:defRPr/>
              </a:pPr>
              <a:r>
                <a:rPr lang="en-US" sz="2800">
                  <a:latin typeface="+mj-lt"/>
                  <a:ea typeface="ＭＳ Ｐゴシック" pitchFamily="80" charset="-128"/>
                </a:rPr>
                <a:t>    Independent of the simulation application 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0E066A0-64FB-0991-9DC0-D8336130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Events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1102DA6-2C35-8071-9D71-7E02117DC5B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57188" y="1676400"/>
            <a:ext cx="8345487" cy="4752975"/>
          </a:xfrm>
        </p:spPr>
        <p:txBody>
          <a:bodyPr/>
          <a:lstStyle/>
          <a:p>
            <a:pPr eaLnBrk="1" hangingPunct="1">
              <a:lnSpc>
                <a:spcPts val="3400"/>
              </a:lnSpc>
            </a:pPr>
            <a:r>
              <a:rPr lang="en-US" altLang="id-ID" sz="2800"/>
              <a:t>An event must be associated with any change in the state of the system</a:t>
            </a:r>
          </a:p>
          <a:p>
            <a:pPr eaLnBrk="1" hangingPunct="1">
              <a:lnSpc>
                <a:spcPts val="3400"/>
              </a:lnSpc>
            </a:pPr>
            <a:r>
              <a:rPr lang="en-US" altLang="id-ID" sz="2800"/>
              <a:t>Airport example:</a:t>
            </a:r>
          </a:p>
          <a:p>
            <a:pPr lvl="1" eaLnBrk="1" hangingPunct="1">
              <a:lnSpc>
                <a:spcPts val="3400"/>
              </a:lnSpc>
            </a:pPr>
            <a:r>
              <a:rPr lang="en-US" altLang="id-ID" sz="2400" b="1"/>
              <a:t>Event 1:</a:t>
            </a:r>
            <a:r>
              <a:rPr lang="en-US" altLang="id-ID" sz="2400"/>
              <a:t> Aircraft Arrival </a:t>
            </a:r>
            <a:br>
              <a:rPr lang="en-US" altLang="id-ID" sz="2400"/>
            </a:br>
            <a:r>
              <a:rPr lang="en-US" altLang="id-ID" sz="2400" b="1">
                <a:solidFill>
                  <a:srgbClr val="3333FF"/>
                </a:solidFill>
              </a:rPr>
              <a:t>(</a:t>
            </a:r>
            <a:r>
              <a:rPr lang="en-US" altLang="id-ID" sz="2400" b="1">
                <a:solidFill>
                  <a:srgbClr val="3333FF"/>
                </a:solidFill>
                <a:latin typeface="Courier" pitchFamily="80" charset="0"/>
              </a:rPr>
              <a:t>InTheAir, RunwayFree</a:t>
            </a:r>
            <a:r>
              <a:rPr lang="en-US" altLang="id-ID" sz="2400" b="1">
                <a:solidFill>
                  <a:srgbClr val="3333FF"/>
                </a:solidFill>
              </a:rPr>
              <a:t>)</a:t>
            </a:r>
          </a:p>
          <a:p>
            <a:pPr lvl="1" eaLnBrk="1" hangingPunct="1">
              <a:lnSpc>
                <a:spcPts val="3400"/>
              </a:lnSpc>
            </a:pPr>
            <a:r>
              <a:rPr lang="en-US" altLang="id-ID" sz="2400" b="1"/>
              <a:t>Event 2:</a:t>
            </a:r>
            <a:r>
              <a:rPr lang="en-US" altLang="id-ID" sz="2400"/>
              <a:t> Aircraft Landing </a:t>
            </a:r>
            <a:br>
              <a:rPr lang="en-US" altLang="id-ID" sz="2400"/>
            </a:br>
            <a:r>
              <a:rPr lang="en-US" altLang="id-ID" sz="2400" b="1">
                <a:solidFill>
                  <a:srgbClr val="3333FF"/>
                </a:solidFill>
              </a:rPr>
              <a:t>(</a:t>
            </a:r>
            <a:r>
              <a:rPr lang="en-US" altLang="id-ID" sz="2400" b="1">
                <a:solidFill>
                  <a:srgbClr val="3333FF"/>
                </a:solidFill>
                <a:latin typeface="Courier" pitchFamily="80" charset="0"/>
              </a:rPr>
              <a:t>InTheAir,</a:t>
            </a:r>
            <a:r>
              <a:rPr lang="en-US" altLang="id-ID" sz="2400" b="1">
                <a:solidFill>
                  <a:srgbClr val="3333FF"/>
                </a:solidFill>
              </a:rPr>
              <a:t> </a:t>
            </a:r>
            <a:r>
              <a:rPr lang="en-US" altLang="id-ID" sz="2400" b="1">
                <a:solidFill>
                  <a:srgbClr val="3333FF"/>
                </a:solidFill>
                <a:latin typeface="Courier" pitchFamily="80" charset="0"/>
              </a:rPr>
              <a:t>OnTheGround, RunwayFree</a:t>
            </a:r>
            <a:r>
              <a:rPr lang="en-US" altLang="id-ID" sz="2400" b="1">
                <a:solidFill>
                  <a:srgbClr val="3333FF"/>
                </a:solidFill>
              </a:rPr>
              <a:t>)</a:t>
            </a:r>
          </a:p>
          <a:p>
            <a:pPr lvl="1" eaLnBrk="1" hangingPunct="1">
              <a:lnSpc>
                <a:spcPts val="3400"/>
              </a:lnSpc>
            </a:pPr>
            <a:r>
              <a:rPr lang="en-US" altLang="id-ID" sz="2400" b="1"/>
              <a:t>Event 3: </a:t>
            </a:r>
            <a:r>
              <a:rPr lang="en-US" altLang="id-ID" sz="2400"/>
              <a:t>Aircraft Departure </a:t>
            </a:r>
            <a:br>
              <a:rPr lang="en-US" altLang="id-ID" sz="2400"/>
            </a:br>
            <a:r>
              <a:rPr lang="en-US" altLang="id-ID" sz="2400" b="1">
                <a:solidFill>
                  <a:srgbClr val="3333FF"/>
                </a:solidFill>
              </a:rPr>
              <a:t>(</a:t>
            </a:r>
            <a:r>
              <a:rPr lang="en-US" altLang="id-ID" sz="2400" b="1">
                <a:solidFill>
                  <a:srgbClr val="3333FF"/>
                </a:solidFill>
                <a:latin typeface="Courier" pitchFamily="80" charset="0"/>
              </a:rPr>
              <a:t>OnTheGround</a:t>
            </a:r>
            <a:r>
              <a:rPr lang="en-US" altLang="id-ID" sz="2400" b="1">
                <a:solidFill>
                  <a:srgbClr val="3333FF"/>
                </a:solidFill>
              </a:rPr>
              <a:t>)</a:t>
            </a: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86E59C80-732A-1A3A-67DD-C6E7259C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 sz="4000"/>
              <a:t>Event-Oriented World View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D32E3CB-1692-8B40-A9D1-27C8151927CE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571625"/>
            <a:ext cx="8763000" cy="2443163"/>
            <a:chOff x="96" y="576"/>
            <a:chExt cx="5520" cy="1824"/>
          </a:xfrm>
        </p:grpSpPr>
        <p:sp>
          <p:nvSpPr>
            <p:cNvPr id="33808" name="Rectangle 4">
              <a:extLst>
                <a:ext uri="{FF2B5EF4-FFF2-40B4-BE49-F238E27FC236}">
                  <a16:creationId xmlns:a16="http://schemas.microsoft.com/office/drawing/2014/main" id="{CC740BCB-DEE6-BAD8-60D0-E003B25FA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576"/>
              <a:ext cx="5520" cy="1824"/>
            </a:xfrm>
            <a:prstGeom prst="rect">
              <a:avLst/>
            </a:prstGeom>
            <a:gradFill rotWithShape="1"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 typeface="Wingdings" pitchFamily="2" charset="2"/>
                <a:buNone/>
                <a:defRPr/>
              </a:pPr>
              <a:endParaRPr lang="fr-FR" sz="2000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33809" name="Rectangle 5">
              <a:extLst>
                <a:ext uri="{FF2B5EF4-FFF2-40B4-BE49-F238E27FC236}">
                  <a16:creationId xmlns:a16="http://schemas.microsoft.com/office/drawing/2014/main" id="{01C46E79-181F-7ECB-3348-A098EF283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" y="949"/>
              <a:ext cx="1738" cy="807"/>
            </a:xfrm>
            <a:prstGeom prst="rect">
              <a:avLst/>
            </a:prstGeom>
            <a:solidFill>
              <a:srgbClr val="CCE9A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/>
            <a:lstStyle/>
            <a:p>
              <a:pPr algn="ctr">
                <a:buFont typeface="Wingdings" pitchFamily="2" charset="2"/>
                <a:buNone/>
                <a:defRPr/>
              </a:pPr>
              <a:r>
                <a:rPr lang="en-US" sz="2000">
                  <a:latin typeface="+mj-lt"/>
                  <a:ea typeface="ＭＳ Ｐゴシック" pitchFamily="80" charset="-128"/>
                </a:rPr>
                <a:t>state variables</a:t>
              </a:r>
              <a:endParaRPr lang="en-US" sz="1200">
                <a:latin typeface="+mj-lt"/>
                <a:ea typeface="ＭＳ Ｐゴシック" pitchFamily="80" charset="-128"/>
              </a:endParaRPr>
            </a:p>
            <a:p>
              <a:pPr algn="ctr">
                <a:buFont typeface="Wingdings" pitchFamily="2" charset="2"/>
                <a:buNone/>
                <a:defRPr/>
              </a:pPr>
              <a:endParaRPr lang="en-US" sz="1200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33810" name="Rectangle 6">
              <a:extLst>
                <a:ext uri="{FF2B5EF4-FFF2-40B4-BE49-F238E27FC236}">
                  <a16:creationId xmlns:a16="http://schemas.microsoft.com/office/drawing/2014/main" id="{FB2B5EAE-2AC7-A2E1-036E-DE9BB7CD6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" y="1163"/>
              <a:ext cx="1150" cy="5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>
                <a:buFont typeface="Wingdings" pitchFamily="2" charset="2"/>
                <a:buNone/>
                <a:defRPr/>
              </a:pPr>
              <a:r>
                <a:rPr lang="en-US" sz="1400" dirty="0">
                  <a:latin typeface="+mj-lt"/>
                  <a:ea typeface="ＭＳ Ｐゴシック" pitchFamily="80" charset="-128"/>
                </a:rPr>
                <a:t>Integer: </a:t>
              </a:r>
              <a:r>
                <a:rPr lang="en-US" sz="1400" dirty="0" err="1">
                  <a:latin typeface="+mj-lt"/>
                  <a:ea typeface="ＭＳ Ｐゴシック" pitchFamily="80" charset="-128"/>
                </a:rPr>
                <a:t>InTheAir</a:t>
              </a:r>
              <a:r>
                <a:rPr lang="en-US" sz="1400" dirty="0">
                  <a:latin typeface="+mj-lt"/>
                  <a:ea typeface="ＭＳ Ｐゴシック" pitchFamily="80" charset="-128"/>
                </a:rPr>
                <a:t>;</a:t>
              </a:r>
            </a:p>
            <a:p>
              <a:pPr>
                <a:buFont typeface="Wingdings" pitchFamily="2" charset="2"/>
                <a:buNone/>
                <a:defRPr/>
              </a:pPr>
              <a:r>
                <a:rPr lang="en-US" sz="1400" dirty="0">
                  <a:latin typeface="+mj-lt"/>
                  <a:ea typeface="ＭＳ Ｐゴシック" pitchFamily="80" charset="-128"/>
                </a:rPr>
                <a:t>Integer: </a:t>
              </a:r>
              <a:r>
                <a:rPr lang="en-US" sz="1400" dirty="0" err="1">
                  <a:latin typeface="+mj-lt"/>
                  <a:ea typeface="ＭＳ Ｐゴシック" pitchFamily="80" charset="-128"/>
                </a:rPr>
                <a:t>OnTheGround</a:t>
              </a:r>
              <a:r>
                <a:rPr lang="en-US" sz="1400" dirty="0">
                  <a:latin typeface="+mj-lt"/>
                  <a:ea typeface="ＭＳ Ｐゴシック" pitchFamily="80" charset="-128"/>
                </a:rPr>
                <a:t>;</a:t>
              </a:r>
            </a:p>
            <a:p>
              <a:pPr>
                <a:buFont typeface="Wingdings" pitchFamily="2" charset="2"/>
                <a:buNone/>
                <a:defRPr/>
              </a:pPr>
              <a:r>
                <a:rPr lang="en-US" sz="1400" dirty="0">
                  <a:latin typeface="+mj-lt"/>
                  <a:ea typeface="ＭＳ Ｐゴシック" pitchFamily="80" charset="-128"/>
                </a:rPr>
                <a:t>Boolean: </a:t>
              </a:r>
              <a:r>
                <a:rPr lang="en-US" sz="1400" dirty="0" err="1">
                  <a:latin typeface="+mj-lt"/>
                  <a:ea typeface="ＭＳ Ｐゴシック" pitchFamily="80" charset="-128"/>
                </a:rPr>
                <a:t>RunwayFree</a:t>
              </a:r>
              <a:r>
                <a:rPr lang="en-US" sz="1400" dirty="0">
                  <a:latin typeface="+mj-lt"/>
                  <a:ea typeface="ＭＳ Ｐゴシック" pitchFamily="80" charset="-128"/>
                </a:rPr>
                <a:t>;</a:t>
              </a:r>
            </a:p>
          </p:txBody>
        </p:sp>
        <p:sp>
          <p:nvSpPr>
            <p:cNvPr id="33811" name="Rectangle 7">
              <a:extLst>
                <a:ext uri="{FF2B5EF4-FFF2-40B4-BE49-F238E27FC236}">
                  <a16:creationId xmlns:a16="http://schemas.microsoft.com/office/drawing/2014/main" id="{AEC5A7A7-FCD0-B7DA-B549-34A82C157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672"/>
              <a:ext cx="2784" cy="2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spAutoFit/>
            </a:bodyPr>
            <a:lstStyle/>
            <a:p>
              <a:pPr marL="742950" lvl="1" indent="-28575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Event handler procedures</a:t>
              </a:r>
            </a:p>
          </p:txBody>
        </p:sp>
        <p:sp>
          <p:nvSpPr>
            <p:cNvPr id="33812" name="Text Box 8">
              <a:extLst>
                <a:ext uri="{FF2B5EF4-FFF2-40B4-BE49-F238E27FC236}">
                  <a16:creationId xmlns:a16="http://schemas.microsoft.com/office/drawing/2014/main" id="{653E0156-ED21-6A98-56D9-F01E265F6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046"/>
              <a:ext cx="1658" cy="3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 typeface="Wingdings" pitchFamily="2" charset="2"/>
                <a:buNone/>
                <a:defRPr/>
              </a:pPr>
              <a:r>
                <a:rPr lang="en-US" sz="2000" b="1">
                  <a:solidFill>
                    <a:srgbClr val="3333FF"/>
                  </a:solidFill>
                  <a:latin typeface="+mj-lt"/>
                  <a:ea typeface="ＭＳ Ｐゴシック" pitchFamily="80" charset="-128"/>
                </a:rPr>
                <a:t>Simulation Application</a:t>
              </a:r>
            </a:p>
          </p:txBody>
        </p:sp>
        <p:sp>
          <p:nvSpPr>
            <p:cNvPr id="33813" name="Rectangle 9">
              <a:extLst>
                <a:ext uri="{FF2B5EF4-FFF2-40B4-BE49-F238E27FC236}">
                  <a16:creationId xmlns:a16="http://schemas.microsoft.com/office/drawing/2014/main" id="{45B5359B-8DBD-AF29-9A74-0A3265675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1003"/>
              <a:ext cx="1224" cy="986"/>
            </a:xfrm>
            <a:prstGeom prst="rect">
              <a:avLst/>
            </a:prstGeom>
            <a:gradFill rotWithShape="1">
              <a:gsLst>
                <a:gs pos="0">
                  <a:srgbClr val="BEF397"/>
                </a:gs>
                <a:gs pos="50000">
                  <a:srgbClr val="D5F6C0"/>
                </a:gs>
                <a:gs pos="100000">
                  <a:srgbClr val="EAFAE0"/>
                </a:gs>
              </a:gsLst>
              <a:lin ang="0" scaled="1"/>
            </a:gradFill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spAutoFit/>
            </a:bodyPr>
            <a:lstStyle/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Arrival Event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{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   …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}</a:t>
              </a:r>
            </a:p>
          </p:txBody>
        </p:sp>
        <p:sp>
          <p:nvSpPr>
            <p:cNvPr id="11286" name="Rectangle 10">
              <a:extLst>
                <a:ext uri="{FF2B5EF4-FFF2-40B4-BE49-F238E27FC236}">
                  <a16:creationId xmlns:a16="http://schemas.microsoft.com/office/drawing/2014/main" id="{52899791-F96C-933E-7762-17F40187C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1003"/>
              <a:ext cx="1077" cy="986"/>
            </a:xfrm>
            <a:prstGeom prst="rect">
              <a:avLst/>
            </a:pr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spAutoFit/>
            </a:bodyPr>
            <a:lstStyle/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 dirty="0">
                  <a:latin typeface="+mj-lt"/>
                  <a:ea typeface="ＭＳ Ｐゴシック" pitchFamily="80" charset="-128"/>
                </a:rPr>
                <a:t>Landed Event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 dirty="0">
                  <a:latin typeface="+mj-lt"/>
                  <a:ea typeface="ＭＳ Ｐゴシック" pitchFamily="80" charset="-128"/>
                </a:rPr>
                <a:t>{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 dirty="0">
                  <a:latin typeface="+mj-lt"/>
                  <a:ea typeface="ＭＳ Ｐゴシック" pitchFamily="80" charset="-128"/>
                </a:rPr>
                <a:t>   …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 dirty="0">
                  <a:latin typeface="+mj-lt"/>
                  <a:ea typeface="ＭＳ Ｐゴシック" pitchFamily="80" charset="-128"/>
                </a:rPr>
                <a:t>}</a:t>
              </a:r>
            </a:p>
          </p:txBody>
        </p:sp>
        <p:sp>
          <p:nvSpPr>
            <p:cNvPr id="33817" name="Rectangle 11">
              <a:extLst>
                <a:ext uri="{FF2B5EF4-FFF2-40B4-BE49-F238E27FC236}">
                  <a16:creationId xmlns:a16="http://schemas.microsoft.com/office/drawing/2014/main" id="{7A550146-B982-6FF7-1F5A-6E5F388B1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8" y="1003"/>
              <a:ext cx="1332" cy="986"/>
            </a:xfrm>
            <a:prstGeom prst="rect">
              <a:avLst/>
            </a:prstGeom>
            <a:gradFill rotWithShape="1">
              <a:gsLst>
                <a:gs pos="0">
                  <a:srgbClr val="BEF397"/>
                </a:gs>
                <a:gs pos="50000">
                  <a:srgbClr val="D5F6C0"/>
                </a:gs>
                <a:gs pos="100000">
                  <a:srgbClr val="EAFAE0"/>
                </a:gs>
              </a:gsLst>
              <a:lin ang="5400000" scaled="1"/>
            </a:gradFill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spAutoFit/>
            </a:bodyPr>
            <a:lstStyle/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Departure Event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{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   …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}</a:t>
              </a:r>
            </a:p>
          </p:txBody>
        </p:sp>
      </p:grpSp>
      <p:grpSp>
        <p:nvGrpSpPr>
          <p:cNvPr id="47108" name="Group 12">
            <a:extLst>
              <a:ext uri="{FF2B5EF4-FFF2-40B4-BE49-F238E27FC236}">
                <a16:creationId xmlns:a16="http://schemas.microsoft.com/office/drawing/2014/main" id="{2193EFBA-3D74-CAF3-D5DE-530D5F4BEA17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214813"/>
            <a:ext cx="8763000" cy="2571750"/>
            <a:chOff x="96" y="2400"/>
            <a:chExt cx="5520" cy="1776"/>
          </a:xfrm>
        </p:grpSpPr>
        <p:sp>
          <p:nvSpPr>
            <p:cNvPr id="33797" name="Rectangle 13">
              <a:extLst>
                <a:ext uri="{FF2B5EF4-FFF2-40B4-BE49-F238E27FC236}">
                  <a16:creationId xmlns:a16="http://schemas.microsoft.com/office/drawing/2014/main" id="{DD4194AE-0E4C-4751-EC49-F74FC2357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400"/>
              <a:ext cx="5520" cy="1776"/>
            </a:xfrm>
            <a:prstGeom prst="rect">
              <a:avLst/>
            </a:prstGeom>
            <a:solidFill>
              <a:srgbClr val="FFCC99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 typeface="Wingdings" pitchFamily="2" charset="2"/>
                <a:buNone/>
                <a:defRPr/>
              </a:pPr>
              <a:endParaRPr lang="fr-FR" sz="2000">
                <a:latin typeface="+mj-lt"/>
                <a:ea typeface="ＭＳ Ｐゴシック" pitchFamily="80" charset="-128"/>
              </a:endParaRPr>
            </a:p>
          </p:txBody>
        </p:sp>
        <p:grpSp>
          <p:nvGrpSpPr>
            <p:cNvPr id="47110" name="Group 14">
              <a:extLst>
                <a:ext uri="{FF2B5EF4-FFF2-40B4-BE49-F238E27FC236}">
                  <a16:creationId xmlns:a16="http://schemas.microsoft.com/office/drawing/2014/main" id="{CD344E22-7B0C-3BD1-BBEB-0D04DF27DF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3224"/>
              <a:ext cx="1336" cy="808"/>
              <a:chOff x="192" y="3224"/>
              <a:chExt cx="1336" cy="808"/>
            </a:xfrm>
          </p:grpSpPr>
          <p:sp>
            <p:nvSpPr>
              <p:cNvPr id="33804" name="Rectangle 15">
                <a:extLst>
                  <a:ext uri="{FF2B5EF4-FFF2-40B4-BE49-F238E27FC236}">
                    <a16:creationId xmlns:a16="http://schemas.microsoft.com/office/drawing/2014/main" id="{25DCF98A-16D2-26FA-421E-7DFA4833D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3224"/>
                <a:ext cx="1336" cy="808"/>
              </a:xfrm>
              <a:prstGeom prst="rect">
                <a:avLst/>
              </a:prstGeom>
              <a:solidFill>
                <a:srgbClr val="C1CE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/>
              <a:lstStyle/>
              <a:p>
                <a:pPr algn="ctr">
                  <a:buFont typeface="Wingdings" pitchFamily="2" charset="2"/>
                  <a:buNone/>
                  <a:defRPr/>
                </a:pPr>
                <a:r>
                  <a:rPr lang="en-US" sz="1200">
                    <a:latin typeface="+mj-lt"/>
                    <a:ea typeface="ＭＳ Ｐゴシック" pitchFamily="80" charset="-128"/>
                  </a:rPr>
                  <a:t>Pending Event List (PEL)</a:t>
                </a:r>
              </a:p>
            </p:txBody>
          </p:sp>
          <p:sp>
            <p:nvSpPr>
              <p:cNvPr id="33805" name="Rectangle 16">
                <a:extLst>
                  <a:ext uri="{FF2B5EF4-FFF2-40B4-BE49-F238E27FC236}">
                    <a16:creationId xmlns:a16="http://schemas.microsoft.com/office/drawing/2014/main" id="{F4C2527B-E9F3-3E3D-28D2-74A5ABC11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3416"/>
                <a:ext cx="280" cy="232"/>
              </a:xfrm>
              <a:prstGeom prst="rect">
                <a:avLst/>
              </a:prstGeom>
              <a:solidFill>
                <a:srgbClr val="C1CE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/>
              <a:p>
                <a:pPr algn="ctr">
                  <a:buFont typeface="Wingdings" pitchFamily="2" charset="2"/>
                  <a:buNone/>
                  <a:defRPr/>
                </a:pPr>
                <a:r>
                  <a:rPr lang="en-US" sz="1200">
                    <a:latin typeface="+mj-lt"/>
                    <a:ea typeface="ＭＳ Ｐゴシック" pitchFamily="80" charset="-128"/>
                  </a:rPr>
                  <a:t>9:00</a:t>
                </a:r>
              </a:p>
            </p:txBody>
          </p:sp>
          <p:sp>
            <p:nvSpPr>
              <p:cNvPr id="33806" name="Rectangle 17">
                <a:extLst>
                  <a:ext uri="{FF2B5EF4-FFF2-40B4-BE49-F238E27FC236}">
                    <a16:creationId xmlns:a16="http://schemas.microsoft.com/office/drawing/2014/main" id="{BD2C9DC9-2A47-6570-30CF-050D4F383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3656"/>
                <a:ext cx="280" cy="232"/>
              </a:xfrm>
              <a:prstGeom prst="rect">
                <a:avLst/>
              </a:prstGeom>
              <a:solidFill>
                <a:srgbClr val="C1CE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/>
              <a:p>
                <a:pPr algn="ctr">
                  <a:buFont typeface="Wingdings" pitchFamily="2" charset="2"/>
                  <a:buNone/>
                  <a:defRPr/>
                </a:pPr>
                <a:r>
                  <a:rPr lang="en-US" sz="1200">
                    <a:latin typeface="+mj-lt"/>
                    <a:ea typeface="ＭＳ Ｐゴシック" pitchFamily="80" charset="-128"/>
                  </a:rPr>
                  <a:t>9:16</a:t>
                </a:r>
              </a:p>
            </p:txBody>
          </p:sp>
          <p:sp>
            <p:nvSpPr>
              <p:cNvPr id="33807" name="Rectangle 18">
                <a:extLst>
                  <a:ext uri="{FF2B5EF4-FFF2-40B4-BE49-F238E27FC236}">
                    <a16:creationId xmlns:a16="http://schemas.microsoft.com/office/drawing/2014/main" id="{7A8374A5-1902-ECA0-85D4-053E128CD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3515"/>
                <a:ext cx="280" cy="229"/>
              </a:xfrm>
              <a:prstGeom prst="rect">
                <a:avLst/>
              </a:prstGeom>
              <a:solidFill>
                <a:srgbClr val="C1CE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7" tIns="44450" rIns="90487" bIns="44450" anchor="ctr"/>
              <a:lstStyle/>
              <a:p>
                <a:pPr algn="ctr">
                  <a:buFont typeface="Wingdings" pitchFamily="2" charset="2"/>
                  <a:buNone/>
                  <a:defRPr/>
                </a:pPr>
                <a:r>
                  <a:rPr lang="en-US" sz="1200">
                    <a:latin typeface="+mj-lt"/>
                    <a:ea typeface="ＭＳ Ｐゴシック" pitchFamily="80" charset="-128"/>
                  </a:rPr>
                  <a:t>10:10</a:t>
                </a:r>
              </a:p>
            </p:txBody>
          </p:sp>
        </p:grpSp>
        <p:sp>
          <p:nvSpPr>
            <p:cNvPr id="33799" name="Rectangle 19">
              <a:extLst>
                <a:ext uri="{FF2B5EF4-FFF2-40B4-BE49-F238E27FC236}">
                  <a16:creationId xmlns:a16="http://schemas.microsoft.com/office/drawing/2014/main" id="{38579E67-5AF0-6E02-FF17-5FAAD070D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896"/>
              <a:ext cx="856" cy="184"/>
            </a:xfrm>
            <a:prstGeom prst="rect">
              <a:avLst/>
            </a:prstGeom>
            <a:solidFill>
              <a:srgbClr val="C1CE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>
                <a:buFont typeface="Wingdings" pitchFamily="2" charset="2"/>
                <a:buNone/>
                <a:defRPr/>
              </a:pPr>
              <a:r>
                <a:rPr lang="en-US" sz="1200">
                  <a:latin typeface="+mj-lt"/>
                  <a:ea typeface="ＭＳ Ｐゴシック" pitchFamily="80" charset="-128"/>
                </a:rPr>
                <a:t>Now = 8:45</a:t>
              </a:r>
            </a:p>
          </p:txBody>
        </p:sp>
        <p:sp>
          <p:nvSpPr>
            <p:cNvPr id="33800" name="Line 20">
              <a:extLst>
                <a:ext uri="{FF2B5EF4-FFF2-40B4-BE49-F238E27FC236}">
                  <a16:creationId xmlns:a16="http://schemas.microsoft.com/office/drawing/2014/main" id="{5068B4B5-8FD9-2021-1787-FCA17390B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2400"/>
              <a:ext cx="5520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 sz="2000">
                <a:latin typeface="+mj-lt"/>
                <a:ea typeface="ＭＳ Ｐゴシック" pitchFamily="80" charset="-128"/>
              </a:endParaRPr>
            </a:p>
          </p:txBody>
        </p:sp>
        <p:sp>
          <p:nvSpPr>
            <p:cNvPr id="33801" name="Text Box 21">
              <a:extLst>
                <a:ext uri="{FF2B5EF4-FFF2-40B4-BE49-F238E27FC236}">
                  <a16:creationId xmlns:a16="http://schemas.microsoft.com/office/drawing/2014/main" id="{93CDD5D5-54F6-0D58-0CAF-073F59A8C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" y="2448"/>
              <a:ext cx="1335" cy="2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 typeface="Wingdings" pitchFamily="2" charset="2"/>
                <a:buNone/>
                <a:defRPr/>
              </a:pPr>
              <a:r>
                <a:rPr lang="en-US" sz="2000" b="1">
                  <a:solidFill>
                    <a:srgbClr val="3333FF"/>
                  </a:solidFill>
                  <a:latin typeface="+mj-lt"/>
                  <a:ea typeface="ＭＳ Ｐゴシック" pitchFamily="80" charset="-128"/>
                </a:rPr>
                <a:t>Simulation Engine</a:t>
              </a:r>
            </a:p>
          </p:txBody>
        </p:sp>
        <p:sp>
          <p:nvSpPr>
            <p:cNvPr id="33802" name="Rectangle 22">
              <a:extLst>
                <a:ext uri="{FF2B5EF4-FFF2-40B4-BE49-F238E27FC236}">
                  <a16:creationId xmlns:a16="http://schemas.microsoft.com/office/drawing/2014/main" id="{13C5CFF5-91C6-5E7B-7AEF-3C5672195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498"/>
              <a:ext cx="2784" cy="2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spAutoFit/>
            </a:bodyPr>
            <a:lstStyle/>
            <a:p>
              <a:pPr marL="742950" lvl="1" indent="-285750">
                <a:buFont typeface="Wingdings" pitchFamily="2" charset="2"/>
                <a:buNone/>
                <a:defRPr/>
              </a:pPr>
              <a:r>
                <a:rPr lang="en-US" sz="2000" b="1">
                  <a:latin typeface="+mj-lt"/>
                  <a:ea typeface="ＭＳ Ｐゴシック" pitchFamily="80" charset="-128"/>
                </a:rPr>
                <a:t>Event processing loop</a:t>
              </a:r>
            </a:p>
          </p:txBody>
        </p:sp>
        <p:sp>
          <p:nvSpPr>
            <p:cNvPr id="33803" name="Rectangle 23">
              <a:extLst>
                <a:ext uri="{FF2B5EF4-FFF2-40B4-BE49-F238E27FC236}">
                  <a16:creationId xmlns:a16="http://schemas.microsoft.com/office/drawing/2014/main" id="{B038BEDE-A768-C4ED-26DD-FD88EEF16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64"/>
              <a:ext cx="3840" cy="101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7" tIns="44450" rIns="90487" bIns="44450">
              <a:spAutoFit/>
            </a:bodyPr>
            <a:lstStyle/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1800" b="1">
                  <a:latin typeface="+mj-lt"/>
                  <a:ea typeface="ＭＳ Ｐゴシック" pitchFamily="80" charset="-128"/>
                </a:rPr>
                <a:t>While (simulation not finished)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1800">
                  <a:latin typeface="+mj-lt"/>
                  <a:ea typeface="ＭＳ Ｐゴシック" pitchFamily="80" charset="-128"/>
                </a:rPr>
                <a:t>	E = smallest time stamp event in PEL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1800">
                  <a:latin typeface="+mj-lt"/>
                  <a:ea typeface="ＭＳ Ｐゴシック" pitchFamily="80" charset="-128"/>
                </a:rPr>
                <a:t>	Remove E from PEL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1800">
                  <a:latin typeface="+mj-lt"/>
                  <a:ea typeface="ＭＳ Ｐゴシック" pitchFamily="80" charset="-128"/>
                </a:rPr>
                <a:t>	Now := time stamp of E</a:t>
              </a:r>
            </a:p>
            <a:p>
              <a:pPr marL="342900" indent="-342900">
                <a:buFont typeface="Wingdings" pitchFamily="2" charset="2"/>
                <a:buNone/>
                <a:defRPr/>
              </a:pPr>
              <a:r>
                <a:rPr lang="en-US" sz="1800">
                  <a:latin typeface="+mj-lt"/>
                  <a:ea typeface="ＭＳ Ｐゴシック" pitchFamily="80" charset="-128"/>
                </a:rPr>
                <a:t>	call event handler procedure</a:t>
              </a: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78BCB903-BB71-F4ED-6325-BF3D4674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 sz="4000"/>
              <a:t>Example: Air traffic at an Airport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78260B7-DB68-E657-D2F8-147EB8909B8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0" y="1571625"/>
            <a:ext cx="9072563" cy="5072063"/>
          </a:xfrm>
        </p:spPr>
        <p:txBody>
          <a:bodyPr>
            <a:normAutofit lnSpcReduction="10000"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>
                <a:latin typeface="+mj-lt"/>
              </a:rPr>
              <a:t>Model aircraft arrivals and departures, arrival queuing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>
                <a:latin typeface="+mj-lt"/>
              </a:rPr>
              <a:t>Single runway for incoming aircraft, ignore departure queuing</a:t>
            </a:r>
            <a:endParaRPr lang="en-US" sz="2000">
              <a:latin typeface="+mj-lt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L</a:t>
            </a:r>
            <a:r>
              <a:rPr lang="en-US" sz="1800">
                <a:latin typeface="+mj-lt"/>
              </a:rPr>
              <a:t> = mean time runway used for each landing aircraft (exponential distrib.)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G</a:t>
            </a:r>
            <a:r>
              <a:rPr lang="en-US" sz="1800">
                <a:latin typeface="+mj-lt"/>
              </a:rPr>
              <a:t> = mean time on the ground before departing (exponential distribution)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A</a:t>
            </a:r>
            <a:r>
              <a:rPr lang="en-US" sz="1800">
                <a:latin typeface="+mj-lt"/>
              </a:rPr>
              <a:t> = mean inter-arrival time of incoming aircraft (exponential distribution)</a:t>
            </a:r>
            <a:endParaRPr lang="en-US" sz="2400">
              <a:latin typeface="+mj-lt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>
                <a:solidFill>
                  <a:srgbClr val="3333FF"/>
                </a:solidFill>
                <a:latin typeface="+mj-lt"/>
              </a:rPr>
              <a:t>States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Now: </a:t>
            </a:r>
            <a:r>
              <a:rPr lang="en-US" sz="1800">
                <a:latin typeface="+mj-lt"/>
              </a:rPr>
              <a:t>current simulation time</a:t>
            </a:r>
            <a:endParaRPr lang="en-US" sz="1800">
              <a:solidFill>
                <a:srgbClr val="CC0000"/>
              </a:solidFill>
              <a:latin typeface="+mj-lt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InTheAir</a:t>
            </a:r>
            <a:r>
              <a:rPr lang="en-US" sz="1800">
                <a:latin typeface="+mj-lt"/>
              </a:rPr>
              <a:t>: number of aircraft landing or waiting to land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OnTheGround</a:t>
            </a:r>
            <a:r>
              <a:rPr lang="en-US" sz="1800">
                <a:latin typeface="+mj-lt"/>
              </a:rPr>
              <a:t>: number of landed aircraft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RunwayFree</a:t>
            </a:r>
            <a:r>
              <a:rPr lang="en-US" sz="1800">
                <a:latin typeface="+mj-lt"/>
              </a:rPr>
              <a:t>: Boolean, true if runway available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>
                <a:solidFill>
                  <a:srgbClr val="3333FF"/>
                </a:solidFill>
                <a:latin typeface="+mj-lt"/>
              </a:rPr>
              <a:t>Events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Arrival</a:t>
            </a:r>
            <a:r>
              <a:rPr lang="en-US" sz="1800">
                <a:latin typeface="+mj-lt"/>
              </a:rPr>
              <a:t>: denotes aircraft arriving in air space of airport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Landed</a:t>
            </a:r>
            <a:r>
              <a:rPr lang="en-US" sz="1800">
                <a:latin typeface="+mj-lt"/>
              </a:rPr>
              <a:t>: denotes aircraft landing</a:t>
            </a:r>
          </a:p>
          <a:p>
            <a:pPr marL="640080" lvl="1" indent="-274320" eaLnBrk="1" fontAlgn="auto" hangingPunct="1"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>
                <a:solidFill>
                  <a:srgbClr val="CC0000"/>
                </a:solidFill>
                <a:latin typeface="+mj-lt"/>
              </a:rPr>
              <a:t>Departure</a:t>
            </a:r>
            <a:r>
              <a:rPr lang="en-US" sz="1800">
                <a:latin typeface="+mj-lt"/>
              </a:rPr>
              <a:t>: denotes aircraft leaving</a:t>
            </a:r>
          </a:p>
          <a:p>
            <a:pPr marL="320040" indent="-320040" eaLnBrk="1" fontAlgn="auto" hangingPunct="1">
              <a:spcAft>
                <a:spcPts val="0"/>
              </a:spcAft>
              <a:buFont typeface="Wingdings"/>
              <a:buChar char=""/>
              <a:defRPr/>
            </a:pPr>
            <a:endParaRPr lang="en-US" sz="2000">
              <a:latin typeface="+mj-lt"/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6C3A227-0B27-D122-21AB-5C305026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Arrival Events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7BA53A9-B063-FF15-D9E6-1B33B9F44A4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290638" y="4638675"/>
            <a:ext cx="6143625" cy="2147888"/>
          </a:xfrm>
          <a:gradFill rotWithShape="1">
            <a:gsLst>
              <a:gs pos="0">
                <a:srgbClr val="BEF397"/>
              </a:gs>
              <a:gs pos="50000">
                <a:srgbClr val="D5F6C0"/>
              </a:gs>
              <a:gs pos="100000">
                <a:srgbClr val="EAFAE0"/>
              </a:gs>
            </a:gsLst>
            <a:lin ang="5400000" scaled="1"/>
          </a:gradFill>
          <a:ln w="38100">
            <a:solidFill>
              <a:srgbClr val="92D050"/>
            </a:solidFill>
          </a:ln>
        </p:spPr>
        <p:txBody>
          <a:bodyPr>
            <a:normAutofit fontScale="92500" lnSpcReduction="10000"/>
          </a:bodyPr>
          <a:lstStyle/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800" b="1">
                <a:solidFill>
                  <a:srgbClr val="FF0000"/>
                </a:solidFill>
                <a:latin typeface="+mj-lt"/>
              </a:rPr>
              <a:t>Arrival Event: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InTheAir := InTheAir+1;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Schedule Arrival event @ Now + RandExp(A);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If (RunwayFree) {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	RunwayFree:=FALSE;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	Schedule Landed event @ Now + RandExp(L);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}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79EBD46C-7999-225E-46CD-56987FCC6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2500313"/>
            <a:ext cx="5810250" cy="1793875"/>
          </a:xfrm>
          <a:prstGeom prst="rect">
            <a:avLst/>
          </a:prstGeom>
          <a:solidFill>
            <a:srgbClr val="CCE9AD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marL="342900" indent="-342900">
              <a:lnSpc>
                <a:spcPts val="2700"/>
              </a:lnSpc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A</a:t>
            </a:r>
            <a:r>
              <a:rPr lang="en-US" sz="1800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: </a:t>
            </a:r>
            <a:r>
              <a:rPr lang="en-US" sz="1800">
                <a:latin typeface="+mj-lt"/>
                <a:ea typeface="ＭＳ Ｐゴシック" pitchFamily="80" charset="-128"/>
              </a:rPr>
              <a:t>mean interarrival time of incoming aircraft</a:t>
            </a:r>
            <a:endParaRPr lang="en-US" sz="1800">
              <a:solidFill>
                <a:srgbClr val="CC0000"/>
              </a:solidFill>
              <a:latin typeface="+mj-lt"/>
              <a:ea typeface="ＭＳ Ｐゴシック" pitchFamily="80" charset="-128"/>
            </a:endParaRPr>
          </a:p>
          <a:p>
            <a:pPr marL="342900" indent="-342900">
              <a:lnSpc>
                <a:spcPts val="2700"/>
              </a:lnSpc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Now</a:t>
            </a:r>
            <a:r>
              <a:rPr lang="en-US" sz="1800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: </a:t>
            </a:r>
            <a:r>
              <a:rPr lang="en-US" sz="1800">
                <a:latin typeface="+mj-lt"/>
                <a:ea typeface="ＭＳ Ｐゴシック" pitchFamily="80" charset="-128"/>
              </a:rPr>
              <a:t>current simulation time</a:t>
            </a:r>
            <a:endParaRPr lang="en-US" sz="1800">
              <a:solidFill>
                <a:srgbClr val="CC0000"/>
              </a:solidFill>
              <a:latin typeface="+mj-lt"/>
              <a:ea typeface="ＭＳ Ｐゴシック" pitchFamily="80" charset="-128"/>
            </a:endParaRPr>
          </a:p>
          <a:p>
            <a:pPr marL="342900" indent="-342900">
              <a:lnSpc>
                <a:spcPts val="2700"/>
              </a:lnSpc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InTheAir</a:t>
            </a:r>
            <a:r>
              <a:rPr lang="en-US" sz="1800" b="1">
                <a:latin typeface="+mj-lt"/>
                <a:ea typeface="ＭＳ Ｐゴシック" pitchFamily="80" charset="-128"/>
              </a:rPr>
              <a:t>:</a:t>
            </a:r>
            <a:r>
              <a:rPr lang="en-US" sz="1800">
                <a:latin typeface="+mj-lt"/>
                <a:ea typeface="ＭＳ Ｐゴシック" pitchFamily="80" charset="-128"/>
              </a:rPr>
              <a:t> number of aircraft landing or waiting to land</a:t>
            </a:r>
          </a:p>
          <a:p>
            <a:pPr marL="342900" indent="-342900">
              <a:lnSpc>
                <a:spcPts val="2700"/>
              </a:lnSpc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OnTheGround</a:t>
            </a:r>
            <a:r>
              <a:rPr lang="en-US" sz="1800" b="1">
                <a:latin typeface="+mj-lt"/>
                <a:ea typeface="ＭＳ Ｐゴシック" pitchFamily="80" charset="-128"/>
              </a:rPr>
              <a:t>:</a:t>
            </a:r>
            <a:r>
              <a:rPr lang="en-US" sz="1800">
                <a:latin typeface="+mj-lt"/>
                <a:ea typeface="ＭＳ Ｐゴシック" pitchFamily="80" charset="-128"/>
              </a:rPr>
              <a:t> number of landed aircraft</a:t>
            </a:r>
          </a:p>
          <a:p>
            <a:pPr marL="342900" indent="-342900">
              <a:lnSpc>
                <a:spcPts val="2700"/>
              </a:lnSpc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RunwayFree</a:t>
            </a:r>
            <a:r>
              <a:rPr lang="en-US" sz="1800" b="1">
                <a:latin typeface="+mj-lt"/>
                <a:ea typeface="ＭＳ Ｐゴシック" pitchFamily="80" charset="-128"/>
              </a:rPr>
              <a:t>:</a:t>
            </a:r>
            <a:r>
              <a:rPr lang="en-US" sz="1800">
                <a:latin typeface="+mj-lt"/>
                <a:ea typeface="ＭＳ Ｐゴシック" pitchFamily="80" charset="-128"/>
              </a:rPr>
              <a:t> Boolean, true if runway available</a:t>
            </a:r>
          </a:p>
        </p:txBody>
      </p:sp>
      <p:sp>
        <p:nvSpPr>
          <p:cNvPr id="35845" name="Text Box 5">
            <a:extLst>
              <a:ext uri="{FF2B5EF4-FFF2-40B4-BE49-F238E27FC236}">
                <a16:creationId xmlns:a16="http://schemas.microsoft.com/office/drawing/2014/main" id="{FC1FE08C-62C7-7A4C-6D46-DBC172A4C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60513"/>
            <a:ext cx="5572125" cy="923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120000"/>
              <a:buFont typeface="Wingdings" pitchFamily="2" charset="2"/>
              <a:buChar char="§"/>
              <a:defRPr/>
            </a:pPr>
            <a:r>
              <a:rPr lang="en-US" sz="1800" b="1">
                <a:solidFill>
                  <a:srgbClr val="FF0000"/>
                </a:solidFill>
                <a:latin typeface="+mj-lt"/>
                <a:ea typeface="ＭＳ Ｐゴシック" pitchFamily="80" charset="-128"/>
              </a:rPr>
              <a:t> Arrival Process:</a:t>
            </a:r>
            <a:r>
              <a:rPr lang="en-US" sz="1800">
                <a:latin typeface="+mj-lt"/>
                <a:ea typeface="ＭＳ Ｐゴシック" pitchFamily="80" charset="-128"/>
              </a:rPr>
              <a:t> New aircraft arrives at airport.  </a:t>
            </a:r>
          </a:p>
          <a:p>
            <a:pPr lvl="1">
              <a:buClr>
                <a:srgbClr val="FF0000"/>
              </a:buClr>
              <a:buSzPct val="120000"/>
              <a:buFont typeface="Wingdings" pitchFamily="2" charset="2"/>
              <a:buChar char="§"/>
              <a:defRPr/>
            </a:pPr>
            <a:r>
              <a:rPr lang="en-US" sz="1800">
                <a:latin typeface="+mj-lt"/>
                <a:ea typeface="ＭＳ Ｐゴシック" pitchFamily="80" charset="-128"/>
              </a:rPr>
              <a:t> If the runway is free, it will begin to land.  </a:t>
            </a:r>
          </a:p>
          <a:p>
            <a:pPr lvl="1">
              <a:buClr>
                <a:srgbClr val="FF0000"/>
              </a:buClr>
              <a:buSzPct val="120000"/>
              <a:buFont typeface="Wingdings" pitchFamily="2" charset="2"/>
              <a:buChar char="§"/>
              <a:defRPr/>
            </a:pPr>
            <a:r>
              <a:rPr lang="en-US" sz="1800">
                <a:latin typeface="+mj-lt"/>
                <a:ea typeface="ＭＳ Ｐゴシック" pitchFamily="80" charset="-128"/>
              </a:rPr>
              <a:t> Otherwise, the aircraft must circle, and wait to land.</a:t>
            </a: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2DB179D5-8FD8-8778-430D-D32F0DA40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Landed Event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72556FA-AC64-02BC-2BC1-0930F2720A81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428750" y="4171950"/>
            <a:ext cx="6400800" cy="2614613"/>
          </a:xfrm>
          <a:gradFill rotWithShape="1">
            <a:gsLst>
              <a:gs pos="0">
                <a:srgbClr val="BEF397"/>
              </a:gs>
              <a:gs pos="50000">
                <a:srgbClr val="D5F6C0"/>
              </a:gs>
              <a:gs pos="100000">
                <a:srgbClr val="EAFAE0"/>
              </a:gs>
            </a:gsLst>
            <a:lin ang="16200000" scaled="1"/>
          </a:gradFill>
          <a:ln w="28575">
            <a:solidFill>
              <a:srgbClr val="92D050"/>
            </a:solidFill>
          </a:ln>
        </p:spPr>
        <p:txBody>
          <a:bodyPr>
            <a:normAutofit fontScale="92500" lnSpcReduction="10000"/>
          </a:bodyPr>
          <a:lstStyle/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>
                <a:solidFill>
                  <a:srgbClr val="FF0000"/>
                </a:solidFill>
                <a:latin typeface="+mj-lt"/>
              </a:rPr>
              <a:t>Landed Event: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InTheAir:=InTheAir-1;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OnTheGround:=OnTheGround+1;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Schedule Departure event @ Now + RandExp(G);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If (InTheAir&gt;0)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	Schedule Landed event @ Now + RandExp(L);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Else</a:t>
            </a:r>
          </a:p>
          <a:p>
            <a:pPr marL="320040" indent="-32004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>
                <a:latin typeface="+mj-lt"/>
              </a:rPr>
              <a:t>	RunwayFree := TRUE;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6E2146B5-473A-0A0B-A53C-FE01E777E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1785938"/>
            <a:ext cx="6000750" cy="2286000"/>
          </a:xfrm>
          <a:prstGeom prst="rect">
            <a:avLst/>
          </a:prstGeom>
          <a:solidFill>
            <a:srgbClr val="CCE9AD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/>
          <a:lstStyle/>
          <a:p>
            <a:pPr marL="342900" indent="-342900">
              <a:lnSpc>
                <a:spcPts val="2600"/>
              </a:lnSpc>
              <a:buClr>
                <a:srgbClr val="FF0000"/>
              </a:buClr>
              <a:buSzPct val="127000"/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L</a:t>
            </a:r>
            <a:r>
              <a:rPr lang="en-US" sz="1800">
                <a:latin typeface="+mj-lt"/>
                <a:ea typeface="ＭＳ Ｐゴシック" pitchFamily="80" charset="-128"/>
              </a:rPr>
              <a:t> = mean time runway is used for each landing aircraft</a:t>
            </a:r>
          </a:p>
          <a:p>
            <a:pPr marL="342900" indent="-342900">
              <a:lnSpc>
                <a:spcPts val="2600"/>
              </a:lnSpc>
              <a:buClr>
                <a:srgbClr val="FF0000"/>
              </a:buClr>
              <a:buSzPct val="127000"/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G</a:t>
            </a:r>
            <a:r>
              <a:rPr lang="en-US" sz="1800">
                <a:latin typeface="+mj-lt"/>
                <a:ea typeface="ＭＳ Ｐゴシック" pitchFamily="80" charset="-128"/>
              </a:rPr>
              <a:t> = mean time required on the ground before departing</a:t>
            </a:r>
          </a:p>
          <a:p>
            <a:pPr marL="342900" indent="-342900">
              <a:lnSpc>
                <a:spcPts val="2600"/>
              </a:lnSpc>
              <a:buClr>
                <a:srgbClr val="FF0000"/>
              </a:buClr>
              <a:buSzPct val="127000"/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Now:</a:t>
            </a:r>
            <a:r>
              <a:rPr lang="en-US" sz="1800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 </a:t>
            </a:r>
            <a:r>
              <a:rPr lang="en-US" sz="1800">
                <a:latin typeface="+mj-lt"/>
                <a:ea typeface="ＭＳ Ｐゴシック" pitchFamily="80" charset="-128"/>
              </a:rPr>
              <a:t>current simulation time</a:t>
            </a:r>
            <a:endParaRPr lang="en-US" sz="1800">
              <a:solidFill>
                <a:srgbClr val="CC0000"/>
              </a:solidFill>
              <a:latin typeface="+mj-lt"/>
              <a:ea typeface="ＭＳ Ｐゴシック" pitchFamily="80" charset="-128"/>
            </a:endParaRPr>
          </a:p>
          <a:p>
            <a:pPr marL="342900" indent="-342900">
              <a:lnSpc>
                <a:spcPts val="2600"/>
              </a:lnSpc>
              <a:buClr>
                <a:srgbClr val="FF0000"/>
              </a:buClr>
              <a:buSzPct val="127000"/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InTheAir</a:t>
            </a:r>
            <a:r>
              <a:rPr lang="en-US" sz="1800">
                <a:latin typeface="+mj-lt"/>
                <a:ea typeface="ＭＳ Ｐゴシック" pitchFamily="80" charset="-128"/>
              </a:rPr>
              <a:t>: number of aircraft landing or waiting to land</a:t>
            </a:r>
          </a:p>
          <a:p>
            <a:pPr marL="342900" indent="-342900">
              <a:lnSpc>
                <a:spcPts val="2600"/>
              </a:lnSpc>
              <a:buClr>
                <a:srgbClr val="FF0000"/>
              </a:buClr>
              <a:buSzPct val="127000"/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OnTheGround</a:t>
            </a:r>
            <a:r>
              <a:rPr lang="en-US" sz="1800">
                <a:latin typeface="+mj-lt"/>
                <a:ea typeface="ＭＳ Ｐゴシック" pitchFamily="80" charset="-128"/>
              </a:rPr>
              <a:t>: number of landed aircraft</a:t>
            </a:r>
          </a:p>
          <a:p>
            <a:pPr marL="342900" indent="-342900">
              <a:lnSpc>
                <a:spcPts val="2600"/>
              </a:lnSpc>
              <a:buClr>
                <a:srgbClr val="FF0000"/>
              </a:buClr>
              <a:buSzPct val="127000"/>
              <a:buFont typeface="Wingdings" pitchFamily="2" charset="2"/>
              <a:buNone/>
              <a:defRPr/>
            </a:pPr>
            <a:r>
              <a:rPr lang="en-US" sz="1800" b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RunwayFree</a:t>
            </a:r>
            <a:r>
              <a:rPr lang="en-US" sz="1800">
                <a:latin typeface="+mj-lt"/>
                <a:ea typeface="ＭＳ Ｐゴシック" pitchFamily="80" charset="-128"/>
              </a:rPr>
              <a:t>: Boolean, true if runway available</a:t>
            </a:r>
          </a:p>
        </p:txBody>
      </p:sp>
      <p:sp>
        <p:nvSpPr>
          <p:cNvPr id="36869" name="Text Box 5">
            <a:extLst>
              <a:ext uri="{FF2B5EF4-FFF2-40B4-BE49-F238E27FC236}">
                <a16:creationId xmlns:a16="http://schemas.microsoft.com/office/drawing/2014/main" id="{4C7D8D89-88BF-CB57-13EA-371EA24AB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375" y="1471613"/>
            <a:ext cx="5719763" cy="40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000">
                <a:latin typeface="+mj-lt"/>
                <a:ea typeface="ＭＳ Ｐゴシック" pitchFamily="80" charset="-128"/>
              </a:rPr>
              <a:t>Landing Process: An aircraft has completed its landing.</a:t>
            </a: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BBC987D4-1270-AA94-889E-39C35FE14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Departure Event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0B15FF2-94CC-6166-5293-0FB7384DBD2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1881188" y="4667250"/>
            <a:ext cx="5048250" cy="904875"/>
          </a:xfrm>
          <a:gradFill rotWithShape="1">
            <a:gsLst>
              <a:gs pos="0">
                <a:srgbClr val="BEF397"/>
              </a:gs>
              <a:gs pos="50000">
                <a:srgbClr val="D5F6C0"/>
              </a:gs>
              <a:gs pos="100000">
                <a:srgbClr val="EAFAE0"/>
              </a:gs>
            </a:gsLst>
            <a:lin ang="10800000" scaled="1"/>
          </a:gradFill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sz="1800" b="1">
                <a:solidFill>
                  <a:srgbClr val="FF0000"/>
                </a:solidFill>
                <a:latin typeface="+mj-lt"/>
              </a:rPr>
              <a:t>Departure Event:</a:t>
            </a:r>
          </a:p>
          <a:p>
            <a:pPr eaLnBrk="1" hangingPunct="1">
              <a:buFontTx/>
              <a:buNone/>
              <a:defRPr/>
            </a:pPr>
            <a:r>
              <a:rPr lang="en-US" sz="1800">
                <a:latin typeface="+mj-lt"/>
              </a:rPr>
              <a:t>OnTheGround := OnTheGround - 1;</a:t>
            </a:r>
          </a:p>
        </p:txBody>
      </p:sp>
      <p:sp>
        <p:nvSpPr>
          <p:cNvPr id="37892" name="Text Box 5">
            <a:extLst>
              <a:ext uri="{FF2B5EF4-FFF2-40B4-BE49-F238E27FC236}">
                <a16:creationId xmlns:a16="http://schemas.microsoft.com/office/drawing/2014/main" id="{944FDB3C-8D54-F2D6-B77E-08D69D5AA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1500188"/>
            <a:ext cx="6929437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000">
                <a:latin typeface="+mj-lt"/>
                <a:ea typeface="ＭＳ Ｐゴシック" pitchFamily="80" charset="-128"/>
              </a:rPr>
              <a:t>Departure Process: An aircraft now on the ground departs for a new destination.</a:t>
            </a: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FB462B62-B724-3D16-6A36-925612B4C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2500313"/>
            <a:ext cx="5810250" cy="1447800"/>
          </a:xfrm>
          <a:prstGeom prst="rect">
            <a:avLst/>
          </a:prstGeom>
          <a:solidFill>
            <a:srgbClr val="CCE9AD"/>
          </a:solidFill>
          <a:ln w="12700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marL="342900" indent="-342900">
              <a:lnSpc>
                <a:spcPts val="2700"/>
              </a:lnSpc>
              <a:buFont typeface="Wingdings" pitchFamily="2" charset="2"/>
              <a:buNone/>
              <a:defRPr/>
            </a:pPr>
            <a:r>
              <a:rPr lang="en-US" sz="1800" b="1" dirty="0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Now</a:t>
            </a:r>
            <a:r>
              <a:rPr lang="en-US" sz="1800" dirty="0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: </a:t>
            </a:r>
            <a:r>
              <a:rPr lang="en-US" sz="1800" dirty="0">
                <a:latin typeface="+mj-lt"/>
                <a:ea typeface="ＭＳ Ｐゴシック" pitchFamily="80" charset="-128"/>
              </a:rPr>
              <a:t>current simulation time</a:t>
            </a:r>
            <a:endParaRPr lang="en-US" sz="1800" dirty="0">
              <a:solidFill>
                <a:srgbClr val="CC0000"/>
              </a:solidFill>
              <a:latin typeface="+mj-lt"/>
              <a:ea typeface="ＭＳ Ｐゴシック" pitchFamily="80" charset="-128"/>
            </a:endParaRPr>
          </a:p>
          <a:p>
            <a:pPr marL="342900" indent="-342900">
              <a:lnSpc>
                <a:spcPts val="2700"/>
              </a:lnSpc>
              <a:buFont typeface="Wingdings" pitchFamily="2" charset="2"/>
              <a:buNone/>
              <a:defRPr/>
            </a:pPr>
            <a:r>
              <a:rPr lang="en-US" sz="1800" b="1" dirty="0" err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InTheAir</a:t>
            </a:r>
            <a:r>
              <a:rPr lang="en-US" sz="1800" b="1" dirty="0">
                <a:latin typeface="+mj-lt"/>
                <a:ea typeface="ＭＳ Ｐゴシック" pitchFamily="80" charset="-128"/>
              </a:rPr>
              <a:t>:</a:t>
            </a:r>
            <a:r>
              <a:rPr lang="en-US" sz="1800" dirty="0">
                <a:latin typeface="+mj-lt"/>
                <a:ea typeface="ＭＳ Ｐゴシック" pitchFamily="80" charset="-128"/>
              </a:rPr>
              <a:t> number of aircraft landing or waiting to land</a:t>
            </a:r>
          </a:p>
          <a:p>
            <a:pPr marL="342900" indent="-342900">
              <a:lnSpc>
                <a:spcPts val="2700"/>
              </a:lnSpc>
              <a:buFont typeface="Wingdings" pitchFamily="2" charset="2"/>
              <a:buNone/>
              <a:defRPr/>
            </a:pPr>
            <a:r>
              <a:rPr lang="en-US" sz="1800" b="1" dirty="0" err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OnTheGround</a:t>
            </a:r>
            <a:r>
              <a:rPr lang="en-US" sz="1800" b="1" dirty="0">
                <a:latin typeface="+mj-lt"/>
                <a:ea typeface="ＭＳ Ｐゴシック" pitchFamily="80" charset="-128"/>
              </a:rPr>
              <a:t>:</a:t>
            </a:r>
            <a:r>
              <a:rPr lang="en-US" sz="1800" dirty="0">
                <a:latin typeface="+mj-lt"/>
                <a:ea typeface="ＭＳ Ｐゴシック" pitchFamily="80" charset="-128"/>
              </a:rPr>
              <a:t> number of landed aircraft</a:t>
            </a:r>
          </a:p>
          <a:p>
            <a:pPr marL="342900" indent="-342900">
              <a:lnSpc>
                <a:spcPts val="2700"/>
              </a:lnSpc>
              <a:buFont typeface="Wingdings" pitchFamily="2" charset="2"/>
              <a:buNone/>
              <a:defRPr/>
            </a:pPr>
            <a:r>
              <a:rPr lang="en-US" sz="1800" b="1" dirty="0" err="1">
                <a:solidFill>
                  <a:srgbClr val="CC0000"/>
                </a:solidFill>
                <a:latin typeface="+mj-lt"/>
                <a:ea typeface="ＭＳ Ｐゴシック" pitchFamily="80" charset="-128"/>
              </a:rPr>
              <a:t>RunwayFree</a:t>
            </a:r>
            <a:r>
              <a:rPr lang="en-US" sz="1800" b="1" dirty="0">
                <a:latin typeface="+mj-lt"/>
                <a:ea typeface="ＭＳ Ｐゴシック" pitchFamily="80" charset="-128"/>
              </a:rPr>
              <a:t>:</a:t>
            </a:r>
            <a:r>
              <a:rPr lang="en-US" sz="1800" dirty="0">
                <a:latin typeface="+mj-lt"/>
                <a:ea typeface="ＭＳ Ｐゴシック" pitchFamily="80" charset="-128"/>
              </a:rPr>
              <a:t> Boolean, true if runway available</a:t>
            </a: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168CA88-766E-DF5E-1980-DE60943CB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152400"/>
            <a:ext cx="7793037" cy="633413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Execution Example</a:t>
            </a:r>
          </a:p>
        </p:txBody>
      </p:sp>
      <p:grpSp>
        <p:nvGrpSpPr>
          <p:cNvPr id="57347" name="Group 3">
            <a:extLst>
              <a:ext uri="{FF2B5EF4-FFF2-40B4-BE49-F238E27FC236}">
                <a16:creationId xmlns:a16="http://schemas.microsoft.com/office/drawing/2014/main" id="{88FB1B10-5B15-26F5-F66E-64873400536A}"/>
              </a:ext>
            </a:extLst>
          </p:cNvPr>
          <p:cNvGrpSpPr>
            <a:grpSpLocks/>
          </p:cNvGrpSpPr>
          <p:nvPr/>
        </p:nvGrpSpPr>
        <p:grpSpPr bwMode="auto">
          <a:xfrm>
            <a:off x="0" y="914400"/>
            <a:ext cx="8839200" cy="5748338"/>
            <a:chOff x="0" y="576"/>
            <a:chExt cx="5568" cy="3621"/>
          </a:xfrm>
        </p:grpSpPr>
        <p:grpSp>
          <p:nvGrpSpPr>
            <p:cNvPr id="57472" name="Group 4">
              <a:extLst>
                <a:ext uri="{FF2B5EF4-FFF2-40B4-BE49-F238E27FC236}">
                  <a16:creationId xmlns:a16="http://schemas.microsoft.com/office/drawing/2014/main" id="{92EFF92F-4143-F30F-8C04-EB918B43BE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45"/>
              <a:ext cx="5568" cy="1918"/>
              <a:chOff x="0" y="801"/>
              <a:chExt cx="5568" cy="1918"/>
            </a:xfrm>
          </p:grpSpPr>
          <p:sp>
            <p:nvSpPr>
              <p:cNvPr id="57485" name="Text Box 5">
                <a:extLst>
                  <a:ext uri="{FF2B5EF4-FFF2-40B4-BE49-F238E27FC236}">
                    <a16:creationId xmlns:a16="http://schemas.microsoft.com/office/drawing/2014/main" id="{8DC624FE-96E9-DFA1-BEDF-9196058E58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1680"/>
                <a:ext cx="110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800" b="1">
                    <a:latin typeface="Courier" pitchFamily="80" charset="0"/>
                  </a:rPr>
                  <a:t>OnTheGround</a:t>
                </a:r>
              </a:p>
            </p:txBody>
          </p:sp>
          <p:sp>
            <p:nvSpPr>
              <p:cNvPr id="57486" name="Line 6">
                <a:extLst>
                  <a:ext uri="{FF2B5EF4-FFF2-40B4-BE49-F238E27FC236}">
                    <a16:creationId xmlns:a16="http://schemas.microsoft.com/office/drawing/2014/main" id="{E8CF24DA-CF92-4463-C26B-060DF45E4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960"/>
                <a:ext cx="0" cy="1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87" name="Line 7">
                <a:extLst>
                  <a:ext uri="{FF2B5EF4-FFF2-40B4-BE49-F238E27FC236}">
                    <a16:creationId xmlns:a16="http://schemas.microsoft.com/office/drawing/2014/main" id="{D958AEBB-E0F0-8419-AF7E-25D8306EA8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44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88" name="Text Box 8">
                <a:extLst>
                  <a:ext uri="{FF2B5EF4-FFF2-40B4-BE49-F238E27FC236}">
                    <a16:creationId xmlns:a16="http://schemas.microsoft.com/office/drawing/2014/main" id="{2A0A0AE6-2417-92F5-7529-EF32168C27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2486"/>
                <a:ext cx="123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800" b="1">
                    <a:latin typeface="Helvetica" panose="020B0604020202020204" pitchFamily="34" charset="0"/>
                  </a:rPr>
                  <a:t>Simulation Time</a:t>
                </a:r>
              </a:p>
            </p:txBody>
          </p:sp>
          <p:sp>
            <p:nvSpPr>
              <p:cNvPr id="57489" name="Text Box 9">
                <a:extLst>
                  <a:ext uri="{FF2B5EF4-FFF2-40B4-BE49-F238E27FC236}">
                    <a16:creationId xmlns:a16="http://schemas.microsoft.com/office/drawing/2014/main" id="{DC7505C6-8D66-860F-BDDD-2F8190011B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801"/>
                <a:ext cx="135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Font typeface="Wingdings" panose="05000000000000000000" pitchFamily="2" charset="2"/>
                  <a:buNone/>
                </a:pPr>
                <a:r>
                  <a:rPr lang="en-US" altLang="id-ID" sz="1800" b="1">
                    <a:solidFill>
                      <a:srgbClr val="FF0000"/>
                    </a:solidFill>
                    <a:latin typeface="Helvetica" panose="020B0604020202020204" pitchFamily="34" charset="0"/>
                  </a:rPr>
                  <a:t>State Variables</a:t>
                </a:r>
              </a:p>
            </p:txBody>
          </p:sp>
          <p:sp>
            <p:nvSpPr>
              <p:cNvPr id="57490" name="Text Box 10">
                <a:extLst>
                  <a:ext uri="{FF2B5EF4-FFF2-40B4-BE49-F238E27FC236}">
                    <a16:creationId xmlns:a16="http://schemas.microsoft.com/office/drawing/2014/main" id="{13B14C66-34B5-F27A-1C2B-9D084B2C20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006"/>
                <a:ext cx="981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800" b="1">
                    <a:latin typeface="Courier" pitchFamily="80" charset="0"/>
                  </a:rPr>
                  <a:t>RunwayFree</a:t>
                </a:r>
              </a:p>
            </p:txBody>
          </p:sp>
          <p:sp>
            <p:nvSpPr>
              <p:cNvPr id="57491" name="Text Box 11">
                <a:extLst>
                  <a:ext uri="{FF2B5EF4-FFF2-40B4-BE49-F238E27FC236}">
                    <a16:creationId xmlns:a16="http://schemas.microsoft.com/office/drawing/2014/main" id="{9E50CD5C-A7E9-F2CF-41D8-78156D42E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" y="1392"/>
                <a:ext cx="70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800" b="1">
                    <a:latin typeface="Courier" pitchFamily="80" charset="0"/>
                  </a:rPr>
                  <a:t>InTheAir</a:t>
                </a:r>
              </a:p>
            </p:txBody>
          </p:sp>
          <p:sp>
            <p:nvSpPr>
              <p:cNvPr id="57492" name="Line 12">
                <a:extLst>
                  <a:ext uri="{FF2B5EF4-FFF2-40B4-BE49-F238E27FC236}">
                    <a16:creationId xmlns:a16="http://schemas.microsoft.com/office/drawing/2014/main" id="{9A57C911-69EE-A479-DC41-F1366955BC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968"/>
                <a:ext cx="43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93" name="Line 13">
                <a:extLst>
                  <a:ext uri="{FF2B5EF4-FFF2-40B4-BE49-F238E27FC236}">
                    <a16:creationId xmlns:a16="http://schemas.microsoft.com/office/drawing/2014/main" id="{BD546872-4F03-A415-BA91-125ED355B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80"/>
                <a:ext cx="43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94" name="Line 14">
                <a:extLst>
                  <a:ext uri="{FF2B5EF4-FFF2-40B4-BE49-F238E27FC236}">
                    <a16:creationId xmlns:a16="http://schemas.microsoft.com/office/drawing/2014/main" id="{A46BE668-8B53-BA43-052A-22A7E5C43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392"/>
                <a:ext cx="436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95" name="Line 15">
                <a:extLst>
                  <a:ext uri="{FF2B5EF4-FFF2-40B4-BE49-F238E27FC236}">
                    <a16:creationId xmlns:a16="http://schemas.microsoft.com/office/drawing/2014/main" id="{133976C7-E3BF-4072-13CB-AD286A061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96" name="Line 16">
                <a:extLst>
                  <a:ext uri="{FF2B5EF4-FFF2-40B4-BE49-F238E27FC236}">
                    <a16:creationId xmlns:a16="http://schemas.microsoft.com/office/drawing/2014/main" id="{D4988DCA-7216-F858-6AFE-B6400EE170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97" name="Line 17">
                <a:extLst>
                  <a:ext uri="{FF2B5EF4-FFF2-40B4-BE49-F238E27FC236}">
                    <a16:creationId xmlns:a16="http://schemas.microsoft.com/office/drawing/2014/main" id="{EFF4D59A-7106-474C-3292-B06111FD12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4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98" name="Line 18">
                <a:extLst>
                  <a:ext uri="{FF2B5EF4-FFF2-40B4-BE49-F238E27FC236}">
                    <a16:creationId xmlns:a16="http://schemas.microsoft.com/office/drawing/2014/main" id="{5B58B6C3-F9C7-8C89-2B31-E8774F38A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88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99" name="Line 19">
                <a:extLst>
                  <a:ext uri="{FF2B5EF4-FFF2-40B4-BE49-F238E27FC236}">
                    <a16:creationId xmlns:a16="http://schemas.microsoft.com/office/drawing/2014/main" id="{504EED46-77CF-1077-B8B9-2A8E595D2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2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500" name="Line 20">
                <a:extLst>
                  <a:ext uri="{FF2B5EF4-FFF2-40B4-BE49-F238E27FC236}">
                    <a16:creationId xmlns:a16="http://schemas.microsoft.com/office/drawing/2014/main" id="{E229BD6F-CB89-AC94-1CCE-01BE17B967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56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501" name="Line 21">
                <a:extLst>
                  <a:ext uri="{FF2B5EF4-FFF2-40B4-BE49-F238E27FC236}">
                    <a16:creationId xmlns:a16="http://schemas.microsoft.com/office/drawing/2014/main" id="{D1FD53DD-911D-4227-82CA-6742A0D4E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502" name="Line 22">
                <a:extLst>
                  <a:ext uri="{FF2B5EF4-FFF2-40B4-BE49-F238E27FC236}">
                    <a16:creationId xmlns:a16="http://schemas.microsoft.com/office/drawing/2014/main" id="{A2D4B9D2-DAB9-C7B9-FA1D-4E0D5968C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503" name="Line 23">
                <a:extLst>
                  <a:ext uri="{FF2B5EF4-FFF2-40B4-BE49-F238E27FC236}">
                    <a16:creationId xmlns:a16="http://schemas.microsoft.com/office/drawing/2014/main" id="{B5D5A530-6E2A-E38E-4C7C-66691E8083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504" name="Line 24">
                <a:extLst>
                  <a:ext uri="{FF2B5EF4-FFF2-40B4-BE49-F238E27FC236}">
                    <a16:creationId xmlns:a16="http://schemas.microsoft.com/office/drawing/2014/main" id="{C5280B6D-5595-4BC9-B211-DEB540F6E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92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505" name="Line 25">
                <a:extLst>
                  <a:ext uri="{FF2B5EF4-FFF2-40B4-BE49-F238E27FC236}">
                    <a16:creationId xmlns:a16="http://schemas.microsoft.com/office/drawing/2014/main" id="{446FD7AD-A298-D9B9-781C-52AC842B58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76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506" name="Text Box 26">
                <a:extLst>
                  <a:ext uri="{FF2B5EF4-FFF2-40B4-BE49-F238E27FC236}">
                    <a16:creationId xmlns:a16="http://schemas.microsoft.com/office/drawing/2014/main" id="{DC4EE829-E43E-8ED9-B80D-CF7849AEBF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0</a:t>
                </a:r>
              </a:p>
            </p:txBody>
          </p:sp>
          <p:sp>
            <p:nvSpPr>
              <p:cNvPr id="57507" name="Text Box 27">
                <a:extLst>
                  <a:ext uri="{FF2B5EF4-FFF2-40B4-BE49-F238E27FC236}">
                    <a16:creationId xmlns:a16="http://schemas.microsoft.com/office/drawing/2014/main" id="{20FF12CE-EB18-E9B8-E736-26BD72FBE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6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57508" name="Text Box 28">
                <a:extLst>
                  <a:ext uri="{FF2B5EF4-FFF2-40B4-BE49-F238E27FC236}">
                    <a16:creationId xmlns:a16="http://schemas.microsoft.com/office/drawing/2014/main" id="{E15459AC-AC00-3A29-B7D6-BAFBFD25DC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6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2</a:t>
                </a:r>
              </a:p>
            </p:txBody>
          </p:sp>
          <p:sp>
            <p:nvSpPr>
              <p:cNvPr id="57509" name="Text Box 29">
                <a:extLst>
                  <a:ext uri="{FF2B5EF4-FFF2-40B4-BE49-F238E27FC236}">
                    <a16:creationId xmlns:a16="http://schemas.microsoft.com/office/drawing/2014/main" id="{AF4E1ADE-6434-21E2-A5CD-EEB72810CC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4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3</a:t>
                </a:r>
              </a:p>
            </p:txBody>
          </p:sp>
          <p:sp>
            <p:nvSpPr>
              <p:cNvPr id="57510" name="Text Box 30">
                <a:extLst>
                  <a:ext uri="{FF2B5EF4-FFF2-40B4-BE49-F238E27FC236}">
                    <a16:creationId xmlns:a16="http://schemas.microsoft.com/office/drawing/2014/main" id="{505D4B63-0B43-2A76-FF89-B0555E112C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88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4</a:t>
                </a:r>
              </a:p>
            </p:txBody>
          </p:sp>
          <p:sp>
            <p:nvSpPr>
              <p:cNvPr id="57511" name="Text Box 31">
                <a:extLst>
                  <a:ext uri="{FF2B5EF4-FFF2-40B4-BE49-F238E27FC236}">
                    <a16:creationId xmlns:a16="http://schemas.microsoft.com/office/drawing/2014/main" id="{A3AF46DB-6F8F-3E78-1F3B-1B69A62BE1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2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5</a:t>
                </a:r>
              </a:p>
            </p:txBody>
          </p:sp>
          <p:sp>
            <p:nvSpPr>
              <p:cNvPr id="57512" name="Text Box 32">
                <a:extLst>
                  <a:ext uri="{FF2B5EF4-FFF2-40B4-BE49-F238E27FC236}">
                    <a16:creationId xmlns:a16="http://schemas.microsoft.com/office/drawing/2014/main" id="{CE014172-0657-A825-F6CE-4A8A5EDADB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6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6</a:t>
                </a:r>
              </a:p>
            </p:txBody>
          </p:sp>
          <p:sp>
            <p:nvSpPr>
              <p:cNvPr id="57513" name="Text Box 33">
                <a:extLst>
                  <a:ext uri="{FF2B5EF4-FFF2-40B4-BE49-F238E27FC236}">
                    <a16:creationId xmlns:a16="http://schemas.microsoft.com/office/drawing/2014/main" id="{B6435A6B-2E5D-C4B9-416F-DB0A2F42C6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0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7</a:t>
                </a:r>
              </a:p>
            </p:txBody>
          </p:sp>
          <p:sp>
            <p:nvSpPr>
              <p:cNvPr id="57514" name="Text Box 34">
                <a:extLst>
                  <a:ext uri="{FF2B5EF4-FFF2-40B4-BE49-F238E27FC236}">
                    <a16:creationId xmlns:a16="http://schemas.microsoft.com/office/drawing/2014/main" id="{313F45C5-6372-F852-B2F6-CAAE93D73F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4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8</a:t>
                </a:r>
              </a:p>
            </p:txBody>
          </p:sp>
          <p:sp>
            <p:nvSpPr>
              <p:cNvPr id="57515" name="Text Box 35">
                <a:extLst>
                  <a:ext uri="{FF2B5EF4-FFF2-40B4-BE49-F238E27FC236}">
                    <a16:creationId xmlns:a16="http://schemas.microsoft.com/office/drawing/2014/main" id="{8C3F6E8F-DA03-2C38-2076-8A34421813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8" y="2304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9</a:t>
                </a:r>
              </a:p>
            </p:txBody>
          </p:sp>
          <p:sp>
            <p:nvSpPr>
              <p:cNvPr id="57516" name="Text Box 36">
                <a:extLst>
                  <a:ext uri="{FF2B5EF4-FFF2-40B4-BE49-F238E27FC236}">
                    <a16:creationId xmlns:a16="http://schemas.microsoft.com/office/drawing/2014/main" id="{D795C7BF-BD0E-6E02-328F-A01D65CAE0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" y="2304"/>
                <a:ext cx="26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10</a:t>
                </a:r>
              </a:p>
            </p:txBody>
          </p:sp>
          <p:sp>
            <p:nvSpPr>
              <p:cNvPr id="57517" name="Text Box 37">
                <a:extLst>
                  <a:ext uri="{FF2B5EF4-FFF2-40B4-BE49-F238E27FC236}">
                    <a16:creationId xmlns:a16="http://schemas.microsoft.com/office/drawing/2014/main" id="{550376F1-4036-6225-7D58-7A8C14A2F1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6" y="2304"/>
                <a:ext cx="25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>
                    <a:latin typeface="Helvetica" panose="020B0604020202020204" pitchFamily="34" charset="0"/>
                  </a:rPr>
                  <a:t>11</a:t>
                </a:r>
              </a:p>
            </p:txBody>
          </p:sp>
          <p:sp>
            <p:nvSpPr>
              <p:cNvPr id="57518" name="Line 38">
                <a:extLst>
                  <a:ext uri="{FF2B5EF4-FFF2-40B4-BE49-F238E27FC236}">
                    <a16:creationId xmlns:a16="http://schemas.microsoft.com/office/drawing/2014/main" id="{F725D15A-F2EC-B6C8-1E85-1766A0CBF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2208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519" name="Text Box 39">
                <a:extLst>
                  <a:ext uri="{FF2B5EF4-FFF2-40B4-BE49-F238E27FC236}">
                    <a16:creationId xmlns:a16="http://schemas.microsoft.com/office/drawing/2014/main" id="{9351B8FC-9769-70D0-047B-C12853687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2016"/>
                <a:ext cx="36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true</a:t>
                </a:r>
              </a:p>
            </p:txBody>
          </p:sp>
          <p:sp>
            <p:nvSpPr>
              <p:cNvPr id="57520" name="Text Box 40">
                <a:extLst>
                  <a:ext uri="{FF2B5EF4-FFF2-40B4-BE49-F238E27FC236}">
                    <a16:creationId xmlns:a16="http://schemas.microsoft.com/office/drawing/2014/main" id="{DBC768AD-A4C1-E70E-4D17-A038B45E43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728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0</a:t>
                </a:r>
              </a:p>
            </p:txBody>
          </p:sp>
          <p:sp>
            <p:nvSpPr>
              <p:cNvPr id="57521" name="Text Box 41">
                <a:extLst>
                  <a:ext uri="{FF2B5EF4-FFF2-40B4-BE49-F238E27FC236}">
                    <a16:creationId xmlns:a16="http://schemas.microsoft.com/office/drawing/2014/main" id="{831035CE-A54E-5E9E-BDC0-E150BCACCD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2" y="1440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0</a:t>
                </a:r>
              </a:p>
            </p:txBody>
          </p:sp>
        </p:grpSp>
        <p:sp>
          <p:nvSpPr>
            <p:cNvPr id="57473" name="Text Box 42">
              <a:extLst>
                <a:ext uri="{FF2B5EF4-FFF2-40B4-BE49-F238E27FC236}">
                  <a16:creationId xmlns:a16="http://schemas.microsoft.com/office/drawing/2014/main" id="{B7CE94F0-B09B-633C-0560-1C0D8F900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125"/>
              <a:ext cx="11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lang="en-US" altLang="id-ID" sz="2000" b="1">
                  <a:solidFill>
                    <a:srgbClr val="3333FF"/>
                  </a:solidFill>
                  <a:latin typeface="Courier" pitchFamily="80" charset="0"/>
                </a:rPr>
                <a:t>L=3  G=4</a:t>
              </a:r>
            </a:p>
          </p:txBody>
        </p:sp>
        <p:grpSp>
          <p:nvGrpSpPr>
            <p:cNvPr id="57474" name="Group 43">
              <a:extLst>
                <a:ext uri="{FF2B5EF4-FFF2-40B4-BE49-F238E27FC236}">
                  <a16:creationId xmlns:a16="http://schemas.microsoft.com/office/drawing/2014/main" id="{9034F077-18DB-76B7-55F6-233ECFA965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3072"/>
              <a:ext cx="864" cy="912"/>
              <a:chOff x="96" y="3072"/>
              <a:chExt cx="864" cy="912"/>
            </a:xfrm>
          </p:grpSpPr>
          <p:sp>
            <p:nvSpPr>
              <p:cNvPr id="57478" name="Rectangle 44">
                <a:extLst>
                  <a:ext uri="{FF2B5EF4-FFF2-40B4-BE49-F238E27FC236}">
                    <a16:creationId xmlns:a16="http://schemas.microsoft.com/office/drawing/2014/main" id="{8D696202-E0C7-482E-A770-49255CB87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072"/>
                <a:ext cx="720" cy="910"/>
              </a:xfrm>
              <a:prstGeom prst="rect">
                <a:avLst/>
              </a:prstGeom>
              <a:solidFill>
                <a:srgbClr val="A50021"/>
              </a:solidFill>
              <a:ln w="12700">
                <a:solidFill>
                  <a:schemeClr val="bg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Font typeface="Wingdings" panose="05000000000000000000" pitchFamily="2" charset="2"/>
                  <a:buNone/>
                </a:pPr>
                <a:endParaRPr lang="fr-FR" altLang="id-ID" sz="1100">
                  <a:solidFill>
                    <a:schemeClr val="bg1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57479" name="Line 45">
                <a:extLst>
                  <a:ext uri="{FF2B5EF4-FFF2-40B4-BE49-F238E27FC236}">
                    <a16:creationId xmlns:a16="http://schemas.microsoft.com/office/drawing/2014/main" id="{3DBC349C-38C9-0A3F-C847-F3B9D117AD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80" name="Line 46">
                <a:extLst>
                  <a:ext uri="{FF2B5EF4-FFF2-40B4-BE49-F238E27FC236}">
                    <a16:creationId xmlns:a16="http://schemas.microsoft.com/office/drawing/2014/main" id="{9B4692A5-B3BC-BCBF-30D6-F6746127CD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3072"/>
                <a:ext cx="0" cy="912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81" name="Text Box 47">
                <a:extLst>
                  <a:ext uri="{FF2B5EF4-FFF2-40B4-BE49-F238E27FC236}">
                    <a16:creationId xmlns:a16="http://schemas.microsoft.com/office/drawing/2014/main" id="{9DB4A017-92FD-2846-18F0-B0D12DB04E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" y="3072"/>
                <a:ext cx="33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100">
                    <a:solidFill>
                      <a:schemeClr val="bg1"/>
                    </a:solidFill>
                    <a:latin typeface="Times" panose="02020603050405020304" pitchFamily="18" charset="0"/>
                  </a:rPr>
                  <a:t>Time</a:t>
                </a:r>
              </a:p>
            </p:txBody>
          </p:sp>
          <p:sp>
            <p:nvSpPr>
              <p:cNvPr id="57482" name="Text Box 48">
                <a:extLst>
                  <a:ext uri="{FF2B5EF4-FFF2-40B4-BE49-F238E27FC236}">
                    <a16:creationId xmlns:a16="http://schemas.microsoft.com/office/drawing/2014/main" id="{2CAEB272-08C4-EE72-0BA7-C99540D906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3072"/>
                <a:ext cx="36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100">
                    <a:solidFill>
                      <a:schemeClr val="bg1"/>
                    </a:solidFill>
                    <a:latin typeface="Times" panose="02020603050405020304" pitchFamily="18" charset="0"/>
                  </a:rPr>
                  <a:t>Event</a:t>
                </a:r>
              </a:p>
            </p:txBody>
          </p:sp>
          <p:sp>
            <p:nvSpPr>
              <p:cNvPr id="57483" name="Text Box 49">
                <a:extLst>
                  <a:ext uri="{FF2B5EF4-FFF2-40B4-BE49-F238E27FC236}">
                    <a16:creationId xmlns:a16="http://schemas.microsoft.com/office/drawing/2014/main" id="{99F7D3C8-52A4-A6D4-E488-326E56370C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3216"/>
                <a:ext cx="69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100">
                    <a:solidFill>
                      <a:schemeClr val="bg1"/>
                    </a:solidFill>
                    <a:latin typeface="Times" panose="02020603050405020304" pitchFamily="18" charset="0"/>
                  </a:rPr>
                  <a:t>1   Arrival F1</a:t>
                </a:r>
              </a:p>
            </p:txBody>
          </p:sp>
          <p:sp>
            <p:nvSpPr>
              <p:cNvPr id="57484" name="Text Box 50">
                <a:extLst>
                  <a:ext uri="{FF2B5EF4-FFF2-40B4-BE49-F238E27FC236}">
                    <a16:creationId xmlns:a16="http://schemas.microsoft.com/office/drawing/2014/main" id="{4BD975DD-EA12-CC0F-4EEC-425C44C289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" y="3360"/>
                <a:ext cx="69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100">
                    <a:solidFill>
                      <a:schemeClr val="bg1"/>
                    </a:solidFill>
                    <a:latin typeface="Times" panose="02020603050405020304" pitchFamily="18" charset="0"/>
                  </a:rPr>
                  <a:t>3   Arrival F2</a:t>
                </a:r>
              </a:p>
            </p:txBody>
          </p:sp>
        </p:grpSp>
        <p:sp>
          <p:nvSpPr>
            <p:cNvPr id="57475" name="Text Box 51">
              <a:extLst>
                <a:ext uri="{FF2B5EF4-FFF2-40B4-BE49-F238E27FC236}">
                  <a16:creationId xmlns:a16="http://schemas.microsoft.com/office/drawing/2014/main" id="{F6F1FF2E-E5D3-6651-66B5-53E2042CC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984"/>
              <a:ext cx="5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lang="en-US" altLang="id-ID" sz="1600" b="1">
                  <a:latin typeface="Courier" pitchFamily="80" charset="0"/>
                </a:rPr>
                <a:t>Now=0</a:t>
              </a:r>
            </a:p>
          </p:txBody>
        </p:sp>
        <p:sp>
          <p:nvSpPr>
            <p:cNvPr id="57476" name="Rectangle 52">
              <a:extLst>
                <a:ext uri="{FF2B5EF4-FFF2-40B4-BE49-F238E27FC236}">
                  <a16:creationId xmlns:a16="http://schemas.microsoft.com/office/drawing/2014/main" id="{A2E1F33F-CAC0-25A8-C107-458677EAE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576"/>
              <a:ext cx="3312" cy="864"/>
            </a:xfrm>
            <a:prstGeom prst="rect">
              <a:avLst/>
            </a:prstGeom>
            <a:solidFill>
              <a:srgbClr val="3399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endParaRPr lang="fr-FR" altLang="id-ID" sz="2000"/>
            </a:p>
          </p:txBody>
        </p:sp>
        <p:sp>
          <p:nvSpPr>
            <p:cNvPr id="57477" name="AutoShape 53">
              <a:extLst>
                <a:ext uri="{FF2B5EF4-FFF2-40B4-BE49-F238E27FC236}">
                  <a16:creationId xmlns:a16="http://schemas.microsoft.com/office/drawing/2014/main" id="{8738DD0E-C7C4-BF55-B265-C9CE20591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2064" cy="96"/>
            </a:xfrm>
            <a:prstGeom prst="parallelogram">
              <a:avLst>
                <a:gd name="adj" fmla="val 156273"/>
              </a:avLst>
            </a:prstGeom>
            <a:solidFill>
              <a:srgbClr val="0000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endParaRPr lang="fr-FR" altLang="id-ID" sz="2000"/>
            </a:p>
          </p:txBody>
        </p:sp>
      </p:grpSp>
      <p:grpSp>
        <p:nvGrpSpPr>
          <p:cNvPr id="5" name="Group 54">
            <a:extLst>
              <a:ext uri="{FF2B5EF4-FFF2-40B4-BE49-F238E27FC236}">
                <a16:creationId xmlns:a16="http://schemas.microsoft.com/office/drawing/2014/main" id="{479AB822-3796-793B-B01C-DA18D50ABFD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914400"/>
            <a:ext cx="8763000" cy="5748338"/>
            <a:chOff x="48" y="576"/>
            <a:chExt cx="5520" cy="3621"/>
          </a:xfrm>
        </p:grpSpPr>
        <p:sp>
          <p:nvSpPr>
            <p:cNvPr id="57450" name="Text Box 55">
              <a:extLst>
                <a:ext uri="{FF2B5EF4-FFF2-40B4-BE49-F238E27FC236}">
                  <a16:creationId xmlns:a16="http://schemas.microsoft.com/office/drawing/2014/main" id="{667AF6D3-E84F-A7F7-6F4D-ADD5EBAE4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2860"/>
              <a:ext cx="10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buFont typeface="Wingdings" panose="05000000000000000000" pitchFamily="2" charset="2"/>
                <a:buNone/>
              </a:pPr>
              <a:r>
                <a:rPr lang="en-US" altLang="id-ID" sz="2000" b="1">
                  <a:latin typeface="Helvetica" panose="020B0604020202020204" pitchFamily="34" charset="0"/>
                </a:rPr>
                <a:t>Processing:</a:t>
              </a:r>
            </a:p>
          </p:txBody>
        </p:sp>
        <p:grpSp>
          <p:nvGrpSpPr>
            <p:cNvPr id="57451" name="Group 56">
              <a:extLst>
                <a:ext uri="{FF2B5EF4-FFF2-40B4-BE49-F238E27FC236}">
                  <a16:creationId xmlns:a16="http://schemas.microsoft.com/office/drawing/2014/main" id="{0D2802B7-5652-D380-7CAA-3997323301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576"/>
              <a:ext cx="4704" cy="3621"/>
              <a:chOff x="864" y="576"/>
              <a:chExt cx="4704" cy="3621"/>
            </a:xfrm>
          </p:grpSpPr>
          <p:grpSp>
            <p:nvGrpSpPr>
              <p:cNvPr id="57452" name="Group 57">
                <a:extLst>
                  <a:ext uri="{FF2B5EF4-FFF2-40B4-BE49-F238E27FC236}">
                    <a16:creationId xmlns:a16="http://schemas.microsoft.com/office/drawing/2014/main" id="{93B79348-C75F-5364-8F2A-4ECE3C35E4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88" y="1536"/>
                <a:ext cx="411" cy="864"/>
                <a:chOff x="1488" y="1392"/>
                <a:chExt cx="411" cy="864"/>
              </a:xfrm>
            </p:grpSpPr>
            <p:sp>
              <p:nvSpPr>
                <p:cNvPr id="57468" name="Line 58">
                  <a:extLst>
                    <a:ext uri="{FF2B5EF4-FFF2-40B4-BE49-F238E27FC236}">
                      <a16:creationId xmlns:a16="http://schemas.microsoft.com/office/drawing/2014/main" id="{E5812CFC-8782-A35C-AB80-3F9C69835F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1968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469" name="Text Box 59">
                  <a:extLst>
                    <a:ext uri="{FF2B5EF4-FFF2-40B4-BE49-F238E27FC236}">
                      <a16:creationId xmlns:a16="http://schemas.microsoft.com/office/drawing/2014/main" id="{E87B4C0D-EC56-13BC-BD30-EAE24BB73F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88" y="2016"/>
                  <a:ext cx="411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600" b="1">
                      <a:latin typeface="Courier" pitchFamily="80" charset="0"/>
                    </a:rPr>
                    <a:t>false</a:t>
                  </a:r>
                </a:p>
              </p:txBody>
            </p:sp>
            <p:sp>
              <p:nvSpPr>
                <p:cNvPr id="57470" name="Line 60">
                  <a:extLst>
                    <a:ext uri="{FF2B5EF4-FFF2-40B4-BE49-F238E27FC236}">
                      <a16:creationId xmlns:a16="http://schemas.microsoft.com/office/drawing/2014/main" id="{907F053D-5DF8-8280-39A7-6F461F923C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1392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471" name="Text Box 61">
                  <a:extLst>
                    <a:ext uri="{FF2B5EF4-FFF2-40B4-BE49-F238E27FC236}">
                      <a16:creationId xmlns:a16="http://schemas.microsoft.com/office/drawing/2014/main" id="{354FB3E3-2C18-C4F6-9A75-859D3A8ECF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36" y="1440"/>
                  <a:ext cx="188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600" b="1">
                      <a:latin typeface="Courier" pitchFamily="80" charset="0"/>
                    </a:rPr>
                    <a:t>1</a:t>
                  </a:r>
                </a:p>
              </p:txBody>
            </p:sp>
          </p:grpSp>
          <p:grpSp>
            <p:nvGrpSpPr>
              <p:cNvPr id="57453" name="Group 62">
                <a:extLst>
                  <a:ext uri="{FF2B5EF4-FFF2-40B4-BE49-F238E27FC236}">
                    <a16:creationId xmlns:a16="http://schemas.microsoft.com/office/drawing/2014/main" id="{689895CB-ACFA-B74F-70E7-D1EE73F924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4" y="2880"/>
                <a:ext cx="864" cy="1317"/>
                <a:chOff x="912" y="2880"/>
                <a:chExt cx="864" cy="1317"/>
              </a:xfrm>
            </p:grpSpPr>
            <p:grpSp>
              <p:nvGrpSpPr>
                <p:cNvPr id="57458" name="Group 63">
                  <a:extLst>
                    <a:ext uri="{FF2B5EF4-FFF2-40B4-BE49-F238E27FC236}">
                      <a16:creationId xmlns:a16="http://schemas.microsoft.com/office/drawing/2014/main" id="{386EAABC-E67C-913E-494C-E29EACA827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2" y="3072"/>
                  <a:ext cx="864" cy="912"/>
                  <a:chOff x="960" y="3072"/>
                  <a:chExt cx="864" cy="912"/>
                </a:xfrm>
              </p:grpSpPr>
              <p:sp>
                <p:nvSpPr>
                  <p:cNvPr id="57461" name="Rectangle 64">
                    <a:extLst>
                      <a:ext uri="{FF2B5EF4-FFF2-40B4-BE49-F238E27FC236}">
                        <a16:creationId xmlns:a16="http://schemas.microsoft.com/office/drawing/2014/main" id="{BF151192-0866-5001-A50A-74B13AC6E2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60" y="3072"/>
                    <a:ext cx="816" cy="910"/>
                  </a:xfrm>
                  <a:prstGeom prst="rect">
                    <a:avLst/>
                  </a:prstGeom>
                  <a:solidFill>
                    <a:srgbClr val="A50021"/>
                  </a:solidFill>
                  <a:ln w="12700">
                    <a:solidFill>
                      <a:schemeClr val="bg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>
                      <a:buFont typeface="Wingdings" panose="05000000000000000000" pitchFamily="2" charset="2"/>
                      <a:buNone/>
                    </a:pPr>
                    <a:endParaRPr lang="fr-FR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endParaRPr>
                  </a:p>
                </p:txBody>
              </p:sp>
              <p:sp>
                <p:nvSpPr>
                  <p:cNvPr id="57462" name="Line 65">
                    <a:extLst>
                      <a:ext uri="{FF2B5EF4-FFF2-40B4-BE49-F238E27FC236}">
                        <a16:creationId xmlns:a16="http://schemas.microsoft.com/office/drawing/2014/main" id="{7A790B43-B9FB-A775-0F6D-63306EBC02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60" y="3216"/>
                    <a:ext cx="864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57463" name="Line 66">
                    <a:extLst>
                      <a:ext uri="{FF2B5EF4-FFF2-40B4-BE49-F238E27FC236}">
                        <a16:creationId xmlns:a16="http://schemas.microsoft.com/office/drawing/2014/main" id="{F1BBB79E-2D97-CD7E-8FC6-6ADE44ECF1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48" y="3072"/>
                    <a:ext cx="0" cy="912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ID"/>
                  </a:p>
                </p:txBody>
              </p:sp>
              <p:sp>
                <p:nvSpPr>
                  <p:cNvPr id="57464" name="Text Box 67">
                    <a:extLst>
                      <a:ext uri="{FF2B5EF4-FFF2-40B4-BE49-F238E27FC236}">
                        <a16:creationId xmlns:a16="http://schemas.microsoft.com/office/drawing/2014/main" id="{F4788058-20CC-F606-B275-50B9D75FB0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60" y="3072"/>
                    <a:ext cx="334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buFont typeface="Wingdings" panose="05000000000000000000" pitchFamily="2" charset="2"/>
                      <a:buNone/>
                    </a:pPr>
                    <a:r>
                      <a:rPr lang="en-US" altLang="id-ID" sz="1100">
                        <a:solidFill>
                          <a:schemeClr val="bg1"/>
                        </a:solidFill>
                        <a:latin typeface="Times" panose="02020603050405020304" pitchFamily="18" charset="0"/>
                      </a:rPr>
                      <a:t>Time</a:t>
                    </a:r>
                  </a:p>
                </p:txBody>
              </p:sp>
              <p:sp>
                <p:nvSpPr>
                  <p:cNvPr id="57465" name="Text Box 68">
                    <a:extLst>
                      <a:ext uri="{FF2B5EF4-FFF2-40B4-BE49-F238E27FC236}">
                        <a16:creationId xmlns:a16="http://schemas.microsoft.com/office/drawing/2014/main" id="{1F6DF808-976A-A10C-E738-CE13CDFAB3E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96" y="3072"/>
                    <a:ext cx="361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buFont typeface="Wingdings" panose="05000000000000000000" pitchFamily="2" charset="2"/>
                      <a:buNone/>
                    </a:pPr>
                    <a:r>
                      <a:rPr lang="en-US" altLang="id-ID" sz="1100">
                        <a:solidFill>
                          <a:schemeClr val="bg1"/>
                        </a:solidFill>
                        <a:latin typeface="Times" panose="02020603050405020304" pitchFamily="18" charset="0"/>
                      </a:rPr>
                      <a:t>Event</a:t>
                    </a:r>
                  </a:p>
                </p:txBody>
              </p:sp>
              <p:sp>
                <p:nvSpPr>
                  <p:cNvPr id="57466" name="Text Box 69">
                    <a:extLst>
                      <a:ext uri="{FF2B5EF4-FFF2-40B4-BE49-F238E27FC236}">
                        <a16:creationId xmlns:a16="http://schemas.microsoft.com/office/drawing/2014/main" id="{A93C4FA0-5756-3C64-EB24-43D76CE5063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" y="3408"/>
                    <a:ext cx="706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buFont typeface="Wingdings" panose="05000000000000000000" pitchFamily="2" charset="2"/>
                      <a:buNone/>
                    </a:pPr>
                    <a:r>
                      <a:rPr lang="en-US" altLang="id-ID" sz="1100">
                        <a:solidFill>
                          <a:schemeClr val="bg1"/>
                        </a:solidFill>
                        <a:latin typeface="Times" panose="02020603050405020304" pitchFamily="18" charset="0"/>
                      </a:rPr>
                      <a:t>4   Landed F1</a:t>
                    </a:r>
                  </a:p>
                </p:txBody>
              </p:sp>
              <p:sp>
                <p:nvSpPr>
                  <p:cNvPr id="57467" name="Text Box 70">
                    <a:extLst>
                      <a:ext uri="{FF2B5EF4-FFF2-40B4-BE49-F238E27FC236}">
                        <a16:creationId xmlns:a16="http://schemas.microsoft.com/office/drawing/2014/main" id="{607AF411-61A7-EDA2-4F21-0DBE7089FED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04" y="3312"/>
                    <a:ext cx="691" cy="1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buFont typeface="Wingdings" panose="05000000000000000000" pitchFamily="2" charset="2"/>
                      <a:buNone/>
                    </a:pPr>
                    <a:r>
                      <a:rPr lang="en-US" altLang="id-ID" sz="1100">
                        <a:solidFill>
                          <a:schemeClr val="bg1"/>
                        </a:solidFill>
                        <a:latin typeface="Times" panose="02020603050405020304" pitchFamily="18" charset="0"/>
                      </a:rPr>
                      <a:t>3   Arrival F2</a:t>
                    </a:r>
                  </a:p>
                </p:txBody>
              </p:sp>
            </p:grpSp>
            <p:sp>
              <p:nvSpPr>
                <p:cNvPr id="57459" name="Text Box 71">
                  <a:extLst>
                    <a:ext uri="{FF2B5EF4-FFF2-40B4-BE49-F238E27FC236}">
                      <a16:creationId xmlns:a16="http://schemas.microsoft.com/office/drawing/2014/main" id="{D9A7EFE3-34C4-7FD3-CC94-D5A0F2B45F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2" y="2880"/>
                  <a:ext cx="816" cy="17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buFont typeface="Wingdings" panose="05000000000000000000" pitchFamily="2" charset="2"/>
                    <a:buNone/>
                  </a:pPr>
                  <a:r>
                    <a:rPr lang="en-US" altLang="id-ID" sz="1200">
                      <a:latin typeface="Courier" pitchFamily="80" charset="0"/>
                    </a:rPr>
                    <a:t>Arrival F1</a:t>
                  </a:r>
                </a:p>
              </p:txBody>
            </p:sp>
            <p:sp>
              <p:nvSpPr>
                <p:cNvPr id="57460" name="Text Box 72">
                  <a:extLst>
                    <a:ext uri="{FF2B5EF4-FFF2-40B4-BE49-F238E27FC236}">
                      <a16:creationId xmlns:a16="http://schemas.microsoft.com/office/drawing/2014/main" id="{CE6D36C0-FACA-3A25-4395-1A7323628E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38" y="3984"/>
                  <a:ext cx="536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600" b="1">
                      <a:latin typeface="Courier" pitchFamily="80" charset="0"/>
                    </a:rPr>
                    <a:t>Now=1</a:t>
                  </a:r>
                </a:p>
              </p:txBody>
            </p:sp>
          </p:grpSp>
          <p:grpSp>
            <p:nvGrpSpPr>
              <p:cNvPr id="57454" name="Group 73">
                <a:extLst>
                  <a:ext uri="{FF2B5EF4-FFF2-40B4-BE49-F238E27FC236}">
                    <a16:creationId xmlns:a16="http://schemas.microsoft.com/office/drawing/2014/main" id="{C01832D0-F155-7873-1322-E6B34CB15B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" y="576"/>
                <a:ext cx="3312" cy="864"/>
                <a:chOff x="1344" y="528"/>
                <a:chExt cx="3312" cy="864"/>
              </a:xfrm>
            </p:grpSpPr>
            <p:sp>
              <p:nvSpPr>
                <p:cNvPr id="57455" name="Rectangle 74">
                  <a:extLst>
                    <a:ext uri="{FF2B5EF4-FFF2-40B4-BE49-F238E27FC236}">
                      <a16:creationId xmlns:a16="http://schemas.microsoft.com/office/drawing/2014/main" id="{57A6DF99-8399-948E-C5F4-649AD633EF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528"/>
                  <a:ext cx="3312" cy="864"/>
                </a:xfrm>
                <a:prstGeom prst="rect">
                  <a:avLst/>
                </a:prstGeom>
                <a:solidFill>
                  <a:srgbClr val="3399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endParaRPr lang="fr-FR" altLang="id-ID" sz="2000"/>
                </a:p>
              </p:txBody>
            </p:sp>
            <p:sp>
              <p:nvSpPr>
                <p:cNvPr id="57456" name="AutoShape 75">
                  <a:extLst>
                    <a:ext uri="{FF2B5EF4-FFF2-40B4-BE49-F238E27FC236}">
                      <a16:creationId xmlns:a16="http://schemas.microsoft.com/office/drawing/2014/main" id="{15A0F039-D065-F698-3486-ABB411E20C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1152"/>
                  <a:ext cx="2064" cy="96"/>
                </a:xfrm>
                <a:prstGeom prst="parallelogram">
                  <a:avLst>
                    <a:gd name="adj" fmla="val 156273"/>
                  </a:avLst>
                </a:prstGeom>
                <a:solidFill>
                  <a:srgbClr val="000066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endParaRPr lang="fr-FR" altLang="id-ID" sz="2000"/>
                </a:p>
              </p:txBody>
            </p:sp>
            <p:pic>
              <p:nvPicPr>
                <p:cNvPr id="57457" name="Picture 76">
                  <a:extLst>
                    <a:ext uri="{FF2B5EF4-FFF2-40B4-BE49-F238E27FC236}">
                      <a16:creationId xmlns:a16="http://schemas.microsoft.com/office/drawing/2014/main" id="{FA296106-846D-872F-C095-944A00281BD9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2" y="864"/>
                  <a:ext cx="576" cy="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grpSp>
        <p:nvGrpSpPr>
          <p:cNvPr id="11" name="Group 77">
            <a:extLst>
              <a:ext uri="{FF2B5EF4-FFF2-40B4-BE49-F238E27FC236}">
                <a16:creationId xmlns:a16="http://schemas.microsoft.com/office/drawing/2014/main" id="{479BC37F-7BA1-FF1B-3198-844625197B5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914400"/>
            <a:ext cx="6096000" cy="5748338"/>
            <a:chOff x="1728" y="576"/>
            <a:chExt cx="3840" cy="3621"/>
          </a:xfrm>
        </p:grpSpPr>
        <p:grpSp>
          <p:nvGrpSpPr>
            <p:cNvPr id="57432" name="Group 78">
              <a:extLst>
                <a:ext uri="{FF2B5EF4-FFF2-40B4-BE49-F238E27FC236}">
                  <a16:creationId xmlns:a16="http://schemas.microsoft.com/office/drawing/2014/main" id="{9EA4DD53-511A-A682-FA40-BE64E342FF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1536"/>
              <a:ext cx="236" cy="288"/>
              <a:chOff x="2304" y="1392"/>
              <a:chExt cx="236" cy="288"/>
            </a:xfrm>
          </p:grpSpPr>
          <p:sp>
            <p:nvSpPr>
              <p:cNvPr id="57448" name="Line 79">
                <a:extLst>
                  <a:ext uri="{FF2B5EF4-FFF2-40B4-BE49-F238E27FC236}">
                    <a16:creationId xmlns:a16="http://schemas.microsoft.com/office/drawing/2014/main" id="{B07328E7-FF6B-89C9-F508-312518B9C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4" y="139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49" name="Text Box 80">
                <a:extLst>
                  <a:ext uri="{FF2B5EF4-FFF2-40B4-BE49-F238E27FC236}">
                    <a16:creationId xmlns:a16="http://schemas.microsoft.com/office/drawing/2014/main" id="{6616180C-7FAA-D791-1613-5658654B01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440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2</a:t>
                </a:r>
              </a:p>
            </p:txBody>
          </p:sp>
        </p:grpSp>
        <p:grpSp>
          <p:nvGrpSpPr>
            <p:cNvPr id="57433" name="Group 81">
              <a:extLst>
                <a:ext uri="{FF2B5EF4-FFF2-40B4-BE49-F238E27FC236}">
                  <a16:creationId xmlns:a16="http://schemas.microsoft.com/office/drawing/2014/main" id="{A8A170D5-E593-11F7-0F27-03AC7C7CC5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880"/>
              <a:ext cx="864" cy="1317"/>
              <a:chOff x="1824" y="2880"/>
              <a:chExt cx="864" cy="1317"/>
            </a:xfrm>
          </p:grpSpPr>
          <p:grpSp>
            <p:nvGrpSpPr>
              <p:cNvPr id="57439" name="Group 82">
                <a:extLst>
                  <a:ext uri="{FF2B5EF4-FFF2-40B4-BE49-F238E27FC236}">
                    <a16:creationId xmlns:a16="http://schemas.microsoft.com/office/drawing/2014/main" id="{E13A40FF-5C9C-3295-F4D7-7CA203938D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4" y="3072"/>
                <a:ext cx="864" cy="912"/>
                <a:chOff x="1824" y="3072"/>
                <a:chExt cx="864" cy="912"/>
              </a:xfrm>
            </p:grpSpPr>
            <p:sp>
              <p:nvSpPr>
                <p:cNvPr id="57442" name="Rectangle 83">
                  <a:extLst>
                    <a:ext uri="{FF2B5EF4-FFF2-40B4-BE49-F238E27FC236}">
                      <a16:creationId xmlns:a16="http://schemas.microsoft.com/office/drawing/2014/main" id="{0FD7ACDB-395F-196F-EB94-60115BEBED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3072"/>
                  <a:ext cx="816" cy="910"/>
                </a:xfrm>
                <a:prstGeom prst="rect">
                  <a:avLst/>
                </a:prstGeom>
                <a:solidFill>
                  <a:srgbClr val="A50021"/>
                </a:solidFill>
                <a:ln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buFont typeface="Wingdings" panose="05000000000000000000" pitchFamily="2" charset="2"/>
                    <a:buNone/>
                  </a:pPr>
                  <a:endParaRPr lang="fr-FR" altLang="id-ID" sz="1100">
                    <a:solidFill>
                      <a:schemeClr val="bg1"/>
                    </a:solidFill>
                    <a:latin typeface="Times" panose="02020603050405020304" pitchFamily="18" charset="0"/>
                  </a:endParaRPr>
                </a:p>
              </p:txBody>
            </p:sp>
            <p:sp>
              <p:nvSpPr>
                <p:cNvPr id="57443" name="Line 84">
                  <a:extLst>
                    <a:ext uri="{FF2B5EF4-FFF2-40B4-BE49-F238E27FC236}">
                      <a16:creationId xmlns:a16="http://schemas.microsoft.com/office/drawing/2014/main" id="{22F2CF4C-D0FC-B507-A5F6-0C0499A559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444" name="Line 85">
                  <a:extLst>
                    <a:ext uri="{FF2B5EF4-FFF2-40B4-BE49-F238E27FC236}">
                      <a16:creationId xmlns:a16="http://schemas.microsoft.com/office/drawing/2014/main" id="{6AE3E85F-B4A7-5A47-2FB8-C82DE5EDB8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3072"/>
                  <a:ext cx="0" cy="912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445" name="Text Box 86">
                  <a:extLst>
                    <a:ext uri="{FF2B5EF4-FFF2-40B4-BE49-F238E27FC236}">
                      <a16:creationId xmlns:a16="http://schemas.microsoft.com/office/drawing/2014/main" id="{304CD8D2-D2EB-0263-5564-D74168AC8C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24" y="3072"/>
                  <a:ext cx="334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Time</a:t>
                  </a:r>
                </a:p>
              </p:txBody>
            </p:sp>
            <p:sp>
              <p:nvSpPr>
                <p:cNvPr id="57446" name="Text Box 87">
                  <a:extLst>
                    <a:ext uri="{FF2B5EF4-FFF2-40B4-BE49-F238E27FC236}">
                      <a16:creationId xmlns:a16="http://schemas.microsoft.com/office/drawing/2014/main" id="{1F7FF94A-A633-57CF-FB1A-83B5F33698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0" y="3072"/>
                  <a:ext cx="361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Event</a:t>
                  </a:r>
                </a:p>
              </p:txBody>
            </p:sp>
            <p:sp>
              <p:nvSpPr>
                <p:cNvPr id="57447" name="Text Box 88">
                  <a:extLst>
                    <a:ext uri="{FF2B5EF4-FFF2-40B4-BE49-F238E27FC236}">
                      <a16:creationId xmlns:a16="http://schemas.microsoft.com/office/drawing/2014/main" id="{62EF1A80-BF84-C2FF-2357-BEB9866C0A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3408"/>
                  <a:ext cx="706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4   Landed F1</a:t>
                  </a:r>
                </a:p>
              </p:txBody>
            </p:sp>
          </p:grpSp>
          <p:sp>
            <p:nvSpPr>
              <p:cNvPr id="57440" name="Text Box 89">
                <a:extLst>
                  <a:ext uri="{FF2B5EF4-FFF2-40B4-BE49-F238E27FC236}">
                    <a16:creationId xmlns:a16="http://schemas.microsoft.com/office/drawing/2014/main" id="{A9F2E8A6-7713-1C10-4882-E319124E25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4" y="2880"/>
                <a:ext cx="816" cy="17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Font typeface="Wingdings" panose="05000000000000000000" pitchFamily="2" charset="2"/>
                  <a:buNone/>
                </a:pPr>
                <a:r>
                  <a:rPr lang="en-US" altLang="id-ID" sz="1200">
                    <a:latin typeface="Courier" pitchFamily="80" charset="0"/>
                  </a:rPr>
                  <a:t>Arrival F2</a:t>
                </a:r>
              </a:p>
            </p:txBody>
          </p:sp>
          <p:sp>
            <p:nvSpPr>
              <p:cNvPr id="57441" name="Text Box 90">
                <a:extLst>
                  <a:ext uri="{FF2B5EF4-FFF2-40B4-BE49-F238E27FC236}">
                    <a16:creationId xmlns:a16="http://schemas.microsoft.com/office/drawing/2014/main" id="{21C57918-83D8-6867-832E-299D0AFFAF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3984"/>
                <a:ext cx="5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Now=3</a:t>
                </a:r>
              </a:p>
            </p:txBody>
          </p:sp>
        </p:grpSp>
        <p:grpSp>
          <p:nvGrpSpPr>
            <p:cNvPr id="57434" name="Group 91">
              <a:extLst>
                <a:ext uri="{FF2B5EF4-FFF2-40B4-BE49-F238E27FC236}">
                  <a16:creationId xmlns:a16="http://schemas.microsoft.com/office/drawing/2014/main" id="{9D018052-31B0-ABA7-9611-C7F5BBFB7C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576"/>
              <a:ext cx="3312" cy="864"/>
              <a:chOff x="1344" y="528"/>
              <a:chExt cx="3312" cy="864"/>
            </a:xfrm>
          </p:grpSpPr>
          <p:sp>
            <p:nvSpPr>
              <p:cNvPr id="57435" name="Rectangle 92">
                <a:extLst>
                  <a:ext uri="{FF2B5EF4-FFF2-40B4-BE49-F238E27FC236}">
                    <a16:creationId xmlns:a16="http://schemas.microsoft.com/office/drawing/2014/main" id="{33FFC071-E752-9488-31D8-85AB8346B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528"/>
                <a:ext cx="3312" cy="864"/>
              </a:xfrm>
              <a:prstGeom prst="rect">
                <a:avLst/>
              </a:prstGeom>
              <a:solidFill>
                <a:srgbClr val="33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sp>
            <p:nvSpPr>
              <p:cNvPr id="57436" name="AutoShape 93">
                <a:extLst>
                  <a:ext uri="{FF2B5EF4-FFF2-40B4-BE49-F238E27FC236}">
                    <a16:creationId xmlns:a16="http://schemas.microsoft.com/office/drawing/2014/main" id="{A300B7B4-404B-D3F7-96E7-FEEA6BDBAF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1152"/>
                <a:ext cx="2064" cy="96"/>
              </a:xfrm>
              <a:prstGeom prst="parallelogram">
                <a:avLst>
                  <a:gd name="adj" fmla="val 156273"/>
                </a:avLst>
              </a:prstGeom>
              <a:solidFill>
                <a:srgbClr val="0000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pic>
            <p:nvPicPr>
              <p:cNvPr id="57437" name="Picture 94">
                <a:extLst>
                  <a:ext uri="{FF2B5EF4-FFF2-40B4-BE49-F238E27FC236}">
                    <a16:creationId xmlns:a16="http://schemas.microsoft.com/office/drawing/2014/main" id="{4B73BF74-D67A-08F5-0D5F-97AAB4D4C87F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2" y="864"/>
                <a:ext cx="576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438" name="Picture 95">
                <a:extLst>
                  <a:ext uri="{FF2B5EF4-FFF2-40B4-BE49-F238E27FC236}">
                    <a16:creationId xmlns:a16="http://schemas.microsoft.com/office/drawing/2014/main" id="{AEAC513D-B291-7AED-67BE-A1696171B1BE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0" y="624"/>
                <a:ext cx="69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6" name="Group 96">
            <a:extLst>
              <a:ext uri="{FF2B5EF4-FFF2-40B4-BE49-F238E27FC236}">
                <a16:creationId xmlns:a16="http://schemas.microsoft.com/office/drawing/2014/main" id="{EEE25C93-E45B-35E6-94C9-063D3B4F6F0C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914400"/>
            <a:ext cx="5257800" cy="5748338"/>
            <a:chOff x="2256" y="576"/>
            <a:chExt cx="3312" cy="3621"/>
          </a:xfrm>
        </p:grpSpPr>
        <p:grpSp>
          <p:nvGrpSpPr>
            <p:cNvPr id="57411" name="Group 97">
              <a:extLst>
                <a:ext uri="{FF2B5EF4-FFF2-40B4-BE49-F238E27FC236}">
                  <a16:creationId xmlns:a16="http://schemas.microsoft.com/office/drawing/2014/main" id="{12A05874-BBB4-23B2-F99E-729EBEBFCC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536"/>
              <a:ext cx="236" cy="576"/>
              <a:chOff x="2688" y="1392"/>
              <a:chExt cx="236" cy="576"/>
            </a:xfrm>
          </p:grpSpPr>
          <p:sp>
            <p:nvSpPr>
              <p:cNvPr id="57428" name="Line 98">
                <a:extLst>
                  <a:ext uri="{FF2B5EF4-FFF2-40B4-BE49-F238E27FC236}">
                    <a16:creationId xmlns:a16="http://schemas.microsoft.com/office/drawing/2014/main" id="{AA4B1EE1-ADD1-E504-4A4A-87C761171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88" y="139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29" name="Text Box 99">
                <a:extLst>
                  <a:ext uri="{FF2B5EF4-FFF2-40B4-BE49-F238E27FC236}">
                    <a16:creationId xmlns:a16="http://schemas.microsoft.com/office/drawing/2014/main" id="{C78784CC-EB9A-D609-AFFF-1AC5EABD6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440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1</a:t>
                </a:r>
              </a:p>
            </p:txBody>
          </p:sp>
          <p:sp>
            <p:nvSpPr>
              <p:cNvPr id="57430" name="Line 100">
                <a:extLst>
                  <a:ext uri="{FF2B5EF4-FFF2-40B4-BE49-F238E27FC236}">
                    <a16:creationId xmlns:a16="http://schemas.microsoft.com/office/drawing/2014/main" id="{8904159A-BCC9-60CF-52C3-9581C1E82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88" y="168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31" name="Text Box 101">
                <a:extLst>
                  <a:ext uri="{FF2B5EF4-FFF2-40B4-BE49-F238E27FC236}">
                    <a16:creationId xmlns:a16="http://schemas.microsoft.com/office/drawing/2014/main" id="{8F87BF10-A7BD-FF00-9659-7A171F8EBA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1728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1</a:t>
                </a:r>
              </a:p>
            </p:txBody>
          </p:sp>
        </p:grpSp>
        <p:grpSp>
          <p:nvGrpSpPr>
            <p:cNvPr id="57412" name="Group 102">
              <a:extLst>
                <a:ext uri="{FF2B5EF4-FFF2-40B4-BE49-F238E27FC236}">
                  <a16:creationId xmlns:a16="http://schemas.microsoft.com/office/drawing/2014/main" id="{306A811F-1C02-0960-4107-EA3AA20B0C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0" y="2880"/>
              <a:ext cx="834" cy="1317"/>
              <a:chOff x="2560" y="2880"/>
              <a:chExt cx="834" cy="1317"/>
            </a:xfrm>
          </p:grpSpPr>
          <p:sp>
            <p:nvSpPr>
              <p:cNvPr id="57418" name="Text Box 103">
                <a:extLst>
                  <a:ext uri="{FF2B5EF4-FFF2-40B4-BE49-F238E27FC236}">
                    <a16:creationId xmlns:a16="http://schemas.microsoft.com/office/drawing/2014/main" id="{BE621408-B114-D26D-4A7F-97BF84838A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2880"/>
                <a:ext cx="720" cy="17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Font typeface="Wingdings" panose="05000000000000000000" pitchFamily="2" charset="2"/>
                  <a:buNone/>
                </a:pPr>
                <a:r>
                  <a:rPr lang="en-US" altLang="id-ID" sz="1200">
                    <a:latin typeface="Courier" pitchFamily="80" charset="0"/>
                  </a:rPr>
                  <a:t>Landed F1</a:t>
                </a:r>
              </a:p>
            </p:txBody>
          </p:sp>
          <p:sp>
            <p:nvSpPr>
              <p:cNvPr id="57419" name="Text Box 104">
                <a:extLst>
                  <a:ext uri="{FF2B5EF4-FFF2-40B4-BE49-F238E27FC236}">
                    <a16:creationId xmlns:a16="http://schemas.microsoft.com/office/drawing/2014/main" id="{31E50939-64C2-9E22-B8B3-8698D01C9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8" y="3984"/>
                <a:ext cx="5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Now=4</a:t>
                </a:r>
              </a:p>
            </p:txBody>
          </p:sp>
          <p:grpSp>
            <p:nvGrpSpPr>
              <p:cNvPr id="57420" name="Group 105">
                <a:extLst>
                  <a:ext uri="{FF2B5EF4-FFF2-40B4-BE49-F238E27FC236}">
                    <a16:creationId xmlns:a16="http://schemas.microsoft.com/office/drawing/2014/main" id="{1377B9B2-40E1-1FC2-4BF4-88263B15F9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60" y="3072"/>
                <a:ext cx="834" cy="912"/>
                <a:chOff x="2560" y="3072"/>
                <a:chExt cx="834" cy="912"/>
              </a:xfrm>
            </p:grpSpPr>
            <p:sp>
              <p:nvSpPr>
                <p:cNvPr id="57421" name="Rectangle 106">
                  <a:extLst>
                    <a:ext uri="{FF2B5EF4-FFF2-40B4-BE49-F238E27FC236}">
                      <a16:creationId xmlns:a16="http://schemas.microsoft.com/office/drawing/2014/main" id="{107AC30F-3EBC-47A4-E547-4CAA61939C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92" y="3072"/>
                  <a:ext cx="720" cy="910"/>
                </a:xfrm>
                <a:prstGeom prst="rect">
                  <a:avLst/>
                </a:prstGeom>
                <a:solidFill>
                  <a:srgbClr val="A50021"/>
                </a:solidFill>
                <a:ln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buFont typeface="Wingdings" panose="05000000000000000000" pitchFamily="2" charset="2"/>
                    <a:buNone/>
                  </a:pPr>
                  <a:endParaRPr lang="fr-FR" altLang="id-ID" sz="1100">
                    <a:solidFill>
                      <a:schemeClr val="bg1"/>
                    </a:solidFill>
                    <a:latin typeface="Times" panose="02020603050405020304" pitchFamily="18" charset="0"/>
                  </a:endParaRPr>
                </a:p>
              </p:txBody>
            </p:sp>
            <p:sp>
              <p:nvSpPr>
                <p:cNvPr id="57422" name="Line 107">
                  <a:extLst>
                    <a:ext uri="{FF2B5EF4-FFF2-40B4-BE49-F238E27FC236}">
                      <a16:creationId xmlns:a16="http://schemas.microsoft.com/office/drawing/2014/main" id="{F9F71799-0B42-6797-AE97-90F6B3069D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3072"/>
                  <a:ext cx="0" cy="912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423" name="Text Box 108">
                  <a:extLst>
                    <a:ext uri="{FF2B5EF4-FFF2-40B4-BE49-F238E27FC236}">
                      <a16:creationId xmlns:a16="http://schemas.microsoft.com/office/drawing/2014/main" id="{F390CF4D-48F5-FE75-3216-C9480B968D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60" y="3072"/>
                  <a:ext cx="334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Time</a:t>
                  </a:r>
                </a:p>
              </p:txBody>
            </p:sp>
            <p:sp>
              <p:nvSpPr>
                <p:cNvPr id="57424" name="Text Box 109">
                  <a:extLst>
                    <a:ext uri="{FF2B5EF4-FFF2-40B4-BE49-F238E27FC236}">
                      <a16:creationId xmlns:a16="http://schemas.microsoft.com/office/drawing/2014/main" id="{1A3F5251-382F-BE4A-A472-B490D08853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3072"/>
                  <a:ext cx="361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Event</a:t>
                  </a:r>
                </a:p>
              </p:txBody>
            </p:sp>
            <p:sp>
              <p:nvSpPr>
                <p:cNvPr id="57425" name="Text Box 110">
                  <a:extLst>
                    <a:ext uri="{FF2B5EF4-FFF2-40B4-BE49-F238E27FC236}">
                      <a16:creationId xmlns:a16="http://schemas.microsoft.com/office/drawing/2014/main" id="{AB57770B-CE87-D087-50B1-D7916F2379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88" y="3600"/>
                  <a:ext cx="685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8   Depart F1</a:t>
                  </a:r>
                </a:p>
              </p:txBody>
            </p:sp>
            <p:sp>
              <p:nvSpPr>
                <p:cNvPr id="57426" name="Text Box 111">
                  <a:extLst>
                    <a:ext uri="{FF2B5EF4-FFF2-40B4-BE49-F238E27FC236}">
                      <a16:creationId xmlns:a16="http://schemas.microsoft.com/office/drawing/2014/main" id="{78CF5DF9-5BA8-7708-CCD2-77671B3152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88" y="3504"/>
                  <a:ext cx="706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7   Landed F2</a:t>
                  </a:r>
                </a:p>
              </p:txBody>
            </p:sp>
            <p:sp>
              <p:nvSpPr>
                <p:cNvPr id="57427" name="Line 112">
                  <a:extLst>
                    <a:ext uri="{FF2B5EF4-FFF2-40B4-BE49-F238E27FC236}">
                      <a16:creationId xmlns:a16="http://schemas.microsoft.com/office/drawing/2014/main" id="{A58FF03C-EDBB-75C9-865C-E842A57620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3216"/>
                  <a:ext cx="720" cy="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</p:grpSp>
        </p:grpSp>
        <p:grpSp>
          <p:nvGrpSpPr>
            <p:cNvPr id="57413" name="Group 113">
              <a:extLst>
                <a:ext uri="{FF2B5EF4-FFF2-40B4-BE49-F238E27FC236}">
                  <a16:creationId xmlns:a16="http://schemas.microsoft.com/office/drawing/2014/main" id="{4D526CFD-105D-4D91-FB33-93C6D9B026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576"/>
              <a:ext cx="3312" cy="864"/>
              <a:chOff x="1344" y="528"/>
              <a:chExt cx="3312" cy="864"/>
            </a:xfrm>
          </p:grpSpPr>
          <p:sp>
            <p:nvSpPr>
              <p:cNvPr id="57414" name="Rectangle 114">
                <a:extLst>
                  <a:ext uri="{FF2B5EF4-FFF2-40B4-BE49-F238E27FC236}">
                    <a16:creationId xmlns:a16="http://schemas.microsoft.com/office/drawing/2014/main" id="{75FEB094-9845-3AC9-02D0-A525CFD58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528"/>
                <a:ext cx="3312" cy="864"/>
              </a:xfrm>
              <a:prstGeom prst="rect">
                <a:avLst/>
              </a:prstGeom>
              <a:solidFill>
                <a:srgbClr val="33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sp>
            <p:nvSpPr>
              <p:cNvPr id="57415" name="AutoShape 115">
                <a:extLst>
                  <a:ext uri="{FF2B5EF4-FFF2-40B4-BE49-F238E27FC236}">
                    <a16:creationId xmlns:a16="http://schemas.microsoft.com/office/drawing/2014/main" id="{D51140FC-A058-175A-6DAF-D5C00CE10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1152"/>
                <a:ext cx="2064" cy="96"/>
              </a:xfrm>
              <a:prstGeom prst="parallelogram">
                <a:avLst>
                  <a:gd name="adj" fmla="val 156273"/>
                </a:avLst>
              </a:prstGeom>
              <a:solidFill>
                <a:srgbClr val="0000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pic>
            <p:nvPicPr>
              <p:cNvPr id="57416" name="Picture 116">
                <a:extLst>
                  <a:ext uri="{FF2B5EF4-FFF2-40B4-BE49-F238E27FC236}">
                    <a16:creationId xmlns:a16="http://schemas.microsoft.com/office/drawing/2014/main" id="{526EF874-7E56-1C2D-C2BD-70E7CB817986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24" y="816"/>
                <a:ext cx="576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417" name="Picture 117">
                <a:extLst>
                  <a:ext uri="{FF2B5EF4-FFF2-40B4-BE49-F238E27FC236}">
                    <a16:creationId xmlns:a16="http://schemas.microsoft.com/office/drawing/2014/main" id="{6095633F-1170-06C6-DC11-5D8F238B92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40" y="624"/>
                <a:ext cx="32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1" name="Group 118">
            <a:extLst>
              <a:ext uri="{FF2B5EF4-FFF2-40B4-BE49-F238E27FC236}">
                <a16:creationId xmlns:a16="http://schemas.microsoft.com/office/drawing/2014/main" id="{7FD80049-9F0F-7D5E-3322-779B3FC6F1A1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914400"/>
            <a:ext cx="5257800" cy="5748338"/>
            <a:chOff x="2256" y="576"/>
            <a:chExt cx="3312" cy="3621"/>
          </a:xfrm>
        </p:grpSpPr>
        <p:grpSp>
          <p:nvGrpSpPr>
            <p:cNvPr id="57388" name="Group 119">
              <a:extLst>
                <a:ext uri="{FF2B5EF4-FFF2-40B4-BE49-F238E27FC236}">
                  <a16:creationId xmlns:a16="http://schemas.microsoft.com/office/drawing/2014/main" id="{A7AB9CEA-9D2E-9F4E-EAE4-91A4E5DC8A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536"/>
              <a:ext cx="361" cy="864"/>
              <a:chOff x="3792" y="1392"/>
              <a:chExt cx="361" cy="864"/>
            </a:xfrm>
          </p:grpSpPr>
          <p:sp>
            <p:nvSpPr>
              <p:cNvPr id="57405" name="Line 120">
                <a:extLst>
                  <a:ext uri="{FF2B5EF4-FFF2-40B4-BE49-F238E27FC236}">
                    <a16:creationId xmlns:a16="http://schemas.microsoft.com/office/drawing/2014/main" id="{414AA03E-6217-8AF9-EBBD-34BB3E5B7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139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06" name="Text Box 121">
                <a:extLst>
                  <a:ext uri="{FF2B5EF4-FFF2-40B4-BE49-F238E27FC236}">
                    <a16:creationId xmlns:a16="http://schemas.microsoft.com/office/drawing/2014/main" id="{2E441BFD-9270-FA9B-AAAD-514E8E5175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1440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0</a:t>
                </a:r>
              </a:p>
            </p:txBody>
          </p:sp>
          <p:sp>
            <p:nvSpPr>
              <p:cNvPr id="57407" name="Line 122">
                <a:extLst>
                  <a:ext uri="{FF2B5EF4-FFF2-40B4-BE49-F238E27FC236}">
                    <a16:creationId xmlns:a16="http://schemas.microsoft.com/office/drawing/2014/main" id="{945BF459-B6D3-E78C-E894-0111D2158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168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08" name="Text Box 123">
                <a:extLst>
                  <a:ext uri="{FF2B5EF4-FFF2-40B4-BE49-F238E27FC236}">
                    <a16:creationId xmlns:a16="http://schemas.microsoft.com/office/drawing/2014/main" id="{7FC1FCCE-4DCB-6F13-3C14-238CC3620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8" y="1728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2</a:t>
                </a:r>
              </a:p>
            </p:txBody>
          </p:sp>
          <p:sp>
            <p:nvSpPr>
              <p:cNvPr id="57409" name="Line 124">
                <a:extLst>
                  <a:ext uri="{FF2B5EF4-FFF2-40B4-BE49-F238E27FC236}">
                    <a16:creationId xmlns:a16="http://schemas.microsoft.com/office/drawing/2014/main" id="{0644C5FD-D043-78A3-04C9-37477BDFBF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968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410" name="Text Box 125">
                <a:extLst>
                  <a:ext uri="{FF2B5EF4-FFF2-40B4-BE49-F238E27FC236}">
                    <a16:creationId xmlns:a16="http://schemas.microsoft.com/office/drawing/2014/main" id="{61BED873-5754-452B-F028-F2A3C2E81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2016"/>
                <a:ext cx="36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true</a:t>
                </a:r>
              </a:p>
            </p:txBody>
          </p:sp>
        </p:grpSp>
        <p:grpSp>
          <p:nvGrpSpPr>
            <p:cNvPr id="57389" name="Group 126">
              <a:extLst>
                <a:ext uri="{FF2B5EF4-FFF2-40B4-BE49-F238E27FC236}">
                  <a16:creationId xmlns:a16="http://schemas.microsoft.com/office/drawing/2014/main" id="{F280B341-CE5B-2B6F-AF09-CF6F8DC1EC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2880"/>
              <a:ext cx="864" cy="1317"/>
              <a:chOff x="3408" y="2880"/>
              <a:chExt cx="864" cy="1317"/>
            </a:xfrm>
          </p:grpSpPr>
          <p:grpSp>
            <p:nvGrpSpPr>
              <p:cNvPr id="57395" name="Group 127">
                <a:extLst>
                  <a:ext uri="{FF2B5EF4-FFF2-40B4-BE49-F238E27FC236}">
                    <a16:creationId xmlns:a16="http://schemas.microsoft.com/office/drawing/2014/main" id="{A07E8246-3731-CF12-2955-F35A3028C1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8" y="3072"/>
                <a:ext cx="864" cy="912"/>
                <a:chOff x="3408" y="3072"/>
                <a:chExt cx="864" cy="912"/>
              </a:xfrm>
            </p:grpSpPr>
            <p:sp>
              <p:nvSpPr>
                <p:cNvPr id="57398" name="Rectangle 128">
                  <a:extLst>
                    <a:ext uri="{FF2B5EF4-FFF2-40B4-BE49-F238E27FC236}">
                      <a16:creationId xmlns:a16="http://schemas.microsoft.com/office/drawing/2014/main" id="{DE687871-34B1-8879-C6D1-A348CD885B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6" y="3072"/>
                  <a:ext cx="720" cy="910"/>
                </a:xfrm>
                <a:prstGeom prst="rect">
                  <a:avLst/>
                </a:prstGeom>
                <a:solidFill>
                  <a:srgbClr val="A50021"/>
                </a:solidFill>
                <a:ln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buFont typeface="Wingdings" panose="05000000000000000000" pitchFamily="2" charset="2"/>
                    <a:buNone/>
                  </a:pPr>
                  <a:endParaRPr lang="fr-FR" altLang="id-ID" sz="1100">
                    <a:solidFill>
                      <a:schemeClr val="bg1"/>
                    </a:solidFill>
                    <a:latin typeface="Times" panose="02020603050405020304" pitchFamily="18" charset="0"/>
                  </a:endParaRPr>
                </a:p>
              </p:txBody>
            </p:sp>
            <p:sp>
              <p:nvSpPr>
                <p:cNvPr id="57399" name="Line 129">
                  <a:extLst>
                    <a:ext uri="{FF2B5EF4-FFF2-40B4-BE49-F238E27FC236}">
                      <a16:creationId xmlns:a16="http://schemas.microsoft.com/office/drawing/2014/main" id="{679191A5-928C-22F8-9F3A-1B5B3534F1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8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400" name="Line 130">
                  <a:extLst>
                    <a:ext uri="{FF2B5EF4-FFF2-40B4-BE49-F238E27FC236}">
                      <a16:creationId xmlns:a16="http://schemas.microsoft.com/office/drawing/2014/main" id="{2004E395-493E-0D16-223F-62DAAD6824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3072"/>
                  <a:ext cx="0" cy="912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401" name="Text Box 131">
                  <a:extLst>
                    <a:ext uri="{FF2B5EF4-FFF2-40B4-BE49-F238E27FC236}">
                      <a16:creationId xmlns:a16="http://schemas.microsoft.com/office/drawing/2014/main" id="{E3B8B05E-AD07-7A7C-88A8-138F6D3941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4" y="3072"/>
                  <a:ext cx="334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Time</a:t>
                  </a:r>
                </a:p>
              </p:txBody>
            </p:sp>
            <p:sp>
              <p:nvSpPr>
                <p:cNvPr id="57402" name="Text Box 132">
                  <a:extLst>
                    <a:ext uri="{FF2B5EF4-FFF2-40B4-BE49-F238E27FC236}">
                      <a16:creationId xmlns:a16="http://schemas.microsoft.com/office/drawing/2014/main" id="{D0EA7E79-85BF-F29A-F233-8481B055B1A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44" y="3072"/>
                  <a:ext cx="361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Event</a:t>
                  </a:r>
                </a:p>
              </p:txBody>
            </p:sp>
            <p:sp>
              <p:nvSpPr>
                <p:cNvPr id="57403" name="Text Box 133">
                  <a:extLst>
                    <a:ext uri="{FF2B5EF4-FFF2-40B4-BE49-F238E27FC236}">
                      <a16:creationId xmlns:a16="http://schemas.microsoft.com/office/drawing/2014/main" id="{F10353D2-69DA-9918-5863-A0A9C7D698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52" y="3600"/>
                  <a:ext cx="685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8   Depart F1</a:t>
                  </a:r>
                </a:p>
              </p:txBody>
            </p:sp>
            <p:sp>
              <p:nvSpPr>
                <p:cNvPr id="57404" name="Text Box 134">
                  <a:extLst>
                    <a:ext uri="{FF2B5EF4-FFF2-40B4-BE49-F238E27FC236}">
                      <a16:creationId xmlns:a16="http://schemas.microsoft.com/office/drawing/2014/main" id="{B9D7AD65-2E3B-3483-C8D1-2ACA405BA8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04" y="3763"/>
                  <a:ext cx="737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11   Depart F2</a:t>
                  </a:r>
                </a:p>
              </p:txBody>
            </p:sp>
          </p:grpSp>
          <p:sp>
            <p:nvSpPr>
              <p:cNvPr id="57396" name="Text Box 135">
                <a:extLst>
                  <a:ext uri="{FF2B5EF4-FFF2-40B4-BE49-F238E27FC236}">
                    <a16:creationId xmlns:a16="http://schemas.microsoft.com/office/drawing/2014/main" id="{5E3AA207-AA55-CF69-1357-29993B88D7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2880"/>
                <a:ext cx="720" cy="16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Font typeface="Wingdings" panose="05000000000000000000" pitchFamily="2" charset="2"/>
                  <a:buNone/>
                </a:pPr>
                <a:r>
                  <a:rPr lang="en-US" altLang="id-ID" sz="1100">
                    <a:latin typeface="Courier" pitchFamily="80" charset="0"/>
                  </a:rPr>
                  <a:t>Landed F2</a:t>
                </a:r>
                <a:endParaRPr lang="en-US" altLang="id-ID" sz="1200">
                  <a:latin typeface="Courier" pitchFamily="80" charset="0"/>
                </a:endParaRPr>
              </a:p>
            </p:txBody>
          </p:sp>
          <p:sp>
            <p:nvSpPr>
              <p:cNvPr id="57397" name="Text Box 136">
                <a:extLst>
                  <a:ext uri="{FF2B5EF4-FFF2-40B4-BE49-F238E27FC236}">
                    <a16:creationId xmlns:a16="http://schemas.microsoft.com/office/drawing/2014/main" id="{965B9F28-7132-46DB-FA59-B7C2F505D9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30" y="3984"/>
                <a:ext cx="5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Now=7</a:t>
                </a:r>
              </a:p>
            </p:txBody>
          </p:sp>
        </p:grpSp>
        <p:grpSp>
          <p:nvGrpSpPr>
            <p:cNvPr id="57390" name="Group 137">
              <a:extLst>
                <a:ext uri="{FF2B5EF4-FFF2-40B4-BE49-F238E27FC236}">
                  <a16:creationId xmlns:a16="http://schemas.microsoft.com/office/drawing/2014/main" id="{E0C4370C-1FDF-296D-4982-3CFC5B630D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576"/>
              <a:ext cx="3312" cy="864"/>
              <a:chOff x="288" y="720"/>
              <a:chExt cx="3312" cy="864"/>
            </a:xfrm>
          </p:grpSpPr>
          <p:sp>
            <p:nvSpPr>
              <p:cNvPr id="57391" name="Rectangle 138">
                <a:extLst>
                  <a:ext uri="{FF2B5EF4-FFF2-40B4-BE49-F238E27FC236}">
                    <a16:creationId xmlns:a16="http://schemas.microsoft.com/office/drawing/2014/main" id="{21ABB65B-E5BC-F045-DE2B-0F87FC95F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720"/>
                <a:ext cx="3312" cy="864"/>
              </a:xfrm>
              <a:prstGeom prst="rect">
                <a:avLst/>
              </a:prstGeom>
              <a:solidFill>
                <a:srgbClr val="33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sp>
            <p:nvSpPr>
              <p:cNvPr id="57392" name="AutoShape 139">
                <a:extLst>
                  <a:ext uri="{FF2B5EF4-FFF2-40B4-BE49-F238E27FC236}">
                    <a16:creationId xmlns:a16="http://schemas.microsoft.com/office/drawing/2014/main" id="{F41E3221-AF7D-6E84-82E3-4E294EE44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344"/>
                <a:ext cx="2064" cy="96"/>
              </a:xfrm>
              <a:prstGeom prst="parallelogram">
                <a:avLst>
                  <a:gd name="adj" fmla="val 156273"/>
                </a:avLst>
              </a:prstGeom>
              <a:solidFill>
                <a:srgbClr val="0000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pic>
            <p:nvPicPr>
              <p:cNvPr id="57393" name="Picture 140">
                <a:extLst>
                  <a:ext uri="{FF2B5EF4-FFF2-40B4-BE49-F238E27FC236}">
                    <a16:creationId xmlns:a16="http://schemas.microsoft.com/office/drawing/2014/main" id="{327954B2-E522-218B-8FF1-5691D70B31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816"/>
                <a:ext cx="32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394" name="Picture 141">
                <a:extLst>
                  <a:ext uri="{FF2B5EF4-FFF2-40B4-BE49-F238E27FC236}">
                    <a16:creationId xmlns:a16="http://schemas.microsoft.com/office/drawing/2014/main" id="{31A65AD7-40E7-8636-16DB-32EC7FCC6C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" y="816"/>
                <a:ext cx="32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" name="Group 142">
            <a:extLst>
              <a:ext uri="{FF2B5EF4-FFF2-40B4-BE49-F238E27FC236}">
                <a16:creationId xmlns:a16="http://schemas.microsoft.com/office/drawing/2014/main" id="{041EACC9-458B-2E1A-802D-A802346139E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914400"/>
            <a:ext cx="5257800" cy="5748338"/>
            <a:chOff x="2256" y="576"/>
            <a:chExt cx="3312" cy="3621"/>
          </a:xfrm>
        </p:grpSpPr>
        <p:grpSp>
          <p:nvGrpSpPr>
            <p:cNvPr id="57370" name="Group 143">
              <a:extLst>
                <a:ext uri="{FF2B5EF4-FFF2-40B4-BE49-F238E27FC236}">
                  <a16:creationId xmlns:a16="http://schemas.microsoft.com/office/drawing/2014/main" id="{0623C561-DC85-B33F-174D-52D0FDAD2C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14" y="1824"/>
              <a:ext cx="236" cy="288"/>
              <a:chOff x="2304" y="1392"/>
              <a:chExt cx="236" cy="288"/>
            </a:xfrm>
          </p:grpSpPr>
          <p:sp>
            <p:nvSpPr>
              <p:cNvPr id="57386" name="Line 144">
                <a:extLst>
                  <a:ext uri="{FF2B5EF4-FFF2-40B4-BE49-F238E27FC236}">
                    <a16:creationId xmlns:a16="http://schemas.microsoft.com/office/drawing/2014/main" id="{2ED20248-3F00-EF95-567A-BFF5CA6439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4" y="139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387" name="Text Box 145">
                <a:extLst>
                  <a:ext uri="{FF2B5EF4-FFF2-40B4-BE49-F238E27FC236}">
                    <a16:creationId xmlns:a16="http://schemas.microsoft.com/office/drawing/2014/main" id="{8159E658-FF3B-6A7F-5DD8-F5E5DAC5CA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440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1</a:t>
                </a:r>
              </a:p>
            </p:txBody>
          </p:sp>
        </p:grpSp>
        <p:grpSp>
          <p:nvGrpSpPr>
            <p:cNvPr id="57371" name="Group 146">
              <a:extLst>
                <a:ext uri="{FF2B5EF4-FFF2-40B4-BE49-F238E27FC236}">
                  <a16:creationId xmlns:a16="http://schemas.microsoft.com/office/drawing/2014/main" id="{C25FB20E-2DAD-BB43-2F99-EE3D7C9888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880"/>
              <a:ext cx="864" cy="1317"/>
              <a:chOff x="4320" y="2880"/>
              <a:chExt cx="864" cy="1317"/>
            </a:xfrm>
          </p:grpSpPr>
          <p:grpSp>
            <p:nvGrpSpPr>
              <p:cNvPr id="57377" name="Group 147">
                <a:extLst>
                  <a:ext uri="{FF2B5EF4-FFF2-40B4-BE49-F238E27FC236}">
                    <a16:creationId xmlns:a16="http://schemas.microsoft.com/office/drawing/2014/main" id="{1B72C61E-A336-1471-B767-88BBD968AD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0" y="3072"/>
                <a:ext cx="864" cy="912"/>
                <a:chOff x="4320" y="3072"/>
                <a:chExt cx="864" cy="912"/>
              </a:xfrm>
            </p:grpSpPr>
            <p:sp>
              <p:nvSpPr>
                <p:cNvPr id="57380" name="Rectangle 148">
                  <a:extLst>
                    <a:ext uri="{FF2B5EF4-FFF2-40B4-BE49-F238E27FC236}">
                      <a16:creationId xmlns:a16="http://schemas.microsoft.com/office/drawing/2014/main" id="{330711B9-8051-66B7-5DF2-2CCF089233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20" y="3072"/>
                  <a:ext cx="768" cy="910"/>
                </a:xfrm>
                <a:prstGeom prst="rect">
                  <a:avLst/>
                </a:prstGeom>
                <a:solidFill>
                  <a:srgbClr val="A50021"/>
                </a:solidFill>
                <a:ln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buFont typeface="Wingdings" panose="05000000000000000000" pitchFamily="2" charset="2"/>
                    <a:buNone/>
                  </a:pPr>
                  <a:endParaRPr lang="fr-FR" altLang="id-ID" sz="1100">
                    <a:solidFill>
                      <a:schemeClr val="bg1"/>
                    </a:solidFill>
                    <a:latin typeface="Times" panose="02020603050405020304" pitchFamily="18" charset="0"/>
                  </a:endParaRPr>
                </a:p>
              </p:txBody>
            </p:sp>
            <p:sp>
              <p:nvSpPr>
                <p:cNvPr id="57381" name="Line 149">
                  <a:extLst>
                    <a:ext uri="{FF2B5EF4-FFF2-40B4-BE49-F238E27FC236}">
                      <a16:creationId xmlns:a16="http://schemas.microsoft.com/office/drawing/2014/main" id="{EEB3EEF3-0FF4-8EA6-7DEB-BD603B904D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0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382" name="Line 150">
                  <a:extLst>
                    <a:ext uri="{FF2B5EF4-FFF2-40B4-BE49-F238E27FC236}">
                      <a16:creationId xmlns:a16="http://schemas.microsoft.com/office/drawing/2014/main" id="{DE23BA2E-5D3D-3621-B250-E9E92DB4AC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8" y="3072"/>
                  <a:ext cx="0" cy="912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383" name="Text Box 151">
                  <a:extLst>
                    <a:ext uri="{FF2B5EF4-FFF2-40B4-BE49-F238E27FC236}">
                      <a16:creationId xmlns:a16="http://schemas.microsoft.com/office/drawing/2014/main" id="{3A4CAEE9-A6D3-065D-915D-7BAE1CE1A5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0" y="3072"/>
                  <a:ext cx="334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Time</a:t>
                  </a:r>
                </a:p>
              </p:txBody>
            </p:sp>
            <p:sp>
              <p:nvSpPr>
                <p:cNvPr id="57384" name="Text Box 152">
                  <a:extLst>
                    <a:ext uri="{FF2B5EF4-FFF2-40B4-BE49-F238E27FC236}">
                      <a16:creationId xmlns:a16="http://schemas.microsoft.com/office/drawing/2014/main" id="{9FBAE421-3FEB-F512-5723-36B3A419C2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56" y="3072"/>
                  <a:ext cx="361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Event</a:t>
                  </a:r>
                </a:p>
              </p:txBody>
            </p:sp>
            <p:sp>
              <p:nvSpPr>
                <p:cNvPr id="57385" name="Text Box 153">
                  <a:extLst>
                    <a:ext uri="{FF2B5EF4-FFF2-40B4-BE49-F238E27FC236}">
                      <a16:creationId xmlns:a16="http://schemas.microsoft.com/office/drawing/2014/main" id="{E3E68054-11E2-2004-3DC8-2652AB59E4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16" y="3763"/>
                  <a:ext cx="737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11   Depart F2</a:t>
                  </a:r>
                </a:p>
              </p:txBody>
            </p:sp>
          </p:grpSp>
          <p:sp>
            <p:nvSpPr>
              <p:cNvPr id="57378" name="Text Box 154">
                <a:extLst>
                  <a:ext uri="{FF2B5EF4-FFF2-40B4-BE49-F238E27FC236}">
                    <a16:creationId xmlns:a16="http://schemas.microsoft.com/office/drawing/2014/main" id="{0546C69E-F75A-E2F7-6CAF-38EE1126A1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2880"/>
                <a:ext cx="768" cy="17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Font typeface="Wingdings" panose="05000000000000000000" pitchFamily="2" charset="2"/>
                  <a:buNone/>
                </a:pPr>
                <a:r>
                  <a:rPr lang="en-US" altLang="id-ID" sz="1200">
                    <a:latin typeface="Courier" pitchFamily="80" charset="0"/>
                  </a:rPr>
                  <a:t>Depart F1</a:t>
                </a:r>
              </a:p>
            </p:txBody>
          </p:sp>
          <p:sp>
            <p:nvSpPr>
              <p:cNvPr id="57379" name="Text Box 155">
                <a:extLst>
                  <a:ext uri="{FF2B5EF4-FFF2-40B4-BE49-F238E27FC236}">
                    <a16:creationId xmlns:a16="http://schemas.microsoft.com/office/drawing/2014/main" id="{B993CE20-C34A-FC73-7DDE-323A495C64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6" y="3984"/>
                <a:ext cx="5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Now=8</a:t>
                </a:r>
              </a:p>
            </p:txBody>
          </p:sp>
        </p:grpSp>
        <p:grpSp>
          <p:nvGrpSpPr>
            <p:cNvPr id="57372" name="Group 156">
              <a:extLst>
                <a:ext uri="{FF2B5EF4-FFF2-40B4-BE49-F238E27FC236}">
                  <a16:creationId xmlns:a16="http://schemas.microsoft.com/office/drawing/2014/main" id="{48612F34-FFBD-3513-9C65-FE8ED13B3B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576"/>
              <a:ext cx="3312" cy="864"/>
              <a:chOff x="288" y="720"/>
              <a:chExt cx="3312" cy="864"/>
            </a:xfrm>
          </p:grpSpPr>
          <p:sp>
            <p:nvSpPr>
              <p:cNvPr id="57373" name="Rectangle 157">
                <a:extLst>
                  <a:ext uri="{FF2B5EF4-FFF2-40B4-BE49-F238E27FC236}">
                    <a16:creationId xmlns:a16="http://schemas.microsoft.com/office/drawing/2014/main" id="{31F81AC1-CC78-C631-0122-D441CFF90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720"/>
                <a:ext cx="3312" cy="864"/>
              </a:xfrm>
              <a:prstGeom prst="rect">
                <a:avLst/>
              </a:prstGeom>
              <a:solidFill>
                <a:srgbClr val="33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sp>
            <p:nvSpPr>
              <p:cNvPr id="57374" name="AutoShape 158">
                <a:extLst>
                  <a:ext uri="{FF2B5EF4-FFF2-40B4-BE49-F238E27FC236}">
                    <a16:creationId xmlns:a16="http://schemas.microsoft.com/office/drawing/2014/main" id="{5E0D9317-76B9-3BB2-7AD8-DC8DD5C54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344"/>
                <a:ext cx="2064" cy="96"/>
              </a:xfrm>
              <a:prstGeom prst="parallelogram">
                <a:avLst>
                  <a:gd name="adj" fmla="val 156273"/>
                </a:avLst>
              </a:prstGeom>
              <a:solidFill>
                <a:srgbClr val="0000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pic>
            <p:nvPicPr>
              <p:cNvPr id="57375" name="Picture 159">
                <a:extLst>
                  <a:ext uri="{FF2B5EF4-FFF2-40B4-BE49-F238E27FC236}">
                    <a16:creationId xmlns:a16="http://schemas.microsoft.com/office/drawing/2014/main" id="{BBC713FD-F431-587A-F1A7-F883BC91C0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" y="816"/>
                <a:ext cx="326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376" name="Picture 160">
                <a:extLst>
                  <a:ext uri="{FF2B5EF4-FFF2-40B4-BE49-F238E27FC236}">
                    <a16:creationId xmlns:a16="http://schemas.microsoft.com/office/drawing/2014/main" id="{0A0EADE4-21F0-40EA-1A4E-AC7D332AFF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40" y="1056"/>
                <a:ext cx="468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1" name="Group 161">
            <a:extLst>
              <a:ext uri="{FF2B5EF4-FFF2-40B4-BE49-F238E27FC236}">
                <a16:creationId xmlns:a16="http://schemas.microsoft.com/office/drawing/2014/main" id="{D0DB0D49-3F90-5FA8-E4C7-C29BBCF3A04E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914400"/>
            <a:ext cx="5638800" cy="5748338"/>
            <a:chOff x="2256" y="576"/>
            <a:chExt cx="3552" cy="3621"/>
          </a:xfrm>
        </p:grpSpPr>
        <p:grpSp>
          <p:nvGrpSpPr>
            <p:cNvPr id="57354" name="Group 162">
              <a:extLst>
                <a:ext uri="{FF2B5EF4-FFF2-40B4-BE49-F238E27FC236}">
                  <a16:creationId xmlns:a16="http://schemas.microsoft.com/office/drawing/2014/main" id="{EA9B9038-BF48-ED2C-39C2-EFF2A2822A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66" y="1824"/>
              <a:ext cx="236" cy="288"/>
              <a:chOff x="2304" y="1392"/>
              <a:chExt cx="236" cy="288"/>
            </a:xfrm>
          </p:grpSpPr>
          <p:sp>
            <p:nvSpPr>
              <p:cNvPr id="57368" name="Line 163">
                <a:extLst>
                  <a:ext uri="{FF2B5EF4-FFF2-40B4-BE49-F238E27FC236}">
                    <a16:creationId xmlns:a16="http://schemas.microsoft.com/office/drawing/2014/main" id="{52BD36FD-8B2D-8CE7-5B97-B2E27666E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4" y="139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D"/>
              </a:p>
            </p:txBody>
          </p:sp>
          <p:sp>
            <p:nvSpPr>
              <p:cNvPr id="57369" name="Text Box 164">
                <a:extLst>
                  <a:ext uri="{FF2B5EF4-FFF2-40B4-BE49-F238E27FC236}">
                    <a16:creationId xmlns:a16="http://schemas.microsoft.com/office/drawing/2014/main" id="{2D55F216-CA86-0A01-1C51-2126C45768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440"/>
                <a:ext cx="18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0</a:t>
                </a:r>
              </a:p>
            </p:txBody>
          </p:sp>
        </p:grpSp>
        <p:grpSp>
          <p:nvGrpSpPr>
            <p:cNvPr id="57355" name="Group 165">
              <a:extLst>
                <a:ext uri="{FF2B5EF4-FFF2-40B4-BE49-F238E27FC236}">
                  <a16:creationId xmlns:a16="http://schemas.microsoft.com/office/drawing/2014/main" id="{D49DB34F-DA22-9521-F392-52434E29BC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2880"/>
              <a:ext cx="864" cy="1317"/>
              <a:chOff x="4944" y="2880"/>
              <a:chExt cx="864" cy="1317"/>
            </a:xfrm>
          </p:grpSpPr>
          <p:grpSp>
            <p:nvGrpSpPr>
              <p:cNvPr id="57360" name="Group 166">
                <a:extLst>
                  <a:ext uri="{FF2B5EF4-FFF2-40B4-BE49-F238E27FC236}">
                    <a16:creationId xmlns:a16="http://schemas.microsoft.com/office/drawing/2014/main" id="{F63D0EEE-F8DB-633F-0CA7-832A4CDEC8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44" y="3072"/>
                <a:ext cx="864" cy="912"/>
                <a:chOff x="4944" y="3072"/>
                <a:chExt cx="864" cy="912"/>
              </a:xfrm>
            </p:grpSpPr>
            <p:sp>
              <p:nvSpPr>
                <p:cNvPr id="57363" name="Rectangle 167">
                  <a:extLst>
                    <a:ext uri="{FF2B5EF4-FFF2-40B4-BE49-F238E27FC236}">
                      <a16:creationId xmlns:a16="http://schemas.microsoft.com/office/drawing/2014/main" id="{6D33DE1B-0D7F-600A-CEAC-6AE024D3BC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44" y="3072"/>
                  <a:ext cx="768" cy="910"/>
                </a:xfrm>
                <a:prstGeom prst="rect">
                  <a:avLst/>
                </a:prstGeom>
                <a:solidFill>
                  <a:srgbClr val="A50021"/>
                </a:solidFill>
                <a:ln w="12700">
                  <a:solidFill>
                    <a:schemeClr val="bg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buFont typeface="Wingdings" panose="05000000000000000000" pitchFamily="2" charset="2"/>
                    <a:buNone/>
                  </a:pPr>
                  <a:endParaRPr lang="fr-FR" altLang="id-ID" sz="1100">
                    <a:solidFill>
                      <a:schemeClr val="bg1"/>
                    </a:solidFill>
                    <a:latin typeface="Times" panose="02020603050405020304" pitchFamily="18" charset="0"/>
                  </a:endParaRPr>
                </a:p>
              </p:txBody>
            </p:sp>
            <p:sp>
              <p:nvSpPr>
                <p:cNvPr id="57364" name="Line 168">
                  <a:extLst>
                    <a:ext uri="{FF2B5EF4-FFF2-40B4-BE49-F238E27FC236}">
                      <a16:creationId xmlns:a16="http://schemas.microsoft.com/office/drawing/2014/main" id="{82339F27-8C3F-31C5-57FE-A8F9899975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4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365" name="Line 169">
                  <a:extLst>
                    <a:ext uri="{FF2B5EF4-FFF2-40B4-BE49-F238E27FC236}">
                      <a16:creationId xmlns:a16="http://schemas.microsoft.com/office/drawing/2014/main" id="{AF408154-7EAD-2CFA-57BA-C1BCA0D7E6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32" y="3072"/>
                  <a:ext cx="0" cy="912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ID"/>
                </a:p>
              </p:txBody>
            </p:sp>
            <p:sp>
              <p:nvSpPr>
                <p:cNvPr id="57366" name="Text Box 170">
                  <a:extLst>
                    <a:ext uri="{FF2B5EF4-FFF2-40B4-BE49-F238E27FC236}">
                      <a16:creationId xmlns:a16="http://schemas.microsoft.com/office/drawing/2014/main" id="{1EC485FC-21A4-1F43-AF6F-63A997E63C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44" y="3072"/>
                  <a:ext cx="334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Time</a:t>
                  </a:r>
                </a:p>
              </p:txBody>
            </p:sp>
            <p:sp>
              <p:nvSpPr>
                <p:cNvPr id="57367" name="Text Box 171">
                  <a:extLst>
                    <a:ext uri="{FF2B5EF4-FFF2-40B4-BE49-F238E27FC236}">
                      <a16:creationId xmlns:a16="http://schemas.microsoft.com/office/drawing/2014/main" id="{E61CC7BB-1FF4-3448-A70A-0093BAF6AB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280" y="3072"/>
                  <a:ext cx="361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buFont typeface="Wingdings" panose="05000000000000000000" pitchFamily="2" charset="2"/>
                    <a:buNone/>
                  </a:pPr>
                  <a:r>
                    <a:rPr lang="en-US" altLang="id-ID" sz="1100">
                      <a:solidFill>
                        <a:schemeClr val="bg1"/>
                      </a:solidFill>
                      <a:latin typeface="Times" panose="02020603050405020304" pitchFamily="18" charset="0"/>
                    </a:rPr>
                    <a:t>Event</a:t>
                  </a:r>
                </a:p>
              </p:txBody>
            </p:sp>
          </p:grpSp>
          <p:sp>
            <p:nvSpPr>
              <p:cNvPr id="57361" name="Text Box 172">
                <a:extLst>
                  <a:ext uri="{FF2B5EF4-FFF2-40B4-BE49-F238E27FC236}">
                    <a16:creationId xmlns:a16="http://schemas.microsoft.com/office/drawing/2014/main" id="{DA4994E1-7F6B-EC6A-E618-BB7CF0DCDA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44" y="2880"/>
                <a:ext cx="768" cy="17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buFont typeface="Wingdings" panose="05000000000000000000" pitchFamily="2" charset="2"/>
                  <a:buNone/>
                </a:pPr>
                <a:r>
                  <a:rPr lang="en-US" altLang="id-ID" sz="1200">
                    <a:latin typeface="Courier" pitchFamily="80" charset="0"/>
                  </a:rPr>
                  <a:t>Depart F2</a:t>
                </a:r>
              </a:p>
            </p:txBody>
          </p:sp>
          <p:sp>
            <p:nvSpPr>
              <p:cNvPr id="57362" name="Text Box 173">
                <a:extLst>
                  <a:ext uri="{FF2B5EF4-FFF2-40B4-BE49-F238E27FC236}">
                    <a16:creationId xmlns:a16="http://schemas.microsoft.com/office/drawing/2014/main" id="{8A58B5FC-1F13-126C-9281-CF171414E3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0" y="3984"/>
                <a:ext cx="60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en-US" altLang="id-ID" sz="1600" b="1">
                    <a:latin typeface="Courier" pitchFamily="80" charset="0"/>
                  </a:rPr>
                  <a:t>Now=11</a:t>
                </a:r>
              </a:p>
            </p:txBody>
          </p:sp>
        </p:grpSp>
        <p:grpSp>
          <p:nvGrpSpPr>
            <p:cNvPr id="57356" name="Group 174">
              <a:extLst>
                <a:ext uri="{FF2B5EF4-FFF2-40B4-BE49-F238E27FC236}">
                  <a16:creationId xmlns:a16="http://schemas.microsoft.com/office/drawing/2014/main" id="{399C8960-9748-6CB0-F31B-A894CE7F7A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576"/>
              <a:ext cx="3312" cy="864"/>
              <a:chOff x="480" y="480"/>
              <a:chExt cx="3312" cy="864"/>
            </a:xfrm>
          </p:grpSpPr>
          <p:sp>
            <p:nvSpPr>
              <p:cNvPr id="57357" name="Rectangle 175">
                <a:extLst>
                  <a:ext uri="{FF2B5EF4-FFF2-40B4-BE49-F238E27FC236}">
                    <a16:creationId xmlns:a16="http://schemas.microsoft.com/office/drawing/2014/main" id="{C3A33147-E14B-CA37-EA04-438895632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480"/>
                <a:ext cx="3312" cy="864"/>
              </a:xfrm>
              <a:prstGeom prst="rect">
                <a:avLst/>
              </a:prstGeom>
              <a:solidFill>
                <a:srgbClr val="33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sp>
            <p:nvSpPr>
              <p:cNvPr id="57358" name="AutoShape 176">
                <a:extLst>
                  <a:ext uri="{FF2B5EF4-FFF2-40B4-BE49-F238E27FC236}">
                    <a16:creationId xmlns:a16="http://schemas.microsoft.com/office/drawing/2014/main" id="{36CB59FD-B64C-AC27-EA9D-73AEFB42A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104"/>
                <a:ext cx="2064" cy="96"/>
              </a:xfrm>
              <a:prstGeom prst="parallelogram">
                <a:avLst>
                  <a:gd name="adj" fmla="val 156273"/>
                </a:avLst>
              </a:prstGeom>
              <a:solidFill>
                <a:srgbClr val="0000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endParaRPr lang="fr-FR" altLang="id-ID" sz="2000"/>
              </a:p>
            </p:txBody>
          </p:sp>
          <p:pic>
            <p:nvPicPr>
              <p:cNvPr id="57359" name="Picture 177">
                <a:extLst>
                  <a:ext uri="{FF2B5EF4-FFF2-40B4-BE49-F238E27FC236}">
                    <a16:creationId xmlns:a16="http://schemas.microsoft.com/office/drawing/2014/main" id="{1F0601B7-C034-D2F3-4ABE-54FB767895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32" y="816"/>
                <a:ext cx="468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705DCF1F-0265-F7F6-A39C-24114B374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Output Statistics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9D45C79-0D74-BFEA-3091-0285E616642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85750" y="1571625"/>
            <a:ext cx="8572500" cy="5057775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lnSpc>
                <a:spcPts val="24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dirty="0">
                <a:cs typeface="+mj-cs"/>
              </a:rPr>
              <a:t>Compute</a:t>
            </a:r>
          </a:p>
          <a:p>
            <a:pPr marL="320040" indent="-320040" eaLnBrk="1" fontAlgn="auto" hangingPunct="1">
              <a:lnSpc>
                <a:spcPts val="24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 dirty="0">
                <a:cs typeface="+mj-cs"/>
              </a:rPr>
              <a:t>The maximum number of aircraft that will be on the ground at one time</a:t>
            </a:r>
          </a:p>
          <a:p>
            <a:pPr marL="320040" indent="-320040" eaLnBrk="1" fontAlgn="auto" hangingPunct="1">
              <a:lnSpc>
                <a:spcPts val="24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 dirty="0">
                <a:cs typeface="+mj-cs"/>
              </a:rPr>
              <a:t>Average time an aircraft must wait before they are allowed to land</a:t>
            </a:r>
          </a:p>
          <a:p>
            <a:pPr marL="320040" indent="-320040" eaLnBrk="1" fontAlgn="auto" hangingPunct="1">
              <a:lnSpc>
                <a:spcPts val="2400"/>
              </a:lnSpc>
              <a:spcAft>
                <a:spcPts val="0"/>
              </a:spcAft>
              <a:buFont typeface="Wingdings"/>
              <a:buChar char=""/>
              <a:defRPr/>
            </a:pPr>
            <a:endParaRPr lang="en-US" sz="2000" dirty="0">
              <a:cs typeface="+mj-cs"/>
            </a:endParaRPr>
          </a:p>
          <a:p>
            <a:pPr marL="320040" indent="-320040" eaLnBrk="1" fontAlgn="auto" hangingPunct="1">
              <a:lnSpc>
                <a:spcPts val="24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dirty="0">
                <a:cs typeface="+mj-cs"/>
              </a:rPr>
              <a:t>Solution</a:t>
            </a:r>
          </a:p>
          <a:p>
            <a:pPr marL="320040" indent="-320040" eaLnBrk="1" fontAlgn="auto" hangingPunct="1">
              <a:lnSpc>
                <a:spcPts val="24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 dirty="0">
                <a:cs typeface="+mj-cs"/>
              </a:rPr>
              <a:t>Maximum on ground</a:t>
            </a:r>
          </a:p>
          <a:p>
            <a:pPr marL="640080" lvl="1" indent="-274320" eaLnBrk="1" fontAlgn="auto" hangingPunct="1">
              <a:lnSpc>
                <a:spcPts val="24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 b="1" dirty="0" err="1">
                <a:solidFill>
                  <a:srgbClr val="CC0000"/>
                </a:solidFill>
              </a:rPr>
              <a:t>OnTheGround</a:t>
            </a:r>
            <a:r>
              <a:rPr lang="en-US" sz="1800" b="1" dirty="0">
                <a:solidFill>
                  <a:srgbClr val="CC0000"/>
                </a:solidFill>
              </a:rPr>
              <a:t>: </a:t>
            </a:r>
            <a:r>
              <a:rPr lang="en-US" sz="1800" dirty="0">
                <a:cs typeface="+mj-cs"/>
              </a:rPr>
              <a:t>indicate the number of aircraft currently on ground</a:t>
            </a:r>
          </a:p>
          <a:p>
            <a:pPr marL="640080" lvl="1" indent="-274320" eaLnBrk="1" fontAlgn="auto" hangingPunct="1">
              <a:lnSpc>
                <a:spcPts val="24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 dirty="0">
                <a:cs typeface="+mj-cs"/>
              </a:rPr>
              <a:t>Maximum “on the ground” = Max (</a:t>
            </a:r>
            <a:r>
              <a:rPr lang="en-US" sz="1800" i="1" dirty="0" err="1">
                <a:cs typeface="+mj-cs"/>
              </a:rPr>
              <a:t>OnTheGround</a:t>
            </a:r>
            <a:r>
              <a:rPr lang="en-US" sz="1800" dirty="0">
                <a:cs typeface="+mj-cs"/>
              </a:rPr>
              <a:t>).</a:t>
            </a:r>
          </a:p>
          <a:p>
            <a:pPr marL="320040" indent="-320040" eaLnBrk="1" fontAlgn="auto" hangingPunct="1">
              <a:lnSpc>
                <a:spcPts val="24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 dirty="0">
                <a:cs typeface="+mj-cs"/>
              </a:rPr>
              <a:t>Average Waiting time</a:t>
            </a:r>
          </a:p>
          <a:p>
            <a:pPr marL="640080" lvl="1" indent="-274320" eaLnBrk="1" fontAlgn="auto" hangingPunct="1">
              <a:lnSpc>
                <a:spcPts val="24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1800" dirty="0">
                <a:cs typeface="+mj-cs"/>
              </a:rPr>
              <a:t>Compute the Waiting time for each aircraft: </a:t>
            </a:r>
            <a:r>
              <a:rPr lang="en-US" sz="1800" i="1" dirty="0" err="1">
                <a:latin typeface="Cambria" pitchFamily="18" charset="0"/>
                <a:cs typeface="+mj-cs"/>
              </a:rPr>
              <a:t>W</a:t>
            </a:r>
            <a:r>
              <a:rPr lang="en-US" sz="1800" dirty="0" err="1">
                <a:latin typeface="Cambria" pitchFamily="18" charset="0"/>
                <a:cs typeface="+mj-cs"/>
              </a:rPr>
              <a:t>i</a:t>
            </a:r>
            <a:r>
              <a:rPr lang="en-US" sz="1800" dirty="0">
                <a:latin typeface="Cambria" pitchFamily="18" charset="0"/>
                <a:cs typeface="+mj-cs"/>
              </a:rPr>
              <a:t> = Arrival time – Landing Time</a:t>
            </a:r>
          </a:p>
          <a:p>
            <a:pPr marL="640080" lvl="1" indent="-274320" eaLnBrk="1" fontAlgn="auto" hangingPunct="1">
              <a:lnSpc>
                <a:spcPts val="24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fr-FR" sz="1800" dirty="0" err="1">
                <a:cs typeface="+mj-cs"/>
              </a:rPr>
              <a:t>Compute</a:t>
            </a:r>
            <a:r>
              <a:rPr lang="fr-FR" sz="1800" dirty="0">
                <a:cs typeface="+mj-cs"/>
              </a:rPr>
              <a:t> the total </a:t>
            </a:r>
            <a:r>
              <a:rPr lang="fr-FR" sz="1800" dirty="0" err="1">
                <a:cs typeface="+mj-cs"/>
              </a:rPr>
              <a:t>sum</a:t>
            </a:r>
            <a:r>
              <a:rPr lang="fr-FR" sz="1800" dirty="0">
                <a:cs typeface="+mj-cs"/>
              </a:rPr>
              <a:t> of all </a:t>
            </a:r>
            <a:r>
              <a:rPr lang="fr-FR" sz="1800" dirty="0" err="1">
                <a:cs typeface="+mj-cs"/>
              </a:rPr>
              <a:t>waiting</a:t>
            </a:r>
            <a:r>
              <a:rPr lang="fr-FR" sz="1800" dirty="0">
                <a:cs typeface="+mj-cs"/>
              </a:rPr>
              <a:t> times: </a:t>
            </a:r>
            <a:r>
              <a:rPr lang="fr-FR" sz="1800" i="1" dirty="0" err="1">
                <a:latin typeface="Cambria" pitchFamily="18" charset="0"/>
                <a:cs typeface="+mj-cs"/>
              </a:rPr>
              <a:t>W</a:t>
            </a:r>
            <a:r>
              <a:rPr lang="fr-FR" sz="1800" baseline="-25000" dirty="0" err="1">
                <a:latin typeface="Cambria" pitchFamily="18" charset="0"/>
                <a:cs typeface="+mj-cs"/>
              </a:rPr>
              <a:t>total</a:t>
            </a:r>
            <a:r>
              <a:rPr lang="fr-FR" sz="1800" dirty="0">
                <a:latin typeface="Cambria" pitchFamily="18" charset="0"/>
                <a:cs typeface="+mj-cs"/>
              </a:rPr>
              <a:t>= </a:t>
            </a:r>
            <a:r>
              <a:rPr lang="fr-FR" sz="1800" dirty="0" err="1">
                <a:latin typeface="Cambria" pitchFamily="18" charset="0"/>
                <a:cs typeface="+mj-cs"/>
              </a:rPr>
              <a:t>sum</a:t>
            </a:r>
            <a:r>
              <a:rPr lang="fr-FR" sz="1800" dirty="0">
                <a:latin typeface="Cambria" pitchFamily="18" charset="0"/>
                <a:cs typeface="+mj-cs"/>
              </a:rPr>
              <a:t>(W</a:t>
            </a:r>
            <a:r>
              <a:rPr lang="fr-FR" sz="1800" baseline="-25000" dirty="0">
                <a:latin typeface="Cambria" pitchFamily="18" charset="0"/>
                <a:cs typeface="+mj-cs"/>
              </a:rPr>
              <a:t>i</a:t>
            </a:r>
            <a:r>
              <a:rPr lang="fr-FR" sz="1800" dirty="0">
                <a:latin typeface="Cambria" pitchFamily="18" charset="0"/>
                <a:cs typeface="+mj-cs"/>
              </a:rPr>
              <a:t>)</a:t>
            </a:r>
          </a:p>
          <a:p>
            <a:pPr marL="640080" lvl="1" indent="-274320" eaLnBrk="1" fontAlgn="auto" hangingPunct="1">
              <a:lnSpc>
                <a:spcPts val="24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fr-FR" sz="1800" dirty="0" err="1">
                <a:cs typeface="+mj-cs"/>
              </a:rPr>
              <a:t>Compute</a:t>
            </a:r>
            <a:r>
              <a:rPr lang="fr-FR" sz="1800" dirty="0">
                <a:cs typeface="+mj-cs"/>
              </a:rPr>
              <a:t> the total </a:t>
            </a:r>
            <a:r>
              <a:rPr lang="fr-FR" sz="1800" dirty="0" err="1">
                <a:cs typeface="+mj-cs"/>
              </a:rPr>
              <a:t>number</a:t>
            </a:r>
            <a:r>
              <a:rPr lang="fr-FR" sz="1800" dirty="0">
                <a:cs typeface="+mj-cs"/>
              </a:rPr>
              <a:t> of </a:t>
            </a:r>
            <a:r>
              <a:rPr lang="fr-FR" sz="1800" dirty="0" err="1">
                <a:cs typeface="+mj-cs"/>
              </a:rPr>
              <a:t>aircraft</a:t>
            </a:r>
            <a:r>
              <a:rPr lang="fr-FR" sz="1800" dirty="0">
                <a:cs typeface="+mj-cs"/>
              </a:rPr>
              <a:t>: </a:t>
            </a:r>
            <a:r>
              <a:rPr lang="fr-FR" sz="1800" i="1" dirty="0" err="1">
                <a:latin typeface="Cambria" pitchFamily="18" charset="0"/>
                <a:cs typeface="+mj-cs"/>
              </a:rPr>
              <a:t>N</a:t>
            </a:r>
            <a:r>
              <a:rPr lang="fr-FR" sz="1800" baseline="-25000" dirty="0" err="1">
                <a:latin typeface="Cambria" pitchFamily="18" charset="0"/>
                <a:cs typeface="+mj-cs"/>
              </a:rPr>
              <a:t>total</a:t>
            </a:r>
            <a:endParaRPr lang="fr-FR" sz="1800" baseline="-25000" dirty="0">
              <a:latin typeface="Cambria" pitchFamily="18" charset="0"/>
              <a:cs typeface="+mj-cs"/>
            </a:endParaRPr>
          </a:p>
          <a:p>
            <a:pPr marL="640080" lvl="1" indent="-274320" eaLnBrk="1" fontAlgn="auto" hangingPunct="1">
              <a:lnSpc>
                <a:spcPts val="24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fr-FR" sz="1800" dirty="0" err="1">
                <a:cs typeface="+mj-cs"/>
              </a:rPr>
              <a:t>Compute</a:t>
            </a:r>
            <a:r>
              <a:rPr lang="fr-FR" sz="1800" dirty="0">
                <a:cs typeface="+mj-cs"/>
              </a:rPr>
              <a:t> the </a:t>
            </a:r>
            <a:r>
              <a:rPr lang="fr-FR" sz="1800" dirty="0" err="1">
                <a:cs typeface="+mj-cs"/>
              </a:rPr>
              <a:t>average</a:t>
            </a:r>
            <a:r>
              <a:rPr lang="fr-FR" sz="1800" dirty="0">
                <a:cs typeface="+mj-cs"/>
              </a:rPr>
              <a:t> </a:t>
            </a:r>
            <a:r>
              <a:rPr lang="fr-FR" sz="1800" dirty="0" err="1">
                <a:cs typeface="+mj-cs"/>
              </a:rPr>
              <a:t>waiting</a:t>
            </a:r>
            <a:r>
              <a:rPr lang="fr-FR" sz="1800" dirty="0">
                <a:cs typeface="+mj-cs"/>
              </a:rPr>
              <a:t> time: </a:t>
            </a:r>
            <a:r>
              <a:rPr lang="fr-FR" sz="1800" i="1" dirty="0" err="1">
                <a:latin typeface="Cambria" pitchFamily="18" charset="0"/>
                <a:cs typeface="+mj-cs"/>
              </a:rPr>
              <a:t>W</a:t>
            </a:r>
            <a:r>
              <a:rPr lang="fr-FR" sz="1800" baseline="-25000" dirty="0" err="1">
                <a:latin typeface="Cambria" pitchFamily="18" charset="0"/>
                <a:cs typeface="+mj-cs"/>
              </a:rPr>
              <a:t>avg</a:t>
            </a:r>
            <a:r>
              <a:rPr lang="fr-FR" sz="1800" dirty="0">
                <a:latin typeface="Cambria" pitchFamily="18" charset="0"/>
                <a:cs typeface="+mj-cs"/>
              </a:rPr>
              <a:t> = </a:t>
            </a:r>
            <a:r>
              <a:rPr lang="fr-FR" sz="1800" i="1" dirty="0" err="1">
                <a:latin typeface="Cambria" pitchFamily="18" charset="0"/>
                <a:cs typeface="+mj-cs"/>
              </a:rPr>
              <a:t>W</a:t>
            </a:r>
            <a:r>
              <a:rPr lang="fr-FR" sz="1800" baseline="-25000" dirty="0" err="1">
                <a:latin typeface="Cambria" pitchFamily="18" charset="0"/>
                <a:cs typeface="+mj-cs"/>
              </a:rPr>
              <a:t>total</a:t>
            </a:r>
            <a:r>
              <a:rPr lang="fr-FR" sz="1800" dirty="0">
                <a:latin typeface="Cambria" pitchFamily="18" charset="0"/>
                <a:cs typeface="+mj-cs"/>
              </a:rPr>
              <a:t>/</a:t>
            </a:r>
            <a:r>
              <a:rPr lang="fr-FR" sz="1800" dirty="0" err="1">
                <a:latin typeface="Cambria" pitchFamily="18" charset="0"/>
                <a:cs typeface="+mj-cs"/>
              </a:rPr>
              <a:t>sum</a:t>
            </a:r>
            <a:r>
              <a:rPr lang="fr-FR" sz="1800" dirty="0">
                <a:latin typeface="Cambria" pitchFamily="18" charset="0"/>
                <a:cs typeface="+mj-cs"/>
              </a:rPr>
              <a:t>(W</a:t>
            </a:r>
            <a:r>
              <a:rPr lang="fr-FR" sz="1800" baseline="-25000" dirty="0">
                <a:latin typeface="Cambria" pitchFamily="18" charset="0"/>
                <a:cs typeface="+mj-cs"/>
              </a:rPr>
              <a:t>i</a:t>
            </a:r>
            <a:r>
              <a:rPr lang="fr-FR" sz="1800" dirty="0">
                <a:latin typeface="Cambria" pitchFamily="18" charset="0"/>
                <a:cs typeface="+mj-cs"/>
              </a:rPr>
              <a:t>)</a:t>
            </a:r>
          </a:p>
          <a:p>
            <a:pPr marL="640080" lvl="1" indent="-274320" eaLnBrk="1" fontAlgn="auto" hangingPunct="1">
              <a:lnSpc>
                <a:spcPts val="2400"/>
              </a:lnSpc>
              <a:spcAft>
                <a:spcPts val="0"/>
              </a:spcAft>
              <a:buFont typeface="Wingdings 2"/>
              <a:buChar char=""/>
              <a:defRPr/>
            </a:pPr>
            <a:endParaRPr lang="en-US" sz="1800" dirty="0"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47484F41-23E1-E658-F512-8E7771ED9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id-ID"/>
              <a:t>Summary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D21940B6-E9A0-1659-718E-55A69AF8C7C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214313" y="1643063"/>
            <a:ext cx="8763000" cy="5054600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800" dirty="0">
                <a:cs typeface="+mj-cs"/>
              </a:rPr>
              <a:t>Methodology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400" dirty="0">
                <a:cs typeface="+mj-cs"/>
              </a:rPr>
              <a:t>Important to have a reasonably clear conceptual and specification model before moving to implementation (computational model)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800" dirty="0">
                <a:cs typeface="+mj-cs"/>
              </a:rPr>
              <a:t>Key concepts: </a:t>
            </a:r>
            <a:r>
              <a:rPr lang="en-US" sz="2800" dirty="0">
                <a:solidFill>
                  <a:srgbClr val="3333FF"/>
                </a:solidFill>
                <a:cs typeface="+mj-cs"/>
              </a:rPr>
              <a:t>state variables </a:t>
            </a:r>
            <a:r>
              <a:rPr lang="en-US" sz="2800" dirty="0">
                <a:cs typeface="+mj-cs"/>
              </a:rPr>
              <a:t>and </a:t>
            </a:r>
            <a:r>
              <a:rPr lang="en-US" sz="2800" dirty="0">
                <a:solidFill>
                  <a:srgbClr val="3333FF"/>
                </a:solidFill>
                <a:cs typeface="+mj-cs"/>
              </a:rPr>
              <a:t>changes in state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400" b="1" dirty="0">
                <a:solidFill>
                  <a:srgbClr val="3333FF"/>
                </a:solidFill>
                <a:cs typeface="+mj-cs"/>
              </a:rPr>
              <a:t>Simulation engine</a:t>
            </a:r>
            <a:r>
              <a:rPr lang="en-US" sz="2400" dirty="0">
                <a:cs typeface="+mj-cs"/>
              </a:rPr>
              <a:t>: largely independent of application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400" b="1" dirty="0">
                <a:solidFill>
                  <a:srgbClr val="3333FF"/>
                </a:solidFill>
                <a:cs typeface="+mj-cs"/>
              </a:rPr>
              <a:t>Simulation model</a:t>
            </a:r>
            <a:r>
              <a:rPr lang="en-US" sz="2400" dirty="0">
                <a:cs typeface="+mj-cs"/>
              </a:rPr>
              <a:t>: state variables and code to modify state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800" dirty="0">
                <a:cs typeface="+mj-cs"/>
              </a:rPr>
              <a:t>Time stepped vs. event driven execution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400" dirty="0">
                <a:cs typeface="+mj-cs"/>
              </a:rPr>
              <a:t>In principle, either can be used to model system</a:t>
            </a:r>
          </a:p>
          <a:p>
            <a:pPr marL="640080" lvl="1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400" dirty="0">
                <a:cs typeface="+mj-cs"/>
              </a:rPr>
              <a:t>Discrete-event simulation approach more commonly used to model queuing systems</a:t>
            </a:r>
          </a:p>
        </p:txBody>
      </p:sp>
    </p:spTree>
  </p:cSld>
  <p:clrMapOvr>
    <a:masterClrMapping/>
  </p:clrMapOvr>
  <p:transition>
    <p:wipe dir="r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</TotalTime>
  <Words>1942</Words>
  <Application>Microsoft Office PowerPoint</Application>
  <PresentationFormat>On-screen Show (4:3)</PresentationFormat>
  <Paragraphs>380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Cambria</vt:lpstr>
      <vt:lpstr>Courier</vt:lpstr>
      <vt:lpstr>Helvetica</vt:lpstr>
      <vt:lpstr>Tahoma</vt:lpstr>
      <vt:lpstr>Times</vt:lpstr>
      <vt:lpstr>Tw Cen MT</vt:lpstr>
      <vt:lpstr>Wingdings</vt:lpstr>
      <vt:lpstr>Wingdings 2</vt:lpstr>
      <vt:lpstr>Median</vt:lpstr>
      <vt:lpstr>PowerPoint Presentation</vt:lpstr>
      <vt:lpstr>Objectives</vt:lpstr>
      <vt:lpstr>The Airport System …</vt:lpstr>
      <vt:lpstr>Model Development Life Cycle</vt:lpstr>
      <vt:lpstr>Conceptual Model: Single Server Queue</vt:lpstr>
      <vt:lpstr>Objectives</vt:lpstr>
      <vt:lpstr>Conceptual Model: Single Server Queue</vt:lpstr>
      <vt:lpstr>Specification Model (Queueing Networks)</vt:lpstr>
      <vt:lpstr>Specification Model (cont.)</vt:lpstr>
      <vt:lpstr>PowerPoint Presentation</vt:lpstr>
      <vt:lpstr>Computational Model</vt:lpstr>
      <vt:lpstr>Computational Model</vt:lpstr>
      <vt:lpstr>State Variables</vt:lpstr>
      <vt:lpstr>Time Step Implementation</vt:lpstr>
      <vt:lpstr>Discrete Event Simulation</vt:lpstr>
      <vt:lpstr>Discrete Event Simulation Computation</vt:lpstr>
      <vt:lpstr>Discrete Event Simulation System</vt:lpstr>
      <vt:lpstr>Events</vt:lpstr>
      <vt:lpstr>Event-Oriented World View</vt:lpstr>
      <vt:lpstr>Example: Air traffic at an Airport</vt:lpstr>
      <vt:lpstr>Arrival Events</vt:lpstr>
      <vt:lpstr>Landed Event</vt:lpstr>
      <vt:lpstr>Departure Event</vt:lpstr>
      <vt:lpstr>Execution Example</vt:lpstr>
      <vt:lpstr>Output Statistics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CS433- Simulation and Modeling</dc:title>
  <dc:creator>Anis Koubaa</dc:creator>
  <cp:lastModifiedBy>Mohammad Isa Irawan</cp:lastModifiedBy>
  <cp:revision>210</cp:revision>
  <cp:lastPrinted>2007-01-11T15:30:28Z</cp:lastPrinted>
  <dcterms:created xsi:type="dcterms:W3CDTF">2007-01-09T01:35:21Z</dcterms:created>
  <dcterms:modified xsi:type="dcterms:W3CDTF">2023-10-30T09:33:03Z</dcterms:modified>
</cp:coreProperties>
</file>