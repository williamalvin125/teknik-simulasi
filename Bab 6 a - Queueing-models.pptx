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omments/comment1.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2" r:id="rId1"/>
  </p:sldMasterIdLst>
  <p:notesMasterIdLst>
    <p:notesMasterId r:id="rId45"/>
  </p:notesMasterIdLst>
  <p:handoutMasterIdLst>
    <p:handoutMasterId r:id="rId46"/>
  </p:handoutMasterIdLst>
  <p:sldIdLst>
    <p:sldId id="256" r:id="rId2"/>
    <p:sldId id="258" r:id="rId3"/>
    <p:sldId id="261" r:id="rId4"/>
    <p:sldId id="262" r:id="rId5"/>
    <p:sldId id="264" r:id="rId6"/>
    <p:sldId id="263" r:id="rId7"/>
    <p:sldId id="265" r:id="rId8"/>
    <p:sldId id="266" r:id="rId9"/>
    <p:sldId id="268" r:id="rId10"/>
    <p:sldId id="269" r:id="rId11"/>
    <p:sldId id="270" r:id="rId12"/>
    <p:sldId id="301" r:id="rId13"/>
    <p:sldId id="271" r:id="rId14"/>
    <p:sldId id="272" r:id="rId15"/>
    <p:sldId id="273" r:id="rId16"/>
    <p:sldId id="275" r:id="rId17"/>
    <p:sldId id="274" r:id="rId18"/>
    <p:sldId id="276" r:id="rId19"/>
    <p:sldId id="277" r:id="rId20"/>
    <p:sldId id="278" r:id="rId21"/>
    <p:sldId id="279" r:id="rId22"/>
    <p:sldId id="280" r:id="rId23"/>
    <p:sldId id="281" r:id="rId24"/>
    <p:sldId id="282" r:id="rId25"/>
    <p:sldId id="283" r:id="rId26"/>
    <p:sldId id="284" r:id="rId27"/>
    <p:sldId id="285" r:id="rId28"/>
    <p:sldId id="286" r:id="rId29"/>
    <p:sldId id="302" r:id="rId30"/>
    <p:sldId id="287" r:id="rId31"/>
    <p:sldId id="288" r:id="rId32"/>
    <p:sldId id="289" r:id="rId33"/>
    <p:sldId id="290" r:id="rId34"/>
    <p:sldId id="291" r:id="rId35"/>
    <p:sldId id="292" r:id="rId36"/>
    <p:sldId id="293" r:id="rId37"/>
    <p:sldId id="295" r:id="rId38"/>
    <p:sldId id="296" r:id="rId39"/>
    <p:sldId id="297" r:id="rId40"/>
    <p:sldId id="298" r:id="rId41"/>
    <p:sldId id="299" r:id="rId42"/>
    <p:sldId id="300" r:id="rId43"/>
    <p:sldId id="260" r:id="rId44"/>
  </p:sldIdLst>
  <p:sldSz cx="9144000" cy="6858000" type="screen4x3"/>
  <p:notesSz cx="6858000" cy="9144000"/>
  <p:defaultTextStyle>
    <a:defPPr>
      <a:defRPr lang="en-US"/>
    </a:defPPr>
    <a:lvl1pPr algn="l" rtl="0" eaLnBrk="0" fontAlgn="base" hangingPunct="0">
      <a:spcBef>
        <a:spcPct val="0"/>
      </a:spcBef>
      <a:spcAft>
        <a:spcPct val="0"/>
      </a:spcAft>
      <a:defRPr sz="16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16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16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16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1600" kern="1200">
        <a:solidFill>
          <a:schemeClr val="tx1"/>
        </a:solidFill>
        <a:latin typeface="Arial" panose="020B0604020202020204" pitchFamily="34" charset="0"/>
        <a:ea typeface="+mn-ea"/>
        <a:cs typeface="+mn-cs"/>
      </a:defRPr>
    </a:lvl5pPr>
    <a:lvl6pPr marL="2286000" algn="l" defTabSz="914400" rtl="0" eaLnBrk="1" latinLnBrk="0" hangingPunct="1">
      <a:defRPr sz="1600" kern="1200">
        <a:solidFill>
          <a:schemeClr val="tx1"/>
        </a:solidFill>
        <a:latin typeface="Arial" panose="020B0604020202020204" pitchFamily="34" charset="0"/>
        <a:ea typeface="+mn-ea"/>
        <a:cs typeface="+mn-cs"/>
      </a:defRPr>
    </a:lvl6pPr>
    <a:lvl7pPr marL="2743200" algn="l" defTabSz="914400" rtl="0" eaLnBrk="1" latinLnBrk="0" hangingPunct="1">
      <a:defRPr sz="1600" kern="1200">
        <a:solidFill>
          <a:schemeClr val="tx1"/>
        </a:solidFill>
        <a:latin typeface="Arial" panose="020B0604020202020204" pitchFamily="34" charset="0"/>
        <a:ea typeface="+mn-ea"/>
        <a:cs typeface="+mn-cs"/>
      </a:defRPr>
    </a:lvl7pPr>
    <a:lvl8pPr marL="3200400" algn="l" defTabSz="914400" rtl="0" eaLnBrk="1" latinLnBrk="0" hangingPunct="1">
      <a:defRPr sz="1600" kern="1200">
        <a:solidFill>
          <a:schemeClr val="tx1"/>
        </a:solidFill>
        <a:latin typeface="Arial" panose="020B0604020202020204" pitchFamily="34" charset="0"/>
        <a:ea typeface="+mn-ea"/>
        <a:cs typeface="+mn-cs"/>
      </a:defRPr>
    </a:lvl8pPr>
    <a:lvl9pPr marL="3657600" algn="l" defTabSz="914400" rtl="0" eaLnBrk="1" latinLnBrk="0" hangingPunct="1">
      <a:defRPr sz="1600"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rian" initials="B" lastIdx="17"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360" autoAdjust="0"/>
    <p:restoredTop sz="94168" autoAdjust="0"/>
  </p:normalViewPr>
  <p:slideViewPr>
    <p:cSldViewPr>
      <p:cViewPr varScale="1">
        <p:scale>
          <a:sx n="60" d="100"/>
          <a:sy n="60" d="100"/>
        </p:scale>
        <p:origin x="1476" y="4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13068"/>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commentAuthors" Target="commentAuthors.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05-01-09T08:25:14.653" idx="17">
    <p:pos x="4682" y="3456"/>
    <p:text>typo</p:text>
  </p:cm>
</p: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6CB18553-A6EE-985A-50A7-D02D21DDBC3D}"/>
              </a:ext>
            </a:extLst>
          </p:cNvPr>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hangingPunct="1">
              <a:defRPr sz="1200"/>
            </a:lvl1pPr>
          </a:lstStyle>
          <a:p>
            <a:pPr>
              <a:defRPr/>
            </a:pPr>
            <a:endParaRPr lang="en-US" altLang="id-ID"/>
          </a:p>
        </p:txBody>
      </p:sp>
      <p:sp>
        <p:nvSpPr>
          <p:cNvPr id="64515" name="Rectangle 3">
            <a:extLst>
              <a:ext uri="{FF2B5EF4-FFF2-40B4-BE49-F238E27FC236}">
                <a16:creationId xmlns:a16="http://schemas.microsoft.com/office/drawing/2014/main" id="{C58B9CF4-D78D-2CFE-9A59-A0BD700A808A}"/>
              </a:ext>
            </a:extLst>
          </p:cNvPr>
          <p:cNvSpPr>
            <a:spLocks noGrp="1" noChangeArrowheads="1"/>
          </p:cNvSpPr>
          <p:nvPr>
            <p:ph type="dt" sz="quarter"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200"/>
            </a:lvl1pPr>
          </a:lstStyle>
          <a:p>
            <a:pPr>
              <a:defRPr/>
            </a:pPr>
            <a:endParaRPr lang="en-US" altLang="id-ID"/>
          </a:p>
        </p:txBody>
      </p:sp>
      <p:sp>
        <p:nvSpPr>
          <p:cNvPr id="64516" name="Rectangle 4">
            <a:extLst>
              <a:ext uri="{FF2B5EF4-FFF2-40B4-BE49-F238E27FC236}">
                <a16:creationId xmlns:a16="http://schemas.microsoft.com/office/drawing/2014/main" id="{CBD11D64-714E-C8EA-63E9-EEE51D867309}"/>
              </a:ext>
            </a:extLst>
          </p:cNvPr>
          <p:cNvSpPr>
            <a:spLocks noGrp="1" noChangeArrowheads="1"/>
          </p:cNvSpPr>
          <p:nvPr>
            <p:ph type="ftr" sz="quarter" idx="2"/>
          </p:nvPr>
        </p:nvSpPr>
        <p:spPr bwMode="auto">
          <a:xfrm>
            <a:off x="0"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hangingPunct="1">
              <a:defRPr sz="1200"/>
            </a:lvl1pPr>
          </a:lstStyle>
          <a:p>
            <a:pPr>
              <a:defRPr/>
            </a:pPr>
            <a:endParaRPr lang="en-US" altLang="id-ID"/>
          </a:p>
        </p:txBody>
      </p:sp>
      <p:sp>
        <p:nvSpPr>
          <p:cNvPr id="64517" name="Rectangle 5">
            <a:extLst>
              <a:ext uri="{FF2B5EF4-FFF2-40B4-BE49-F238E27FC236}">
                <a16:creationId xmlns:a16="http://schemas.microsoft.com/office/drawing/2014/main" id="{A76A2C64-B04F-5FA6-8BBE-D92AFE4D661B}"/>
              </a:ext>
            </a:extLst>
          </p:cNvPr>
          <p:cNvSpPr>
            <a:spLocks noGrp="1" noChangeArrowheads="1"/>
          </p:cNvSpPr>
          <p:nvPr>
            <p:ph type="sldNum" sz="quarter" idx="3"/>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sz="1200" smtClean="0"/>
            </a:lvl1pPr>
          </a:lstStyle>
          <a:p>
            <a:pPr>
              <a:defRPr/>
            </a:pPr>
            <a:fld id="{2723DB75-E677-4658-ADFE-5525CCD701F4}" type="slidenum">
              <a:rPr lang="en-US" altLang="id-ID"/>
              <a:pPr>
                <a:defRPr/>
              </a:pPr>
              <a:t>‹#›</a:t>
            </a:fld>
            <a:endParaRPr lang="en-US" altLang="id-ID"/>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96A7AD13-C580-4939-6A87-13BE71B929E8}"/>
              </a:ext>
            </a:extLst>
          </p:cNvPr>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hangingPunct="1">
              <a:defRPr sz="1200"/>
            </a:lvl1pPr>
          </a:lstStyle>
          <a:p>
            <a:pPr>
              <a:defRPr/>
            </a:pPr>
            <a:endParaRPr lang="en-US" altLang="id-ID"/>
          </a:p>
        </p:txBody>
      </p:sp>
      <p:sp>
        <p:nvSpPr>
          <p:cNvPr id="37891" name="Rectangle 3">
            <a:extLst>
              <a:ext uri="{FF2B5EF4-FFF2-40B4-BE49-F238E27FC236}">
                <a16:creationId xmlns:a16="http://schemas.microsoft.com/office/drawing/2014/main" id="{3E12422B-E19F-46C0-4BF1-B58B8C5EF125}"/>
              </a:ext>
            </a:extLst>
          </p:cNvPr>
          <p:cNvSpPr>
            <a:spLocks noGrp="1" noChangeArrowheads="1"/>
          </p:cNvSpPr>
          <p:nvPr>
            <p:ph type="dt"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200"/>
            </a:lvl1pPr>
          </a:lstStyle>
          <a:p>
            <a:pPr>
              <a:defRPr/>
            </a:pPr>
            <a:endParaRPr lang="en-US" altLang="id-ID"/>
          </a:p>
        </p:txBody>
      </p:sp>
      <p:sp>
        <p:nvSpPr>
          <p:cNvPr id="3076" name="Rectangle 4">
            <a:extLst>
              <a:ext uri="{FF2B5EF4-FFF2-40B4-BE49-F238E27FC236}">
                <a16:creationId xmlns:a16="http://schemas.microsoft.com/office/drawing/2014/main" id="{7EE30F56-2EE2-D246-6BA8-93BFC96FAFF0}"/>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7893" name="Rectangle 5">
            <a:extLst>
              <a:ext uri="{FF2B5EF4-FFF2-40B4-BE49-F238E27FC236}">
                <a16:creationId xmlns:a16="http://schemas.microsoft.com/office/drawing/2014/main" id="{8472835C-2097-0860-C432-E6A58DDFB30A}"/>
              </a:ext>
            </a:extLst>
          </p:cNvPr>
          <p:cNvSpPr>
            <a:spLocks noGrp="1" noChangeArrowheads="1"/>
          </p:cNvSpPr>
          <p:nvPr>
            <p:ph type="body" sz="quarter" idx="3"/>
          </p:nvPr>
        </p:nvSpPr>
        <p:spPr bwMode="auto">
          <a:xfrm>
            <a:off x="685800" y="4343400"/>
            <a:ext cx="5486400" cy="4114800"/>
          </a:xfrm>
          <a:prstGeom prst="rect">
            <a:avLst/>
          </a:prstGeom>
          <a:noFill/>
          <a:ln>
            <a:noFill/>
          </a:ln>
          <a:effectLst/>
        </p:spPr>
        <p:txBody>
          <a:bodyPr vert="horz" wrap="square" lIns="91440" tIns="45720" rIns="91440" bIns="45720" numCol="1" anchor="t" anchorCtr="0" compatLnSpc="1">
            <a:prstTxWarp prst="textNoShape">
              <a:avLst/>
            </a:prstTxWarp>
          </a:bodyPr>
          <a:lstStyle/>
          <a:p>
            <a:pPr lvl="0"/>
            <a:r>
              <a:rPr lang="en-US" altLang="id-ID" noProof="0"/>
              <a:t>Click to edit Master text styles</a:t>
            </a:r>
          </a:p>
          <a:p>
            <a:pPr lvl="1"/>
            <a:r>
              <a:rPr lang="en-US" altLang="id-ID" noProof="0"/>
              <a:t>Second level</a:t>
            </a:r>
          </a:p>
          <a:p>
            <a:pPr lvl="2"/>
            <a:r>
              <a:rPr lang="en-US" altLang="id-ID" noProof="0"/>
              <a:t>Third level</a:t>
            </a:r>
          </a:p>
          <a:p>
            <a:pPr lvl="3"/>
            <a:r>
              <a:rPr lang="en-US" altLang="id-ID" noProof="0"/>
              <a:t>Fourth level</a:t>
            </a:r>
          </a:p>
          <a:p>
            <a:pPr lvl="4"/>
            <a:r>
              <a:rPr lang="en-US" altLang="id-ID" noProof="0"/>
              <a:t>Fifth level</a:t>
            </a:r>
          </a:p>
        </p:txBody>
      </p:sp>
      <p:sp>
        <p:nvSpPr>
          <p:cNvPr id="37894" name="Rectangle 6">
            <a:extLst>
              <a:ext uri="{FF2B5EF4-FFF2-40B4-BE49-F238E27FC236}">
                <a16:creationId xmlns:a16="http://schemas.microsoft.com/office/drawing/2014/main" id="{E7AEE22D-052F-7F51-7176-A8F5D43AD589}"/>
              </a:ext>
            </a:extLst>
          </p:cNvPr>
          <p:cNvSpPr>
            <a:spLocks noGrp="1" noChangeArrowheads="1"/>
          </p:cNvSpPr>
          <p:nvPr>
            <p:ph type="ftr" sz="quarter" idx="4"/>
          </p:nvPr>
        </p:nvSpPr>
        <p:spPr bwMode="auto">
          <a:xfrm>
            <a:off x="0"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hangingPunct="1">
              <a:defRPr sz="1200"/>
            </a:lvl1pPr>
          </a:lstStyle>
          <a:p>
            <a:pPr>
              <a:defRPr/>
            </a:pPr>
            <a:endParaRPr lang="en-US" altLang="id-ID"/>
          </a:p>
        </p:txBody>
      </p:sp>
      <p:sp>
        <p:nvSpPr>
          <p:cNvPr id="37895" name="Rectangle 7">
            <a:extLst>
              <a:ext uri="{FF2B5EF4-FFF2-40B4-BE49-F238E27FC236}">
                <a16:creationId xmlns:a16="http://schemas.microsoft.com/office/drawing/2014/main" id="{D184B72F-52F4-6CE0-437D-09D4D459500F}"/>
              </a:ext>
            </a:extLst>
          </p:cNvPr>
          <p:cNvSpPr>
            <a:spLocks noGrp="1" noChangeArrowheads="1"/>
          </p:cNvSpPr>
          <p:nvPr>
            <p:ph type="sldNum" sz="quarter" idx="5"/>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sz="1200" smtClean="0"/>
            </a:lvl1pPr>
          </a:lstStyle>
          <a:p>
            <a:pPr>
              <a:defRPr/>
            </a:pPr>
            <a:fld id="{B7F4A3A0-E8BB-454E-B19C-47CC99CAF5CC}" type="slidenum">
              <a:rPr lang="en-US" altLang="id-ID"/>
              <a:pPr>
                <a:defRPr/>
              </a:pPr>
              <a:t>‹#›</a:t>
            </a:fld>
            <a:endParaRPr lang="en-US" altLang="id-ID"/>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7B52EDD5-7230-F95E-59DB-D1D27076B85E}"/>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fld id="{705D9EA1-1A9C-46A2-AA6D-8280900155DA}" type="slidenum">
              <a:rPr lang="en-US" altLang="id-ID" sz="1200"/>
              <a:pPr/>
              <a:t>1</a:t>
            </a:fld>
            <a:endParaRPr lang="en-US" altLang="id-ID" sz="1200"/>
          </a:p>
        </p:txBody>
      </p:sp>
      <p:sp>
        <p:nvSpPr>
          <p:cNvPr id="6147" name="Rectangle 2">
            <a:extLst>
              <a:ext uri="{FF2B5EF4-FFF2-40B4-BE49-F238E27FC236}">
                <a16:creationId xmlns:a16="http://schemas.microsoft.com/office/drawing/2014/main" id="{6B01F6D3-3C69-554E-D810-30AFA5FB5DC5}"/>
              </a:ext>
            </a:extLst>
          </p:cNvPr>
          <p:cNvSpPr>
            <a:spLocks noGrp="1" noRot="1" noChangeAspect="1" noChangeArrowheads="1" noTextEdit="1"/>
          </p:cNvSpPr>
          <p:nvPr>
            <p:ph type="sldImg"/>
          </p:nvPr>
        </p:nvSpPr>
        <p:spPr>
          <a:ln/>
        </p:spPr>
      </p:sp>
      <p:sp>
        <p:nvSpPr>
          <p:cNvPr id="6148" name="Rectangle 3">
            <a:extLst>
              <a:ext uri="{FF2B5EF4-FFF2-40B4-BE49-F238E27FC236}">
                <a16:creationId xmlns:a16="http://schemas.microsoft.com/office/drawing/2014/main" id="{AF3D4F10-4765-290F-03A7-92E920F9297A}"/>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id-ID" altLang="id-ID"/>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840AD04F-CB7F-2B66-6DF1-957A049E9A14}"/>
              </a:ext>
            </a:extLst>
          </p:cNvPr>
          <p:cNvGrpSpPr>
            <a:grpSpLocks/>
          </p:cNvGrpSpPr>
          <p:nvPr/>
        </p:nvGrpSpPr>
        <p:grpSpPr bwMode="auto">
          <a:xfrm>
            <a:off x="0" y="0"/>
            <a:ext cx="9144000" cy="6858000"/>
            <a:chOff x="0" y="0"/>
            <a:chExt cx="5760" cy="4320"/>
          </a:xfrm>
        </p:grpSpPr>
        <p:sp>
          <p:nvSpPr>
            <p:cNvPr id="3" name="Rectangle 3">
              <a:extLst>
                <a:ext uri="{FF2B5EF4-FFF2-40B4-BE49-F238E27FC236}">
                  <a16:creationId xmlns:a16="http://schemas.microsoft.com/office/drawing/2014/main" id="{178121F0-5B95-88B4-E9B3-A1711169D068}"/>
                </a:ext>
              </a:extLst>
            </p:cNvPr>
            <p:cNvSpPr>
              <a:spLocks noChangeArrowheads="1"/>
            </p:cNvSpPr>
            <p:nvPr/>
          </p:nvSpPr>
          <p:spPr bwMode="hidden">
            <a:xfrm>
              <a:off x="0" y="0"/>
              <a:ext cx="2208" cy="4320"/>
            </a:xfrm>
            <a:prstGeom prst="rect">
              <a:avLst/>
            </a:prstGeom>
            <a:gradFill rotWithShape="0">
              <a:gsLst>
                <a:gs pos="0">
                  <a:schemeClr val="folHlink"/>
                </a:gs>
                <a:gs pos="100000">
                  <a:schemeClr val="bg1"/>
                </a:gs>
              </a:gsLst>
              <a:lin ang="0" scaled="1"/>
            </a:gradFill>
            <a:ln>
              <a:noFill/>
            </a:ln>
            <a:effectLst/>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eaLnBrk="1" hangingPunct="1">
                <a:defRPr/>
              </a:pPr>
              <a:endParaRPr lang="id-ID" altLang="id-ID" sz="2400">
                <a:latin typeface="Times New Roman" panose="02020603050405020304" pitchFamily="18" charset="0"/>
              </a:endParaRPr>
            </a:p>
          </p:txBody>
        </p:sp>
        <p:sp>
          <p:nvSpPr>
            <p:cNvPr id="4" name="Rectangle 4">
              <a:extLst>
                <a:ext uri="{FF2B5EF4-FFF2-40B4-BE49-F238E27FC236}">
                  <a16:creationId xmlns:a16="http://schemas.microsoft.com/office/drawing/2014/main" id="{27FEAB5C-1023-D7F8-CCCD-7400661E98EA}"/>
                </a:ext>
              </a:extLst>
            </p:cNvPr>
            <p:cNvSpPr>
              <a:spLocks noChangeArrowheads="1"/>
            </p:cNvSpPr>
            <p:nvPr/>
          </p:nvSpPr>
          <p:spPr bwMode="hidden">
            <a:xfrm>
              <a:off x="1081" y="1065"/>
              <a:ext cx="4679" cy="1596"/>
            </a:xfrm>
            <a:prstGeom prst="rect">
              <a:avLst/>
            </a:prstGeom>
            <a:solidFill>
              <a:schemeClr val="bg2"/>
            </a:solidFill>
            <a:ln>
              <a:noFill/>
            </a:ln>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defRPr/>
              </a:pPr>
              <a:endParaRPr lang="id-ID" altLang="id-ID" sz="2400">
                <a:latin typeface="Times New Roman" panose="02020603050405020304" pitchFamily="18" charset="0"/>
              </a:endParaRPr>
            </a:p>
          </p:txBody>
        </p:sp>
        <p:grpSp>
          <p:nvGrpSpPr>
            <p:cNvPr id="5" name="Group 5">
              <a:extLst>
                <a:ext uri="{FF2B5EF4-FFF2-40B4-BE49-F238E27FC236}">
                  <a16:creationId xmlns:a16="http://schemas.microsoft.com/office/drawing/2014/main" id="{BEE84353-87CC-045D-1EA1-617CA08E82E8}"/>
                </a:ext>
              </a:extLst>
            </p:cNvPr>
            <p:cNvGrpSpPr>
              <a:grpSpLocks/>
            </p:cNvGrpSpPr>
            <p:nvPr/>
          </p:nvGrpSpPr>
          <p:grpSpPr bwMode="auto">
            <a:xfrm>
              <a:off x="0" y="672"/>
              <a:ext cx="1806" cy="1989"/>
              <a:chOff x="0" y="672"/>
              <a:chExt cx="1806" cy="1989"/>
            </a:xfrm>
          </p:grpSpPr>
          <p:sp>
            <p:nvSpPr>
              <p:cNvPr id="6" name="Rectangle 6">
                <a:extLst>
                  <a:ext uri="{FF2B5EF4-FFF2-40B4-BE49-F238E27FC236}">
                    <a16:creationId xmlns:a16="http://schemas.microsoft.com/office/drawing/2014/main" id="{BCE84AAB-D1C4-C543-3F69-1B34E28415B4}"/>
                  </a:ext>
                </a:extLst>
              </p:cNvPr>
              <p:cNvSpPr>
                <a:spLocks noChangeArrowheads="1"/>
              </p:cNvSpPr>
              <p:nvPr userDrawn="1"/>
            </p:nvSpPr>
            <p:spPr bwMode="auto">
              <a:xfrm>
                <a:off x="361" y="2257"/>
                <a:ext cx="363" cy="404"/>
              </a:xfrm>
              <a:prstGeom prst="rect">
                <a:avLst/>
              </a:prstGeom>
              <a:solidFill>
                <a:schemeClr val="accent2"/>
              </a:solidFill>
              <a:ln>
                <a:noFill/>
              </a:ln>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defRPr/>
                </a:pPr>
                <a:endParaRPr lang="id-ID" altLang="id-ID" sz="2400">
                  <a:latin typeface="Times New Roman" panose="02020603050405020304" pitchFamily="18" charset="0"/>
                </a:endParaRPr>
              </a:p>
            </p:txBody>
          </p:sp>
          <p:sp>
            <p:nvSpPr>
              <p:cNvPr id="7" name="Rectangle 7">
                <a:extLst>
                  <a:ext uri="{FF2B5EF4-FFF2-40B4-BE49-F238E27FC236}">
                    <a16:creationId xmlns:a16="http://schemas.microsoft.com/office/drawing/2014/main" id="{8FEA2ED1-6BBC-283E-4093-7B9184804E39}"/>
                  </a:ext>
                </a:extLst>
              </p:cNvPr>
              <p:cNvSpPr>
                <a:spLocks noChangeArrowheads="1"/>
              </p:cNvSpPr>
              <p:nvPr userDrawn="1"/>
            </p:nvSpPr>
            <p:spPr bwMode="auto">
              <a:xfrm>
                <a:off x="1081" y="1065"/>
                <a:ext cx="362" cy="405"/>
              </a:xfrm>
              <a:prstGeom prst="rect">
                <a:avLst/>
              </a:prstGeom>
              <a:solidFill>
                <a:schemeClr val="folHlink"/>
              </a:solidFill>
              <a:ln>
                <a:noFill/>
              </a:ln>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defRPr/>
                </a:pPr>
                <a:endParaRPr lang="id-ID" altLang="id-ID" sz="2400">
                  <a:latin typeface="Times New Roman" panose="02020603050405020304" pitchFamily="18" charset="0"/>
                </a:endParaRPr>
              </a:p>
            </p:txBody>
          </p:sp>
          <p:sp>
            <p:nvSpPr>
              <p:cNvPr id="8" name="Rectangle 8">
                <a:extLst>
                  <a:ext uri="{FF2B5EF4-FFF2-40B4-BE49-F238E27FC236}">
                    <a16:creationId xmlns:a16="http://schemas.microsoft.com/office/drawing/2014/main" id="{F7C70DC6-298F-3FC9-B4F7-CDE309C61023}"/>
                  </a:ext>
                </a:extLst>
              </p:cNvPr>
              <p:cNvSpPr>
                <a:spLocks noChangeArrowheads="1"/>
              </p:cNvSpPr>
              <p:nvPr userDrawn="1"/>
            </p:nvSpPr>
            <p:spPr bwMode="auto">
              <a:xfrm>
                <a:off x="1437" y="672"/>
                <a:ext cx="369" cy="400"/>
              </a:xfrm>
              <a:prstGeom prst="rect">
                <a:avLst/>
              </a:prstGeom>
              <a:solidFill>
                <a:schemeClr val="folHlink"/>
              </a:solidFill>
              <a:ln>
                <a:noFill/>
              </a:ln>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defRPr/>
                </a:pPr>
                <a:endParaRPr lang="id-ID" altLang="id-ID" sz="2400">
                  <a:latin typeface="Times New Roman" panose="02020603050405020304" pitchFamily="18" charset="0"/>
                </a:endParaRPr>
              </a:p>
            </p:txBody>
          </p:sp>
          <p:sp>
            <p:nvSpPr>
              <p:cNvPr id="9" name="Rectangle 9">
                <a:extLst>
                  <a:ext uri="{FF2B5EF4-FFF2-40B4-BE49-F238E27FC236}">
                    <a16:creationId xmlns:a16="http://schemas.microsoft.com/office/drawing/2014/main" id="{3A7C3B62-F0EA-EC02-92EE-4CF825C6A27A}"/>
                  </a:ext>
                </a:extLst>
              </p:cNvPr>
              <p:cNvSpPr>
                <a:spLocks noChangeArrowheads="1"/>
              </p:cNvSpPr>
              <p:nvPr userDrawn="1"/>
            </p:nvSpPr>
            <p:spPr bwMode="auto">
              <a:xfrm>
                <a:off x="719" y="2257"/>
                <a:ext cx="368" cy="404"/>
              </a:xfrm>
              <a:prstGeom prst="rect">
                <a:avLst/>
              </a:prstGeom>
              <a:solidFill>
                <a:schemeClr val="bg2"/>
              </a:solidFill>
              <a:ln>
                <a:noFill/>
              </a:ln>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defRPr/>
                </a:pPr>
                <a:endParaRPr lang="id-ID" altLang="id-ID" sz="2400">
                  <a:latin typeface="Times New Roman" panose="02020603050405020304" pitchFamily="18" charset="0"/>
                </a:endParaRPr>
              </a:p>
            </p:txBody>
          </p:sp>
          <p:sp>
            <p:nvSpPr>
              <p:cNvPr id="10" name="Rectangle 10">
                <a:extLst>
                  <a:ext uri="{FF2B5EF4-FFF2-40B4-BE49-F238E27FC236}">
                    <a16:creationId xmlns:a16="http://schemas.microsoft.com/office/drawing/2014/main" id="{6D2E0CAA-7DB6-E135-2B1F-93CA9012EE59}"/>
                  </a:ext>
                </a:extLst>
              </p:cNvPr>
              <p:cNvSpPr>
                <a:spLocks noChangeArrowheads="1"/>
              </p:cNvSpPr>
              <p:nvPr userDrawn="1"/>
            </p:nvSpPr>
            <p:spPr bwMode="auto">
              <a:xfrm>
                <a:off x="1437" y="1065"/>
                <a:ext cx="369" cy="405"/>
              </a:xfrm>
              <a:prstGeom prst="rect">
                <a:avLst/>
              </a:prstGeom>
              <a:solidFill>
                <a:schemeClr val="accent2"/>
              </a:solidFill>
              <a:ln>
                <a:noFill/>
              </a:ln>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defRPr/>
                </a:pPr>
                <a:endParaRPr lang="id-ID" altLang="id-ID" sz="2400">
                  <a:latin typeface="Times New Roman" panose="02020603050405020304" pitchFamily="18" charset="0"/>
                </a:endParaRPr>
              </a:p>
            </p:txBody>
          </p:sp>
          <p:sp>
            <p:nvSpPr>
              <p:cNvPr id="11" name="Rectangle 11">
                <a:extLst>
                  <a:ext uri="{FF2B5EF4-FFF2-40B4-BE49-F238E27FC236}">
                    <a16:creationId xmlns:a16="http://schemas.microsoft.com/office/drawing/2014/main" id="{B1C3D3ED-96B9-20D0-6D76-A00263021EF7}"/>
                  </a:ext>
                </a:extLst>
              </p:cNvPr>
              <p:cNvSpPr>
                <a:spLocks noChangeArrowheads="1"/>
              </p:cNvSpPr>
              <p:nvPr userDrawn="1"/>
            </p:nvSpPr>
            <p:spPr bwMode="auto">
              <a:xfrm>
                <a:off x="719" y="1464"/>
                <a:ext cx="368" cy="399"/>
              </a:xfrm>
              <a:prstGeom prst="rect">
                <a:avLst/>
              </a:prstGeom>
              <a:solidFill>
                <a:schemeClr val="folHlink"/>
              </a:solidFill>
              <a:ln>
                <a:noFill/>
              </a:ln>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defRPr/>
                </a:pPr>
                <a:endParaRPr lang="id-ID" altLang="id-ID" sz="2400">
                  <a:latin typeface="Times New Roman" panose="02020603050405020304" pitchFamily="18" charset="0"/>
                </a:endParaRPr>
              </a:p>
            </p:txBody>
          </p:sp>
          <p:sp>
            <p:nvSpPr>
              <p:cNvPr id="12" name="Rectangle 12">
                <a:extLst>
                  <a:ext uri="{FF2B5EF4-FFF2-40B4-BE49-F238E27FC236}">
                    <a16:creationId xmlns:a16="http://schemas.microsoft.com/office/drawing/2014/main" id="{C5C37305-B234-119E-F16D-73ABDB93FD7B}"/>
                  </a:ext>
                </a:extLst>
              </p:cNvPr>
              <p:cNvSpPr>
                <a:spLocks noChangeArrowheads="1"/>
              </p:cNvSpPr>
              <p:nvPr userDrawn="1"/>
            </p:nvSpPr>
            <p:spPr bwMode="auto">
              <a:xfrm>
                <a:off x="0" y="1464"/>
                <a:ext cx="367" cy="399"/>
              </a:xfrm>
              <a:prstGeom prst="rect">
                <a:avLst/>
              </a:prstGeom>
              <a:solidFill>
                <a:schemeClr val="bg2"/>
              </a:solidFill>
              <a:ln>
                <a:noFill/>
              </a:ln>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defRPr/>
                </a:pPr>
                <a:endParaRPr lang="id-ID" altLang="id-ID" sz="2400">
                  <a:latin typeface="Times New Roman" panose="02020603050405020304" pitchFamily="18" charset="0"/>
                </a:endParaRPr>
              </a:p>
            </p:txBody>
          </p:sp>
          <p:sp>
            <p:nvSpPr>
              <p:cNvPr id="13" name="Rectangle 13">
                <a:extLst>
                  <a:ext uri="{FF2B5EF4-FFF2-40B4-BE49-F238E27FC236}">
                    <a16:creationId xmlns:a16="http://schemas.microsoft.com/office/drawing/2014/main" id="{54EBA664-AC3F-6090-F222-C09F1F074EAA}"/>
                  </a:ext>
                </a:extLst>
              </p:cNvPr>
              <p:cNvSpPr>
                <a:spLocks noChangeArrowheads="1"/>
              </p:cNvSpPr>
              <p:nvPr userDrawn="1"/>
            </p:nvSpPr>
            <p:spPr bwMode="auto">
              <a:xfrm>
                <a:off x="1081" y="1464"/>
                <a:ext cx="362" cy="399"/>
              </a:xfrm>
              <a:prstGeom prst="rect">
                <a:avLst/>
              </a:prstGeom>
              <a:solidFill>
                <a:schemeClr val="accent2"/>
              </a:solidFill>
              <a:ln>
                <a:noFill/>
              </a:ln>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defRPr/>
                </a:pPr>
                <a:endParaRPr lang="id-ID" altLang="id-ID" sz="2400">
                  <a:latin typeface="Times New Roman" panose="02020603050405020304" pitchFamily="18" charset="0"/>
                </a:endParaRPr>
              </a:p>
            </p:txBody>
          </p:sp>
          <p:sp>
            <p:nvSpPr>
              <p:cNvPr id="14" name="Rectangle 14">
                <a:extLst>
                  <a:ext uri="{FF2B5EF4-FFF2-40B4-BE49-F238E27FC236}">
                    <a16:creationId xmlns:a16="http://schemas.microsoft.com/office/drawing/2014/main" id="{29E2DA04-8E6A-860C-4728-FE2AF3C6BCBE}"/>
                  </a:ext>
                </a:extLst>
              </p:cNvPr>
              <p:cNvSpPr>
                <a:spLocks noChangeArrowheads="1"/>
              </p:cNvSpPr>
              <p:nvPr userDrawn="1"/>
            </p:nvSpPr>
            <p:spPr bwMode="auto">
              <a:xfrm>
                <a:off x="361" y="1857"/>
                <a:ext cx="363" cy="406"/>
              </a:xfrm>
              <a:prstGeom prst="rect">
                <a:avLst/>
              </a:prstGeom>
              <a:solidFill>
                <a:schemeClr val="folHlink"/>
              </a:solidFill>
              <a:ln>
                <a:noFill/>
              </a:ln>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defRPr/>
                </a:pPr>
                <a:endParaRPr lang="id-ID" altLang="id-ID" sz="2400">
                  <a:latin typeface="Times New Roman" panose="02020603050405020304" pitchFamily="18" charset="0"/>
                </a:endParaRPr>
              </a:p>
            </p:txBody>
          </p:sp>
          <p:sp>
            <p:nvSpPr>
              <p:cNvPr id="15" name="Rectangle 15">
                <a:extLst>
                  <a:ext uri="{FF2B5EF4-FFF2-40B4-BE49-F238E27FC236}">
                    <a16:creationId xmlns:a16="http://schemas.microsoft.com/office/drawing/2014/main" id="{79372EB6-C259-A916-317C-0BF8149A3F0A}"/>
                  </a:ext>
                </a:extLst>
              </p:cNvPr>
              <p:cNvSpPr>
                <a:spLocks noChangeArrowheads="1"/>
              </p:cNvSpPr>
              <p:nvPr userDrawn="1"/>
            </p:nvSpPr>
            <p:spPr bwMode="auto">
              <a:xfrm>
                <a:off x="719" y="1857"/>
                <a:ext cx="368" cy="406"/>
              </a:xfrm>
              <a:prstGeom prst="rect">
                <a:avLst/>
              </a:prstGeom>
              <a:solidFill>
                <a:schemeClr val="accent2"/>
              </a:solidFill>
              <a:ln>
                <a:noFill/>
              </a:ln>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defRPr/>
                </a:pPr>
                <a:endParaRPr lang="id-ID" altLang="id-ID" sz="2400">
                  <a:latin typeface="Times New Roman" panose="02020603050405020304" pitchFamily="18" charset="0"/>
                </a:endParaRPr>
              </a:p>
            </p:txBody>
          </p:sp>
        </p:grpSp>
      </p:grpSp>
      <p:sp>
        <p:nvSpPr>
          <p:cNvPr id="20499" name="Rectangle 19"/>
          <p:cNvSpPr>
            <a:spLocks noGrp="1" noChangeArrowheads="1"/>
          </p:cNvSpPr>
          <p:nvPr>
            <p:ph type="ctrTitle"/>
          </p:nvPr>
        </p:nvSpPr>
        <p:spPr>
          <a:xfrm>
            <a:off x="2971800" y="1828800"/>
            <a:ext cx="6019800" cy="2209800"/>
          </a:xfrm>
        </p:spPr>
        <p:txBody>
          <a:bodyPr/>
          <a:lstStyle>
            <a:lvl1pPr>
              <a:defRPr sz="3800">
                <a:solidFill>
                  <a:srgbClr val="FFFFFF"/>
                </a:solidFill>
              </a:defRPr>
            </a:lvl1pPr>
          </a:lstStyle>
          <a:p>
            <a:pPr lvl="0"/>
            <a:r>
              <a:rPr lang="en-US" altLang="id-ID" noProof="0"/>
              <a:t>Click to edit Master title style</a:t>
            </a:r>
          </a:p>
        </p:txBody>
      </p:sp>
      <p:sp>
        <p:nvSpPr>
          <p:cNvPr id="20500" name="Rectangle 20"/>
          <p:cNvSpPr>
            <a:spLocks noGrp="1" noChangeArrowheads="1"/>
          </p:cNvSpPr>
          <p:nvPr>
            <p:ph type="subTitle" idx="1"/>
          </p:nvPr>
        </p:nvSpPr>
        <p:spPr>
          <a:xfrm>
            <a:off x="2971800" y="4267200"/>
            <a:ext cx="6019800" cy="1752600"/>
          </a:xfrm>
        </p:spPr>
        <p:txBody>
          <a:bodyPr/>
          <a:lstStyle>
            <a:lvl1pPr marL="0" indent="0">
              <a:buFont typeface="Wingdings" panose="05000000000000000000" pitchFamily="2" charset="2"/>
              <a:buNone/>
              <a:defRPr sz="3000"/>
            </a:lvl1pPr>
          </a:lstStyle>
          <a:p>
            <a:pPr lvl="0"/>
            <a:r>
              <a:rPr lang="en-US" altLang="id-ID" noProof="0"/>
              <a:t>Click to edit Master subtitle style</a:t>
            </a:r>
          </a:p>
        </p:txBody>
      </p:sp>
      <p:sp>
        <p:nvSpPr>
          <p:cNvPr id="16" name="Rectangle 16">
            <a:extLst>
              <a:ext uri="{FF2B5EF4-FFF2-40B4-BE49-F238E27FC236}">
                <a16:creationId xmlns:a16="http://schemas.microsoft.com/office/drawing/2014/main" id="{3F6D3BD9-20D3-250A-3EE3-F5744BAD1651}"/>
              </a:ext>
            </a:extLst>
          </p:cNvPr>
          <p:cNvSpPr>
            <a:spLocks noGrp="1" noChangeArrowheads="1"/>
          </p:cNvSpPr>
          <p:nvPr>
            <p:ph type="dt" sz="half" idx="10"/>
          </p:nvPr>
        </p:nvSpPr>
        <p:spPr>
          <a:xfrm>
            <a:off x="457200" y="6248400"/>
            <a:ext cx="2133600" cy="457200"/>
          </a:xfrm>
        </p:spPr>
        <p:txBody>
          <a:bodyPr/>
          <a:lstStyle>
            <a:lvl1pPr>
              <a:defRPr/>
            </a:lvl1pPr>
          </a:lstStyle>
          <a:p>
            <a:pPr>
              <a:defRPr/>
            </a:pPr>
            <a:endParaRPr lang="en-US" altLang="id-ID"/>
          </a:p>
        </p:txBody>
      </p:sp>
      <p:sp>
        <p:nvSpPr>
          <p:cNvPr id="17" name="Rectangle 17">
            <a:extLst>
              <a:ext uri="{FF2B5EF4-FFF2-40B4-BE49-F238E27FC236}">
                <a16:creationId xmlns:a16="http://schemas.microsoft.com/office/drawing/2014/main" id="{8AEBBA01-1F36-0D85-A427-D5B5FA312B7F}"/>
              </a:ext>
            </a:extLst>
          </p:cNvPr>
          <p:cNvSpPr>
            <a:spLocks noGrp="1" noChangeArrowheads="1"/>
          </p:cNvSpPr>
          <p:nvPr>
            <p:ph type="ftr" sz="quarter" idx="11"/>
          </p:nvPr>
        </p:nvSpPr>
        <p:spPr/>
        <p:txBody>
          <a:bodyPr/>
          <a:lstStyle>
            <a:lvl1pPr>
              <a:defRPr/>
            </a:lvl1pPr>
          </a:lstStyle>
          <a:p>
            <a:pPr>
              <a:defRPr/>
            </a:pPr>
            <a:endParaRPr lang="en-US" altLang="id-ID"/>
          </a:p>
        </p:txBody>
      </p:sp>
      <p:sp>
        <p:nvSpPr>
          <p:cNvPr id="18" name="Rectangle 18">
            <a:extLst>
              <a:ext uri="{FF2B5EF4-FFF2-40B4-BE49-F238E27FC236}">
                <a16:creationId xmlns:a16="http://schemas.microsoft.com/office/drawing/2014/main" id="{D6F849A3-816A-A3C7-CF5F-2E2F50F58196}"/>
              </a:ext>
            </a:extLst>
          </p:cNvPr>
          <p:cNvSpPr>
            <a:spLocks noGrp="1" noChangeArrowheads="1"/>
          </p:cNvSpPr>
          <p:nvPr>
            <p:ph type="sldNum" sz="quarter" idx="12"/>
          </p:nvPr>
        </p:nvSpPr>
        <p:spPr/>
        <p:txBody>
          <a:bodyPr/>
          <a:lstStyle>
            <a:lvl1pPr>
              <a:defRPr smtClean="0"/>
            </a:lvl1pPr>
          </a:lstStyle>
          <a:p>
            <a:pPr>
              <a:defRPr/>
            </a:pPr>
            <a:fld id="{2F873D75-DDC7-49C9-A2C1-6DC3156409F5}" type="slidenum">
              <a:rPr lang="en-US" altLang="id-ID"/>
              <a:pPr>
                <a:defRPr/>
              </a:pPr>
              <a:t>‹#›</a:t>
            </a:fld>
            <a:endParaRPr lang="en-US" altLang="id-ID"/>
          </a:p>
        </p:txBody>
      </p:sp>
    </p:spTree>
    <p:extLst>
      <p:ext uri="{BB962C8B-B14F-4D97-AF65-F5344CB8AC3E}">
        <p14:creationId xmlns:p14="http://schemas.microsoft.com/office/powerpoint/2010/main" val="36798689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id-ID"/>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Rectangle 2">
            <a:extLst>
              <a:ext uri="{FF2B5EF4-FFF2-40B4-BE49-F238E27FC236}">
                <a16:creationId xmlns:a16="http://schemas.microsoft.com/office/drawing/2014/main" id="{781A1D08-DE4C-AAA2-A7F2-8F9018DB0296}"/>
              </a:ext>
            </a:extLst>
          </p:cNvPr>
          <p:cNvSpPr>
            <a:spLocks noGrp="1" noChangeArrowheads="1"/>
          </p:cNvSpPr>
          <p:nvPr>
            <p:ph type="ftr" sz="quarter" idx="10"/>
          </p:nvPr>
        </p:nvSpPr>
        <p:spPr>
          <a:ln/>
        </p:spPr>
        <p:txBody>
          <a:bodyPr/>
          <a:lstStyle>
            <a:lvl1pPr>
              <a:defRPr/>
            </a:lvl1pPr>
          </a:lstStyle>
          <a:p>
            <a:pPr>
              <a:defRPr/>
            </a:pPr>
            <a:endParaRPr lang="en-US" altLang="id-ID"/>
          </a:p>
        </p:txBody>
      </p:sp>
      <p:sp>
        <p:nvSpPr>
          <p:cNvPr id="5" name="Rectangle 3">
            <a:extLst>
              <a:ext uri="{FF2B5EF4-FFF2-40B4-BE49-F238E27FC236}">
                <a16:creationId xmlns:a16="http://schemas.microsoft.com/office/drawing/2014/main" id="{EE804650-18DE-AD69-F192-6B2D51CA6FAA}"/>
              </a:ext>
            </a:extLst>
          </p:cNvPr>
          <p:cNvSpPr>
            <a:spLocks noGrp="1" noChangeArrowheads="1"/>
          </p:cNvSpPr>
          <p:nvPr>
            <p:ph type="sldNum" sz="quarter" idx="11"/>
          </p:nvPr>
        </p:nvSpPr>
        <p:spPr>
          <a:ln/>
        </p:spPr>
        <p:txBody>
          <a:bodyPr/>
          <a:lstStyle>
            <a:lvl1pPr>
              <a:defRPr/>
            </a:lvl1pPr>
          </a:lstStyle>
          <a:p>
            <a:pPr>
              <a:defRPr/>
            </a:pPr>
            <a:fld id="{DBA8F736-39F4-437B-AA99-9076E6B827AA}" type="slidenum">
              <a:rPr lang="en-US" altLang="id-ID"/>
              <a:pPr>
                <a:defRPr/>
              </a:pPr>
              <a:t>‹#›</a:t>
            </a:fld>
            <a:endParaRPr lang="en-US" altLang="id-ID"/>
          </a:p>
        </p:txBody>
      </p:sp>
      <p:sp>
        <p:nvSpPr>
          <p:cNvPr id="6" name="Rectangle 16">
            <a:extLst>
              <a:ext uri="{FF2B5EF4-FFF2-40B4-BE49-F238E27FC236}">
                <a16:creationId xmlns:a16="http://schemas.microsoft.com/office/drawing/2014/main" id="{A5B9CEBB-2022-0B78-701B-711A443C9E80}"/>
              </a:ext>
            </a:extLst>
          </p:cNvPr>
          <p:cNvSpPr>
            <a:spLocks noGrp="1" noChangeArrowheads="1"/>
          </p:cNvSpPr>
          <p:nvPr>
            <p:ph type="dt" sz="half" idx="12"/>
          </p:nvPr>
        </p:nvSpPr>
        <p:spPr>
          <a:ln/>
        </p:spPr>
        <p:txBody>
          <a:bodyPr/>
          <a:lstStyle>
            <a:lvl1pPr>
              <a:defRPr/>
            </a:lvl1pPr>
          </a:lstStyle>
          <a:p>
            <a:pPr>
              <a:defRPr/>
            </a:pPr>
            <a:endParaRPr lang="en-US" altLang="id-ID"/>
          </a:p>
        </p:txBody>
      </p:sp>
    </p:spTree>
    <p:extLst>
      <p:ext uri="{BB962C8B-B14F-4D97-AF65-F5344CB8AC3E}">
        <p14:creationId xmlns:p14="http://schemas.microsoft.com/office/powerpoint/2010/main" val="42591412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endParaRPr lang="id-ID"/>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Edit Master text styles</a:t>
            </a:r>
          </a:p>
        </p:txBody>
      </p:sp>
      <p:sp>
        <p:nvSpPr>
          <p:cNvPr id="4" name="Rectangle 2">
            <a:extLst>
              <a:ext uri="{FF2B5EF4-FFF2-40B4-BE49-F238E27FC236}">
                <a16:creationId xmlns:a16="http://schemas.microsoft.com/office/drawing/2014/main" id="{F1F209C1-622A-1CA3-CD6D-23AA5609FECA}"/>
              </a:ext>
            </a:extLst>
          </p:cNvPr>
          <p:cNvSpPr>
            <a:spLocks noGrp="1" noChangeArrowheads="1"/>
          </p:cNvSpPr>
          <p:nvPr>
            <p:ph type="ftr" sz="quarter" idx="10"/>
          </p:nvPr>
        </p:nvSpPr>
        <p:spPr>
          <a:ln/>
        </p:spPr>
        <p:txBody>
          <a:bodyPr/>
          <a:lstStyle>
            <a:lvl1pPr>
              <a:defRPr/>
            </a:lvl1pPr>
          </a:lstStyle>
          <a:p>
            <a:pPr>
              <a:defRPr/>
            </a:pPr>
            <a:endParaRPr lang="en-US" altLang="id-ID"/>
          </a:p>
        </p:txBody>
      </p:sp>
      <p:sp>
        <p:nvSpPr>
          <p:cNvPr id="5" name="Rectangle 3">
            <a:extLst>
              <a:ext uri="{FF2B5EF4-FFF2-40B4-BE49-F238E27FC236}">
                <a16:creationId xmlns:a16="http://schemas.microsoft.com/office/drawing/2014/main" id="{40C3C36A-8D3D-1DD4-41BC-A129E84137A5}"/>
              </a:ext>
            </a:extLst>
          </p:cNvPr>
          <p:cNvSpPr>
            <a:spLocks noGrp="1" noChangeArrowheads="1"/>
          </p:cNvSpPr>
          <p:nvPr>
            <p:ph type="sldNum" sz="quarter" idx="11"/>
          </p:nvPr>
        </p:nvSpPr>
        <p:spPr>
          <a:ln/>
        </p:spPr>
        <p:txBody>
          <a:bodyPr/>
          <a:lstStyle>
            <a:lvl1pPr>
              <a:defRPr/>
            </a:lvl1pPr>
          </a:lstStyle>
          <a:p>
            <a:pPr>
              <a:defRPr/>
            </a:pPr>
            <a:fld id="{4822AB2F-A674-4648-8DC1-52A7B7F47E67}" type="slidenum">
              <a:rPr lang="en-US" altLang="id-ID"/>
              <a:pPr>
                <a:defRPr/>
              </a:pPr>
              <a:t>‹#›</a:t>
            </a:fld>
            <a:endParaRPr lang="en-US" altLang="id-ID"/>
          </a:p>
        </p:txBody>
      </p:sp>
      <p:sp>
        <p:nvSpPr>
          <p:cNvPr id="6" name="Rectangle 16">
            <a:extLst>
              <a:ext uri="{FF2B5EF4-FFF2-40B4-BE49-F238E27FC236}">
                <a16:creationId xmlns:a16="http://schemas.microsoft.com/office/drawing/2014/main" id="{271057FE-53CC-04FD-DA2E-6CF62F9468EB}"/>
              </a:ext>
            </a:extLst>
          </p:cNvPr>
          <p:cNvSpPr>
            <a:spLocks noGrp="1" noChangeArrowheads="1"/>
          </p:cNvSpPr>
          <p:nvPr>
            <p:ph type="dt" sz="half" idx="12"/>
          </p:nvPr>
        </p:nvSpPr>
        <p:spPr>
          <a:ln/>
        </p:spPr>
        <p:txBody>
          <a:bodyPr/>
          <a:lstStyle>
            <a:lvl1pPr>
              <a:defRPr/>
            </a:lvl1pPr>
          </a:lstStyle>
          <a:p>
            <a:pPr>
              <a:defRPr/>
            </a:pPr>
            <a:endParaRPr lang="en-US" altLang="id-ID"/>
          </a:p>
        </p:txBody>
      </p:sp>
    </p:spTree>
    <p:extLst>
      <p:ext uri="{BB962C8B-B14F-4D97-AF65-F5344CB8AC3E}">
        <p14:creationId xmlns:p14="http://schemas.microsoft.com/office/powerpoint/2010/main" val="18040121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id-ID"/>
          </a:p>
        </p:txBody>
      </p:sp>
      <p:sp>
        <p:nvSpPr>
          <p:cNvPr id="3" name="Content Placeholder 2"/>
          <p:cNvSpPr>
            <a:spLocks noGrp="1"/>
          </p:cNvSpPr>
          <p:nvPr>
            <p:ph sz="half" idx="1"/>
          </p:nvPr>
        </p:nvSpPr>
        <p:spPr>
          <a:xfrm>
            <a:off x="457200" y="1447800"/>
            <a:ext cx="4038600" cy="4419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Content Placeholder 3"/>
          <p:cNvSpPr>
            <a:spLocks noGrp="1"/>
          </p:cNvSpPr>
          <p:nvPr>
            <p:ph sz="half" idx="2"/>
          </p:nvPr>
        </p:nvSpPr>
        <p:spPr>
          <a:xfrm>
            <a:off x="4648200" y="1447800"/>
            <a:ext cx="4038600" cy="4419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5" name="Rectangle 2">
            <a:extLst>
              <a:ext uri="{FF2B5EF4-FFF2-40B4-BE49-F238E27FC236}">
                <a16:creationId xmlns:a16="http://schemas.microsoft.com/office/drawing/2014/main" id="{4DAA2E3D-9AF4-32CD-B623-B74F34D7BB18}"/>
              </a:ext>
            </a:extLst>
          </p:cNvPr>
          <p:cNvSpPr>
            <a:spLocks noGrp="1" noChangeArrowheads="1"/>
          </p:cNvSpPr>
          <p:nvPr>
            <p:ph type="ftr" sz="quarter" idx="10"/>
          </p:nvPr>
        </p:nvSpPr>
        <p:spPr>
          <a:ln/>
        </p:spPr>
        <p:txBody>
          <a:bodyPr/>
          <a:lstStyle>
            <a:lvl1pPr>
              <a:defRPr/>
            </a:lvl1pPr>
          </a:lstStyle>
          <a:p>
            <a:pPr>
              <a:defRPr/>
            </a:pPr>
            <a:endParaRPr lang="en-US" altLang="id-ID"/>
          </a:p>
        </p:txBody>
      </p:sp>
      <p:sp>
        <p:nvSpPr>
          <p:cNvPr id="6" name="Rectangle 3">
            <a:extLst>
              <a:ext uri="{FF2B5EF4-FFF2-40B4-BE49-F238E27FC236}">
                <a16:creationId xmlns:a16="http://schemas.microsoft.com/office/drawing/2014/main" id="{787C0F4E-00C3-875A-C3EB-D9CA25174159}"/>
              </a:ext>
            </a:extLst>
          </p:cNvPr>
          <p:cNvSpPr>
            <a:spLocks noGrp="1" noChangeArrowheads="1"/>
          </p:cNvSpPr>
          <p:nvPr>
            <p:ph type="sldNum" sz="quarter" idx="11"/>
          </p:nvPr>
        </p:nvSpPr>
        <p:spPr>
          <a:ln/>
        </p:spPr>
        <p:txBody>
          <a:bodyPr/>
          <a:lstStyle>
            <a:lvl1pPr>
              <a:defRPr/>
            </a:lvl1pPr>
          </a:lstStyle>
          <a:p>
            <a:pPr>
              <a:defRPr/>
            </a:pPr>
            <a:fld id="{5AF0566B-2987-40B9-BFC8-171A2E3A3768}" type="slidenum">
              <a:rPr lang="en-US" altLang="id-ID"/>
              <a:pPr>
                <a:defRPr/>
              </a:pPr>
              <a:t>‹#›</a:t>
            </a:fld>
            <a:endParaRPr lang="en-US" altLang="id-ID"/>
          </a:p>
        </p:txBody>
      </p:sp>
      <p:sp>
        <p:nvSpPr>
          <p:cNvPr id="7" name="Rectangle 16">
            <a:extLst>
              <a:ext uri="{FF2B5EF4-FFF2-40B4-BE49-F238E27FC236}">
                <a16:creationId xmlns:a16="http://schemas.microsoft.com/office/drawing/2014/main" id="{CC0DE336-EFD0-848C-4DC0-52E40BC36317}"/>
              </a:ext>
            </a:extLst>
          </p:cNvPr>
          <p:cNvSpPr>
            <a:spLocks noGrp="1" noChangeArrowheads="1"/>
          </p:cNvSpPr>
          <p:nvPr>
            <p:ph type="dt" sz="half" idx="12"/>
          </p:nvPr>
        </p:nvSpPr>
        <p:spPr>
          <a:ln/>
        </p:spPr>
        <p:txBody>
          <a:bodyPr/>
          <a:lstStyle>
            <a:lvl1pPr>
              <a:defRPr/>
            </a:lvl1pPr>
          </a:lstStyle>
          <a:p>
            <a:pPr>
              <a:defRPr/>
            </a:pPr>
            <a:endParaRPr lang="en-US" altLang="id-ID"/>
          </a:p>
        </p:txBody>
      </p:sp>
    </p:spTree>
    <p:extLst>
      <p:ext uri="{BB962C8B-B14F-4D97-AF65-F5344CB8AC3E}">
        <p14:creationId xmlns:p14="http://schemas.microsoft.com/office/powerpoint/2010/main" val="729578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endParaRPr lang="id-ID"/>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7" name="Rectangle 2">
            <a:extLst>
              <a:ext uri="{FF2B5EF4-FFF2-40B4-BE49-F238E27FC236}">
                <a16:creationId xmlns:a16="http://schemas.microsoft.com/office/drawing/2014/main" id="{C5DDEFB8-D79D-6A96-1458-8FAA15024218}"/>
              </a:ext>
            </a:extLst>
          </p:cNvPr>
          <p:cNvSpPr>
            <a:spLocks noGrp="1" noChangeArrowheads="1"/>
          </p:cNvSpPr>
          <p:nvPr>
            <p:ph type="ftr" sz="quarter" idx="10"/>
          </p:nvPr>
        </p:nvSpPr>
        <p:spPr>
          <a:ln/>
        </p:spPr>
        <p:txBody>
          <a:bodyPr/>
          <a:lstStyle>
            <a:lvl1pPr>
              <a:defRPr/>
            </a:lvl1pPr>
          </a:lstStyle>
          <a:p>
            <a:pPr>
              <a:defRPr/>
            </a:pPr>
            <a:endParaRPr lang="en-US" altLang="id-ID"/>
          </a:p>
        </p:txBody>
      </p:sp>
      <p:sp>
        <p:nvSpPr>
          <p:cNvPr id="8" name="Rectangle 3">
            <a:extLst>
              <a:ext uri="{FF2B5EF4-FFF2-40B4-BE49-F238E27FC236}">
                <a16:creationId xmlns:a16="http://schemas.microsoft.com/office/drawing/2014/main" id="{64F846F5-7094-5BF1-3AA4-120C7FB2E7FC}"/>
              </a:ext>
            </a:extLst>
          </p:cNvPr>
          <p:cNvSpPr>
            <a:spLocks noGrp="1" noChangeArrowheads="1"/>
          </p:cNvSpPr>
          <p:nvPr>
            <p:ph type="sldNum" sz="quarter" idx="11"/>
          </p:nvPr>
        </p:nvSpPr>
        <p:spPr>
          <a:ln/>
        </p:spPr>
        <p:txBody>
          <a:bodyPr/>
          <a:lstStyle>
            <a:lvl1pPr>
              <a:defRPr/>
            </a:lvl1pPr>
          </a:lstStyle>
          <a:p>
            <a:pPr>
              <a:defRPr/>
            </a:pPr>
            <a:fld id="{58A3E855-FB6A-4C46-B277-014CE705BA01}" type="slidenum">
              <a:rPr lang="en-US" altLang="id-ID"/>
              <a:pPr>
                <a:defRPr/>
              </a:pPr>
              <a:t>‹#›</a:t>
            </a:fld>
            <a:endParaRPr lang="en-US" altLang="id-ID"/>
          </a:p>
        </p:txBody>
      </p:sp>
      <p:sp>
        <p:nvSpPr>
          <p:cNvPr id="9" name="Rectangle 16">
            <a:extLst>
              <a:ext uri="{FF2B5EF4-FFF2-40B4-BE49-F238E27FC236}">
                <a16:creationId xmlns:a16="http://schemas.microsoft.com/office/drawing/2014/main" id="{BED0E116-66C3-957B-EAB0-12DDB6A018AA}"/>
              </a:ext>
            </a:extLst>
          </p:cNvPr>
          <p:cNvSpPr>
            <a:spLocks noGrp="1" noChangeArrowheads="1"/>
          </p:cNvSpPr>
          <p:nvPr>
            <p:ph type="dt" sz="half" idx="12"/>
          </p:nvPr>
        </p:nvSpPr>
        <p:spPr>
          <a:ln/>
        </p:spPr>
        <p:txBody>
          <a:bodyPr/>
          <a:lstStyle>
            <a:lvl1pPr>
              <a:defRPr/>
            </a:lvl1pPr>
          </a:lstStyle>
          <a:p>
            <a:pPr>
              <a:defRPr/>
            </a:pPr>
            <a:endParaRPr lang="en-US" altLang="id-ID"/>
          </a:p>
        </p:txBody>
      </p:sp>
    </p:spTree>
    <p:extLst>
      <p:ext uri="{BB962C8B-B14F-4D97-AF65-F5344CB8AC3E}">
        <p14:creationId xmlns:p14="http://schemas.microsoft.com/office/powerpoint/2010/main" val="10682138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id-ID"/>
          </a:p>
        </p:txBody>
      </p:sp>
      <p:sp>
        <p:nvSpPr>
          <p:cNvPr id="3" name="Rectangle 2">
            <a:extLst>
              <a:ext uri="{FF2B5EF4-FFF2-40B4-BE49-F238E27FC236}">
                <a16:creationId xmlns:a16="http://schemas.microsoft.com/office/drawing/2014/main" id="{724991FD-77E5-70DD-7035-1FEDF7F4E47C}"/>
              </a:ext>
            </a:extLst>
          </p:cNvPr>
          <p:cNvSpPr>
            <a:spLocks noGrp="1" noChangeArrowheads="1"/>
          </p:cNvSpPr>
          <p:nvPr>
            <p:ph type="ftr" sz="quarter" idx="10"/>
          </p:nvPr>
        </p:nvSpPr>
        <p:spPr>
          <a:ln/>
        </p:spPr>
        <p:txBody>
          <a:bodyPr/>
          <a:lstStyle>
            <a:lvl1pPr>
              <a:defRPr/>
            </a:lvl1pPr>
          </a:lstStyle>
          <a:p>
            <a:pPr>
              <a:defRPr/>
            </a:pPr>
            <a:endParaRPr lang="en-US" altLang="id-ID"/>
          </a:p>
        </p:txBody>
      </p:sp>
      <p:sp>
        <p:nvSpPr>
          <p:cNvPr id="4" name="Rectangle 3">
            <a:extLst>
              <a:ext uri="{FF2B5EF4-FFF2-40B4-BE49-F238E27FC236}">
                <a16:creationId xmlns:a16="http://schemas.microsoft.com/office/drawing/2014/main" id="{E99D3221-731D-9405-7EEA-0AA032FF13A0}"/>
              </a:ext>
            </a:extLst>
          </p:cNvPr>
          <p:cNvSpPr>
            <a:spLocks noGrp="1" noChangeArrowheads="1"/>
          </p:cNvSpPr>
          <p:nvPr>
            <p:ph type="sldNum" sz="quarter" idx="11"/>
          </p:nvPr>
        </p:nvSpPr>
        <p:spPr>
          <a:ln/>
        </p:spPr>
        <p:txBody>
          <a:bodyPr/>
          <a:lstStyle>
            <a:lvl1pPr>
              <a:defRPr/>
            </a:lvl1pPr>
          </a:lstStyle>
          <a:p>
            <a:pPr>
              <a:defRPr/>
            </a:pPr>
            <a:fld id="{5FEF061F-F5BD-46BF-A9EC-CA9C139EF31C}" type="slidenum">
              <a:rPr lang="en-US" altLang="id-ID"/>
              <a:pPr>
                <a:defRPr/>
              </a:pPr>
              <a:t>‹#›</a:t>
            </a:fld>
            <a:endParaRPr lang="en-US" altLang="id-ID"/>
          </a:p>
        </p:txBody>
      </p:sp>
      <p:sp>
        <p:nvSpPr>
          <p:cNvPr id="5" name="Rectangle 16">
            <a:extLst>
              <a:ext uri="{FF2B5EF4-FFF2-40B4-BE49-F238E27FC236}">
                <a16:creationId xmlns:a16="http://schemas.microsoft.com/office/drawing/2014/main" id="{6AC4E670-53F8-4DA3-545E-25886335D79D}"/>
              </a:ext>
            </a:extLst>
          </p:cNvPr>
          <p:cNvSpPr>
            <a:spLocks noGrp="1" noChangeArrowheads="1"/>
          </p:cNvSpPr>
          <p:nvPr>
            <p:ph type="dt" sz="half" idx="12"/>
          </p:nvPr>
        </p:nvSpPr>
        <p:spPr>
          <a:ln/>
        </p:spPr>
        <p:txBody>
          <a:bodyPr/>
          <a:lstStyle>
            <a:lvl1pPr>
              <a:defRPr/>
            </a:lvl1pPr>
          </a:lstStyle>
          <a:p>
            <a:pPr>
              <a:defRPr/>
            </a:pPr>
            <a:endParaRPr lang="en-US" altLang="id-ID"/>
          </a:p>
        </p:txBody>
      </p:sp>
    </p:spTree>
    <p:extLst>
      <p:ext uri="{BB962C8B-B14F-4D97-AF65-F5344CB8AC3E}">
        <p14:creationId xmlns:p14="http://schemas.microsoft.com/office/powerpoint/2010/main" val="9941331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31DF6D2D-69CF-71CF-9C31-56AD463421F1}"/>
              </a:ext>
            </a:extLst>
          </p:cNvPr>
          <p:cNvSpPr>
            <a:spLocks noGrp="1" noChangeArrowheads="1"/>
          </p:cNvSpPr>
          <p:nvPr>
            <p:ph type="ftr" sz="quarter" idx="10"/>
          </p:nvPr>
        </p:nvSpPr>
        <p:spPr>
          <a:ln/>
        </p:spPr>
        <p:txBody>
          <a:bodyPr/>
          <a:lstStyle>
            <a:lvl1pPr>
              <a:defRPr/>
            </a:lvl1pPr>
          </a:lstStyle>
          <a:p>
            <a:pPr>
              <a:defRPr/>
            </a:pPr>
            <a:endParaRPr lang="en-US" altLang="id-ID"/>
          </a:p>
        </p:txBody>
      </p:sp>
      <p:sp>
        <p:nvSpPr>
          <p:cNvPr id="3" name="Rectangle 3">
            <a:extLst>
              <a:ext uri="{FF2B5EF4-FFF2-40B4-BE49-F238E27FC236}">
                <a16:creationId xmlns:a16="http://schemas.microsoft.com/office/drawing/2014/main" id="{3896E047-446A-CDE2-E7D4-CC1803349430}"/>
              </a:ext>
            </a:extLst>
          </p:cNvPr>
          <p:cNvSpPr>
            <a:spLocks noGrp="1" noChangeArrowheads="1"/>
          </p:cNvSpPr>
          <p:nvPr>
            <p:ph type="sldNum" sz="quarter" idx="11"/>
          </p:nvPr>
        </p:nvSpPr>
        <p:spPr>
          <a:ln/>
        </p:spPr>
        <p:txBody>
          <a:bodyPr/>
          <a:lstStyle>
            <a:lvl1pPr>
              <a:defRPr/>
            </a:lvl1pPr>
          </a:lstStyle>
          <a:p>
            <a:pPr>
              <a:defRPr/>
            </a:pPr>
            <a:fld id="{268FEF7E-6536-4134-8984-7AF1F4CC15A7}" type="slidenum">
              <a:rPr lang="en-US" altLang="id-ID"/>
              <a:pPr>
                <a:defRPr/>
              </a:pPr>
              <a:t>‹#›</a:t>
            </a:fld>
            <a:endParaRPr lang="en-US" altLang="id-ID"/>
          </a:p>
        </p:txBody>
      </p:sp>
      <p:sp>
        <p:nvSpPr>
          <p:cNvPr id="4" name="Rectangle 16">
            <a:extLst>
              <a:ext uri="{FF2B5EF4-FFF2-40B4-BE49-F238E27FC236}">
                <a16:creationId xmlns:a16="http://schemas.microsoft.com/office/drawing/2014/main" id="{8E59B4E0-7A96-948F-E573-21D0CAAF357D}"/>
              </a:ext>
            </a:extLst>
          </p:cNvPr>
          <p:cNvSpPr>
            <a:spLocks noGrp="1" noChangeArrowheads="1"/>
          </p:cNvSpPr>
          <p:nvPr>
            <p:ph type="dt" sz="half" idx="12"/>
          </p:nvPr>
        </p:nvSpPr>
        <p:spPr>
          <a:ln/>
        </p:spPr>
        <p:txBody>
          <a:bodyPr/>
          <a:lstStyle>
            <a:lvl1pPr>
              <a:defRPr/>
            </a:lvl1pPr>
          </a:lstStyle>
          <a:p>
            <a:pPr>
              <a:defRPr/>
            </a:pPr>
            <a:endParaRPr lang="en-US" altLang="id-ID"/>
          </a:p>
        </p:txBody>
      </p:sp>
    </p:spTree>
    <p:extLst>
      <p:ext uri="{BB962C8B-B14F-4D97-AF65-F5344CB8AC3E}">
        <p14:creationId xmlns:p14="http://schemas.microsoft.com/office/powerpoint/2010/main" val="18476343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id-ID"/>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Rectangle 2">
            <a:extLst>
              <a:ext uri="{FF2B5EF4-FFF2-40B4-BE49-F238E27FC236}">
                <a16:creationId xmlns:a16="http://schemas.microsoft.com/office/drawing/2014/main" id="{CBC5E151-77FA-C8B1-370A-4514FFDE4283}"/>
              </a:ext>
            </a:extLst>
          </p:cNvPr>
          <p:cNvSpPr>
            <a:spLocks noGrp="1" noChangeArrowheads="1"/>
          </p:cNvSpPr>
          <p:nvPr>
            <p:ph type="ftr" sz="quarter" idx="10"/>
          </p:nvPr>
        </p:nvSpPr>
        <p:spPr>
          <a:ln/>
        </p:spPr>
        <p:txBody>
          <a:bodyPr/>
          <a:lstStyle>
            <a:lvl1pPr>
              <a:defRPr/>
            </a:lvl1pPr>
          </a:lstStyle>
          <a:p>
            <a:pPr>
              <a:defRPr/>
            </a:pPr>
            <a:endParaRPr lang="en-US" altLang="id-ID"/>
          </a:p>
        </p:txBody>
      </p:sp>
      <p:sp>
        <p:nvSpPr>
          <p:cNvPr id="6" name="Rectangle 3">
            <a:extLst>
              <a:ext uri="{FF2B5EF4-FFF2-40B4-BE49-F238E27FC236}">
                <a16:creationId xmlns:a16="http://schemas.microsoft.com/office/drawing/2014/main" id="{8E42A4C1-71C2-AEC5-D5D1-8174DE2E9C67}"/>
              </a:ext>
            </a:extLst>
          </p:cNvPr>
          <p:cNvSpPr>
            <a:spLocks noGrp="1" noChangeArrowheads="1"/>
          </p:cNvSpPr>
          <p:nvPr>
            <p:ph type="sldNum" sz="quarter" idx="11"/>
          </p:nvPr>
        </p:nvSpPr>
        <p:spPr>
          <a:ln/>
        </p:spPr>
        <p:txBody>
          <a:bodyPr/>
          <a:lstStyle>
            <a:lvl1pPr>
              <a:defRPr/>
            </a:lvl1pPr>
          </a:lstStyle>
          <a:p>
            <a:pPr>
              <a:defRPr/>
            </a:pPr>
            <a:fld id="{75EC72CF-EA39-4721-97E0-874E636436FF}" type="slidenum">
              <a:rPr lang="en-US" altLang="id-ID"/>
              <a:pPr>
                <a:defRPr/>
              </a:pPr>
              <a:t>‹#›</a:t>
            </a:fld>
            <a:endParaRPr lang="en-US" altLang="id-ID"/>
          </a:p>
        </p:txBody>
      </p:sp>
      <p:sp>
        <p:nvSpPr>
          <p:cNvPr id="7" name="Rectangle 16">
            <a:extLst>
              <a:ext uri="{FF2B5EF4-FFF2-40B4-BE49-F238E27FC236}">
                <a16:creationId xmlns:a16="http://schemas.microsoft.com/office/drawing/2014/main" id="{BE83B59B-B61F-E263-9495-CDEA2CF3F92A}"/>
              </a:ext>
            </a:extLst>
          </p:cNvPr>
          <p:cNvSpPr>
            <a:spLocks noGrp="1" noChangeArrowheads="1"/>
          </p:cNvSpPr>
          <p:nvPr>
            <p:ph type="dt" sz="half" idx="12"/>
          </p:nvPr>
        </p:nvSpPr>
        <p:spPr>
          <a:ln/>
        </p:spPr>
        <p:txBody>
          <a:bodyPr/>
          <a:lstStyle>
            <a:lvl1pPr>
              <a:defRPr/>
            </a:lvl1pPr>
          </a:lstStyle>
          <a:p>
            <a:pPr>
              <a:defRPr/>
            </a:pPr>
            <a:endParaRPr lang="en-US" altLang="id-ID"/>
          </a:p>
        </p:txBody>
      </p:sp>
    </p:spTree>
    <p:extLst>
      <p:ext uri="{BB962C8B-B14F-4D97-AF65-F5344CB8AC3E}">
        <p14:creationId xmlns:p14="http://schemas.microsoft.com/office/powerpoint/2010/main" val="23992951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id-ID"/>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id-ID" noProof="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Rectangle 2">
            <a:extLst>
              <a:ext uri="{FF2B5EF4-FFF2-40B4-BE49-F238E27FC236}">
                <a16:creationId xmlns:a16="http://schemas.microsoft.com/office/drawing/2014/main" id="{88A7EBE2-35AD-E972-910C-63D3C414A66C}"/>
              </a:ext>
            </a:extLst>
          </p:cNvPr>
          <p:cNvSpPr>
            <a:spLocks noGrp="1" noChangeArrowheads="1"/>
          </p:cNvSpPr>
          <p:nvPr>
            <p:ph type="ftr" sz="quarter" idx="10"/>
          </p:nvPr>
        </p:nvSpPr>
        <p:spPr>
          <a:ln/>
        </p:spPr>
        <p:txBody>
          <a:bodyPr/>
          <a:lstStyle>
            <a:lvl1pPr>
              <a:defRPr/>
            </a:lvl1pPr>
          </a:lstStyle>
          <a:p>
            <a:pPr>
              <a:defRPr/>
            </a:pPr>
            <a:endParaRPr lang="en-US" altLang="id-ID"/>
          </a:p>
        </p:txBody>
      </p:sp>
      <p:sp>
        <p:nvSpPr>
          <p:cNvPr id="6" name="Rectangle 3">
            <a:extLst>
              <a:ext uri="{FF2B5EF4-FFF2-40B4-BE49-F238E27FC236}">
                <a16:creationId xmlns:a16="http://schemas.microsoft.com/office/drawing/2014/main" id="{F64664D8-0972-1FB4-13A3-A837E37117AE}"/>
              </a:ext>
            </a:extLst>
          </p:cNvPr>
          <p:cNvSpPr>
            <a:spLocks noGrp="1" noChangeArrowheads="1"/>
          </p:cNvSpPr>
          <p:nvPr>
            <p:ph type="sldNum" sz="quarter" idx="11"/>
          </p:nvPr>
        </p:nvSpPr>
        <p:spPr>
          <a:ln/>
        </p:spPr>
        <p:txBody>
          <a:bodyPr/>
          <a:lstStyle>
            <a:lvl1pPr>
              <a:defRPr/>
            </a:lvl1pPr>
          </a:lstStyle>
          <a:p>
            <a:pPr>
              <a:defRPr/>
            </a:pPr>
            <a:fld id="{7A31867B-4409-424C-B762-F44360E63745}" type="slidenum">
              <a:rPr lang="en-US" altLang="id-ID"/>
              <a:pPr>
                <a:defRPr/>
              </a:pPr>
              <a:t>‹#›</a:t>
            </a:fld>
            <a:endParaRPr lang="en-US" altLang="id-ID"/>
          </a:p>
        </p:txBody>
      </p:sp>
      <p:sp>
        <p:nvSpPr>
          <p:cNvPr id="7" name="Rectangle 16">
            <a:extLst>
              <a:ext uri="{FF2B5EF4-FFF2-40B4-BE49-F238E27FC236}">
                <a16:creationId xmlns:a16="http://schemas.microsoft.com/office/drawing/2014/main" id="{4B1C8272-EFAC-FE98-AF44-5925A44A1B6F}"/>
              </a:ext>
            </a:extLst>
          </p:cNvPr>
          <p:cNvSpPr>
            <a:spLocks noGrp="1" noChangeArrowheads="1"/>
          </p:cNvSpPr>
          <p:nvPr>
            <p:ph type="dt" sz="half" idx="12"/>
          </p:nvPr>
        </p:nvSpPr>
        <p:spPr>
          <a:ln/>
        </p:spPr>
        <p:txBody>
          <a:bodyPr/>
          <a:lstStyle>
            <a:lvl1pPr>
              <a:defRPr/>
            </a:lvl1pPr>
          </a:lstStyle>
          <a:p>
            <a:pPr>
              <a:defRPr/>
            </a:pPr>
            <a:endParaRPr lang="en-US" altLang="id-ID"/>
          </a:p>
        </p:txBody>
      </p:sp>
    </p:spTree>
    <p:extLst>
      <p:ext uri="{BB962C8B-B14F-4D97-AF65-F5344CB8AC3E}">
        <p14:creationId xmlns:p14="http://schemas.microsoft.com/office/powerpoint/2010/main" val="11102334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id-ID"/>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Rectangle 2">
            <a:extLst>
              <a:ext uri="{FF2B5EF4-FFF2-40B4-BE49-F238E27FC236}">
                <a16:creationId xmlns:a16="http://schemas.microsoft.com/office/drawing/2014/main" id="{F3488DDC-E374-8F62-DC12-A24966F6365E}"/>
              </a:ext>
            </a:extLst>
          </p:cNvPr>
          <p:cNvSpPr>
            <a:spLocks noGrp="1" noChangeArrowheads="1"/>
          </p:cNvSpPr>
          <p:nvPr>
            <p:ph type="ftr" sz="quarter" idx="10"/>
          </p:nvPr>
        </p:nvSpPr>
        <p:spPr>
          <a:ln/>
        </p:spPr>
        <p:txBody>
          <a:bodyPr/>
          <a:lstStyle>
            <a:lvl1pPr>
              <a:defRPr/>
            </a:lvl1pPr>
          </a:lstStyle>
          <a:p>
            <a:pPr>
              <a:defRPr/>
            </a:pPr>
            <a:endParaRPr lang="en-US" altLang="id-ID"/>
          </a:p>
        </p:txBody>
      </p:sp>
      <p:sp>
        <p:nvSpPr>
          <p:cNvPr id="5" name="Rectangle 3">
            <a:extLst>
              <a:ext uri="{FF2B5EF4-FFF2-40B4-BE49-F238E27FC236}">
                <a16:creationId xmlns:a16="http://schemas.microsoft.com/office/drawing/2014/main" id="{1FECF3AF-B5BF-099C-DBF6-88DA7AD549FF}"/>
              </a:ext>
            </a:extLst>
          </p:cNvPr>
          <p:cNvSpPr>
            <a:spLocks noGrp="1" noChangeArrowheads="1"/>
          </p:cNvSpPr>
          <p:nvPr>
            <p:ph type="sldNum" sz="quarter" idx="11"/>
          </p:nvPr>
        </p:nvSpPr>
        <p:spPr>
          <a:ln/>
        </p:spPr>
        <p:txBody>
          <a:bodyPr/>
          <a:lstStyle>
            <a:lvl1pPr>
              <a:defRPr/>
            </a:lvl1pPr>
          </a:lstStyle>
          <a:p>
            <a:pPr>
              <a:defRPr/>
            </a:pPr>
            <a:fld id="{62181D9B-E3A2-4A9D-8D8D-91ACDBBD69F5}" type="slidenum">
              <a:rPr lang="en-US" altLang="id-ID"/>
              <a:pPr>
                <a:defRPr/>
              </a:pPr>
              <a:t>‹#›</a:t>
            </a:fld>
            <a:endParaRPr lang="en-US" altLang="id-ID"/>
          </a:p>
        </p:txBody>
      </p:sp>
      <p:sp>
        <p:nvSpPr>
          <p:cNvPr id="6" name="Rectangle 16">
            <a:extLst>
              <a:ext uri="{FF2B5EF4-FFF2-40B4-BE49-F238E27FC236}">
                <a16:creationId xmlns:a16="http://schemas.microsoft.com/office/drawing/2014/main" id="{A4C16A1D-239D-C1BA-7843-1762E97C1C1E}"/>
              </a:ext>
            </a:extLst>
          </p:cNvPr>
          <p:cNvSpPr>
            <a:spLocks noGrp="1" noChangeArrowheads="1"/>
          </p:cNvSpPr>
          <p:nvPr>
            <p:ph type="dt" sz="half" idx="12"/>
          </p:nvPr>
        </p:nvSpPr>
        <p:spPr>
          <a:ln/>
        </p:spPr>
        <p:txBody>
          <a:bodyPr/>
          <a:lstStyle>
            <a:lvl1pPr>
              <a:defRPr/>
            </a:lvl1pPr>
          </a:lstStyle>
          <a:p>
            <a:pPr>
              <a:defRPr/>
            </a:pPr>
            <a:endParaRPr lang="en-US" altLang="id-ID"/>
          </a:p>
        </p:txBody>
      </p:sp>
    </p:spTree>
    <p:extLst>
      <p:ext uri="{BB962C8B-B14F-4D97-AF65-F5344CB8AC3E}">
        <p14:creationId xmlns:p14="http://schemas.microsoft.com/office/powerpoint/2010/main" val="23260805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457200"/>
            <a:ext cx="2057400" cy="5410200"/>
          </a:xfrm>
        </p:spPr>
        <p:txBody>
          <a:bodyPr vert="eaVert"/>
          <a:lstStyle/>
          <a:p>
            <a:r>
              <a:rPr lang="en-US"/>
              <a:t>Click to edit Master title style</a:t>
            </a:r>
            <a:endParaRPr lang="id-ID"/>
          </a:p>
        </p:txBody>
      </p:sp>
      <p:sp>
        <p:nvSpPr>
          <p:cNvPr id="3" name="Vertical Text Placeholder 2"/>
          <p:cNvSpPr>
            <a:spLocks noGrp="1"/>
          </p:cNvSpPr>
          <p:nvPr>
            <p:ph type="body" orient="vert" idx="1"/>
          </p:nvPr>
        </p:nvSpPr>
        <p:spPr>
          <a:xfrm>
            <a:off x="457200" y="457200"/>
            <a:ext cx="6019800" cy="54102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Rectangle 2">
            <a:extLst>
              <a:ext uri="{FF2B5EF4-FFF2-40B4-BE49-F238E27FC236}">
                <a16:creationId xmlns:a16="http://schemas.microsoft.com/office/drawing/2014/main" id="{29EB3D0B-25C3-63BE-770D-DD9C9D87B9A2}"/>
              </a:ext>
            </a:extLst>
          </p:cNvPr>
          <p:cNvSpPr>
            <a:spLocks noGrp="1" noChangeArrowheads="1"/>
          </p:cNvSpPr>
          <p:nvPr>
            <p:ph type="ftr" sz="quarter" idx="10"/>
          </p:nvPr>
        </p:nvSpPr>
        <p:spPr>
          <a:ln/>
        </p:spPr>
        <p:txBody>
          <a:bodyPr/>
          <a:lstStyle>
            <a:lvl1pPr>
              <a:defRPr/>
            </a:lvl1pPr>
          </a:lstStyle>
          <a:p>
            <a:pPr>
              <a:defRPr/>
            </a:pPr>
            <a:endParaRPr lang="en-US" altLang="id-ID"/>
          </a:p>
        </p:txBody>
      </p:sp>
      <p:sp>
        <p:nvSpPr>
          <p:cNvPr id="5" name="Rectangle 3">
            <a:extLst>
              <a:ext uri="{FF2B5EF4-FFF2-40B4-BE49-F238E27FC236}">
                <a16:creationId xmlns:a16="http://schemas.microsoft.com/office/drawing/2014/main" id="{4BEEFE09-AC64-952E-866B-3D73B9443C64}"/>
              </a:ext>
            </a:extLst>
          </p:cNvPr>
          <p:cNvSpPr>
            <a:spLocks noGrp="1" noChangeArrowheads="1"/>
          </p:cNvSpPr>
          <p:nvPr>
            <p:ph type="sldNum" sz="quarter" idx="11"/>
          </p:nvPr>
        </p:nvSpPr>
        <p:spPr>
          <a:ln/>
        </p:spPr>
        <p:txBody>
          <a:bodyPr/>
          <a:lstStyle>
            <a:lvl1pPr>
              <a:defRPr/>
            </a:lvl1pPr>
          </a:lstStyle>
          <a:p>
            <a:pPr>
              <a:defRPr/>
            </a:pPr>
            <a:fld id="{11061E0B-003B-4EAD-9214-2BF5F7188AAC}" type="slidenum">
              <a:rPr lang="en-US" altLang="id-ID"/>
              <a:pPr>
                <a:defRPr/>
              </a:pPr>
              <a:t>‹#›</a:t>
            </a:fld>
            <a:endParaRPr lang="en-US" altLang="id-ID"/>
          </a:p>
        </p:txBody>
      </p:sp>
      <p:sp>
        <p:nvSpPr>
          <p:cNvPr id="6" name="Rectangle 16">
            <a:extLst>
              <a:ext uri="{FF2B5EF4-FFF2-40B4-BE49-F238E27FC236}">
                <a16:creationId xmlns:a16="http://schemas.microsoft.com/office/drawing/2014/main" id="{3C7DA3BF-E6E3-B072-6803-69B4E2CD517F}"/>
              </a:ext>
            </a:extLst>
          </p:cNvPr>
          <p:cNvSpPr>
            <a:spLocks noGrp="1" noChangeArrowheads="1"/>
          </p:cNvSpPr>
          <p:nvPr>
            <p:ph type="dt" sz="half" idx="12"/>
          </p:nvPr>
        </p:nvSpPr>
        <p:spPr>
          <a:ln/>
        </p:spPr>
        <p:txBody>
          <a:bodyPr/>
          <a:lstStyle>
            <a:lvl1pPr>
              <a:defRPr/>
            </a:lvl1pPr>
          </a:lstStyle>
          <a:p>
            <a:pPr>
              <a:defRPr/>
            </a:pPr>
            <a:endParaRPr lang="en-US" altLang="id-ID"/>
          </a:p>
        </p:txBody>
      </p:sp>
    </p:spTree>
    <p:extLst>
      <p:ext uri="{BB962C8B-B14F-4D97-AF65-F5344CB8AC3E}">
        <p14:creationId xmlns:p14="http://schemas.microsoft.com/office/powerpoint/2010/main" val="38314924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762000"/>
          </a:xfrm>
        </p:spPr>
        <p:txBody>
          <a:bodyPr/>
          <a:lstStyle/>
          <a:p>
            <a:r>
              <a:rPr lang="en-US"/>
              <a:t>Click to edit Master title style</a:t>
            </a:r>
            <a:endParaRPr lang="id-ID"/>
          </a:p>
        </p:txBody>
      </p:sp>
      <p:sp>
        <p:nvSpPr>
          <p:cNvPr id="3" name="Text Placeholder 2"/>
          <p:cNvSpPr>
            <a:spLocks noGrp="1"/>
          </p:cNvSpPr>
          <p:nvPr>
            <p:ph type="body" sz="half" idx="1"/>
          </p:nvPr>
        </p:nvSpPr>
        <p:spPr>
          <a:xfrm>
            <a:off x="457200" y="1447800"/>
            <a:ext cx="4038600" cy="4419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Content Placeholder 3"/>
          <p:cNvSpPr>
            <a:spLocks noGrp="1"/>
          </p:cNvSpPr>
          <p:nvPr>
            <p:ph sz="half" idx="2"/>
          </p:nvPr>
        </p:nvSpPr>
        <p:spPr>
          <a:xfrm>
            <a:off x="4648200" y="1447800"/>
            <a:ext cx="4038600" cy="4419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5" name="Rectangle 2">
            <a:extLst>
              <a:ext uri="{FF2B5EF4-FFF2-40B4-BE49-F238E27FC236}">
                <a16:creationId xmlns:a16="http://schemas.microsoft.com/office/drawing/2014/main" id="{6121A52B-07F1-4E4B-BB56-A53443ED0871}"/>
              </a:ext>
            </a:extLst>
          </p:cNvPr>
          <p:cNvSpPr>
            <a:spLocks noGrp="1" noChangeArrowheads="1"/>
          </p:cNvSpPr>
          <p:nvPr>
            <p:ph type="ftr" sz="quarter" idx="10"/>
          </p:nvPr>
        </p:nvSpPr>
        <p:spPr>
          <a:ln/>
        </p:spPr>
        <p:txBody>
          <a:bodyPr/>
          <a:lstStyle>
            <a:lvl1pPr>
              <a:defRPr/>
            </a:lvl1pPr>
          </a:lstStyle>
          <a:p>
            <a:pPr>
              <a:defRPr/>
            </a:pPr>
            <a:endParaRPr lang="en-US" altLang="id-ID"/>
          </a:p>
        </p:txBody>
      </p:sp>
      <p:sp>
        <p:nvSpPr>
          <p:cNvPr id="6" name="Rectangle 3">
            <a:extLst>
              <a:ext uri="{FF2B5EF4-FFF2-40B4-BE49-F238E27FC236}">
                <a16:creationId xmlns:a16="http://schemas.microsoft.com/office/drawing/2014/main" id="{F9A45602-BBC9-37B9-4153-D0B231D0B871}"/>
              </a:ext>
            </a:extLst>
          </p:cNvPr>
          <p:cNvSpPr>
            <a:spLocks noGrp="1" noChangeArrowheads="1"/>
          </p:cNvSpPr>
          <p:nvPr>
            <p:ph type="sldNum" sz="quarter" idx="11"/>
          </p:nvPr>
        </p:nvSpPr>
        <p:spPr>
          <a:ln/>
        </p:spPr>
        <p:txBody>
          <a:bodyPr/>
          <a:lstStyle>
            <a:lvl1pPr>
              <a:defRPr/>
            </a:lvl1pPr>
          </a:lstStyle>
          <a:p>
            <a:pPr>
              <a:defRPr/>
            </a:pPr>
            <a:fld id="{F43201F4-0960-4B59-9EE5-3FFE2E034B31}" type="slidenum">
              <a:rPr lang="en-US" altLang="id-ID"/>
              <a:pPr>
                <a:defRPr/>
              </a:pPr>
              <a:t>‹#›</a:t>
            </a:fld>
            <a:endParaRPr lang="en-US" altLang="id-ID"/>
          </a:p>
        </p:txBody>
      </p:sp>
      <p:sp>
        <p:nvSpPr>
          <p:cNvPr id="7" name="Rectangle 16">
            <a:extLst>
              <a:ext uri="{FF2B5EF4-FFF2-40B4-BE49-F238E27FC236}">
                <a16:creationId xmlns:a16="http://schemas.microsoft.com/office/drawing/2014/main" id="{CAF6BE5D-EC80-D28F-0B03-4E68D75A6C50}"/>
              </a:ext>
            </a:extLst>
          </p:cNvPr>
          <p:cNvSpPr>
            <a:spLocks noGrp="1" noChangeArrowheads="1"/>
          </p:cNvSpPr>
          <p:nvPr>
            <p:ph type="dt" sz="half" idx="12"/>
          </p:nvPr>
        </p:nvSpPr>
        <p:spPr>
          <a:ln/>
        </p:spPr>
        <p:txBody>
          <a:bodyPr/>
          <a:lstStyle>
            <a:lvl1pPr>
              <a:defRPr/>
            </a:lvl1pPr>
          </a:lstStyle>
          <a:p>
            <a:pPr>
              <a:defRPr/>
            </a:pPr>
            <a:endParaRPr lang="en-US" altLang="id-ID"/>
          </a:p>
        </p:txBody>
      </p:sp>
    </p:spTree>
    <p:extLst>
      <p:ext uri="{BB962C8B-B14F-4D97-AF65-F5344CB8AC3E}">
        <p14:creationId xmlns:p14="http://schemas.microsoft.com/office/powerpoint/2010/main" val="17908874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762000"/>
          </a:xfrm>
        </p:spPr>
        <p:txBody>
          <a:bodyPr/>
          <a:lstStyle/>
          <a:p>
            <a:r>
              <a:rPr lang="en-US"/>
              <a:t>Click to edit Master title style</a:t>
            </a:r>
            <a:endParaRPr lang="id-ID"/>
          </a:p>
        </p:txBody>
      </p:sp>
      <p:sp>
        <p:nvSpPr>
          <p:cNvPr id="3" name="Text Placeholder 2"/>
          <p:cNvSpPr>
            <a:spLocks noGrp="1"/>
          </p:cNvSpPr>
          <p:nvPr>
            <p:ph type="body" sz="half" idx="1"/>
          </p:nvPr>
        </p:nvSpPr>
        <p:spPr>
          <a:xfrm>
            <a:off x="457200" y="1447800"/>
            <a:ext cx="4038600" cy="4419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Content Placeholder 3"/>
          <p:cNvSpPr>
            <a:spLocks noGrp="1"/>
          </p:cNvSpPr>
          <p:nvPr>
            <p:ph sz="quarter" idx="2"/>
          </p:nvPr>
        </p:nvSpPr>
        <p:spPr>
          <a:xfrm>
            <a:off x="4648200" y="1447800"/>
            <a:ext cx="4038600" cy="2133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5" name="Content Placeholder 4"/>
          <p:cNvSpPr>
            <a:spLocks noGrp="1"/>
          </p:cNvSpPr>
          <p:nvPr>
            <p:ph sz="quarter" idx="3"/>
          </p:nvPr>
        </p:nvSpPr>
        <p:spPr>
          <a:xfrm>
            <a:off x="4648200" y="3733800"/>
            <a:ext cx="4038600" cy="2133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6" name="Rectangle 2">
            <a:extLst>
              <a:ext uri="{FF2B5EF4-FFF2-40B4-BE49-F238E27FC236}">
                <a16:creationId xmlns:a16="http://schemas.microsoft.com/office/drawing/2014/main" id="{C1DD074F-1D13-EB58-FB7C-8ADF0EFF534B}"/>
              </a:ext>
            </a:extLst>
          </p:cNvPr>
          <p:cNvSpPr>
            <a:spLocks noGrp="1" noChangeArrowheads="1"/>
          </p:cNvSpPr>
          <p:nvPr>
            <p:ph type="ftr" sz="quarter" idx="10"/>
          </p:nvPr>
        </p:nvSpPr>
        <p:spPr>
          <a:ln/>
        </p:spPr>
        <p:txBody>
          <a:bodyPr/>
          <a:lstStyle>
            <a:lvl1pPr>
              <a:defRPr/>
            </a:lvl1pPr>
          </a:lstStyle>
          <a:p>
            <a:pPr>
              <a:defRPr/>
            </a:pPr>
            <a:endParaRPr lang="en-US" altLang="id-ID"/>
          </a:p>
        </p:txBody>
      </p:sp>
      <p:sp>
        <p:nvSpPr>
          <p:cNvPr id="7" name="Rectangle 3">
            <a:extLst>
              <a:ext uri="{FF2B5EF4-FFF2-40B4-BE49-F238E27FC236}">
                <a16:creationId xmlns:a16="http://schemas.microsoft.com/office/drawing/2014/main" id="{D1743772-CF81-E268-5E1D-B37A875DDB49}"/>
              </a:ext>
            </a:extLst>
          </p:cNvPr>
          <p:cNvSpPr>
            <a:spLocks noGrp="1" noChangeArrowheads="1"/>
          </p:cNvSpPr>
          <p:nvPr>
            <p:ph type="sldNum" sz="quarter" idx="11"/>
          </p:nvPr>
        </p:nvSpPr>
        <p:spPr>
          <a:ln/>
        </p:spPr>
        <p:txBody>
          <a:bodyPr/>
          <a:lstStyle>
            <a:lvl1pPr>
              <a:defRPr/>
            </a:lvl1pPr>
          </a:lstStyle>
          <a:p>
            <a:pPr>
              <a:defRPr/>
            </a:pPr>
            <a:fld id="{9FF1DEAD-3085-4679-A5AC-43CC6A36965D}" type="slidenum">
              <a:rPr lang="en-US" altLang="id-ID"/>
              <a:pPr>
                <a:defRPr/>
              </a:pPr>
              <a:t>‹#›</a:t>
            </a:fld>
            <a:endParaRPr lang="en-US" altLang="id-ID"/>
          </a:p>
        </p:txBody>
      </p:sp>
      <p:sp>
        <p:nvSpPr>
          <p:cNvPr id="8" name="Rectangle 16">
            <a:extLst>
              <a:ext uri="{FF2B5EF4-FFF2-40B4-BE49-F238E27FC236}">
                <a16:creationId xmlns:a16="http://schemas.microsoft.com/office/drawing/2014/main" id="{D5B8D25D-3D9A-069B-348E-4EC3B7F93E99}"/>
              </a:ext>
            </a:extLst>
          </p:cNvPr>
          <p:cNvSpPr>
            <a:spLocks noGrp="1" noChangeArrowheads="1"/>
          </p:cNvSpPr>
          <p:nvPr>
            <p:ph type="dt" sz="half" idx="12"/>
          </p:nvPr>
        </p:nvSpPr>
        <p:spPr>
          <a:ln/>
        </p:spPr>
        <p:txBody>
          <a:bodyPr/>
          <a:lstStyle>
            <a:lvl1pPr>
              <a:defRPr/>
            </a:lvl1pPr>
          </a:lstStyle>
          <a:p>
            <a:pPr>
              <a:defRPr/>
            </a:pPr>
            <a:endParaRPr lang="en-US" altLang="id-ID"/>
          </a:p>
        </p:txBody>
      </p:sp>
    </p:spTree>
    <p:extLst>
      <p:ext uri="{BB962C8B-B14F-4D97-AF65-F5344CB8AC3E}">
        <p14:creationId xmlns:p14="http://schemas.microsoft.com/office/powerpoint/2010/main" val="1405155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79054239-0710-4900-44BD-29860156A0A7}"/>
              </a:ext>
            </a:extLst>
          </p:cNvPr>
          <p:cNvSpPr>
            <a:spLocks noGrp="1" noChangeArrowheads="1"/>
          </p:cNvSpPr>
          <p:nvPr>
            <p:ph type="ftr" sz="quarter" idx="3"/>
          </p:nvPr>
        </p:nvSpPr>
        <p:spPr bwMode="auto">
          <a:xfrm>
            <a:off x="3124200" y="6248400"/>
            <a:ext cx="28956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ctr" eaLnBrk="1" hangingPunct="1">
              <a:defRPr sz="1200"/>
            </a:lvl1pPr>
          </a:lstStyle>
          <a:p>
            <a:pPr>
              <a:defRPr/>
            </a:pPr>
            <a:endParaRPr lang="en-US" altLang="id-ID"/>
          </a:p>
        </p:txBody>
      </p:sp>
      <p:sp>
        <p:nvSpPr>
          <p:cNvPr id="19459" name="Rectangle 3">
            <a:extLst>
              <a:ext uri="{FF2B5EF4-FFF2-40B4-BE49-F238E27FC236}">
                <a16:creationId xmlns:a16="http://schemas.microsoft.com/office/drawing/2014/main" id="{D6138932-316B-E2F8-B575-09A7E3E9CE14}"/>
              </a:ext>
            </a:extLst>
          </p:cNvPr>
          <p:cNvSpPr>
            <a:spLocks noGrp="1" noChangeArrowheads="1"/>
          </p:cNvSpPr>
          <p:nvPr>
            <p:ph type="sldNum" sz="quarter" idx="4"/>
          </p:nvPr>
        </p:nvSpPr>
        <p:spPr bwMode="auto">
          <a:xfrm>
            <a:off x="6553200" y="6248400"/>
            <a:ext cx="21336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sz="1200" smtClean="0">
                <a:latin typeface="Arial Black" panose="020B0A04020102020204" pitchFamily="34" charset="0"/>
              </a:defRPr>
            </a:lvl1pPr>
          </a:lstStyle>
          <a:p>
            <a:pPr>
              <a:defRPr/>
            </a:pPr>
            <a:fld id="{2919FBB0-0F09-4C99-8B68-38F8AA231D0B}" type="slidenum">
              <a:rPr lang="en-US" altLang="id-ID"/>
              <a:pPr>
                <a:defRPr/>
              </a:pPr>
              <a:t>‹#›</a:t>
            </a:fld>
            <a:endParaRPr lang="en-US" altLang="id-ID"/>
          </a:p>
        </p:txBody>
      </p:sp>
      <p:grpSp>
        <p:nvGrpSpPr>
          <p:cNvPr id="1028" name="Group 4">
            <a:extLst>
              <a:ext uri="{FF2B5EF4-FFF2-40B4-BE49-F238E27FC236}">
                <a16:creationId xmlns:a16="http://schemas.microsoft.com/office/drawing/2014/main" id="{F857ACA9-73DF-4DB4-2FB8-6E3AF9CB73F4}"/>
              </a:ext>
            </a:extLst>
          </p:cNvPr>
          <p:cNvGrpSpPr>
            <a:grpSpLocks/>
          </p:cNvGrpSpPr>
          <p:nvPr/>
        </p:nvGrpSpPr>
        <p:grpSpPr bwMode="auto">
          <a:xfrm>
            <a:off x="0" y="1066800"/>
            <a:ext cx="9144000" cy="546100"/>
            <a:chOff x="0" y="0"/>
            <a:chExt cx="5760" cy="344"/>
          </a:xfrm>
        </p:grpSpPr>
        <p:sp>
          <p:nvSpPr>
            <p:cNvPr id="1033" name="Rectangle 5">
              <a:extLst>
                <a:ext uri="{FF2B5EF4-FFF2-40B4-BE49-F238E27FC236}">
                  <a16:creationId xmlns:a16="http://schemas.microsoft.com/office/drawing/2014/main" id="{03B97E43-6233-31EE-8BF1-0C21A1E9860A}"/>
                </a:ext>
              </a:extLst>
            </p:cNvPr>
            <p:cNvSpPr>
              <a:spLocks noChangeArrowheads="1"/>
            </p:cNvSpPr>
            <p:nvPr/>
          </p:nvSpPr>
          <p:spPr bwMode="auto">
            <a:xfrm>
              <a:off x="0" y="0"/>
              <a:ext cx="180" cy="336"/>
            </a:xfrm>
            <a:prstGeom prst="rect">
              <a:avLst/>
            </a:prstGeom>
            <a:gradFill rotWithShape="0">
              <a:gsLst>
                <a:gs pos="0">
                  <a:schemeClr val="folHlink"/>
                </a:gs>
                <a:gs pos="100000">
                  <a:schemeClr val="bg1"/>
                </a:gs>
              </a:gsLst>
              <a:lin ang="0" scaled="1"/>
            </a:gradFill>
            <a:ln>
              <a:noFill/>
            </a:ln>
            <a:effectLst/>
          </p:spPr>
          <p:txBody>
            <a:bodyPr wrap="none" anchor="ct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lgn="ctr" eaLnBrk="1" hangingPunct="1">
                <a:defRPr/>
              </a:pPr>
              <a:endParaRPr lang="id-ID" altLang="id-ID" sz="2400">
                <a:latin typeface="Times New Roman" panose="02020603050405020304" pitchFamily="18" charset="0"/>
              </a:endParaRPr>
            </a:p>
          </p:txBody>
        </p:sp>
        <p:sp>
          <p:nvSpPr>
            <p:cNvPr id="1034" name="Rectangle 6">
              <a:extLst>
                <a:ext uri="{FF2B5EF4-FFF2-40B4-BE49-F238E27FC236}">
                  <a16:creationId xmlns:a16="http://schemas.microsoft.com/office/drawing/2014/main" id="{330419ED-6D9E-8889-9780-9EBF0524629A}"/>
                </a:ext>
              </a:extLst>
            </p:cNvPr>
            <p:cNvSpPr>
              <a:spLocks noChangeArrowheads="1"/>
            </p:cNvSpPr>
            <p:nvPr/>
          </p:nvSpPr>
          <p:spPr bwMode="auto">
            <a:xfrm>
              <a:off x="260" y="85"/>
              <a:ext cx="5500" cy="173"/>
            </a:xfrm>
            <a:prstGeom prst="rect">
              <a:avLst/>
            </a:prstGeom>
            <a:gradFill rotWithShape="0">
              <a:gsLst>
                <a:gs pos="0">
                  <a:schemeClr val="bg2"/>
                </a:gs>
                <a:gs pos="100000">
                  <a:schemeClr val="bg1"/>
                </a:gs>
              </a:gsLst>
              <a:lin ang="0" scaled="1"/>
            </a:gradFill>
            <a:ln>
              <a:noFill/>
            </a:ln>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defRPr/>
              </a:pPr>
              <a:endParaRPr lang="id-ID" altLang="id-ID" sz="2400">
                <a:latin typeface="Times New Roman" panose="02020603050405020304" pitchFamily="18" charset="0"/>
              </a:endParaRPr>
            </a:p>
          </p:txBody>
        </p:sp>
        <p:sp>
          <p:nvSpPr>
            <p:cNvPr id="1035" name="Rectangle 7">
              <a:extLst>
                <a:ext uri="{FF2B5EF4-FFF2-40B4-BE49-F238E27FC236}">
                  <a16:creationId xmlns:a16="http://schemas.microsoft.com/office/drawing/2014/main" id="{47F9684A-D25D-A552-D96B-C2793CDDBA6D}"/>
                </a:ext>
              </a:extLst>
            </p:cNvPr>
            <p:cNvSpPr>
              <a:spLocks noChangeArrowheads="1"/>
            </p:cNvSpPr>
            <p:nvPr/>
          </p:nvSpPr>
          <p:spPr bwMode="auto">
            <a:xfrm>
              <a:off x="258" y="85"/>
              <a:ext cx="87" cy="89"/>
            </a:xfrm>
            <a:prstGeom prst="rect">
              <a:avLst/>
            </a:prstGeom>
            <a:solidFill>
              <a:schemeClr val="folHlink"/>
            </a:solidFill>
            <a:ln>
              <a:noFill/>
            </a:ln>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defRPr/>
              </a:pPr>
              <a:endParaRPr lang="id-ID" altLang="id-ID" sz="1800">
                <a:solidFill>
                  <a:schemeClr val="hlink"/>
                </a:solidFill>
              </a:endParaRPr>
            </a:p>
          </p:txBody>
        </p:sp>
        <p:sp>
          <p:nvSpPr>
            <p:cNvPr id="1036" name="Rectangle 8">
              <a:extLst>
                <a:ext uri="{FF2B5EF4-FFF2-40B4-BE49-F238E27FC236}">
                  <a16:creationId xmlns:a16="http://schemas.microsoft.com/office/drawing/2014/main" id="{FFFA6E78-4647-2982-36D2-A910AAAB01CC}"/>
                </a:ext>
              </a:extLst>
            </p:cNvPr>
            <p:cNvSpPr>
              <a:spLocks noChangeArrowheads="1"/>
            </p:cNvSpPr>
            <p:nvPr/>
          </p:nvSpPr>
          <p:spPr bwMode="auto">
            <a:xfrm>
              <a:off x="345" y="0"/>
              <a:ext cx="88" cy="87"/>
            </a:xfrm>
            <a:prstGeom prst="rect">
              <a:avLst/>
            </a:prstGeom>
            <a:solidFill>
              <a:schemeClr val="folHlink"/>
            </a:solidFill>
            <a:ln>
              <a:noFill/>
            </a:ln>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defRPr/>
              </a:pPr>
              <a:endParaRPr lang="id-ID" altLang="id-ID" sz="1800">
                <a:solidFill>
                  <a:schemeClr val="hlink"/>
                </a:solidFill>
              </a:endParaRPr>
            </a:p>
          </p:txBody>
        </p:sp>
        <p:sp>
          <p:nvSpPr>
            <p:cNvPr id="1037" name="Rectangle 9">
              <a:extLst>
                <a:ext uri="{FF2B5EF4-FFF2-40B4-BE49-F238E27FC236}">
                  <a16:creationId xmlns:a16="http://schemas.microsoft.com/office/drawing/2014/main" id="{AA16B919-BDAE-E219-6C48-A8892E6B49C0}"/>
                </a:ext>
              </a:extLst>
            </p:cNvPr>
            <p:cNvSpPr>
              <a:spLocks noChangeArrowheads="1"/>
            </p:cNvSpPr>
            <p:nvPr/>
          </p:nvSpPr>
          <p:spPr bwMode="auto">
            <a:xfrm>
              <a:off x="345" y="85"/>
              <a:ext cx="88" cy="89"/>
            </a:xfrm>
            <a:prstGeom prst="rect">
              <a:avLst/>
            </a:prstGeom>
            <a:solidFill>
              <a:schemeClr val="accent2"/>
            </a:solidFill>
            <a:ln>
              <a:noFill/>
            </a:ln>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defRPr/>
              </a:pPr>
              <a:endParaRPr lang="id-ID" altLang="id-ID" sz="1800">
                <a:solidFill>
                  <a:schemeClr val="accent2"/>
                </a:solidFill>
              </a:endParaRPr>
            </a:p>
          </p:txBody>
        </p:sp>
        <p:sp>
          <p:nvSpPr>
            <p:cNvPr id="1038" name="Rectangle 10">
              <a:extLst>
                <a:ext uri="{FF2B5EF4-FFF2-40B4-BE49-F238E27FC236}">
                  <a16:creationId xmlns:a16="http://schemas.microsoft.com/office/drawing/2014/main" id="{BA4676FB-FBEE-7D71-0BEE-FFFF39E7D762}"/>
                </a:ext>
              </a:extLst>
            </p:cNvPr>
            <p:cNvSpPr>
              <a:spLocks noChangeArrowheads="1"/>
            </p:cNvSpPr>
            <p:nvPr/>
          </p:nvSpPr>
          <p:spPr bwMode="auto">
            <a:xfrm>
              <a:off x="173" y="173"/>
              <a:ext cx="86" cy="87"/>
            </a:xfrm>
            <a:prstGeom prst="rect">
              <a:avLst/>
            </a:prstGeom>
            <a:solidFill>
              <a:schemeClr val="folHlink"/>
            </a:solidFill>
            <a:ln>
              <a:noFill/>
            </a:ln>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defRPr/>
              </a:pPr>
              <a:endParaRPr lang="id-ID" altLang="id-ID" sz="1800">
                <a:solidFill>
                  <a:schemeClr val="hlink"/>
                </a:solidFill>
              </a:endParaRPr>
            </a:p>
          </p:txBody>
        </p:sp>
        <p:sp>
          <p:nvSpPr>
            <p:cNvPr id="1039" name="Rectangle 11">
              <a:extLst>
                <a:ext uri="{FF2B5EF4-FFF2-40B4-BE49-F238E27FC236}">
                  <a16:creationId xmlns:a16="http://schemas.microsoft.com/office/drawing/2014/main" id="{5605810A-5FEF-E15C-8448-E5BD13EC6B5C}"/>
                </a:ext>
              </a:extLst>
            </p:cNvPr>
            <p:cNvSpPr>
              <a:spLocks noChangeArrowheads="1"/>
            </p:cNvSpPr>
            <p:nvPr/>
          </p:nvSpPr>
          <p:spPr bwMode="auto">
            <a:xfrm>
              <a:off x="83" y="86"/>
              <a:ext cx="89" cy="87"/>
            </a:xfrm>
            <a:prstGeom prst="rect">
              <a:avLst/>
            </a:prstGeom>
            <a:solidFill>
              <a:schemeClr val="bg2"/>
            </a:solidFill>
            <a:ln>
              <a:noFill/>
            </a:ln>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defRPr/>
              </a:pPr>
              <a:endParaRPr lang="id-ID" altLang="id-ID" sz="2400">
                <a:latin typeface="Times New Roman" panose="02020603050405020304" pitchFamily="18" charset="0"/>
              </a:endParaRPr>
            </a:p>
          </p:txBody>
        </p:sp>
        <p:sp>
          <p:nvSpPr>
            <p:cNvPr id="1040" name="Rectangle 12">
              <a:extLst>
                <a:ext uri="{FF2B5EF4-FFF2-40B4-BE49-F238E27FC236}">
                  <a16:creationId xmlns:a16="http://schemas.microsoft.com/office/drawing/2014/main" id="{00231665-4CD4-1AAA-6C89-712E25420B00}"/>
                </a:ext>
              </a:extLst>
            </p:cNvPr>
            <p:cNvSpPr>
              <a:spLocks noChangeArrowheads="1"/>
            </p:cNvSpPr>
            <p:nvPr/>
          </p:nvSpPr>
          <p:spPr bwMode="auto">
            <a:xfrm>
              <a:off x="258" y="171"/>
              <a:ext cx="87" cy="87"/>
            </a:xfrm>
            <a:prstGeom prst="rect">
              <a:avLst/>
            </a:prstGeom>
            <a:solidFill>
              <a:schemeClr val="accent2"/>
            </a:solidFill>
            <a:ln>
              <a:noFill/>
            </a:ln>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defRPr/>
              </a:pPr>
              <a:endParaRPr lang="id-ID" altLang="id-ID" sz="1800">
                <a:solidFill>
                  <a:schemeClr val="accent2"/>
                </a:solidFill>
              </a:endParaRPr>
            </a:p>
          </p:txBody>
        </p:sp>
        <p:sp>
          <p:nvSpPr>
            <p:cNvPr id="1041" name="Rectangle 13">
              <a:extLst>
                <a:ext uri="{FF2B5EF4-FFF2-40B4-BE49-F238E27FC236}">
                  <a16:creationId xmlns:a16="http://schemas.microsoft.com/office/drawing/2014/main" id="{E262C792-4C32-B3DA-4140-34AA532096A9}"/>
                </a:ext>
              </a:extLst>
            </p:cNvPr>
            <p:cNvSpPr>
              <a:spLocks noChangeArrowheads="1"/>
            </p:cNvSpPr>
            <p:nvPr/>
          </p:nvSpPr>
          <p:spPr bwMode="auto">
            <a:xfrm>
              <a:off x="173" y="258"/>
              <a:ext cx="86" cy="86"/>
            </a:xfrm>
            <a:prstGeom prst="rect">
              <a:avLst/>
            </a:prstGeom>
            <a:solidFill>
              <a:schemeClr val="accent2"/>
            </a:solidFill>
            <a:ln>
              <a:noFill/>
            </a:ln>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eaLnBrk="1" hangingPunct="1">
                <a:defRPr/>
              </a:pPr>
              <a:endParaRPr lang="id-ID" altLang="id-ID" sz="1800">
                <a:solidFill>
                  <a:schemeClr val="accent2"/>
                </a:solidFill>
              </a:endParaRPr>
            </a:p>
          </p:txBody>
        </p:sp>
      </p:grpSp>
      <p:sp>
        <p:nvSpPr>
          <p:cNvPr id="1029" name="Rectangle 14">
            <a:extLst>
              <a:ext uri="{FF2B5EF4-FFF2-40B4-BE49-F238E27FC236}">
                <a16:creationId xmlns:a16="http://schemas.microsoft.com/office/drawing/2014/main" id="{1E2D8FCF-3A5C-430E-0AF2-D15105FD9F1F}"/>
              </a:ext>
            </a:extLst>
          </p:cNvPr>
          <p:cNvSpPr>
            <a:spLocks noGrp="1" noChangeArrowheads="1"/>
          </p:cNvSpPr>
          <p:nvPr>
            <p:ph type="title"/>
          </p:nvPr>
        </p:nvSpPr>
        <p:spPr bwMode="auto">
          <a:xfrm>
            <a:off x="457200" y="457200"/>
            <a:ext cx="82296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id-ID"/>
              <a:t>Click to edit Master title style</a:t>
            </a:r>
          </a:p>
        </p:txBody>
      </p:sp>
      <p:sp>
        <p:nvSpPr>
          <p:cNvPr id="1030" name="Rectangle 15">
            <a:extLst>
              <a:ext uri="{FF2B5EF4-FFF2-40B4-BE49-F238E27FC236}">
                <a16:creationId xmlns:a16="http://schemas.microsoft.com/office/drawing/2014/main" id="{CA8E9C2F-8E30-B64C-2ED6-FFDA61FCB0C5}"/>
              </a:ext>
            </a:extLst>
          </p:cNvPr>
          <p:cNvSpPr>
            <a:spLocks noGrp="1" noChangeArrowheads="1"/>
          </p:cNvSpPr>
          <p:nvPr>
            <p:ph type="body" idx="1"/>
          </p:nvPr>
        </p:nvSpPr>
        <p:spPr bwMode="auto">
          <a:xfrm>
            <a:off x="457200" y="1447800"/>
            <a:ext cx="8229600" cy="441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id-ID"/>
              <a:t>Click to edit Master text styles</a:t>
            </a:r>
          </a:p>
          <a:p>
            <a:pPr lvl="1"/>
            <a:r>
              <a:rPr lang="en-US" altLang="id-ID"/>
              <a:t>Second level</a:t>
            </a:r>
          </a:p>
          <a:p>
            <a:pPr lvl="2"/>
            <a:r>
              <a:rPr lang="en-US" altLang="id-ID"/>
              <a:t>Third level</a:t>
            </a:r>
          </a:p>
          <a:p>
            <a:pPr lvl="3"/>
            <a:r>
              <a:rPr lang="en-US" altLang="id-ID"/>
              <a:t>Fourth level</a:t>
            </a:r>
          </a:p>
          <a:p>
            <a:pPr lvl="4"/>
            <a:r>
              <a:rPr lang="en-US" altLang="id-ID"/>
              <a:t>Fifth level</a:t>
            </a:r>
          </a:p>
        </p:txBody>
      </p:sp>
      <p:sp>
        <p:nvSpPr>
          <p:cNvPr id="19472" name="Rectangle 16">
            <a:extLst>
              <a:ext uri="{FF2B5EF4-FFF2-40B4-BE49-F238E27FC236}">
                <a16:creationId xmlns:a16="http://schemas.microsoft.com/office/drawing/2014/main" id="{026FCD6D-E020-D102-997F-3110CFCE666F}"/>
              </a:ext>
            </a:extLst>
          </p:cNvPr>
          <p:cNvSpPr>
            <a:spLocks noGrp="1" noChangeArrowheads="1"/>
          </p:cNvSpPr>
          <p:nvPr>
            <p:ph type="dt" sz="half" idx="2"/>
          </p:nvPr>
        </p:nvSpPr>
        <p:spPr bwMode="auto">
          <a:xfrm>
            <a:off x="457200" y="6245225"/>
            <a:ext cx="2133600" cy="47625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hangingPunct="1">
              <a:defRPr sz="1200"/>
            </a:lvl1pPr>
          </a:lstStyle>
          <a:p>
            <a:pPr>
              <a:defRPr/>
            </a:pPr>
            <a:endParaRPr lang="en-US" altLang="id-ID"/>
          </a:p>
        </p:txBody>
      </p:sp>
      <p:sp>
        <p:nvSpPr>
          <p:cNvPr id="1032" name="Text Box 17">
            <a:extLst>
              <a:ext uri="{FF2B5EF4-FFF2-40B4-BE49-F238E27FC236}">
                <a16:creationId xmlns:a16="http://schemas.microsoft.com/office/drawing/2014/main" id="{4B6CD17F-8CF6-523E-21FA-D83F1E81434A}"/>
              </a:ext>
            </a:extLst>
          </p:cNvPr>
          <p:cNvSpPr txBox="1">
            <a:spLocks noChangeArrowheads="1"/>
          </p:cNvSpPr>
          <p:nvPr userDrawn="1"/>
        </p:nvSpPr>
        <p:spPr bwMode="auto">
          <a:xfrm>
            <a:off x="6781800" y="457200"/>
            <a:ext cx="1905000" cy="366713"/>
          </a:xfrm>
          <a:prstGeom prst="rect">
            <a:avLst/>
          </a:prstGeom>
          <a:noFill/>
          <a:ln>
            <a:noFill/>
          </a:ln>
          <a:effectLst/>
        </p:spPr>
        <p:txBody>
          <a:bodyPr>
            <a:spAutoFit/>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Arial" panose="020B0604020202020204" pitchFamily="34" charset="0"/>
              </a:defRPr>
            </a:lvl9pPr>
          </a:lstStyle>
          <a:p>
            <a:pPr>
              <a:spcBef>
                <a:spcPct val="50000"/>
              </a:spcBef>
              <a:defRPr/>
            </a:pPr>
            <a:endParaRPr lang="id-ID" altLang="id-ID" sz="1800"/>
          </a:p>
        </p:txBody>
      </p:sp>
    </p:spTree>
  </p:cSld>
  <p:clrMap bg1="lt1" tx1="dk1" bg2="lt2" tx2="dk2" accent1="accent1" accent2="accent2" accent3="accent3" accent4="accent4" accent5="accent5" accent6="accent6" hlink="hlink" folHlink="folHlink"/>
  <p:sldLayoutIdLst>
    <p:sldLayoutId id="2147483703"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 id="2147483701" r:id="rId12"/>
    <p:sldLayoutId id="2147483702" r:id="rId13"/>
  </p:sldLayoutIdLst>
  <p:hf hdr="0" ftr="0" dt="0"/>
  <p:txStyles>
    <p:titleStyle>
      <a:lvl1pPr algn="l" rtl="0" eaLnBrk="0" fontAlgn="base" hangingPunct="0">
        <a:spcBef>
          <a:spcPct val="0"/>
        </a:spcBef>
        <a:spcAft>
          <a:spcPct val="0"/>
        </a:spcAft>
        <a:defRPr sz="3200" kern="1200">
          <a:solidFill>
            <a:schemeClr val="tx1"/>
          </a:solidFill>
          <a:latin typeface="+mj-lt"/>
          <a:ea typeface="+mj-ea"/>
          <a:cs typeface="+mj-cs"/>
        </a:defRPr>
      </a:lvl1pPr>
      <a:lvl2pPr algn="l" rtl="0" eaLnBrk="0" fontAlgn="base" hangingPunct="0">
        <a:spcBef>
          <a:spcPct val="0"/>
        </a:spcBef>
        <a:spcAft>
          <a:spcPct val="0"/>
        </a:spcAft>
        <a:defRPr sz="3200">
          <a:solidFill>
            <a:schemeClr val="tx1"/>
          </a:solidFill>
          <a:latin typeface="Arial" panose="020B0604020202020204" pitchFamily="34" charset="0"/>
        </a:defRPr>
      </a:lvl2pPr>
      <a:lvl3pPr algn="l" rtl="0" eaLnBrk="0" fontAlgn="base" hangingPunct="0">
        <a:spcBef>
          <a:spcPct val="0"/>
        </a:spcBef>
        <a:spcAft>
          <a:spcPct val="0"/>
        </a:spcAft>
        <a:defRPr sz="3200">
          <a:solidFill>
            <a:schemeClr val="tx1"/>
          </a:solidFill>
          <a:latin typeface="Arial" panose="020B0604020202020204" pitchFamily="34" charset="0"/>
        </a:defRPr>
      </a:lvl3pPr>
      <a:lvl4pPr algn="l" rtl="0" eaLnBrk="0" fontAlgn="base" hangingPunct="0">
        <a:spcBef>
          <a:spcPct val="0"/>
        </a:spcBef>
        <a:spcAft>
          <a:spcPct val="0"/>
        </a:spcAft>
        <a:defRPr sz="3200">
          <a:solidFill>
            <a:schemeClr val="tx1"/>
          </a:solidFill>
          <a:latin typeface="Arial" panose="020B0604020202020204" pitchFamily="34" charset="0"/>
        </a:defRPr>
      </a:lvl4pPr>
      <a:lvl5pPr algn="l" rtl="0" eaLnBrk="0" fontAlgn="base" hangingPunct="0">
        <a:spcBef>
          <a:spcPct val="0"/>
        </a:spcBef>
        <a:spcAft>
          <a:spcPct val="0"/>
        </a:spcAft>
        <a:defRPr sz="3200">
          <a:solidFill>
            <a:schemeClr val="tx1"/>
          </a:solidFill>
          <a:latin typeface="Arial" panose="020B0604020202020204" pitchFamily="34" charset="0"/>
        </a:defRPr>
      </a:lvl5pPr>
      <a:lvl6pPr marL="457200" algn="l" rtl="0" fontAlgn="base">
        <a:spcBef>
          <a:spcPct val="0"/>
        </a:spcBef>
        <a:spcAft>
          <a:spcPct val="0"/>
        </a:spcAft>
        <a:defRPr sz="3200">
          <a:solidFill>
            <a:schemeClr val="tx1"/>
          </a:solidFill>
          <a:latin typeface="Arial" panose="020B0604020202020204" pitchFamily="34" charset="0"/>
        </a:defRPr>
      </a:lvl6pPr>
      <a:lvl7pPr marL="914400" algn="l" rtl="0" fontAlgn="base">
        <a:spcBef>
          <a:spcPct val="0"/>
        </a:spcBef>
        <a:spcAft>
          <a:spcPct val="0"/>
        </a:spcAft>
        <a:defRPr sz="3200">
          <a:solidFill>
            <a:schemeClr val="tx1"/>
          </a:solidFill>
          <a:latin typeface="Arial" panose="020B0604020202020204" pitchFamily="34" charset="0"/>
        </a:defRPr>
      </a:lvl7pPr>
      <a:lvl8pPr marL="1371600" algn="l" rtl="0" fontAlgn="base">
        <a:spcBef>
          <a:spcPct val="0"/>
        </a:spcBef>
        <a:spcAft>
          <a:spcPct val="0"/>
        </a:spcAft>
        <a:defRPr sz="3200">
          <a:solidFill>
            <a:schemeClr val="tx1"/>
          </a:solidFill>
          <a:latin typeface="Arial" panose="020B0604020202020204" pitchFamily="34" charset="0"/>
        </a:defRPr>
      </a:lvl8pPr>
      <a:lvl9pPr marL="1828800" algn="l" rtl="0" fontAlgn="base">
        <a:spcBef>
          <a:spcPct val="0"/>
        </a:spcBef>
        <a:spcAft>
          <a:spcPct val="0"/>
        </a:spcAft>
        <a:defRPr sz="3200">
          <a:solidFill>
            <a:schemeClr val="tx1"/>
          </a:solidFill>
          <a:latin typeface="Arial" panose="020B0604020202020204" pitchFamily="34" charset="0"/>
        </a:defRPr>
      </a:lvl9pPr>
    </p:titleStyle>
    <p:body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3.xml"/><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3.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3.xml"/><Relationship Id="rId5" Type="http://schemas.openxmlformats.org/officeDocument/2006/relationships/image" Target="../media/image17.png"/><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3.xml"/><Relationship Id="rId4" Type="http://schemas.openxmlformats.org/officeDocument/2006/relationships/image" Target="../media/image3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oleObject" Target="../embeddings/oleObject1.bin"/><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3" Type="http://schemas.openxmlformats.org/officeDocument/2006/relationships/image" Target="../media/image410.png"/><Relationship Id="rId2" Type="http://schemas.openxmlformats.org/officeDocument/2006/relationships/image" Target="../media/image43.png"/><Relationship Id="rId1" Type="http://schemas.openxmlformats.org/officeDocument/2006/relationships/slideLayout" Target="../slideLayouts/slideLayout13.xml"/><Relationship Id="rId4" Type="http://schemas.openxmlformats.org/officeDocument/2006/relationships/comments" Target="../comments/comment1.xml"/></Relationships>
</file>

<file path=ppt/slides/_rels/slide3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13.xml"/><Relationship Id="rId4" Type="http://schemas.openxmlformats.org/officeDocument/2006/relationships/image" Target="../media/image47.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0FA8DD3B-6C80-7A9C-C510-0EA706D50731}"/>
              </a:ext>
            </a:extLst>
          </p:cNvPr>
          <p:cNvSpPr>
            <a:spLocks noGrp="1" noChangeArrowheads="1"/>
          </p:cNvSpPr>
          <p:nvPr>
            <p:ph type="ctrTitle"/>
          </p:nvPr>
        </p:nvSpPr>
        <p:spPr/>
        <p:txBody>
          <a:bodyPr/>
          <a:lstStyle/>
          <a:p>
            <a:pPr eaLnBrk="1" hangingPunct="1"/>
            <a:r>
              <a:rPr lang="en-US" altLang="id-ID" sz="3600"/>
              <a:t>Chapter 6</a:t>
            </a:r>
            <a:br>
              <a:rPr lang="en-US" altLang="id-ID" sz="3600"/>
            </a:br>
            <a:r>
              <a:rPr lang="en-US" altLang="id-ID" sz="3600"/>
              <a:t>Queueing Models</a:t>
            </a:r>
          </a:p>
        </p:txBody>
      </p:sp>
      <p:sp>
        <p:nvSpPr>
          <p:cNvPr id="5123" name="Rectangle 3">
            <a:extLst>
              <a:ext uri="{FF2B5EF4-FFF2-40B4-BE49-F238E27FC236}">
                <a16:creationId xmlns:a16="http://schemas.microsoft.com/office/drawing/2014/main" id="{1C219D3D-B2CD-1939-ED3F-31316A1F408A}"/>
              </a:ext>
            </a:extLst>
          </p:cNvPr>
          <p:cNvSpPr>
            <a:spLocks noGrp="1" noChangeArrowheads="1"/>
          </p:cNvSpPr>
          <p:nvPr>
            <p:ph type="subTitle" idx="1"/>
          </p:nvPr>
        </p:nvSpPr>
        <p:spPr/>
        <p:txBody>
          <a:bodyPr/>
          <a:lstStyle/>
          <a:p>
            <a:pPr algn="r" eaLnBrk="1" hangingPunct="1"/>
            <a:r>
              <a:rPr lang="en-US" altLang="id-ID" sz="2800"/>
              <a:t>Banks, Carson, Nelson &amp; Nicol</a:t>
            </a:r>
          </a:p>
          <a:p>
            <a:pPr algn="r" eaLnBrk="1" hangingPunct="1"/>
            <a:r>
              <a:rPr lang="en-US" altLang="id-ID" sz="2800" i="1"/>
              <a:t>Discrete-Event System Simulation</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Number Placeholder 5">
            <a:extLst>
              <a:ext uri="{FF2B5EF4-FFF2-40B4-BE49-F238E27FC236}">
                <a16:creationId xmlns:a16="http://schemas.microsoft.com/office/drawing/2014/main" id="{BC028B77-6077-649C-9CF1-2A217530A2DF}"/>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5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4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9pPr>
          </a:lstStyle>
          <a:p>
            <a:pPr>
              <a:spcBef>
                <a:spcPct val="0"/>
              </a:spcBef>
              <a:buClrTx/>
              <a:buSzTx/>
              <a:buFontTx/>
              <a:buNone/>
            </a:pPr>
            <a:fld id="{0EB7BF8C-6DD3-4AF0-B59E-76AE64F06F64}" type="slidenum">
              <a:rPr lang="en-US" altLang="id-ID" sz="1200">
                <a:latin typeface="Arial Black" panose="020B0A04020102020204" pitchFamily="34" charset="0"/>
              </a:rPr>
              <a:pPr>
                <a:spcBef>
                  <a:spcPct val="0"/>
                </a:spcBef>
                <a:buClrTx/>
                <a:buSzTx/>
                <a:buFontTx/>
                <a:buNone/>
              </a:pPr>
              <a:t>2</a:t>
            </a:fld>
            <a:endParaRPr lang="en-US" altLang="id-ID" sz="1200">
              <a:latin typeface="Arial Black" panose="020B0A04020102020204" pitchFamily="34" charset="0"/>
            </a:endParaRPr>
          </a:p>
        </p:txBody>
      </p:sp>
      <p:sp>
        <p:nvSpPr>
          <p:cNvPr id="7171" name="Rectangle 2">
            <a:extLst>
              <a:ext uri="{FF2B5EF4-FFF2-40B4-BE49-F238E27FC236}">
                <a16:creationId xmlns:a16="http://schemas.microsoft.com/office/drawing/2014/main" id="{1751D920-9AA6-25F4-AEDC-F296F037EA7B}"/>
              </a:ext>
            </a:extLst>
          </p:cNvPr>
          <p:cNvSpPr>
            <a:spLocks noGrp="1" noChangeArrowheads="1"/>
          </p:cNvSpPr>
          <p:nvPr>
            <p:ph type="title"/>
          </p:nvPr>
        </p:nvSpPr>
        <p:spPr/>
        <p:txBody>
          <a:bodyPr/>
          <a:lstStyle/>
          <a:p>
            <a:pPr eaLnBrk="1" hangingPunct="1"/>
            <a:r>
              <a:rPr lang="en-US" altLang="id-ID"/>
              <a:t>Tujuan</a:t>
            </a:r>
          </a:p>
        </p:txBody>
      </p:sp>
      <p:sp>
        <p:nvSpPr>
          <p:cNvPr id="7172" name="Rectangle 3">
            <a:extLst>
              <a:ext uri="{FF2B5EF4-FFF2-40B4-BE49-F238E27FC236}">
                <a16:creationId xmlns:a16="http://schemas.microsoft.com/office/drawing/2014/main" id="{2D967CAD-6DF2-B387-06E7-7D6D5A325F73}"/>
              </a:ext>
            </a:extLst>
          </p:cNvPr>
          <p:cNvSpPr>
            <a:spLocks noGrp="1" noChangeArrowheads="1"/>
          </p:cNvSpPr>
          <p:nvPr>
            <p:ph type="body" sz="half" idx="1"/>
          </p:nvPr>
        </p:nvSpPr>
        <p:spPr>
          <a:xfrm>
            <a:off x="457200" y="1447800"/>
            <a:ext cx="8382000" cy="4876800"/>
          </a:xfrm>
        </p:spPr>
        <p:txBody>
          <a:bodyPr/>
          <a:lstStyle/>
          <a:p>
            <a:pPr eaLnBrk="1" hangingPunct="1"/>
            <a:r>
              <a:rPr lang="en-US" altLang="id-ID" sz="2200"/>
              <a:t>Simulasi sering digunakan dalam analisis model antrian.</a:t>
            </a:r>
          </a:p>
          <a:p>
            <a:pPr eaLnBrk="1" hangingPunct="1"/>
            <a:r>
              <a:rPr lang="sv-SE" altLang="id-ID" sz="2200"/>
              <a:t>Model antrian yang sederhana namun khas</a:t>
            </a:r>
            <a:r>
              <a:rPr lang="en-US" altLang="id-ID" sz="2200"/>
              <a:t>:</a:t>
            </a:r>
          </a:p>
          <a:p>
            <a:pPr eaLnBrk="1" hangingPunct="1"/>
            <a:endParaRPr lang="en-US" altLang="id-ID" sz="2200"/>
          </a:p>
          <a:p>
            <a:pPr eaLnBrk="1" hangingPunct="1"/>
            <a:endParaRPr lang="en-US" altLang="id-ID" sz="2200"/>
          </a:p>
          <a:p>
            <a:pPr eaLnBrk="1" hangingPunct="1"/>
            <a:endParaRPr lang="en-US" altLang="id-ID" sz="2200"/>
          </a:p>
          <a:p>
            <a:pPr eaLnBrk="1" hangingPunct="1"/>
            <a:r>
              <a:rPr lang="en-US" altLang="id-ID" sz="2200"/>
              <a:t>Model antrian memberi analis alat yang ampuh untuk merancang dan mengevaluasi kinerja sistem antrian.</a:t>
            </a:r>
          </a:p>
          <a:p>
            <a:pPr eaLnBrk="1" hangingPunct="1"/>
            <a:r>
              <a:rPr lang="en-US" altLang="id-ID" sz="2200"/>
              <a:t>Ukuran khas kinerja sistem: </a:t>
            </a:r>
          </a:p>
          <a:p>
            <a:pPr lvl="1" eaLnBrk="1" hangingPunct="1"/>
            <a:r>
              <a:rPr lang="en-US" altLang="id-ID" sz="2000"/>
              <a:t>Pemanfaatan server, lamanya antrean, dan keterlambatan customer</a:t>
            </a:r>
          </a:p>
          <a:p>
            <a:pPr lvl="1" eaLnBrk="1" hangingPunct="1"/>
            <a:r>
              <a:rPr lang="en-US" altLang="id-ID" sz="2000"/>
              <a:t>Untuk sistem yang relatif sederhana, hitunglah secara matematis</a:t>
            </a:r>
          </a:p>
          <a:p>
            <a:pPr lvl="1" eaLnBrk="1" hangingPunct="1"/>
            <a:r>
              <a:rPr lang="en-US" altLang="id-ID" sz="2000"/>
              <a:t>Untuk model realistis dari sistem yang kompleks, simulasi biasanya diperlukan</a:t>
            </a:r>
            <a:r>
              <a:rPr lang="en-US" altLang="id-ID" sz="1800"/>
              <a:t>.</a:t>
            </a:r>
          </a:p>
        </p:txBody>
      </p:sp>
      <p:pic>
        <p:nvPicPr>
          <p:cNvPr id="7173" name="Picture 16" descr="06-1">
            <a:extLst>
              <a:ext uri="{FF2B5EF4-FFF2-40B4-BE49-F238E27FC236}">
                <a16:creationId xmlns:a16="http://schemas.microsoft.com/office/drawing/2014/main" id="{DCB88245-B94C-F677-EB08-97C1E783AA5B}"/>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990600" y="2306638"/>
            <a:ext cx="3352800" cy="10890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7174" name="Picture 5">
            <a:extLst>
              <a:ext uri="{FF2B5EF4-FFF2-40B4-BE49-F238E27FC236}">
                <a16:creationId xmlns:a16="http://schemas.microsoft.com/office/drawing/2014/main" id="{34B855B1-FD0F-FA0B-4CEE-6F1BB46F164B}"/>
              </a:ext>
            </a:extLst>
          </p:cNvPr>
          <p:cNvPicPr>
            <a:picLocks noChangeAspect="1"/>
          </p:cNvPicPr>
          <p:nvPr/>
        </p:nvPicPr>
        <p:blipFill>
          <a:blip r:embed="rId3">
            <a:extLst>
              <a:ext uri="{28A0092B-C50C-407E-A947-70E740481C1C}">
                <a14:useLocalDpi xmlns:a14="http://schemas.microsoft.com/office/drawing/2010/main" val="0"/>
              </a:ext>
            </a:extLst>
          </a:blip>
          <a:srcRect l="46851" t="36955" r="23866" b="44566"/>
          <a:stretch>
            <a:fillRect/>
          </a:stretch>
        </p:blipFill>
        <p:spPr bwMode="auto">
          <a:xfrm>
            <a:off x="4800600" y="2203450"/>
            <a:ext cx="38100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8">
            <a:extLst>
              <a:ext uri="{FF2B5EF4-FFF2-40B4-BE49-F238E27FC236}">
                <a16:creationId xmlns:a16="http://schemas.microsoft.com/office/drawing/2014/main" id="{571F748C-F027-D4CA-2F6B-87E0B8E832DF}"/>
              </a:ext>
            </a:extLst>
          </p:cNvPr>
          <p:cNvSpPr>
            <a:spLocks noChangeArrowheads="1"/>
          </p:cNvSpPr>
          <p:nvPr/>
        </p:nvSpPr>
        <p:spPr bwMode="auto">
          <a:xfrm>
            <a:off x="4724400" y="2362200"/>
            <a:ext cx="152400" cy="304800"/>
          </a:xfrm>
          <a:prstGeom prst="rect">
            <a:avLst/>
          </a:prstGeom>
          <a:solidFill>
            <a:srgbClr val="D5CD27"/>
          </a:solidFill>
          <a:ln w="9525">
            <a:solidFill>
              <a:schemeClr val="tx1"/>
            </a:solidFill>
            <a:miter lim="800000"/>
            <a:headEnd/>
            <a:tailEnd/>
          </a:ln>
        </p:spPr>
        <p:txBody>
          <a:bodyPr wrap="none" anchor="ctr"/>
          <a:lstStyle/>
          <a:p>
            <a:pPr>
              <a:defRPr/>
            </a:pPr>
            <a:endParaRPr lang="fr-FR">
              <a:latin typeface="+mj-lt"/>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Number Placeholder 6">
            <a:extLst>
              <a:ext uri="{FF2B5EF4-FFF2-40B4-BE49-F238E27FC236}">
                <a16:creationId xmlns:a16="http://schemas.microsoft.com/office/drawing/2014/main" id="{31C0A8AD-CB7E-478A-5A28-36DF17CE2BAE}"/>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5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4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9pPr>
          </a:lstStyle>
          <a:p>
            <a:pPr>
              <a:spcBef>
                <a:spcPct val="0"/>
              </a:spcBef>
              <a:buClrTx/>
              <a:buSzTx/>
              <a:buFontTx/>
              <a:buNone/>
            </a:pPr>
            <a:fld id="{DCBBE0CF-7B66-4A0D-8B79-F5CA0C6D42C3}" type="slidenum">
              <a:rPr lang="en-US" altLang="id-ID" sz="1200">
                <a:latin typeface="Arial Black" panose="020B0A04020102020204" pitchFamily="34" charset="0"/>
              </a:rPr>
              <a:pPr>
                <a:spcBef>
                  <a:spcPct val="0"/>
                </a:spcBef>
                <a:buClrTx/>
                <a:buSzTx/>
                <a:buFontTx/>
                <a:buNone/>
              </a:pPr>
              <a:t>3</a:t>
            </a:fld>
            <a:endParaRPr lang="en-US" altLang="id-ID" sz="1200">
              <a:latin typeface="Arial Black" panose="020B0A04020102020204" pitchFamily="34" charset="0"/>
            </a:endParaRPr>
          </a:p>
        </p:txBody>
      </p:sp>
      <p:sp>
        <p:nvSpPr>
          <p:cNvPr id="8195" name="Rectangle 2">
            <a:extLst>
              <a:ext uri="{FF2B5EF4-FFF2-40B4-BE49-F238E27FC236}">
                <a16:creationId xmlns:a16="http://schemas.microsoft.com/office/drawing/2014/main" id="{9D16C955-848B-7B60-7F8B-2460DF7A0B4E}"/>
              </a:ext>
            </a:extLst>
          </p:cNvPr>
          <p:cNvSpPr>
            <a:spLocks noGrp="1" noChangeArrowheads="1"/>
          </p:cNvSpPr>
          <p:nvPr>
            <p:ph type="title"/>
          </p:nvPr>
        </p:nvSpPr>
        <p:spPr/>
        <p:txBody>
          <a:bodyPr/>
          <a:lstStyle/>
          <a:p>
            <a:pPr eaLnBrk="1" hangingPunct="1"/>
            <a:r>
              <a:rPr lang="en-US" altLang="id-ID"/>
              <a:t>Outline</a:t>
            </a:r>
          </a:p>
        </p:txBody>
      </p:sp>
      <p:sp>
        <p:nvSpPr>
          <p:cNvPr id="8196" name="Rectangle 3">
            <a:extLst>
              <a:ext uri="{FF2B5EF4-FFF2-40B4-BE49-F238E27FC236}">
                <a16:creationId xmlns:a16="http://schemas.microsoft.com/office/drawing/2014/main" id="{F2F6BF58-3CFD-BC6E-B285-2BDBDDAD240B}"/>
              </a:ext>
            </a:extLst>
          </p:cNvPr>
          <p:cNvSpPr>
            <a:spLocks noGrp="1" noChangeArrowheads="1"/>
          </p:cNvSpPr>
          <p:nvPr>
            <p:ph type="body" sz="half" idx="1"/>
          </p:nvPr>
        </p:nvSpPr>
        <p:spPr>
          <a:xfrm>
            <a:off x="457200" y="1447800"/>
            <a:ext cx="8305800" cy="4953000"/>
          </a:xfrm>
        </p:spPr>
        <p:txBody>
          <a:bodyPr/>
          <a:lstStyle/>
          <a:p>
            <a:pPr eaLnBrk="1" hangingPunct="1"/>
            <a:r>
              <a:rPr lang="en-US" altLang="id-ID" sz="2600"/>
              <a:t>Mendiskusikan beberapa model yang terkenal (bukan pengembangan teori antrian):</a:t>
            </a:r>
          </a:p>
          <a:p>
            <a:pPr lvl="1" eaLnBrk="1" hangingPunct="1"/>
            <a:r>
              <a:rPr lang="sv-SE" altLang="id-ID" sz="2200"/>
              <a:t>Ciri-ciri umum antrian,</a:t>
            </a:r>
          </a:p>
          <a:p>
            <a:pPr lvl="1" eaLnBrk="1" hangingPunct="1"/>
            <a:r>
              <a:rPr lang="sv-SE" altLang="id-ID" sz="2200"/>
              <a:t>Arti dan hubungan ukuran kinerja yang penting,</a:t>
            </a:r>
          </a:p>
          <a:p>
            <a:pPr lvl="1" eaLnBrk="1" hangingPunct="1"/>
            <a:r>
              <a:rPr lang="sv-SE" altLang="id-ID" sz="2200"/>
              <a:t>Estimasi ukuran rata-rata kinerja.</a:t>
            </a:r>
          </a:p>
          <a:p>
            <a:pPr lvl="1" eaLnBrk="1" hangingPunct="1"/>
            <a:r>
              <a:rPr lang="sv-SE" altLang="id-ID" sz="2200"/>
              <a:t>Pengaruh berbagai parameter masukan,</a:t>
            </a:r>
          </a:p>
          <a:p>
            <a:pPr lvl="1" eaLnBrk="1" hangingPunct="1"/>
            <a:r>
              <a:rPr lang="sv-SE" altLang="id-ID" sz="2200"/>
              <a:t>Solusi matematis dari beberapa model antrian dasar</a:t>
            </a:r>
            <a:r>
              <a:rPr lang="en-US" altLang="id-ID" sz="2200"/>
              <a:t>.</a:t>
            </a:r>
            <a:endParaRPr lang="en-US" altLang="id-ID" sz="2000"/>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6">
            <a:extLst>
              <a:ext uri="{FF2B5EF4-FFF2-40B4-BE49-F238E27FC236}">
                <a16:creationId xmlns:a16="http://schemas.microsoft.com/office/drawing/2014/main" id="{2FF20FC9-F385-ECE7-B844-40A2430850BE}"/>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5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4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9pPr>
          </a:lstStyle>
          <a:p>
            <a:pPr>
              <a:spcBef>
                <a:spcPct val="0"/>
              </a:spcBef>
              <a:buClrTx/>
              <a:buSzTx/>
              <a:buFontTx/>
              <a:buNone/>
            </a:pPr>
            <a:fld id="{529D14EB-9CBB-4256-B4E5-A31A4D22FED4}" type="slidenum">
              <a:rPr lang="en-US" altLang="id-ID" sz="1200">
                <a:latin typeface="Arial Black" panose="020B0A04020102020204" pitchFamily="34" charset="0"/>
              </a:rPr>
              <a:pPr>
                <a:spcBef>
                  <a:spcPct val="0"/>
                </a:spcBef>
                <a:buClrTx/>
                <a:buSzTx/>
                <a:buFontTx/>
                <a:buNone/>
              </a:pPr>
              <a:t>4</a:t>
            </a:fld>
            <a:endParaRPr lang="en-US" altLang="id-ID" sz="1200">
              <a:latin typeface="Arial Black" panose="020B0A04020102020204" pitchFamily="34" charset="0"/>
            </a:endParaRPr>
          </a:p>
        </p:txBody>
      </p:sp>
      <p:sp>
        <p:nvSpPr>
          <p:cNvPr id="9219" name="Rectangle 2">
            <a:extLst>
              <a:ext uri="{FF2B5EF4-FFF2-40B4-BE49-F238E27FC236}">
                <a16:creationId xmlns:a16="http://schemas.microsoft.com/office/drawing/2014/main" id="{31EFA746-F57F-2B5F-0B0C-FFEB3F05C059}"/>
              </a:ext>
            </a:extLst>
          </p:cNvPr>
          <p:cNvSpPr>
            <a:spLocks noGrp="1" noChangeArrowheads="1"/>
          </p:cNvSpPr>
          <p:nvPr>
            <p:ph type="title"/>
          </p:nvPr>
        </p:nvSpPr>
        <p:spPr>
          <a:xfrm>
            <a:off x="495300" y="304800"/>
            <a:ext cx="8229600" cy="762000"/>
          </a:xfrm>
        </p:spPr>
        <p:txBody>
          <a:bodyPr/>
          <a:lstStyle/>
          <a:p>
            <a:pPr eaLnBrk="1" hangingPunct="1"/>
            <a:r>
              <a:rPr lang="en-US" altLang="id-ID"/>
              <a:t>Karakteristik Sistem Antrian</a:t>
            </a:r>
          </a:p>
        </p:txBody>
      </p:sp>
      <p:sp>
        <p:nvSpPr>
          <p:cNvPr id="9220" name="Rectangle 3">
            <a:extLst>
              <a:ext uri="{FF2B5EF4-FFF2-40B4-BE49-F238E27FC236}">
                <a16:creationId xmlns:a16="http://schemas.microsoft.com/office/drawing/2014/main" id="{5593BA2B-367D-1CEA-3095-8EB3647B7376}"/>
              </a:ext>
            </a:extLst>
          </p:cNvPr>
          <p:cNvSpPr>
            <a:spLocks noGrp="1" noChangeArrowheads="1"/>
          </p:cNvSpPr>
          <p:nvPr>
            <p:ph type="body" sz="half" idx="1"/>
          </p:nvPr>
        </p:nvSpPr>
        <p:spPr>
          <a:xfrm>
            <a:off x="457200" y="1447800"/>
            <a:ext cx="8305800" cy="4953000"/>
          </a:xfrm>
        </p:spPr>
        <p:txBody>
          <a:bodyPr/>
          <a:lstStyle/>
          <a:p>
            <a:pPr eaLnBrk="1" hangingPunct="1"/>
            <a:r>
              <a:rPr lang="sv-SE" altLang="id-ID" sz="2600"/>
              <a:t>Elemen kunci dari sistem antrian</a:t>
            </a:r>
            <a:r>
              <a:rPr lang="en-US" altLang="id-ID" sz="2600"/>
              <a:t>:</a:t>
            </a:r>
          </a:p>
          <a:p>
            <a:pPr lvl="1" eaLnBrk="1" hangingPunct="1"/>
            <a:r>
              <a:rPr lang="en-US" altLang="id-ID" sz="2000"/>
              <a:t>Customer: mengacu pada segala sesuatu yang tiba di suatu fasilitas dan memerlukan layanan, misalnya orang, mesin, truk, email.</a:t>
            </a:r>
          </a:p>
          <a:p>
            <a:pPr lvl="1" eaLnBrk="1" hangingPunct="1"/>
            <a:r>
              <a:rPr lang="en-US" altLang="id-ID" sz="2000"/>
              <a:t>Server: mengacu pada sumber daya apa pun yang menyediakan layanan yang diminta, misalnya petugas reparasi, mesin pengambilan, landasan pacu di bandara.</a:t>
            </a:r>
          </a:p>
          <a:p>
            <a:pPr lvl="1" eaLnBrk="1" hangingPunct="1"/>
            <a:endParaRPr lang="en-US" altLang="id-ID" sz="2000"/>
          </a:p>
          <a:p>
            <a:pPr lvl="1" eaLnBrk="1" hangingPunct="1"/>
            <a:endParaRPr lang="en-US" altLang="id-ID" sz="2000"/>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Number Placeholder 6">
            <a:extLst>
              <a:ext uri="{FF2B5EF4-FFF2-40B4-BE49-F238E27FC236}">
                <a16:creationId xmlns:a16="http://schemas.microsoft.com/office/drawing/2014/main" id="{73CAF6CE-17AC-CDEA-A5F5-53FBD06FA122}"/>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5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4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9pPr>
          </a:lstStyle>
          <a:p>
            <a:pPr>
              <a:spcBef>
                <a:spcPct val="0"/>
              </a:spcBef>
              <a:buClrTx/>
              <a:buSzTx/>
              <a:buFontTx/>
              <a:buNone/>
            </a:pPr>
            <a:fld id="{C7275AF7-2180-4A31-A2E2-A41336133ACF}" type="slidenum">
              <a:rPr lang="en-US" altLang="id-ID" sz="1200">
                <a:latin typeface="Arial Black" panose="020B0A04020102020204" pitchFamily="34" charset="0"/>
              </a:rPr>
              <a:pPr>
                <a:spcBef>
                  <a:spcPct val="0"/>
                </a:spcBef>
                <a:buClrTx/>
                <a:buSzTx/>
                <a:buFontTx/>
                <a:buNone/>
              </a:pPr>
              <a:t>5</a:t>
            </a:fld>
            <a:endParaRPr lang="en-US" altLang="id-ID" sz="1200">
              <a:latin typeface="Arial Black" panose="020B0A04020102020204" pitchFamily="34" charset="0"/>
            </a:endParaRPr>
          </a:p>
        </p:txBody>
      </p:sp>
      <p:sp>
        <p:nvSpPr>
          <p:cNvPr id="10243" name="Rectangle 2">
            <a:extLst>
              <a:ext uri="{FF2B5EF4-FFF2-40B4-BE49-F238E27FC236}">
                <a16:creationId xmlns:a16="http://schemas.microsoft.com/office/drawing/2014/main" id="{E95F22B4-3AE6-E4DA-318D-022E575BADAB}"/>
              </a:ext>
            </a:extLst>
          </p:cNvPr>
          <p:cNvSpPr>
            <a:spLocks noGrp="1" noChangeArrowheads="1"/>
          </p:cNvSpPr>
          <p:nvPr>
            <p:ph type="title"/>
          </p:nvPr>
        </p:nvSpPr>
        <p:spPr/>
        <p:txBody>
          <a:bodyPr/>
          <a:lstStyle/>
          <a:p>
            <a:pPr eaLnBrk="1" hangingPunct="1"/>
            <a:r>
              <a:rPr lang="en-US" altLang="id-ID"/>
              <a:t>Calling Population	</a:t>
            </a:r>
            <a:r>
              <a:rPr lang="en-US" altLang="id-ID" sz="2200"/>
              <a:t>	</a:t>
            </a:r>
            <a:br>
              <a:rPr lang="en-US" altLang="id-ID" sz="2200"/>
            </a:br>
            <a:r>
              <a:rPr lang="en-US" altLang="id-ID" sz="2200"/>
              <a:t>			</a:t>
            </a:r>
            <a:r>
              <a:rPr lang="en-US" altLang="id-ID" sz="2200">
                <a:solidFill>
                  <a:schemeClr val="bg2"/>
                </a:solidFill>
              </a:rPr>
              <a:t>[Karakteristik Sistem Antrean]</a:t>
            </a:r>
          </a:p>
        </p:txBody>
      </p:sp>
      <p:sp>
        <p:nvSpPr>
          <p:cNvPr id="10244" name="Rectangle 3">
            <a:extLst>
              <a:ext uri="{FF2B5EF4-FFF2-40B4-BE49-F238E27FC236}">
                <a16:creationId xmlns:a16="http://schemas.microsoft.com/office/drawing/2014/main" id="{5BAE59DC-10B6-CF6C-0DEF-1A86B2342A33}"/>
              </a:ext>
            </a:extLst>
          </p:cNvPr>
          <p:cNvSpPr>
            <a:spLocks noGrp="1" noChangeArrowheads="1"/>
          </p:cNvSpPr>
          <p:nvPr>
            <p:ph type="body" sz="half" idx="1"/>
          </p:nvPr>
        </p:nvSpPr>
        <p:spPr>
          <a:xfrm>
            <a:off x="457200" y="1447800"/>
            <a:ext cx="8305800" cy="4953000"/>
          </a:xfrm>
        </p:spPr>
        <p:txBody>
          <a:bodyPr/>
          <a:lstStyle/>
          <a:p>
            <a:pPr eaLnBrk="1" hangingPunct="1"/>
            <a:r>
              <a:rPr lang="en-US" altLang="id-ID" sz="2400"/>
              <a:t>Calling population: populasi customer potensial, dapat diasumsikan terbatas atau tidak terbatas.</a:t>
            </a:r>
          </a:p>
          <a:p>
            <a:pPr lvl="1" eaLnBrk="1" hangingPunct="1"/>
            <a:r>
              <a:rPr lang="en-US" altLang="id-ID" sz="2000"/>
              <a:t>Model populasi terbatas: jika tingkat kedatangan bergantung pada jumlah customer yang dilayani dan menunggu, misalnya model satu jet perusahaan, jika sedang diperbaiki, tingkat kedatangan perbaikan menjadi nol.</a:t>
            </a:r>
          </a:p>
          <a:p>
            <a:pPr lvl="1" eaLnBrk="1" hangingPunct="1"/>
            <a:r>
              <a:rPr lang="en-US" altLang="id-ID" sz="2000"/>
              <a:t>Model populasi tak terbatas: jika tingkat kedatangan tidak dipengaruhi oleh jumlah customer yang dilayani dan menunggu, misalnya sistem dengan populasi customer potensial yang besar.</a:t>
            </a:r>
          </a:p>
          <a:p>
            <a:pPr eaLnBrk="1" hangingPunct="1"/>
            <a:endParaRPr lang="en-US" altLang="id-ID" sz="2400"/>
          </a:p>
          <a:p>
            <a:pPr lvl="1" eaLnBrk="1" hangingPunct="1"/>
            <a:endParaRPr lang="en-US" altLang="id-ID" sz="2000"/>
          </a:p>
          <a:p>
            <a:pPr lvl="1" eaLnBrk="1" hangingPunct="1"/>
            <a:endParaRPr lang="en-US" altLang="id-ID" sz="2000"/>
          </a:p>
          <a:p>
            <a:pPr lvl="1" eaLnBrk="1" hangingPunct="1"/>
            <a:endParaRPr lang="en-US" altLang="id-ID" sz="2000"/>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Number Placeholder 6">
            <a:extLst>
              <a:ext uri="{FF2B5EF4-FFF2-40B4-BE49-F238E27FC236}">
                <a16:creationId xmlns:a16="http://schemas.microsoft.com/office/drawing/2014/main" id="{C4BB1DA1-F719-07E1-83E9-F6E28B8D4AC6}"/>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5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4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9pPr>
          </a:lstStyle>
          <a:p>
            <a:pPr>
              <a:spcBef>
                <a:spcPct val="0"/>
              </a:spcBef>
              <a:buClrTx/>
              <a:buSzTx/>
              <a:buFontTx/>
              <a:buNone/>
            </a:pPr>
            <a:fld id="{6645E16C-3E1A-42C0-B333-6F7D55C1A113}" type="slidenum">
              <a:rPr lang="en-US" altLang="id-ID" sz="1200">
                <a:latin typeface="Arial Black" panose="020B0A04020102020204" pitchFamily="34" charset="0"/>
              </a:rPr>
              <a:pPr>
                <a:spcBef>
                  <a:spcPct val="0"/>
                </a:spcBef>
                <a:buClrTx/>
                <a:buSzTx/>
                <a:buFontTx/>
                <a:buNone/>
              </a:pPr>
              <a:t>6</a:t>
            </a:fld>
            <a:endParaRPr lang="en-US" altLang="id-ID" sz="1200">
              <a:latin typeface="Arial Black" panose="020B0A04020102020204" pitchFamily="34" charset="0"/>
            </a:endParaRPr>
          </a:p>
        </p:txBody>
      </p:sp>
      <p:sp>
        <p:nvSpPr>
          <p:cNvPr id="11267" name="Rectangle 2">
            <a:extLst>
              <a:ext uri="{FF2B5EF4-FFF2-40B4-BE49-F238E27FC236}">
                <a16:creationId xmlns:a16="http://schemas.microsoft.com/office/drawing/2014/main" id="{5BA62C2B-AE6F-D35C-3DF5-1EA1D9D514EA}"/>
              </a:ext>
            </a:extLst>
          </p:cNvPr>
          <p:cNvSpPr>
            <a:spLocks noGrp="1" noChangeArrowheads="1"/>
          </p:cNvSpPr>
          <p:nvPr>
            <p:ph type="title"/>
          </p:nvPr>
        </p:nvSpPr>
        <p:spPr/>
        <p:txBody>
          <a:bodyPr/>
          <a:lstStyle/>
          <a:p>
            <a:pPr eaLnBrk="1" hangingPunct="1"/>
            <a:r>
              <a:rPr lang="en-US" altLang="id-ID"/>
              <a:t>Kapasitas Sistem	</a:t>
            </a:r>
            <a:r>
              <a:rPr lang="en-US" altLang="id-ID" sz="2200"/>
              <a:t>	</a:t>
            </a:r>
            <a:br>
              <a:rPr lang="en-US" altLang="id-ID" sz="2200"/>
            </a:br>
            <a:r>
              <a:rPr lang="en-US" altLang="id-ID" sz="2200"/>
              <a:t>			 </a:t>
            </a:r>
            <a:r>
              <a:rPr lang="en-US" altLang="id-ID" sz="2200">
                <a:solidFill>
                  <a:schemeClr val="bg2"/>
                </a:solidFill>
              </a:rPr>
              <a:t>[Karakteristik Sistem Antrean]</a:t>
            </a:r>
          </a:p>
        </p:txBody>
      </p:sp>
      <p:sp>
        <p:nvSpPr>
          <p:cNvPr id="11268" name="Rectangle 3">
            <a:extLst>
              <a:ext uri="{FF2B5EF4-FFF2-40B4-BE49-F238E27FC236}">
                <a16:creationId xmlns:a16="http://schemas.microsoft.com/office/drawing/2014/main" id="{12A5B523-6B96-1866-88A2-0E2D8E7C073A}"/>
              </a:ext>
            </a:extLst>
          </p:cNvPr>
          <p:cNvSpPr>
            <a:spLocks noGrp="1" noChangeArrowheads="1"/>
          </p:cNvSpPr>
          <p:nvPr>
            <p:ph type="body" sz="half" idx="1"/>
          </p:nvPr>
        </p:nvSpPr>
        <p:spPr>
          <a:xfrm>
            <a:off x="457200" y="1447800"/>
            <a:ext cx="8305800" cy="4953000"/>
          </a:xfrm>
        </p:spPr>
        <p:txBody>
          <a:bodyPr/>
          <a:lstStyle/>
          <a:p>
            <a:pPr eaLnBrk="1" hangingPunct="1"/>
            <a:r>
              <a:rPr lang="en-US" altLang="id-ID" sz="2600"/>
              <a:t>Kapasitas Sistem: batasan jumlah customer yang boleh berada dalam antrean atau sistem.</a:t>
            </a:r>
          </a:p>
          <a:p>
            <a:pPr lvl="1" eaLnBrk="1" hangingPunct="1"/>
            <a:r>
              <a:rPr lang="en-US" altLang="id-ID" sz="2000"/>
              <a:t>Kapasitas terbatas, misalnya tempat cuci mobil matic hanya memiliki ruang untuk 10 mobil yang mengantri untuk masuk ke mekanisme tersebut.</a:t>
            </a:r>
          </a:p>
          <a:p>
            <a:pPr lvl="1" eaLnBrk="1" hangingPunct="1"/>
            <a:r>
              <a:rPr lang="en-US" altLang="id-ID" sz="2000"/>
              <a:t>Kapasitas tidak terbatas, misalnya penjualan tiket konser tanpa batasan jumlah orang yang diperbolehkan menunggu untuk membeli tiket.</a:t>
            </a:r>
          </a:p>
          <a:p>
            <a:pPr eaLnBrk="1" hangingPunct="1"/>
            <a:endParaRPr lang="en-US" altLang="id-ID" sz="2400"/>
          </a:p>
          <a:p>
            <a:pPr lvl="1" eaLnBrk="1" hangingPunct="1"/>
            <a:endParaRPr lang="en-US" altLang="id-ID" sz="2000"/>
          </a:p>
          <a:p>
            <a:pPr lvl="1" eaLnBrk="1" hangingPunct="1"/>
            <a:endParaRPr lang="en-US" altLang="id-ID" sz="2000"/>
          </a:p>
          <a:p>
            <a:pPr lvl="1" eaLnBrk="1" hangingPunct="1"/>
            <a:endParaRPr lang="en-US" altLang="id-ID" sz="2000"/>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Number Placeholder 6">
            <a:extLst>
              <a:ext uri="{FF2B5EF4-FFF2-40B4-BE49-F238E27FC236}">
                <a16:creationId xmlns:a16="http://schemas.microsoft.com/office/drawing/2014/main" id="{FC34EB2D-5E04-95AA-A5A6-1B504EEE3AE9}"/>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5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4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9pPr>
          </a:lstStyle>
          <a:p>
            <a:pPr>
              <a:spcBef>
                <a:spcPct val="0"/>
              </a:spcBef>
              <a:buClrTx/>
              <a:buSzTx/>
              <a:buFontTx/>
              <a:buNone/>
            </a:pPr>
            <a:fld id="{9C367231-5977-4F7D-88DF-09438D964FF7}" type="slidenum">
              <a:rPr lang="en-US" altLang="id-ID" sz="1200">
                <a:latin typeface="Arial Black" panose="020B0A04020102020204" pitchFamily="34" charset="0"/>
              </a:rPr>
              <a:pPr>
                <a:spcBef>
                  <a:spcPct val="0"/>
                </a:spcBef>
                <a:buClrTx/>
                <a:buSzTx/>
                <a:buFontTx/>
                <a:buNone/>
              </a:pPr>
              <a:t>7</a:t>
            </a:fld>
            <a:endParaRPr lang="en-US" altLang="id-ID" sz="1200">
              <a:latin typeface="Arial Black" panose="020B0A04020102020204" pitchFamily="34" charset="0"/>
            </a:endParaRPr>
          </a:p>
        </p:txBody>
      </p:sp>
      <p:sp>
        <p:nvSpPr>
          <p:cNvPr id="12291" name="Rectangle 2">
            <a:extLst>
              <a:ext uri="{FF2B5EF4-FFF2-40B4-BE49-F238E27FC236}">
                <a16:creationId xmlns:a16="http://schemas.microsoft.com/office/drawing/2014/main" id="{44569C71-E8AD-56A0-8068-6810373E0DB5}"/>
              </a:ext>
            </a:extLst>
          </p:cNvPr>
          <p:cNvSpPr>
            <a:spLocks noGrp="1" noChangeArrowheads="1"/>
          </p:cNvSpPr>
          <p:nvPr>
            <p:ph type="title"/>
          </p:nvPr>
        </p:nvSpPr>
        <p:spPr/>
        <p:txBody>
          <a:bodyPr/>
          <a:lstStyle/>
          <a:p>
            <a:pPr eaLnBrk="1" hangingPunct="1"/>
            <a:r>
              <a:rPr lang="en-US" altLang="id-ID"/>
              <a:t>Proses Kedatangan	</a:t>
            </a:r>
            <a:r>
              <a:rPr lang="en-US" altLang="id-ID" sz="2200"/>
              <a:t>	</a:t>
            </a:r>
            <a:br>
              <a:rPr lang="en-US" altLang="id-ID" sz="2200"/>
            </a:br>
            <a:r>
              <a:rPr lang="en-US" altLang="id-ID" sz="2200"/>
              <a:t>			 </a:t>
            </a:r>
            <a:r>
              <a:rPr lang="en-US" altLang="id-ID" sz="2200">
                <a:solidFill>
                  <a:schemeClr val="bg2"/>
                </a:solidFill>
              </a:rPr>
              <a:t>[Karakteristik Sistem Antrean]</a:t>
            </a:r>
          </a:p>
        </p:txBody>
      </p:sp>
      <p:sp>
        <p:nvSpPr>
          <p:cNvPr id="12292" name="Rectangle 3">
            <a:extLst>
              <a:ext uri="{FF2B5EF4-FFF2-40B4-BE49-F238E27FC236}">
                <a16:creationId xmlns:a16="http://schemas.microsoft.com/office/drawing/2014/main" id="{5EC3BA7E-F11D-9100-AC04-7308E5F61F4F}"/>
              </a:ext>
            </a:extLst>
          </p:cNvPr>
          <p:cNvSpPr>
            <a:spLocks noGrp="1" noChangeArrowheads="1"/>
          </p:cNvSpPr>
          <p:nvPr>
            <p:ph type="body" sz="half" idx="1"/>
          </p:nvPr>
        </p:nvSpPr>
        <p:spPr>
          <a:xfrm>
            <a:off x="457200" y="1447800"/>
            <a:ext cx="8305800" cy="4953000"/>
          </a:xfrm>
        </p:spPr>
        <p:txBody>
          <a:bodyPr/>
          <a:lstStyle/>
          <a:p>
            <a:pPr eaLnBrk="1" hangingPunct="1"/>
            <a:r>
              <a:rPr lang="en-US" altLang="id-ID" sz="2400"/>
              <a:t>Untuk model populasi tak terbatas:</a:t>
            </a:r>
          </a:p>
          <a:p>
            <a:pPr lvl="1" eaLnBrk="1" hangingPunct="1"/>
            <a:r>
              <a:rPr lang="en-US" altLang="id-ID" sz="2000"/>
              <a:t>Dalam hal waktu antar kedatangan customer berturut-turut.</a:t>
            </a:r>
          </a:p>
          <a:p>
            <a:pPr lvl="1" eaLnBrk="1" hangingPunct="1"/>
            <a:r>
              <a:rPr lang="en-US" altLang="id-ID" sz="2000"/>
              <a:t>Kedatangan acak: waktu antar kedatangan biasanya ditandai dengan distribusi probabilitas.</a:t>
            </a:r>
          </a:p>
          <a:p>
            <a:pPr lvl="2" eaLnBrk="1" hangingPunct="1"/>
            <a:r>
              <a:rPr lang="en-US" altLang="id-ID" sz="1800"/>
              <a:t>Model yang paling penting: Poisson arrival process (dg rate </a:t>
            </a:r>
            <a:r>
              <a:rPr lang="en-US" altLang="id-ID" sz="1800" i="1">
                <a:latin typeface="Symbol" panose="05050102010706020507" pitchFamily="18" charset="2"/>
              </a:rPr>
              <a:t>l</a:t>
            </a:r>
            <a:r>
              <a:rPr lang="en-US" altLang="id-ID" sz="1800"/>
              <a:t>), dimana </a:t>
            </a:r>
            <a:r>
              <a:rPr lang="en-US" altLang="id-ID" sz="1800" i="1"/>
              <a:t>A</a:t>
            </a:r>
            <a:r>
              <a:rPr lang="en-US" altLang="id-ID" sz="1800" i="1" baseline="-25000"/>
              <a:t>n</a:t>
            </a:r>
            <a:r>
              <a:rPr lang="en-US" altLang="id-ID" sz="1800"/>
              <a:t> mewakili waktu antar kedatangan antaracustomer </a:t>
            </a:r>
            <a:r>
              <a:rPr lang="en-US" altLang="id-ID" sz="1800" i="1"/>
              <a:t>n-1</a:t>
            </a:r>
            <a:r>
              <a:rPr lang="en-US" altLang="id-ID" sz="1800"/>
              <a:t> dan customer </a:t>
            </a:r>
            <a:r>
              <a:rPr lang="en-US" altLang="id-ID" sz="1800" i="1"/>
              <a:t>n</a:t>
            </a:r>
            <a:r>
              <a:rPr lang="en-US" altLang="id-ID" sz="1800"/>
              <a:t>, dan terdistribusi exponensial (dg mean</a:t>
            </a:r>
            <a:r>
              <a:rPr lang="en-US" altLang="id-ID" sz="1800" i="1"/>
              <a:t>1/</a:t>
            </a:r>
            <a:r>
              <a:rPr lang="en-US" altLang="id-ID" sz="1800" i="1">
                <a:latin typeface="Symbol" panose="05050102010706020507" pitchFamily="18" charset="2"/>
              </a:rPr>
              <a:t>l</a:t>
            </a:r>
            <a:r>
              <a:rPr lang="en-US" altLang="id-ID" sz="1800"/>
              <a:t>).</a:t>
            </a:r>
          </a:p>
          <a:p>
            <a:pPr lvl="1" eaLnBrk="1" hangingPunct="1"/>
            <a:r>
              <a:rPr lang="en-US" altLang="id-ID" sz="2000"/>
              <a:t>Kedatangan terjadwal: waktu antar kedatangan bisa konstan atau konstan plus atau minus sejumlah kecil acak untuk mewakili kedatangan awal atau akhir.</a:t>
            </a:r>
          </a:p>
          <a:p>
            <a:pPr lvl="2" eaLnBrk="1" hangingPunct="1"/>
            <a:r>
              <a:rPr lang="en-US" altLang="id-ID" sz="1800"/>
              <a:t>misalnya, pasien ke dokter atau jadwal kedatangan penerbangan maskapai ke bandara.</a:t>
            </a:r>
          </a:p>
          <a:p>
            <a:pPr lvl="1" eaLnBrk="1" hangingPunct="1"/>
            <a:r>
              <a:rPr lang="en-US" altLang="id-ID" sz="2000"/>
              <a:t>Setidaknya satu customer diasumsikan selalu hadir, sehingga server tidak pernah menganggur, misalnya bahan baku yang cukup untuk sebuah mesin.</a:t>
            </a: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Number Placeholder 5">
            <a:extLst>
              <a:ext uri="{FF2B5EF4-FFF2-40B4-BE49-F238E27FC236}">
                <a16:creationId xmlns:a16="http://schemas.microsoft.com/office/drawing/2014/main" id="{1BF8FF1E-EB33-C362-42A8-5E914D92E1F2}"/>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5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4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9pPr>
          </a:lstStyle>
          <a:p>
            <a:pPr>
              <a:spcBef>
                <a:spcPct val="0"/>
              </a:spcBef>
              <a:buClrTx/>
              <a:buSzTx/>
              <a:buFontTx/>
              <a:buNone/>
            </a:pPr>
            <a:fld id="{6C2FC9A0-B59B-492E-AB2C-2782A3EED719}" type="slidenum">
              <a:rPr lang="en-US" altLang="id-ID" sz="1200">
                <a:latin typeface="Arial Black" panose="020B0A04020102020204" pitchFamily="34" charset="0"/>
              </a:rPr>
              <a:pPr>
                <a:spcBef>
                  <a:spcPct val="0"/>
                </a:spcBef>
                <a:buClrTx/>
                <a:buSzTx/>
                <a:buFontTx/>
                <a:buNone/>
              </a:pPr>
              <a:t>8</a:t>
            </a:fld>
            <a:endParaRPr lang="en-US" altLang="id-ID" sz="1200">
              <a:latin typeface="Arial Black" panose="020B0A04020102020204" pitchFamily="34" charset="0"/>
            </a:endParaRPr>
          </a:p>
        </p:txBody>
      </p:sp>
      <p:sp>
        <p:nvSpPr>
          <p:cNvPr id="13315" name="Rectangle 2">
            <a:extLst>
              <a:ext uri="{FF2B5EF4-FFF2-40B4-BE49-F238E27FC236}">
                <a16:creationId xmlns:a16="http://schemas.microsoft.com/office/drawing/2014/main" id="{58DAA32E-9C0A-39F7-BD6B-394F3AD122D5}"/>
              </a:ext>
            </a:extLst>
          </p:cNvPr>
          <p:cNvSpPr>
            <a:spLocks noGrp="1" noChangeArrowheads="1"/>
          </p:cNvSpPr>
          <p:nvPr>
            <p:ph type="title"/>
          </p:nvPr>
        </p:nvSpPr>
        <p:spPr/>
        <p:txBody>
          <a:bodyPr/>
          <a:lstStyle/>
          <a:p>
            <a:pPr eaLnBrk="1" hangingPunct="1"/>
            <a:r>
              <a:rPr lang="en-US" altLang="id-ID"/>
              <a:t>Proses Kedatangan 	</a:t>
            </a:r>
            <a:r>
              <a:rPr lang="en-US" altLang="id-ID" sz="2200"/>
              <a:t>	</a:t>
            </a:r>
            <a:br>
              <a:rPr lang="en-US" altLang="id-ID" sz="2200"/>
            </a:br>
            <a:r>
              <a:rPr lang="en-US" altLang="id-ID" sz="2200"/>
              <a:t>			 </a:t>
            </a:r>
            <a:r>
              <a:rPr lang="en-US" altLang="id-ID" sz="2200">
                <a:solidFill>
                  <a:schemeClr val="bg2"/>
                </a:solidFill>
              </a:rPr>
              <a:t>[Karakteristik Sistem Antrean]</a:t>
            </a:r>
          </a:p>
        </p:txBody>
      </p:sp>
      <p:sp>
        <p:nvSpPr>
          <p:cNvPr id="13316" name="Rectangle 3">
            <a:extLst>
              <a:ext uri="{FF2B5EF4-FFF2-40B4-BE49-F238E27FC236}">
                <a16:creationId xmlns:a16="http://schemas.microsoft.com/office/drawing/2014/main" id="{5472D276-C2A8-71F3-1E85-5C4E12933471}"/>
              </a:ext>
            </a:extLst>
          </p:cNvPr>
          <p:cNvSpPr>
            <a:spLocks noGrp="1" noChangeArrowheads="1"/>
          </p:cNvSpPr>
          <p:nvPr>
            <p:ph type="body" sz="half" idx="1"/>
          </p:nvPr>
        </p:nvSpPr>
        <p:spPr>
          <a:xfrm>
            <a:off x="457200" y="1447800"/>
            <a:ext cx="8305800" cy="4953000"/>
          </a:xfrm>
        </p:spPr>
        <p:txBody>
          <a:bodyPr/>
          <a:lstStyle/>
          <a:p>
            <a:pPr eaLnBrk="1" hangingPunct="1"/>
            <a:r>
              <a:rPr lang="en-US" altLang="id-ID" sz="2400"/>
              <a:t>Untuk model populasi-berhingga:</a:t>
            </a:r>
          </a:p>
          <a:p>
            <a:pPr lvl="1" eaLnBrk="1" hangingPunct="1"/>
            <a:r>
              <a:rPr lang="en-US" altLang="id-ID" sz="2000"/>
              <a:t>Customer tertunda ketika customer berada di luar sistem antrian, misalnya, masalah perbaikan mesin: mesin “menunggu” ketika sedang beroperasi, menjadi “tidak menunggu” saat mesin meminta layanan dari tukang reparasi.</a:t>
            </a:r>
          </a:p>
          <a:p>
            <a:pPr lvl="1" eaLnBrk="1" hangingPunct="1"/>
            <a:r>
              <a:rPr lang="en-US" altLang="id-ID" sz="2000"/>
              <a:t>Runtime dari seorang customer adalah lamanya waktu dari keberangkatan dari sistem antrian sampai customer tersebut tiba di antrian berikutnya, misalnya masalah perbaikan mesin, mesin menjadi customer dan runtime adalah waktu sampai terjadi kegagalan..</a:t>
            </a:r>
          </a:p>
          <a:p>
            <a:pPr lvl="1" eaLnBrk="1" hangingPunct="1"/>
            <a:r>
              <a:rPr lang="en-US" altLang="id-ID" sz="2000"/>
              <a:t>Misal </a:t>
            </a:r>
            <a:r>
              <a:rPr lang="en-US" altLang="id-ID" sz="2000" i="1"/>
              <a:t>A</a:t>
            </a:r>
            <a:r>
              <a:rPr lang="en-US" altLang="id-ID" sz="2000" i="1" baseline="-25000"/>
              <a:t>1</a:t>
            </a:r>
            <a:r>
              <a:rPr lang="en-US" altLang="id-ID" sz="2000" i="1" baseline="30000"/>
              <a:t>(i)</a:t>
            </a:r>
            <a:r>
              <a:rPr lang="en-US" altLang="id-ID" sz="2000"/>
              <a:t>,</a:t>
            </a:r>
            <a:r>
              <a:rPr lang="en-US" altLang="id-ID" sz="2000" i="1"/>
              <a:t> A</a:t>
            </a:r>
            <a:r>
              <a:rPr lang="en-US" altLang="id-ID" sz="2000" i="1" baseline="-25000"/>
              <a:t>2</a:t>
            </a:r>
            <a:r>
              <a:rPr lang="en-US" altLang="id-ID" sz="2000" i="1" baseline="30000"/>
              <a:t>(i)</a:t>
            </a:r>
            <a:r>
              <a:rPr lang="en-US" altLang="id-ID" sz="2000"/>
              <a:t>, … sebagai runtime berturut-turut dari pelanggan i , dan S</a:t>
            </a:r>
            <a:r>
              <a:rPr lang="en-US" altLang="id-ID" sz="2000" i="1" baseline="-25000"/>
              <a:t>1</a:t>
            </a:r>
            <a:r>
              <a:rPr lang="en-US" altLang="id-ID" sz="2000" i="1" baseline="30000"/>
              <a:t>(i)</a:t>
            </a:r>
            <a:r>
              <a:rPr lang="en-US" altLang="id-ID" sz="2000"/>
              <a:t>,</a:t>
            </a:r>
            <a:r>
              <a:rPr lang="en-US" altLang="id-ID" sz="2000" i="1"/>
              <a:t> S</a:t>
            </a:r>
            <a:r>
              <a:rPr lang="en-US" altLang="id-ID" sz="2000" i="1" baseline="-25000"/>
              <a:t>2</a:t>
            </a:r>
            <a:r>
              <a:rPr lang="en-US" altLang="id-ID" sz="2000" i="1" baseline="30000"/>
              <a:t>(i)</a:t>
            </a:r>
            <a:r>
              <a:rPr lang="en-US" altLang="id-ID" sz="2000"/>
              <a:t> sebagai waktu sistem berturut-turut yang sesuai:</a:t>
            </a:r>
          </a:p>
          <a:p>
            <a:pPr lvl="1" eaLnBrk="1" hangingPunct="1"/>
            <a:endParaRPr lang="en-US" altLang="id-ID" sz="2000"/>
          </a:p>
        </p:txBody>
      </p:sp>
      <p:pic>
        <p:nvPicPr>
          <p:cNvPr id="13317" name="Picture 5" descr="06-2">
            <a:extLst>
              <a:ext uri="{FF2B5EF4-FFF2-40B4-BE49-F238E27FC236}">
                <a16:creationId xmlns:a16="http://schemas.microsoft.com/office/drawing/2014/main" id="{1422012F-2527-905A-C711-55C8C9CE744E}"/>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2133600" y="5362575"/>
            <a:ext cx="4724400" cy="13430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Number Placeholder 6">
            <a:extLst>
              <a:ext uri="{FF2B5EF4-FFF2-40B4-BE49-F238E27FC236}">
                <a16:creationId xmlns:a16="http://schemas.microsoft.com/office/drawing/2014/main" id="{4BD652C0-E98C-8C4E-00C0-33ED8AC50FDB}"/>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5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4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9pPr>
          </a:lstStyle>
          <a:p>
            <a:pPr>
              <a:spcBef>
                <a:spcPct val="0"/>
              </a:spcBef>
              <a:buClrTx/>
              <a:buSzTx/>
              <a:buFontTx/>
              <a:buNone/>
            </a:pPr>
            <a:fld id="{1DCB183F-6C74-45AA-8E05-040FA2BC8453}" type="slidenum">
              <a:rPr lang="en-US" altLang="id-ID" sz="1200">
                <a:latin typeface="Arial Black" panose="020B0A04020102020204" pitchFamily="34" charset="0"/>
              </a:rPr>
              <a:pPr>
                <a:spcBef>
                  <a:spcPct val="0"/>
                </a:spcBef>
                <a:buClrTx/>
                <a:buSzTx/>
                <a:buFontTx/>
                <a:buNone/>
              </a:pPr>
              <a:t>9</a:t>
            </a:fld>
            <a:endParaRPr lang="en-US" altLang="id-ID" sz="1200">
              <a:latin typeface="Arial Black" panose="020B0A04020102020204" pitchFamily="34" charset="0"/>
            </a:endParaRPr>
          </a:p>
        </p:txBody>
      </p:sp>
      <p:sp>
        <p:nvSpPr>
          <p:cNvPr id="14339" name="Rectangle 2">
            <a:extLst>
              <a:ext uri="{FF2B5EF4-FFF2-40B4-BE49-F238E27FC236}">
                <a16:creationId xmlns:a16="http://schemas.microsoft.com/office/drawing/2014/main" id="{007232F7-4CE6-2B6C-FB4E-FB0BCC5F7EF5}"/>
              </a:ext>
            </a:extLst>
          </p:cNvPr>
          <p:cNvSpPr>
            <a:spLocks noGrp="1" noChangeArrowheads="1"/>
          </p:cNvSpPr>
          <p:nvPr>
            <p:ph type="title"/>
          </p:nvPr>
        </p:nvSpPr>
        <p:spPr/>
        <p:txBody>
          <a:bodyPr/>
          <a:lstStyle/>
          <a:p>
            <a:pPr eaLnBrk="1" hangingPunct="1"/>
            <a:r>
              <a:rPr lang="sv-SE" altLang="id-ID"/>
              <a:t>Perilaku Antrian dan Disiplin Antrian</a:t>
            </a:r>
            <a:r>
              <a:rPr lang="en-US" altLang="id-ID" sz="2200"/>
              <a:t>	</a:t>
            </a:r>
            <a:br>
              <a:rPr lang="en-US" altLang="id-ID" sz="2200"/>
            </a:br>
            <a:r>
              <a:rPr lang="en-US" altLang="id-ID" sz="2200"/>
              <a:t>			 </a:t>
            </a:r>
            <a:r>
              <a:rPr lang="en-US" altLang="id-ID" sz="2200">
                <a:solidFill>
                  <a:schemeClr val="bg2"/>
                </a:solidFill>
              </a:rPr>
              <a:t>[Karakteristik Sistem Antrean]</a:t>
            </a:r>
          </a:p>
        </p:txBody>
      </p:sp>
      <p:sp>
        <p:nvSpPr>
          <p:cNvPr id="14340" name="Rectangle 3">
            <a:extLst>
              <a:ext uri="{FF2B5EF4-FFF2-40B4-BE49-F238E27FC236}">
                <a16:creationId xmlns:a16="http://schemas.microsoft.com/office/drawing/2014/main" id="{048961F0-2CDB-7067-4537-DD8BE6E633A2}"/>
              </a:ext>
            </a:extLst>
          </p:cNvPr>
          <p:cNvSpPr>
            <a:spLocks noGrp="1" noChangeArrowheads="1"/>
          </p:cNvSpPr>
          <p:nvPr>
            <p:ph type="body" sz="half" idx="1"/>
          </p:nvPr>
        </p:nvSpPr>
        <p:spPr>
          <a:xfrm>
            <a:off x="457200" y="1447800"/>
            <a:ext cx="8305800" cy="4953000"/>
          </a:xfrm>
        </p:spPr>
        <p:txBody>
          <a:bodyPr/>
          <a:lstStyle/>
          <a:p>
            <a:pPr eaLnBrk="1" hangingPunct="1"/>
            <a:r>
              <a:rPr lang="en-US" altLang="id-ID" sz="2200"/>
              <a:t>Queue behavior: the actions of customers while in a queue waiting for service to begin, for example:</a:t>
            </a:r>
          </a:p>
          <a:p>
            <a:pPr lvl="1" eaLnBrk="1" hangingPunct="1"/>
            <a:r>
              <a:rPr lang="en-US" altLang="id-ID" sz="1800"/>
              <a:t>Balk: leave when they see that the line is too long,</a:t>
            </a:r>
          </a:p>
          <a:p>
            <a:pPr lvl="1" eaLnBrk="1" hangingPunct="1"/>
            <a:r>
              <a:rPr lang="en-US" altLang="id-ID" sz="1800"/>
              <a:t>Renege: leave after being in the line when its moving too slowly,</a:t>
            </a:r>
          </a:p>
          <a:p>
            <a:pPr lvl="1" eaLnBrk="1" hangingPunct="1"/>
            <a:r>
              <a:rPr lang="en-US" altLang="id-ID" sz="1800"/>
              <a:t>Jockey: move from one line to a shorter line.</a:t>
            </a:r>
          </a:p>
          <a:p>
            <a:pPr eaLnBrk="1" hangingPunct="1"/>
            <a:r>
              <a:rPr lang="en-US" altLang="id-ID" sz="2200"/>
              <a:t>Queue discipline: the logical ordering of customers in a queue that determines which customer is chosen for service when a server becomes free, for example:</a:t>
            </a:r>
          </a:p>
          <a:p>
            <a:pPr lvl="1" eaLnBrk="1" hangingPunct="1"/>
            <a:r>
              <a:rPr lang="en-US" altLang="id-ID" sz="1800"/>
              <a:t>First-in-first-out (FIFO)</a:t>
            </a:r>
          </a:p>
          <a:p>
            <a:pPr lvl="1" eaLnBrk="1" hangingPunct="1"/>
            <a:r>
              <a:rPr lang="en-US" altLang="id-ID" sz="1800"/>
              <a:t>Last-in-first-out (LIFO)</a:t>
            </a:r>
          </a:p>
          <a:p>
            <a:pPr lvl="1" eaLnBrk="1" hangingPunct="1"/>
            <a:r>
              <a:rPr lang="en-US" altLang="id-ID" sz="1800"/>
              <a:t>Service in random order (SIRO)</a:t>
            </a:r>
          </a:p>
          <a:p>
            <a:pPr lvl="1" eaLnBrk="1" hangingPunct="1"/>
            <a:r>
              <a:rPr lang="en-US" altLang="id-ID" sz="1800"/>
              <a:t>Shortest processing time first (SPT)</a:t>
            </a:r>
          </a:p>
          <a:p>
            <a:pPr lvl="1" eaLnBrk="1" hangingPunct="1"/>
            <a:r>
              <a:rPr lang="en-US" altLang="id-ID" sz="1800"/>
              <a:t>Service according to priority (PR).</a:t>
            </a: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Number Placeholder 6">
            <a:extLst>
              <a:ext uri="{FF2B5EF4-FFF2-40B4-BE49-F238E27FC236}">
                <a16:creationId xmlns:a16="http://schemas.microsoft.com/office/drawing/2014/main" id="{715E3C3F-3CC2-C504-A608-E0986EE5DB68}"/>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5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4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9pPr>
          </a:lstStyle>
          <a:p>
            <a:pPr>
              <a:spcBef>
                <a:spcPct val="0"/>
              </a:spcBef>
              <a:buClrTx/>
              <a:buSzTx/>
              <a:buFontTx/>
              <a:buNone/>
            </a:pPr>
            <a:fld id="{4612A127-E16D-4D13-BB49-574B617F612A}" type="slidenum">
              <a:rPr lang="en-US" altLang="id-ID" sz="1200">
                <a:latin typeface="Arial Black" panose="020B0A04020102020204" pitchFamily="34" charset="0"/>
              </a:rPr>
              <a:pPr>
                <a:spcBef>
                  <a:spcPct val="0"/>
                </a:spcBef>
                <a:buClrTx/>
                <a:buSzTx/>
                <a:buFontTx/>
                <a:buNone/>
              </a:pPr>
              <a:t>10</a:t>
            </a:fld>
            <a:endParaRPr lang="en-US" altLang="id-ID" sz="1200">
              <a:latin typeface="Arial Black" panose="020B0A04020102020204" pitchFamily="34" charset="0"/>
            </a:endParaRPr>
          </a:p>
        </p:txBody>
      </p:sp>
      <p:sp>
        <p:nvSpPr>
          <p:cNvPr id="15363" name="Rectangle 2">
            <a:extLst>
              <a:ext uri="{FF2B5EF4-FFF2-40B4-BE49-F238E27FC236}">
                <a16:creationId xmlns:a16="http://schemas.microsoft.com/office/drawing/2014/main" id="{D24EB8C2-3248-716D-E445-479C9ABC32F5}"/>
              </a:ext>
            </a:extLst>
          </p:cNvPr>
          <p:cNvSpPr>
            <a:spLocks noGrp="1" noChangeArrowheads="1"/>
          </p:cNvSpPr>
          <p:nvPr>
            <p:ph type="title"/>
          </p:nvPr>
        </p:nvSpPr>
        <p:spPr/>
        <p:txBody>
          <a:bodyPr/>
          <a:lstStyle/>
          <a:p>
            <a:pPr eaLnBrk="1" hangingPunct="1"/>
            <a:r>
              <a:rPr lang="en-US" altLang="id-ID"/>
              <a:t>Service Times and Service Mechanism</a:t>
            </a:r>
            <a:r>
              <a:rPr lang="en-US" altLang="id-ID" sz="2200"/>
              <a:t>	</a:t>
            </a:r>
            <a:br>
              <a:rPr lang="en-US" altLang="id-ID" sz="2200"/>
            </a:br>
            <a:r>
              <a:rPr lang="en-US" altLang="id-ID" sz="2200"/>
              <a:t>			 </a:t>
            </a:r>
            <a:r>
              <a:rPr lang="en-US" altLang="id-ID" sz="2200">
                <a:solidFill>
                  <a:schemeClr val="bg2"/>
                </a:solidFill>
              </a:rPr>
              <a:t>[Characteristics of Queueing System]</a:t>
            </a:r>
          </a:p>
        </p:txBody>
      </p:sp>
      <p:sp>
        <p:nvSpPr>
          <p:cNvPr id="15364" name="Rectangle 3">
            <a:extLst>
              <a:ext uri="{FF2B5EF4-FFF2-40B4-BE49-F238E27FC236}">
                <a16:creationId xmlns:a16="http://schemas.microsoft.com/office/drawing/2014/main" id="{272D1F8E-9E46-30DC-43EF-4A62AE2490AB}"/>
              </a:ext>
            </a:extLst>
          </p:cNvPr>
          <p:cNvSpPr>
            <a:spLocks noGrp="1" noChangeArrowheads="1"/>
          </p:cNvSpPr>
          <p:nvPr>
            <p:ph type="body" sz="half" idx="1"/>
          </p:nvPr>
        </p:nvSpPr>
        <p:spPr>
          <a:xfrm>
            <a:off x="457200" y="1447800"/>
            <a:ext cx="8305800" cy="4953000"/>
          </a:xfrm>
        </p:spPr>
        <p:txBody>
          <a:bodyPr/>
          <a:lstStyle/>
          <a:p>
            <a:pPr eaLnBrk="1" hangingPunct="1"/>
            <a:r>
              <a:rPr lang="en-US" altLang="id-ID" sz="2400"/>
              <a:t>Service times of successive arrivals are denoted by </a:t>
            </a:r>
            <a:r>
              <a:rPr lang="en-US" altLang="id-ID" sz="2400" i="1"/>
              <a:t>S</a:t>
            </a:r>
            <a:r>
              <a:rPr lang="en-US" altLang="id-ID" sz="2400" i="1" baseline="-25000"/>
              <a:t>1</a:t>
            </a:r>
            <a:r>
              <a:rPr lang="en-US" altLang="id-ID" sz="2400" i="1"/>
              <a:t>, S</a:t>
            </a:r>
            <a:r>
              <a:rPr lang="en-US" altLang="id-ID" sz="2400" i="1" baseline="-25000"/>
              <a:t>2</a:t>
            </a:r>
            <a:r>
              <a:rPr lang="en-US" altLang="id-ID" sz="2400" i="1"/>
              <a:t>, S</a:t>
            </a:r>
            <a:r>
              <a:rPr lang="en-US" altLang="id-ID" sz="2400" i="1" baseline="-25000"/>
              <a:t>3</a:t>
            </a:r>
            <a:r>
              <a:rPr lang="en-US" altLang="id-ID" sz="2400"/>
              <a:t>.</a:t>
            </a:r>
          </a:p>
          <a:p>
            <a:pPr lvl="1" eaLnBrk="1" hangingPunct="1"/>
            <a:r>
              <a:rPr lang="en-US" altLang="id-ID" sz="2000"/>
              <a:t>May be constant or random.</a:t>
            </a:r>
          </a:p>
          <a:p>
            <a:pPr lvl="1" eaLnBrk="1" hangingPunct="1"/>
            <a:r>
              <a:rPr lang="en-US" altLang="id-ID" sz="2000"/>
              <a:t>{</a:t>
            </a:r>
            <a:r>
              <a:rPr lang="en-US" altLang="id-ID" sz="2000" i="1"/>
              <a:t>S</a:t>
            </a:r>
            <a:r>
              <a:rPr lang="en-US" altLang="id-ID" sz="2000" i="1" baseline="-25000"/>
              <a:t>1</a:t>
            </a:r>
            <a:r>
              <a:rPr lang="en-US" altLang="id-ID" sz="2000" i="1"/>
              <a:t>, S</a:t>
            </a:r>
            <a:r>
              <a:rPr lang="en-US" altLang="id-ID" sz="2000" i="1" baseline="-25000"/>
              <a:t>2</a:t>
            </a:r>
            <a:r>
              <a:rPr lang="en-US" altLang="id-ID" sz="2000" i="1"/>
              <a:t>, S</a:t>
            </a:r>
            <a:r>
              <a:rPr lang="en-US" altLang="id-ID" sz="2000" i="1" baseline="-25000"/>
              <a:t>3</a:t>
            </a:r>
            <a:r>
              <a:rPr lang="en-US" altLang="id-ID" sz="2000"/>
              <a:t>, …} is usually characterized as a sequence of independent and identically distributed random variables, e.g., exponential, Weibull, gamma, lognormal, and truncated normal distribution.</a:t>
            </a:r>
          </a:p>
          <a:p>
            <a:pPr eaLnBrk="1" hangingPunct="1"/>
            <a:r>
              <a:rPr lang="en-US" altLang="id-ID" sz="2400"/>
              <a:t>A queueing system consists of a number of service centers and interconnected queues.</a:t>
            </a:r>
          </a:p>
          <a:p>
            <a:pPr lvl="1" eaLnBrk="1" hangingPunct="1"/>
            <a:r>
              <a:rPr lang="en-US" altLang="id-ID" sz="2000"/>
              <a:t>Each service center consists of some number of servers, </a:t>
            </a:r>
            <a:r>
              <a:rPr lang="en-US" altLang="id-ID" sz="2000" i="1"/>
              <a:t>c</a:t>
            </a:r>
            <a:r>
              <a:rPr lang="en-US" altLang="id-ID" sz="2000"/>
              <a:t>, working in parallel, upon getting to the head of the line, a customer takes the </a:t>
            </a:r>
            <a:r>
              <a:rPr lang="en-US" altLang="id-ID" sz="2000" i="1"/>
              <a:t>1</a:t>
            </a:r>
            <a:r>
              <a:rPr lang="en-US" altLang="id-ID" sz="2000" i="1" baseline="30000"/>
              <a:t>st</a:t>
            </a:r>
            <a:r>
              <a:rPr lang="en-US" altLang="id-ID" sz="2000"/>
              <a:t> available server.</a:t>
            </a:r>
          </a:p>
          <a:p>
            <a:pPr lvl="1" eaLnBrk="1" hangingPunct="1"/>
            <a:endParaRPr lang="en-US" altLang="id-ID" sz="2000"/>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Number Placeholder 5">
            <a:extLst>
              <a:ext uri="{FF2B5EF4-FFF2-40B4-BE49-F238E27FC236}">
                <a16:creationId xmlns:a16="http://schemas.microsoft.com/office/drawing/2014/main" id="{76128084-0C8B-8A15-764C-C5C842921C69}"/>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5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4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9pPr>
          </a:lstStyle>
          <a:p>
            <a:pPr>
              <a:spcBef>
                <a:spcPct val="0"/>
              </a:spcBef>
              <a:buClrTx/>
              <a:buSzTx/>
              <a:buFontTx/>
              <a:buNone/>
            </a:pPr>
            <a:fld id="{79CBE260-F3F5-4700-8501-25658D715DDA}" type="slidenum">
              <a:rPr lang="en-US" altLang="id-ID" sz="1200">
                <a:latin typeface="Arial Black" panose="020B0A04020102020204" pitchFamily="34" charset="0"/>
              </a:rPr>
              <a:pPr>
                <a:spcBef>
                  <a:spcPct val="0"/>
                </a:spcBef>
                <a:buClrTx/>
                <a:buSzTx/>
                <a:buFontTx/>
                <a:buNone/>
              </a:pPr>
              <a:t>11</a:t>
            </a:fld>
            <a:endParaRPr lang="en-US" altLang="id-ID" sz="1200">
              <a:latin typeface="Arial Black" panose="020B0A04020102020204" pitchFamily="34" charset="0"/>
            </a:endParaRPr>
          </a:p>
        </p:txBody>
      </p:sp>
      <p:sp>
        <p:nvSpPr>
          <p:cNvPr id="16387" name="Rectangle 2">
            <a:extLst>
              <a:ext uri="{FF2B5EF4-FFF2-40B4-BE49-F238E27FC236}">
                <a16:creationId xmlns:a16="http://schemas.microsoft.com/office/drawing/2014/main" id="{E4FE5E44-5026-BCDC-FE91-B9DB4F3ACA73}"/>
              </a:ext>
            </a:extLst>
          </p:cNvPr>
          <p:cNvSpPr>
            <a:spLocks noGrp="1" noChangeArrowheads="1"/>
          </p:cNvSpPr>
          <p:nvPr>
            <p:ph type="title"/>
          </p:nvPr>
        </p:nvSpPr>
        <p:spPr/>
        <p:txBody>
          <a:bodyPr/>
          <a:lstStyle/>
          <a:p>
            <a:pPr eaLnBrk="1" hangingPunct="1"/>
            <a:r>
              <a:rPr lang="en-US" altLang="id-ID"/>
              <a:t>Service Times and Service Mechanism</a:t>
            </a:r>
            <a:r>
              <a:rPr lang="en-US" altLang="id-ID" sz="2200"/>
              <a:t>	</a:t>
            </a:r>
            <a:br>
              <a:rPr lang="en-US" altLang="id-ID" sz="2200"/>
            </a:br>
            <a:r>
              <a:rPr lang="en-US" altLang="id-ID" sz="2200"/>
              <a:t>			 </a:t>
            </a:r>
            <a:r>
              <a:rPr lang="en-US" altLang="id-ID" sz="2200">
                <a:solidFill>
                  <a:schemeClr val="bg2"/>
                </a:solidFill>
              </a:rPr>
              <a:t>[Characteristics of Queueing System]</a:t>
            </a:r>
          </a:p>
        </p:txBody>
      </p:sp>
      <p:sp>
        <p:nvSpPr>
          <p:cNvPr id="16388" name="Rectangle 3">
            <a:extLst>
              <a:ext uri="{FF2B5EF4-FFF2-40B4-BE49-F238E27FC236}">
                <a16:creationId xmlns:a16="http://schemas.microsoft.com/office/drawing/2014/main" id="{51C257E2-7626-ED5F-E5F9-434849ACDE48}"/>
              </a:ext>
            </a:extLst>
          </p:cNvPr>
          <p:cNvSpPr>
            <a:spLocks noGrp="1" noChangeArrowheads="1"/>
          </p:cNvSpPr>
          <p:nvPr>
            <p:ph type="body" sz="half" idx="1"/>
          </p:nvPr>
        </p:nvSpPr>
        <p:spPr>
          <a:xfrm>
            <a:off x="457200" y="1447800"/>
            <a:ext cx="8229600" cy="4876800"/>
          </a:xfrm>
        </p:spPr>
        <p:txBody>
          <a:bodyPr/>
          <a:lstStyle/>
          <a:p>
            <a:pPr eaLnBrk="1" hangingPunct="1"/>
            <a:r>
              <a:rPr lang="en-US" altLang="id-ID" sz="2400"/>
              <a:t>Example: consider a discount warehouse where customers may:</a:t>
            </a:r>
          </a:p>
          <a:p>
            <a:pPr lvl="1" eaLnBrk="1" hangingPunct="1"/>
            <a:r>
              <a:rPr lang="en-US" altLang="id-ID" sz="2000"/>
              <a:t>Serve themselves before paying at the cashier:</a:t>
            </a:r>
          </a:p>
          <a:p>
            <a:pPr lvl="1" eaLnBrk="1" hangingPunct="1"/>
            <a:endParaRPr lang="en-US" altLang="id-ID" sz="2000"/>
          </a:p>
          <a:p>
            <a:pPr lvl="1" eaLnBrk="1" hangingPunct="1"/>
            <a:endParaRPr lang="en-US" altLang="id-ID" sz="2000"/>
          </a:p>
          <a:p>
            <a:pPr lvl="1" eaLnBrk="1" hangingPunct="1"/>
            <a:endParaRPr lang="en-US" altLang="id-ID" sz="2000"/>
          </a:p>
          <a:p>
            <a:pPr lvl="1" eaLnBrk="1" hangingPunct="1"/>
            <a:endParaRPr lang="en-US" altLang="id-ID" sz="2000"/>
          </a:p>
          <a:p>
            <a:pPr lvl="1" eaLnBrk="1" hangingPunct="1"/>
            <a:endParaRPr lang="en-US" altLang="id-ID" sz="2000"/>
          </a:p>
        </p:txBody>
      </p:sp>
      <p:pic>
        <p:nvPicPr>
          <p:cNvPr id="16389" name="Picture 9" descr="06-3">
            <a:extLst>
              <a:ext uri="{FF2B5EF4-FFF2-40B4-BE49-F238E27FC236}">
                <a16:creationId xmlns:a16="http://schemas.microsoft.com/office/drawing/2014/main" id="{A922862B-1D3A-12FE-7096-616168445A2B}"/>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1828800" y="3159125"/>
            <a:ext cx="5334000" cy="2260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5">
            <a:extLst>
              <a:ext uri="{FF2B5EF4-FFF2-40B4-BE49-F238E27FC236}">
                <a16:creationId xmlns:a16="http://schemas.microsoft.com/office/drawing/2014/main" id="{9D3706B4-BA1D-4A50-0D0F-7A27858E1ABD}"/>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5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4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9pPr>
          </a:lstStyle>
          <a:p>
            <a:pPr>
              <a:spcBef>
                <a:spcPct val="0"/>
              </a:spcBef>
              <a:buClrTx/>
              <a:buSzTx/>
              <a:buFontTx/>
              <a:buNone/>
            </a:pPr>
            <a:fld id="{D90E83EB-F817-4EA6-ABF0-9E8D30014526}" type="slidenum">
              <a:rPr lang="en-US" altLang="id-ID" sz="1200">
                <a:latin typeface="Arial Black" panose="020B0A04020102020204" pitchFamily="34" charset="0"/>
              </a:rPr>
              <a:pPr>
                <a:spcBef>
                  <a:spcPct val="0"/>
                </a:spcBef>
                <a:buClrTx/>
                <a:buSzTx/>
                <a:buFontTx/>
                <a:buNone/>
              </a:pPr>
              <a:t>12</a:t>
            </a:fld>
            <a:endParaRPr lang="en-US" altLang="id-ID" sz="1200">
              <a:latin typeface="Arial Black" panose="020B0A04020102020204" pitchFamily="34" charset="0"/>
            </a:endParaRPr>
          </a:p>
        </p:txBody>
      </p:sp>
      <p:sp>
        <p:nvSpPr>
          <p:cNvPr id="17411" name="Rectangle 2">
            <a:extLst>
              <a:ext uri="{FF2B5EF4-FFF2-40B4-BE49-F238E27FC236}">
                <a16:creationId xmlns:a16="http://schemas.microsoft.com/office/drawing/2014/main" id="{C8F47C84-FE52-EF5A-CF09-6C8C905549A4}"/>
              </a:ext>
            </a:extLst>
          </p:cNvPr>
          <p:cNvSpPr>
            <a:spLocks noGrp="1" noChangeArrowheads="1"/>
          </p:cNvSpPr>
          <p:nvPr>
            <p:ph type="title"/>
          </p:nvPr>
        </p:nvSpPr>
        <p:spPr/>
        <p:txBody>
          <a:bodyPr/>
          <a:lstStyle/>
          <a:p>
            <a:pPr eaLnBrk="1" hangingPunct="1"/>
            <a:r>
              <a:rPr lang="en-US" altLang="id-ID"/>
              <a:t>Service Times and Service Mechanism</a:t>
            </a:r>
            <a:r>
              <a:rPr lang="en-US" altLang="id-ID" sz="2200"/>
              <a:t>	</a:t>
            </a:r>
            <a:br>
              <a:rPr lang="en-US" altLang="id-ID" sz="2200"/>
            </a:br>
            <a:r>
              <a:rPr lang="en-US" altLang="id-ID" sz="2200"/>
              <a:t>			 </a:t>
            </a:r>
            <a:r>
              <a:rPr lang="en-US" altLang="id-ID" sz="2200">
                <a:solidFill>
                  <a:schemeClr val="bg2"/>
                </a:solidFill>
              </a:rPr>
              <a:t>[Characteristics of Queueing System]</a:t>
            </a:r>
          </a:p>
        </p:txBody>
      </p:sp>
      <p:sp>
        <p:nvSpPr>
          <p:cNvPr id="17412" name="Rectangle 3">
            <a:extLst>
              <a:ext uri="{FF2B5EF4-FFF2-40B4-BE49-F238E27FC236}">
                <a16:creationId xmlns:a16="http://schemas.microsoft.com/office/drawing/2014/main" id="{404A10E2-6777-6251-552D-60DD391E0811}"/>
              </a:ext>
            </a:extLst>
          </p:cNvPr>
          <p:cNvSpPr>
            <a:spLocks noGrp="1" noChangeArrowheads="1"/>
          </p:cNvSpPr>
          <p:nvPr>
            <p:ph type="body" sz="half" idx="1"/>
          </p:nvPr>
        </p:nvSpPr>
        <p:spPr>
          <a:xfrm>
            <a:off x="457200" y="1447800"/>
            <a:ext cx="8153400" cy="4800600"/>
          </a:xfrm>
        </p:spPr>
        <p:txBody>
          <a:bodyPr/>
          <a:lstStyle/>
          <a:p>
            <a:pPr lvl="1" eaLnBrk="1" hangingPunct="1">
              <a:lnSpc>
                <a:spcPct val="90000"/>
              </a:lnSpc>
            </a:pPr>
            <a:r>
              <a:rPr lang="en-US" altLang="id-ID" sz="2000"/>
              <a:t>Wait for one of the three clerks:</a:t>
            </a:r>
          </a:p>
          <a:p>
            <a:pPr lvl="1" eaLnBrk="1" hangingPunct="1">
              <a:lnSpc>
                <a:spcPct val="90000"/>
              </a:lnSpc>
            </a:pPr>
            <a:endParaRPr lang="en-US" altLang="id-ID" sz="2000"/>
          </a:p>
          <a:p>
            <a:pPr lvl="1" eaLnBrk="1" hangingPunct="1">
              <a:lnSpc>
                <a:spcPct val="90000"/>
              </a:lnSpc>
            </a:pPr>
            <a:endParaRPr lang="en-US" altLang="id-ID" sz="2000"/>
          </a:p>
          <a:p>
            <a:pPr lvl="1" eaLnBrk="1" hangingPunct="1">
              <a:lnSpc>
                <a:spcPct val="90000"/>
              </a:lnSpc>
            </a:pPr>
            <a:endParaRPr lang="en-US" altLang="id-ID" sz="2000"/>
          </a:p>
          <a:p>
            <a:pPr lvl="1" eaLnBrk="1" hangingPunct="1">
              <a:lnSpc>
                <a:spcPct val="90000"/>
              </a:lnSpc>
            </a:pPr>
            <a:endParaRPr lang="en-US" altLang="id-ID" sz="2000"/>
          </a:p>
          <a:p>
            <a:pPr lvl="1" eaLnBrk="1" hangingPunct="1">
              <a:lnSpc>
                <a:spcPct val="90000"/>
              </a:lnSpc>
            </a:pPr>
            <a:endParaRPr lang="en-US" altLang="id-ID" sz="2000"/>
          </a:p>
          <a:p>
            <a:pPr lvl="1" eaLnBrk="1" hangingPunct="1">
              <a:lnSpc>
                <a:spcPct val="90000"/>
              </a:lnSpc>
            </a:pPr>
            <a:endParaRPr lang="en-US" altLang="id-ID" sz="2000"/>
          </a:p>
          <a:p>
            <a:pPr lvl="1" eaLnBrk="1" hangingPunct="1">
              <a:lnSpc>
                <a:spcPct val="90000"/>
              </a:lnSpc>
            </a:pPr>
            <a:endParaRPr lang="en-US" altLang="id-ID" sz="2000"/>
          </a:p>
          <a:p>
            <a:pPr lvl="1" eaLnBrk="1" hangingPunct="1">
              <a:lnSpc>
                <a:spcPct val="90000"/>
              </a:lnSpc>
            </a:pPr>
            <a:endParaRPr lang="en-US" altLang="id-ID" sz="2000"/>
          </a:p>
          <a:p>
            <a:pPr lvl="1" eaLnBrk="1" hangingPunct="1">
              <a:lnSpc>
                <a:spcPct val="90000"/>
              </a:lnSpc>
            </a:pPr>
            <a:endParaRPr lang="en-US" altLang="id-ID" sz="2000"/>
          </a:p>
          <a:p>
            <a:pPr lvl="1" eaLnBrk="1" hangingPunct="1">
              <a:lnSpc>
                <a:spcPct val="90000"/>
              </a:lnSpc>
            </a:pPr>
            <a:endParaRPr lang="en-US" altLang="id-ID" sz="2000"/>
          </a:p>
          <a:p>
            <a:pPr lvl="1" eaLnBrk="1" hangingPunct="1">
              <a:lnSpc>
                <a:spcPct val="90000"/>
              </a:lnSpc>
            </a:pPr>
            <a:endParaRPr lang="en-US" altLang="id-ID" sz="2000"/>
          </a:p>
          <a:p>
            <a:pPr lvl="1" eaLnBrk="1" hangingPunct="1">
              <a:lnSpc>
                <a:spcPct val="90000"/>
              </a:lnSpc>
            </a:pPr>
            <a:r>
              <a:rPr lang="en-US" altLang="id-ID" sz="2000"/>
              <a:t>Batch service (a server serving several customers simultaneously), or customer requires several servers simultaneously.</a:t>
            </a:r>
          </a:p>
        </p:txBody>
      </p:sp>
      <p:pic>
        <p:nvPicPr>
          <p:cNvPr id="17413" name="Picture 7" descr="06-4">
            <a:extLst>
              <a:ext uri="{FF2B5EF4-FFF2-40B4-BE49-F238E27FC236}">
                <a16:creationId xmlns:a16="http://schemas.microsoft.com/office/drawing/2014/main" id="{8FC832C8-E231-120B-BD88-FDB8910589AA}"/>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2895600" y="1981200"/>
            <a:ext cx="2676525" cy="3276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Number Placeholder 6">
            <a:extLst>
              <a:ext uri="{FF2B5EF4-FFF2-40B4-BE49-F238E27FC236}">
                <a16:creationId xmlns:a16="http://schemas.microsoft.com/office/drawing/2014/main" id="{BB2C81AD-BF11-8C73-5F80-A66141304906}"/>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5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4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9pPr>
          </a:lstStyle>
          <a:p>
            <a:pPr>
              <a:spcBef>
                <a:spcPct val="0"/>
              </a:spcBef>
              <a:buClrTx/>
              <a:buSzTx/>
              <a:buFontTx/>
              <a:buNone/>
            </a:pPr>
            <a:fld id="{8746EDAE-CA85-4015-A7CA-0B3221A18470}" type="slidenum">
              <a:rPr lang="en-US" altLang="id-ID" sz="1200">
                <a:latin typeface="Arial Black" panose="020B0A04020102020204" pitchFamily="34" charset="0"/>
              </a:rPr>
              <a:pPr>
                <a:spcBef>
                  <a:spcPct val="0"/>
                </a:spcBef>
                <a:buClrTx/>
                <a:buSzTx/>
                <a:buFontTx/>
                <a:buNone/>
              </a:pPr>
              <a:t>13</a:t>
            </a:fld>
            <a:endParaRPr lang="en-US" altLang="id-ID" sz="1200">
              <a:latin typeface="Arial Black" panose="020B0A04020102020204" pitchFamily="34" charset="0"/>
            </a:endParaRPr>
          </a:p>
        </p:txBody>
      </p:sp>
      <p:sp>
        <p:nvSpPr>
          <p:cNvPr id="18435" name="Rectangle 2">
            <a:extLst>
              <a:ext uri="{FF2B5EF4-FFF2-40B4-BE49-F238E27FC236}">
                <a16:creationId xmlns:a16="http://schemas.microsoft.com/office/drawing/2014/main" id="{E11911BA-7AFA-16EF-A553-702A34165DB0}"/>
              </a:ext>
            </a:extLst>
          </p:cNvPr>
          <p:cNvSpPr>
            <a:spLocks noGrp="1" noChangeArrowheads="1"/>
          </p:cNvSpPr>
          <p:nvPr>
            <p:ph type="title"/>
          </p:nvPr>
        </p:nvSpPr>
        <p:spPr/>
        <p:txBody>
          <a:bodyPr/>
          <a:lstStyle/>
          <a:p>
            <a:pPr eaLnBrk="1" hangingPunct="1"/>
            <a:r>
              <a:rPr lang="en-US" altLang="id-ID"/>
              <a:t>Notasi Antrean</a:t>
            </a:r>
            <a:r>
              <a:rPr lang="en-US" altLang="id-ID" sz="2200"/>
              <a:t>			                                 </a:t>
            </a:r>
            <a:br>
              <a:rPr lang="en-US" altLang="id-ID" sz="2200"/>
            </a:br>
            <a:r>
              <a:rPr lang="en-US" altLang="id-ID" sz="2200"/>
              <a:t>                                                        </a:t>
            </a:r>
            <a:r>
              <a:rPr lang="en-US" altLang="id-ID" sz="2200">
                <a:solidFill>
                  <a:schemeClr val="bg2"/>
                </a:solidFill>
              </a:rPr>
              <a:t>[Karakteristik Sistem Antrean]</a:t>
            </a:r>
          </a:p>
        </p:txBody>
      </p:sp>
      <p:sp>
        <p:nvSpPr>
          <p:cNvPr id="18436" name="Rectangle 3">
            <a:extLst>
              <a:ext uri="{FF2B5EF4-FFF2-40B4-BE49-F238E27FC236}">
                <a16:creationId xmlns:a16="http://schemas.microsoft.com/office/drawing/2014/main" id="{0F4EF317-AB25-66A0-4999-BA93FCA6C424}"/>
              </a:ext>
            </a:extLst>
          </p:cNvPr>
          <p:cNvSpPr>
            <a:spLocks noGrp="1" noChangeArrowheads="1"/>
          </p:cNvSpPr>
          <p:nvPr>
            <p:ph type="body" sz="half" idx="1"/>
          </p:nvPr>
        </p:nvSpPr>
        <p:spPr>
          <a:xfrm>
            <a:off x="152400" y="1447800"/>
            <a:ext cx="8763000" cy="5029200"/>
          </a:xfrm>
        </p:spPr>
        <p:txBody>
          <a:bodyPr/>
          <a:lstStyle/>
          <a:p>
            <a:pPr eaLnBrk="1" hangingPunct="1"/>
            <a:r>
              <a:rPr lang="en-US" altLang="id-ID" sz="2400"/>
              <a:t>Suatu notasi sistem untuk antrian server paralel:  </a:t>
            </a:r>
            <a:r>
              <a:rPr lang="en-US" altLang="id-ID" sz="2400" i="1"/>
              <a:t>A/B/c/N/K</a:t>
            </a:r>
            <a:endParaRPr lang="en-US" altLang="id-ID" sz="2400"/>
          </a:p>
          <a:p>
            <a:pPr lvl="1" eaLnBrk="1" hangingPunct="1"/>
            <a:r>
              <a:rPr lang="en-US" altLang="id-ID" sz="2000"/>
              <a:t>A mewakili distribusi waktu antar kedatangan,</a:t>
            </a:r>
          </a:p>
          <a:p>
            <a:pPr lvl="1" eaLnBrk="1" hangingPunct="1"/>
            <a:r>
              <a:rPr lang="en-US" altLang="id-ID" sz="2000"/>
              <a:t>B mewakili distribusi waktu layanan,</a:t>
            </a:r>
          </a:p>
          <a:p>
            <a:pPr lvl="1" eaLnBrk="1" hangingPunct="1"/>
            <a:r>
              <a:rPr lang="en-US" altLang="id-ID" sz="2000"/>
              <a:t>c mewakili jumlah server paralel,</a:t>
            </a:r>
          </a:p>
          <a:p>
            <a:pPr lvl="1" eaLnBrk="1" hangingPunct="1"/>
            <a:r>
              <a:rPr lang="en-US" altLang="id-ID" sz="2000"/>
              <a:t>N mewakili kapasitas sistem,</a:t>
            </a:r>
          </a:p>
          <a:p>
            <a:pPr lvl="1" eaLnBrk="1" hangingPunct="1"/>
            <a:r>
              <a:rPr lang="en-US" altLang="id-ID" sz="2000"/>
              <a:t>K mewakili ukuran populasi terpanggil.</a:t>
            </a: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Number Placeholder 6">
            <a:extLst>
              <a:ext uri="{FF2B5EF4-FFF2-40B4-BE49-F238E27FC236}">
                <a16:creationId xmlns:a16="http://schemas.microsoft.com/office/drawing/2014/main" id="{CFE24F46-5F5D-2BE7-AD02-D537D33F2F15}"/>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5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4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9pPr>
          </a:lstStyle>
          <a:p>
            <a:pPr>
              <a:spcBef>
                <a:spcPct val="0"/>
              </a:spcBef>
              <a:buClrTx/>
              <a:buSzTx/>
              <a:buFontTx/>
              <a:buNone/>
            </a:pPr>
            <a:fld id="{E360DFCD-60B8-48D3-BB0F-5C8108250E03}" type="slidenum">
              <a:rPr lang="en-US" altLang="id-ID" sz="1200">
                <a:latin typeface="Arial Black" panose="020B0A04020102020204" pitchFamily="34" charset="0"/>
              </a:rPr>
              <a:pPr>
                <a:spcBef>
                  <a:spcPct val="0"/>
                </a:spcBef>
                <a:buClrTx/>
                <a:buSzTx/>
                <a:buFontTx/>
                <a:buNone/>
              </a:pPr>
              <a:t>14</a:t>
            </a:fld>
            <a:endParaRPr lang="en-US" altLang="id-ID" sz="1200">
              <a:latin typeface="Arial Black" panose="020B0A04020102020204" pitchFamily="34" charset="0"/>
            </a:endParaRPr>
          </a:p>
        </p:txBody>
      </p:sp>
      <p:sp>
        <p:nvSpPr>
          <p:cNvPr id="19459" name="Rectangle 2">
            <a:extLst>
              <a:ext uri="{FF2B5EF4-FFF2-40B4-BE49-F238E27FC236}">
                <a16:creationId xmlns:a16="http://schemas.microsoft.com/office/drawing/2014/main" id="{CE4827ED-9A32-935F-8E13-ED809276626F}"/>
              </a:ext>
            </a:extLst>
          </p:cNvPr>
          <p:cNvSpPr>
            <a:spLocks noGrp="1" noChangeArrowheads="1"/>
          </p:cNvSpPr>
          <p:nvPr>
            <p:ph type="title"/>
          </p:nvPr>
        </p:nvSpPr>
        <p:spPr/>
        <p:txBody>
          <a:bodyPr/>
          <a:lstStyle/>
          <a:p>
            <a:pPr eaLnBrk="1" hangingPunct="1"/>
            <a:r>
              <a:rPr lang="en-US" altLang="id-ID"/>
              <a:t>Notasi Antrean		</a:t>
            </a:r>
            <a:br>
              <a:rPr lang="en-US" altLang="id-ID"/>
            </a:br>
            <a:r>
              <a:rPr lang="en-US" altLang="id-ID"/>
              <a:t>                                   </a:t>
            </a:r>
            <a:r>
              <a:rPr lang="en-US" altLang="id-ID" sz="2400">
                <a:solidFill>
                  <a:schemeClr val="bg2"/>
                </a:solidFill>
              </a:rPr>
              <a:t>[Karakteristik Sistem Antrean]</a:t>
            </a:r>
            <a:r>
              <a:rPr lang="en-US" altLang="id-ID"/>
              <a:t>         </a:t>
            </a:r>
            <a:br>
              <a:rPr lang="en-US" altLang="id-ID"/>
            </a:br>
            <a:r>
              <a:rPr lang="en-US" altLang="id-ID"/>
              <a:t>                                                        </a:t>
            </a:r>
            <a:endParaRPr lang="en-US" altLang="id-ID" sz="2400">
              <a:solidFill>
                <a:schemeClr val="bg2"/>
              </a:solidFill>
            </a:endParaRPr>
          </a:p>
        </p:txBody>
      </p:sp>
      <p:sp>
        <p:nvSpPr>
          <p:cNvPr id="19460" name="Rectangle 3">
            <a:extLst>
              <a:ext uri="{FF2B5EF4-FFF2-40B4-BE49-F238E27FC236}">
                <a16:creationId xmlns:a16="http://schemas.microsoft.com/office/drawing/2014/main" id="{2ACFC8E3-F2BB-EBB0-36A0-1FBA7E26E691}"/>
              </a:ext>
            </a:extLst>
          </p:cNvPr>
          <p:cNvSpPr>
            <a:spLocks noGrp="1" noChangeArrowheads="1"/>
          </p:cNvSpPr>
          <p:nvPr>
            <p:ph type="body" sz="half" idx="1"/>
          </p:nvPr>
        </p:nvSpPr>
        <p:spPr>
          <a:xfrm>
            <a:off x="457200" y="1447800"/>
            <a:ext cx="8458200" cy="5029200"/>
          </a:xfrm>
        </p:spPr>
        <p:txBody>
          <a:bodyPr/>
          <a:lstStyle/>
          <a:p>
            <a:pPr eaLnBrk="1" hangingPunct="1">
              <a:lnSpc>
                <a:spcPct val="80000"/>
              </a:lnSpc>
            </a:pPr>
            <a:r>
              <a:rPr lang="en-US" altLang="id-ID" sz="2000"/>
              <a:t>Ukuran utama performansi dari sistem antrean :</a:t>
            </a:r>
          </a:p>
          <a:p>
            <a:pPr lvl="1" eaLnBrk="1" hangingPunct="1">
              <a:lnSpc>
                <a:spcPct val="80000"/>
              </a:lnSpc>
            </a:pPr>
            <a:r>
              <a:rPr lang="en-US" altLang="id-ID" sz="1800" i="1"/>
              <a:t>P</a:t>
            </a:r>
            <a:r>
              <a:rPr lang="en-US" altLang="id-ID" sz="1800" i="1" baseline="-25000"/>
              <a:t>n</a:t>
            </a:r>
            <a:r>
              <a:rPr lang="en-US" altLang="id-ID" sz="1800"/>
              <a:t>: 	steady-state probability of having n customers in system,</a:t>
            </a:r>
          </a:p>
          <a:p>
            <a:pPr lvl="1" eaLnBrk="1" hangingPunct="1">
              <a:lnSpc>
                <a:spcPct val="80000"/>
              </a:lnSpc>
            </a:pPr>
            <a:r>
              <a:rPr lang="en-US" altLang="id-ID" sz="1800" i="1"/>
              <a:t>P</a:t>
            </a:r>
            <a:r>
              <a:rPr lang="en-US" altLang="id-ID" sz="1800" i="1" baseline="-25000"/>
              <a:t>n</a:t>
            </a:r>
            <a:r>
              <a:rPr lang="en-US" altLang="id-ID" sz="1800" i="1"/>
              <a:t>(t)</a:t>
            </a:r>
            <a:r>
              <a:rPr lang="en-US" altLang="id-ID" sz="1800"/>
              <a:t>: 	probability of n customers in system at time t,</a:t>
            </a:r>
          </a:p>
          <a:p>
            <a:pPr lvl="1" eaLnBrk="1" hangingPunct="1">
              <a:lnSpc>
                <a:spcPct val="80000"/>
              </a:lnSpc>
            </a:pPr>
            <a:r>
              <a:rPr lang="en-US" altLang="id-ID" sz="1800" i="1">
                <a:latin typeface="Symbol" panose="05050102010706020507" pitchFamily="18" charset="2"/>
              </a:rPr>
              <a:t>l</a:t>
            </a:r>
            <a:r>
              <a:rPr lang="en-US" altLang="id-ID" sz="1800"/>
              <a:t>: 	arrival rate,</a:t>
            </a:r>
          </a:p>
          <a:p>
            <a:pPr lvl="1" eaLnBrk="1" hangingPunct="1">
              <a:lnSpc>
                <a:spcPct val="80000"/>
              </a:lnSpc>
            </a:pPr>
            <a:r>
              <a:rPr lang="en-US" altLang="id-ID" sz="1800" i="1">
                <a:latin typeface="Symbol" panose="05050102010706020507" pitchFamily="18" charset="2"/>
              </a:rPr>
              <a:t>l</a:t>
            </a:r>
            <a:r>
              <a:rPr lang="en-US" altLang="id-ID" sz="1800" i="1" baseline="-25000"/>
              <a:t>e</a:t>
            </a:r>
            <a:r>
              <a:rPr lang="en-US" altLang="id-ID" sz="1800"/>
              <a:t>:	effective arrival rate,</a:t>
            </a:r>
          </a:p>
          <a:p>
            <a:pPr lvl="1" eaLnBrk="1" hangingPunct="1">
              <a:lnSpc>
                <a:spcPct val="80000"/>
              </a:lnSpc>
            </a:pPr>
            <a:r>
              <a:rPr lang="en-US" altLang="id-ID" sz="1800" i="1">
                <a:latin typeface="Symbol" panose="05050102010706020507" pitchFamily="18" charset="2"/>
              </a:rPr>
              <a:t>m</a:t>
            </a:r>
            <a:r>
              <a:rPr lang="en-US" altLang="id-ID" sz="1800"/>
              <a:t>:	service rate of one server,</a:t>
            </a:r>
          </a:p>
          <a:p>
            <a:pPr lvl="1" eaLnBrk="1" hangingPunct="1">
              <a:lnSpc>
                <a:spcPct val="80000"/>
              </a:lnSpc>
            </a:pPr>
            <a:r>
              <a:rPr lang="en-US" altLang="id-ID" sz="1800" i="1">
                <a:latin typeface="Symbol" panose="05050102010706020507" pitchFamily="18" charset="2"/>
              </a:rPr>
              <a:t>r</a:t>
            </a:r>
            <a:r>
              <a:rPr lang="en-US" altLang="id-ID" sz="1800"/>
              <a:t>:	server utilization,</a:t>
            </a:r>
          </a:p>
          <a:p>
            <a:pPr lvl="1" eaLnBrk="1" hangingPunct="1">
              <a:lnSpc>
                <a:spcPct val="80000"/>
              </a:lnSpc>
            </a:pPr>
            <a:r>
              <a:rPr lang="en-US" altLang="id-ID" sz="1800" i="1"/>
              <a:t>A</a:t>
            </a:r>
            <a:r>
              <a:rPr lang="en-US" altLang="id-ID" sz="1800" i="1" baseline="-25000"/>
              <a:t>n</a:t>
            </a:r>
            <a:r>
              <a:rPr lang="en-US" altLang="id-ID" sz="1800"/>
              <a:t>:	interarrival time between customers n-1 and n,</a:t>
            </a:r>
          </a:p>
          <a:p>
            <a:pPr lvl="1" eaLnBrk="1" hangingPunct="1">
              <a:lnSpc>
                <a:spcPct val="80000"/>
              </a:lnSpc>
            </a:pPr>
            <a:r>
              <a:rPr lang="en-US" altLang="id-ID" sz="1800" i="1"/>
              <a:t>S</a:t>
            </a:r>
            <a:r>
              <a:rPr lang="en-US" altLang="id-ID" sz="1800" i="1" baseline="-25000"/>
              <a:t>n</a:t>
            </a:r>
            <a:r>
              <a:rPr lang="en-US" altLang="id-ID" sz="1800"/>
              <a:t>:	service time of the nth arriving customer,</a:t>
            </a:r>
          </a:p>
          <a:p>
            <a:pPr lvl="1" eaLnBrk="1" hangingPunct="1">
              <a:lnSpc>
                <a:spcPct val="80000"/>
              </a:lnSpc>
            </a:pPr>
            <a:r>
              <a:rPr lang="en-US" altLang="id-ID" sz="1800" i="1"/>
              <a:t>W</a:t>
            </a:r>
            <a:r>
              <a:rPr lang="en-US" altLang="id-ID" sz="1800" i="1" baseline="-25000"/>
              <a:t>n</a:t>
            </a:r>
            <a:r>
              <a:rPr lang="en-US" altLang="id-ID" sz="1800"/>
              <a:t>:	total time spent in system by the nth arriving customer,</a:t>
            </a:r>
          </a:p>
          <a:p>
            <a:pPr lvl="1" eaLnBrk="1" hangingPunct="1">
              <a:lnSpc>
                <a:spcPct val="80000"/>
              </a:lnSpc>
            </a:pPr>
            <a:r>
              <a:rPr lang="en-US" altLang="id-ID" sz="1800" i="1"/>
              <a:t>W</a:t>
            </a:r>
            <a:r>
              <a:rPr lang="en-US" altLang="id-ID" sz="1800" i="1" baseline="-25000"/>
              <a:t>n</a:t>
            </a:r>
            <a:r>
              <a:rPr lang="en-US" altLang="id-ID" sz="1800" i="1" baseline="30000"/>
              <a:t>Q</a:t>
            </a:r>
            <a:r>
              <a:rPr lang="en-US" altLang="id-ID" sz="1800"/>
              <a:t>:	total time spent in the waiting line by customer n,</a:t>
            </a:r>
          </a:p>
          <a:p>
            <a:pPr lvl="1" eaLnBrk="1" hangingPunct="1">
              <a:lnSpc>
                <a:spcPct val="80000"/>
              </a:lnSpc>
            </a:pPr>
            <a:r>
              <a:rPr lang="en-US" altLang="id-ID" sz="1800" i="1"/>
              <a:t>L(t)</a:t>
            </a:r>
            <a:r>
              <a:rPr lang="en-US" altLang="id-ID" sz="1800"/>
              <a:t>:	the number of customers in system at time t,</a:t>
            </a:r>
          </a:p>
          <a:p>
            <a:pPr lvl="1" eaLnBrk="1" hangingPunct="1">
              <a:lnSpc>
                <a:spcPct val="80000"/>
              </a:lnSpc>
            </a:pPr>
            <a:r>
              <a:rPr lang="en-US" altLang="id-ID" sz="1800" i="1"/>
              <a:t>L</a:t>
            </a:r>
            <a:r>
              <a:rPr lang="en-US" altLang="id-ID" sz="1800" i="1" baseline="-25000"/>
              <a:t>Q</a:t>
            </a:r>
            <a:r>
              <a:rPr lang="en-US" altLang="id-ID" sz="1800" i="1"/>
              <a:t>(t)</a:t>
            </a:r>
            <a:r>
              <a:rPr lang="en-US" altLang="id-ID" sz="1800"/>
              <a:t>:	the number of customers in queue at time t,</a:t>
            </a:r>
          </a:p>
          <a:p>
            <a:pPr lvl="1" eaLnBrk="1" hangingPunct="1">
              <a:lnSpc>
                <a:spcPct val="80000"/>
              </a:lnSpc>
            </a:pPr>
            <a:r>
              <a:rPr lang="en-US" altLang="id-ID" sz="1800" i="1"/>
              <a:t>L</a:t>
            </a:r>
            <a:r>
              <a:rPr lang="en-US" altLang="id-ID" sz="1800"/>
              <a:t>:	long-run time-average number of customers in system,</a:t>
            </a:r>
          </a:p>
          <a:p>
            <a:pPr lvl="1" eaLnBrk="1" hangingPunct="1">
              <a:lnSpc>
                <a:spcPct val="80000"/>
              </a:lnSpc>
            </a:pPr>
            <a:r>
              <a:rPr lang="en-US" altLang="id-ID" sz="1800" i="1"/>
              <a:t>L</a:t>
            </a:r>
            <a:r>
              <a:rPr lang="en-US" altLang="id-ID" sz="1800" i="1" baseline="-25000"/>
              <a:t>Q</a:t>
            </a:r>
            <a:r>
              <a:rPr lang="en-US" altLang="id-ID" sz="1800"/>
              <a:t>:	long-run time-average number of customers in queue,</a:t>
            </a:r>
          </a:p>
          <a:p>
            <a:pPr lvl="1" eaLnBrk="1" hangingPunct="1">
              <a:lnSpc>
                <a:spcPct val="80000"/>
              </a:lnSpc>
            </a:pPr>
            <a:r>
              <a:rPr lang="en-US" altLang="id-ID" sz="1800" i="1"/>
              <a:t>w</a:t>
            </a:r>
            <a:r>
              <a:rPr lang="en-US" altLang="id-ID" sz="1800"/>
              <a:t>	:	long-run average time spent in system per customer,</a:t>
            </a:r>
          </a:p>
          <a:p>
            <a:pPr lvl="1" eaLnBrk="1" hangingPunct="1">
              <a:lnSpc>
                <a:spcPct val="80000"/>
              </a:lnSpc>
            </a:pPr>
            <a:r>
              <a:rPr lang="en-US" altLang="id-ID" sz="1800" i="1"/>
              <a:t>w</a:t>
            </a:r>
            <a:r>
              <a:rPr lang="en-US" altLang="id-ID" sz="1800" i="1" baseline="-25000"/>
              <a:t>Q</a:t>
            </a:r>
            <a:r>
              <a:rPr lang="en-US" altLang="id-ID" sz="1800"/>
              <a:t>:	long-run average time spent in queue per customer.</a:t>
            </a: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Number Placeholder 6">
            <a:extLst>
              <a:ext uri="{FF2B5EF4-FFF2-40B4-BE49-F238E27FC236}">
                <a16:creationId xmlns:a16="http://schemas.microsoft.com/office/drawing/2014/main" id="{931DEA60-D070-F1DE-34CE-70F89BE1A0CF}"/>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5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4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9pPr>
          </a:lstStyle>
          <a:p>
            <a:pPr>
              <a:spcBef>
                <a:spcPct val="0"/>
              </a:spcBef>
              <a:buClrTx/>
              <a:buSzTx/>
              <a:buFontTx/>
              <a:buNone/>
            </a:pPr>
            <a:fld id="{71118845-C1DE-442D-BC85-893D724A818A}" type="slidenum">
              <a:rPr lang="en-US" altLang="id-ID" sz="1200">
                <a:latin typeface="Arial Black" panose="020B0A04020102020204" pitchFamily="34" charset="0"/>
              </a:rPr>
              <a:pPr>
                <a:spcBef>
                  <a:spcPct val="0"/>
                </a:spcBef>
                <a:buClrTx/>
                <a:buSzTx/>
                <a:buFontTx/>
                <a:buNone/>
              </a:pPr>
              <a:t>15</a:t>
            </a:fld>
            <a:endParaRPr lang="en-US" altLang="id-ID" sz="1200">
              <a:latin typeface="Arial Black" panose="020B0A04020102020204" pitchFamily="34" charset="0"/>
            </a:endParaRPr>
          </a:p>
        </p:txBody>
      </p:sp>
      <p:sp>
        <p:nvSpPr>
          <p:cNvPr id="20483" name="Rectangle 2">
            <a:extLst>
              <a:ext uri="{FF2B5EF4-FFF2-40B4-BE49-F238E27FC236}">
                <a16:creationId xmlns:a16="http://schemas.microsoft.com/office/drawing/2014/main" id="{B74682B1-2DDA-4602-A288-220E7439E12D}"/>
              </a:ext>
            </a:extLst>
          </p:cNvPr>
          <p:cNvSpPr>
            <a:spLocks noGrp="1" noChangeArrowheads="1"/>
          </p:cNvSpPr>
          <p:nvPr>
            <p:ph type="title"/>
          </p:nvPr>
        </p:nvSpPr>
        <p:spPr/>
        <p:txBody>
          <a:bodyPr/>
          <a:lstStyle/>
          <a:p>
            <a:pPr eaLnBrk="1" hangingPunct="1"/>
            <a:r>
              <a:rPr lang="pl-PL" altLang="id-ID"/>
              <a:t>Angka Rata-Rata Waktu dalam Sistem L</a:t>
            </a:r>
            <a:r>
              <a:rPr lang="en-US" altLang="id-ID" sz="2200"/>
              <a:t>			                                </a:t>
            </a:r>
            <a:r>
              <a:rPr lang="en-US" altLang="id-ID" sz="2200">
                <a:solidFill>
                  <a:schemeClr val="bg2"/>
                </a:solidFill>
              </a:rPr>
              <a:t>[Karakteristik Sistem Antrean]</a:t>
            </a:r>
          </a:p>
        </p:txBody>
      </p:sp>
      <p:sp>
        <p:nvSpPr>
          <p:cNvPr id="20484" name="Rectangle 3">
            <a:extLst>
              <a:ext uri="{FF2B5EF4-FFF2-40B4-BE49-F238E27FC236}">
                <a16:creationId xmlns:a16="http://schemas.microsoft.com/office/drawing/2014/main" id="{5169446B-E4D6-1D1C-FDD8-DBE2089B6363}"/>
              </a:ext>
            </a:extLst>
          </p:cNvPr>
          <p:cNvSpPr>
            <a:spLocks noGrp="1" noChangeArrowheads="1"/>
          </p:cNvSpPr>
          <p:nvPr>
            <p:ph type="body" sz="half" idx="1"/>
          </p:nvPr>
        </p:nvSpPr>
        <p:spPr>
          <a:xfrm>
            <a:off x="457200" y="1447800"/>
            <a:ext cx="8382000" cy="5029200"/>
          </a:xfrm>
        </p:spPr>
        <p:txBody>
          <a:bodyPr/>
          <a:lstStyle/>
          <a:p>
            <a:pPr eaLnBrk="1" hangingPunct="1"/>
            <a:r>
              <a:rPr lang="sv-SE" altLang="id-ID" sz="2400"/>
              <a:t>Misalkan sistem antrian selama periode waktu T</a:t>
            </a:r>
            <a:r>
              <a:rPr lang="en-US" altLang="id-ID" sz="2400"/>
              <a:t>,</a:t>
            </a:r>
          </a:p>
          <a:p>
            <a:pPr lvl="1" eaLnBrk="1" hangingPunct="1"/>
            <a:r>
              <a:rPr lang="en-US" altLang="id-ID" sz="2000"/>
              <a:t>Misal </a:t>
            </a:r>
            <a:r>
              <a:rPr lang="en-US" altLang="id-ID" sz="2000" i="1"/>
              <a:t>T</a:t>
            </a:r>
            <a:r>
              <a:rPr lang="en-US" altLang="id-ID" sz="2000" i="1" baseline="-25000"/>
              <a:t>i</a:t>
            </a:r>
            <a:r>
              <a:rPr lang="en-US" altLang="id-ID" sz="2000"/>
              <a:t> menunjukkan total waktu selama [0,T] di mana sistem berisi tepat i pelanggan, jumlah rata-rata tertimbang waktu dalam suatu sistem ditentukan oleh:</a:t>
            </a:r>
          </a:p>
          <a:p>
            <a:pPr lvl="1" eaLnBrk="1" hangingPunct="1"/>
            <a:endParaRPr lang="en-US" altLang="id-ID" sz="2000"/>
          </a:p>
          <a:p>
            <a:pPr lvl="1" eaLnBrk="1" hangingPunct="1"/>
            <a:endParaRPr lang="en-US" altLang="id-ID" sz="2000"/>
          </a:p>
          <a:p>
            <a:pPr lvl="1" eaLnBrk="1" hangingPunct="1">
              <a:lnSpc>
                <a:spcPct val="90000"/>
              </a:lnSpc>
            </a:pPr>
            <a:r>
              <a:rPr lang="en-US" altLang="id-ID" sz="2000"/>
              <a:t>Misalkan luas total di bawah fungsi tersebut adalah L(t), maka,</a:t>
            </a:r>
          </a:p>
          <a:p>
            <a:pPr lvl="1" eaLnBrk="1" hangingPunct="1">
              <a:lnSpc>
                <a:spcPct val="90000"/>
              </a:lnSpc>
            </a:pPr>
            <a:endParaRPr lang="en-US" altLang="id-ID" sz="2000"/>
          </a:p>
          <a:p>
            <a:pPr lvl="1" eaLnBrk="1" hangingPunct="1">
              <a:lnSpc>
                <a:spcPct val="90000"/>
              </a:lnSpc>
            </a:pPr>
            <a:endParaRPr lang="en-US" altLang="id-ID" sz="2000"/>
          </a:p>
          <a:p>
            <a:pPr lvl="1" eaLnBrk="1" hangingPunct="1">
              <a:lnSpc>
                <a:spcPct val="90000"/>
              </a:lnSpc>
            </a:pPr>
            <a:endParaRPr lang="en-US" altLang="id-ID" sz="2000"/>
          </a:p>
          <a:p>
            <a:pPr lvl="1" eaLnBrk="1" hangingPunct="1">
              <a:lnSpc>
                <a:spcPct val="90000"/>
              </a:lnSpc>
            </a:pPr>
            <a:r>
              <a:rPr lang="en-US" altLang="id-ID" sz="2000"/>
              <a:t>The long-run time-average # in system, with probability </a:t>
            </a:r>
            <a:r>
              <a:rPr lang="en-US" altLang="id-ID" sz="2000" i="1"/>
              <a:t>1</a:t>
            </a:r>
            <a:r>
              <a:rPr lang="en-US" altLang="id-ID" sz="2000"/>
              <a:t>:</a:t>
            </a:r>
          </a:p>
          <a:p>
            <a:pPr lvl="1" eaLnBrk="1" hangingPunct="1">
              <a:lnSpc>
                <a:spcPct val="90000"/>
              </a:lnSpc>
            </a:pPr>
            <a:endParaRPr lang="en-US" altLang="id-ID" sz="2000"/>
          </a:p>
          <a:p>
            <a:pPr lvl="1" eaLnBrk="1" hangingPunct="1"/>
            <a:endParaRPr lang="en-US" altLang="id-ID" sz="2000"/>
          </a:p>
        </p:txBody>
      </p:sp>
      <mc:AlternateContent xmlns:mc="http://schemas.openxmlformats.org/markup-compatibility/2006" xmlns:a14="http://schemas.microsoft.com/office/drawing/2010/main">
        <mc:Choice Requires="a14">
          <p:sp>
            <p:nvSpPr>
              <p:cNvPr id="20485" name="Object 7">
                <a:extLst>
                  <a:ext uri="{FF2B5EF4-FFF2-40B4-BE49-F238E27FC236}">
                    <a16:creationId xmlns:a16="http://schemas.microsoft.com/office/drawing/2014/main" id="{9C4DA55B-6F04-0391-C93F-A8EB869AF720}"/>
                  </a:ext>
                </a:extLst>
              </p:cNvPr>
              <p:cNvSpPr txBox="1">
                <a:spLocks noGrp="1"/>
              </p:cNvSpPr>
              <p:nvPr>
                <p:ph sz="quarter" idx="2"/>
              </p:nvPr>
            </p:nvSpPr>
            <p:spPr bwMode="auto">
              <a:xfrm>
                <a:off x="3200400" y="2762250"/>
                <a:ext cx="2362200" cy="819150"/>
              </a:xfrm>
              <a:prstGeom prst="rect">
                <a:avLst/>
              </a:prstGeom>
              <a:noFill/>
              <a:ln>
                <a:noFill/>
              </a:ln>
              <a:effectLst/>
            </p:spPr>
            <p:txBody>
              <a:bodyPr>
                <a:normAutofit fontScale="55000" lnSpcReduction="20000"/>
              </a:bodyPr>
              <a:lstStyle/>
              <a:p>
                <a:pPr>
                  <a:buNone/>
                </a:pPr>
                <a14:m>
                  <m:oMathPara xmlns:m="http://schemas.openxmlformats.org/officeDocument/2006/math">
                    <m:oMathParaPr>
                      <m:jc m:val="left"/>
                    </m:oMathParaPr>
                    <m:oMath xmlns:m="http://schemas.openxmlformats.org/officeDocument/2006/math">
                      <m:acc>
                        <m:accPr>
                          <m:chr m:val="̂"/>
                          <m:ctrlPr>
                            <a:rPr lang="en-ID" i="1">
                              <a:solidFill>
                                <a:srgbClr val="000000"/>
                              </a:solidFill>
                              <a:latin typeface="Cambria Math" panose="02040503050406030204" pitchFamily="18" charset="0"/>
                            </a:rPr>
                          </m:ctrlPr>
                        </m:accPr>
                        <m:e>
                          <m:r>
                            <a:rPr lang="en-ID" i="1">
                              <a:solidFill>
                                <a:srgbClr val="000000"/>
                              </a:solidFill>
                              <a:latin typeface="Cambria Math" panose="02040503050406030204" pitchFamily="18" charset="0"/>
                            </a:rPr>
                            <m:t>𝐿</m:t>
                          </m:r>
                        </m:e>
                      </m:acc>
                      <m:r>
                        <a:rPr lang="en-ID" i="1">
                          <a:solidFill>
                            <a:srgbClr val="000000"/>
                          </a:solidFill>
                          <a:latin typeface="Cambria Math" panose="02040503050406030204" pitchFamily="18" charset="0"/>
                        </a:rPr>
                        <m:t>=</m:t>
                      </m:r>
                      <m:f>
                        <m:fPr>
                          <m:ctrlPr>
                            <a:rPr lang="en-ID" i="1">
                              <a:solidFill>
                                <a:srgbClr val="000000"/>
                              </a:solidFill>
                              <a:latin typeface="Cambria Math" panose="02040503050406030204" pitchFamily="18" charset="0"/>
                            </a:rPr>
                          </m:ctrlPr>
                        </m:fPr>
                        <m:num>
                          <m:r>
                            <a:rPr lang="en-ID" i="1">
                              <a:solidFill>
                                <a:srgbClr val="000000"/>
                              </a:solidFill>
                              <a:latin typeface="Cambria Math" panose="02040503050406030204" pitchFamily="18" charset="0"/>
                            </a:rPr>
                            <m:t>1</m:t>
                          </m:r>
                        </m:num>
                        <m:den>
                          <m:r>
                            <a:rPr lang="en-ID" i="1">
                              <a:solidFill>
                                <a:srgbClr val="000000"/>
                              </a:solidFill>
                              <a:latin typeface="Cambria Math" panose="02040503050406030204" pitchFamily="18" charset="0"/>
                            </a:rPr>
                            <m:t>𝑇</m:t>
                          </m:r>
                        </m:den>
                      </m:f>
                      <m:nary>
                        <m:naryPr>
                          <m:chr m:val="∑"/>
                          <m:ctrlPr>
                            <a:rPr lang="en-ID" i="1">
                              <a:solidFill>
                                <a:srgbClr val="000000"/>
                              </a:solidFill>
                              <a:latin typeface="Cambria Math" panose="02040503050406030204" pitchFamily="18" charset="0"/>
                            </a:rPr>
                          </m:ctrlPr>
                        </m:naryPr>
                        <m:sub>
                          <m:r>
                            <a:rPr lang="en-ID" i="1">
                              <a:solidFill>
                                <a:srgbClr val="000000"/>
                              </a:solidFill>
                              <a:latin typeface="Cambria Math" panose="02040503050406030204" pitchFamily="18" charset="0"/>
                            </a:rPr>
                            <m:t>𝑖</m:t>
                          </m:r>
                          <m:r>
                            <a:rPr lang="en-ID" i="1">
                              <a:solidFill>
                                <a:srgbClr val="000000"/>
                              </a:solidFill>
                              <a:latin typeface="Cambria Math" panose="02040503050406030204" pitchFamily="18" charset="0"/>
                            </a:rPr>
                            <m:t>=0</m:t>
                          </m:r>
                        </m:sub>
                        <m:sup>
                          <m:r>
                            <a:rPr lang="en-ID" i="1">
                              <a:solidFill>
                                <a:srgbClr val="000000"/>
                              </a:solidFill>
                              <a:latin typeface="Cambria Math" panose="02040503050406030204" pitchFamily="18" charset="0"/>
                            </a:rPr>
                            <m:t>∞</m:t>
                          </m:r>
                        </m:sup>
                        <m:e>
                          <m:r>
                            <a:rPr lang="en-ID" i="1">
                              <a:solidFill>
                                <a:srgbClr val="000000"/>
                              </a:solidFill>
                              <a:latin typeface="Cambria Math" panose="02040503050406030204" pitchFamily="18" charset="0"/>
                            </a:rPr>
                            <m:t>𝑖</m:t>
                          </m:r>
                          <m:sSub>
                            <m:sSubPr>
                              <m:ctrlPr>
                                <a:rPr lang="en-ID" i="1">
                                  <a:solidFill>
                                    <a:srgbClr val="000000"/>
                                  </a:solidFill>
                                  <a:latin typeface="Cambria Math" panose="02040503050406030204" pitchFamily="18" charset="0"/>
                                </a:rPr>
                              </m:ctrlPr>
                            </m:sSubPr>
                            <m:e>
                              <m:r>
                                <a:rPr lang="en-ID" i="1">
                                  <a:solidFill>
                                    <a:srgbClr val="000000"/>
                                  </a:solidFill>
                                  <a:latin typeface="Cambria Math" panose="02040503050406030204" pitchFamily="18" charset="0"/>
                                </a:rPr>
                                <m:t>𝑇</m:t>
                              </m:r>
                            </m:e>
                            <m:sub>
                              <m:r>
                                <a:rPr lang="en-ID" i="1">
                                  <a:solidFill>
                                    <a:srgbClr val="000000"/>
                                  </a:solidFill>
                                  <a:latin typeface="Cambria Math" panose="02040503050406030204" pitchFamily="18" charset="0"/>
                                </a:rPr>
                                <m:t>𝑖</m:t>
                              </m:r>
                            </m:sub>
                          </m:sSub>
                        </m:e>
                      </m:nary>
                      <m:r>
                        <a:rPr lang="en-ID" i="1">
                          <a:solidFill>
                            <a:srgbClr val="000000"/>
                          </a:solidFill>
                          <a:latin typeface="Cambria Math" panose="02040503050406030204" pitchFamily="18" charset="0"/>
                        </a:rPr>
                        <m:t>=</m:t>
                      </m:r>
                      <m:nary>
                        <m:naryPr>
                          <m:chr m:val="∑"/>
                          <m:ctrlPr>
                            <a:rPr lang="en-ID" i="1">
                              <a:solidFill>
                                <a:srgbClr val="000000"/>
                              </a:solidFill>
                              <a:latin typeface="Cambria Math" panose="02040503050406030204" pitchFamily="18" charset="0"/>
                            </a:rPr>
                          </m:ctrlPr>
                        </m:naryPr>
                        <m:sub>
                          <m:r>
                            <a:rPr lang="en-ID" i="1">
                              <a:solidFill>
                                <a:srgbClr val="000000"/>
                              </a:solidFill>
                              <a:latin typeface="Cambria Math" panose="02040503050406030204" pitchFamily="18" charset="0"/>
                            </a:rPr>
                            <m:t>𝑖</m:t>
                          </m:r>
                          <m:r>
                            <a:rPr lang="en-ID" i="1">
                              <a:solidFill>
                                <a:srgbClr val="000000"/>
                              </a:solidFill>
                              <a:latin typeface="Cambria Math" panose="02040503050406030204" pitchFamily="18" charset="0"/>
                            </a:rPr>
                            <m:t>=0</m:t>
                          </m:r>
                        </m:sub>
                        <m:sup>
                          <m:r>
                            <a:rPr lang="en-ID" i="1">
                              <a:solidFill>
                                <a:srgbClr val="000000"/>
                              </a:solidFill>
                              <a:latin typeface="Cambria Math" panose="02040503050406030204" pitchFamily="18" charset="0"/>
                            </a:rPr>
                            <m:t>∞</m:t>
                          </m:r>
                        </m:sup>
                        <m:e>
                          <m:r>
                            <a:rPr lang="en-ID" i="1">
                              <a:solidFill>
                                <a:srgbClr val="000000"/>
                              </a:solidFill>
                              <a:latin typeface="Cambria Math" panose="02040503050406030204" pitchFamily="18" charset="0"/>
                            </a:rPr>
                            <m:t>𝑖</m:t>
                          </m:r>
                          <m:d>
                            <m:dPr>
                              <m:ctrlPr>
                                <a:rPr lang="en-ID" i="1">
                                  <a:solidFill>
                                    <a:srgbClr val="000000"/>
                                  </a:solidFill>
                                  <a:latin typeface="Cambria Math" panose="02040503050406030204" pitchFamily="18" charset="0"/>
                                </a:rPr>
                              </m:ctrlPr>
                            </m:dPr>
                            <m:e>
                              <m:f>
                                <m:fPr>
                                  <m:ctrlPr>
                                    <a:rPr lang="en-ID" i="1">
                                      <a:solidFill>
                                        <a:srgbClr val="000000"/>
                                      </a:solidFill>
                                      <a:latin typeface="Cambria Math" panose="02040503050406030204" pitchFamily="18" charset="0"/>
                                    </a:rPr>
                                  </m:ctrlPr>
                                </m:fPr>
                                <m:num>
                                  <m:sSub>
                                    <m:sSubPr>
                                      <m:ctrlPr>
                                        <a:rPr lang="en-ID" i="1">
                                          <a:solidFill>
                                            <a:srgbClr val="000000"/>
                                          </a:solidFill>
                                          <a:latin typeface="Cambria Math" panose="02040503050406030204" pitchFamily="18" charset="0"/>
                                        </a:rPr>
                                      </m:ctrlPr>
                                    </m:sSubPr>
                                    <m:e>
                                      <m:r>
                                        <a:rPr lang="en-ID" i="1">
                                          <a:solidFill>
                                            <a:srgbClr val="000000"/>
                                          </a:solidFill>
                                          <a:latin typeface="Cambria Math" panose="02040503050406030204" pitchFamily="18" charset="0"/>
                                        </a:rPr>
                                        <m:t>𝑇</m:t>
                                      </m:r>
                                    </m:e>
                                    <m:sub>
                                      <m:r>
                                        <a:rPr lang="en-ID" i="1">
                                          <a:solidFill>
                                            <a:srgbClr val="000000"/>
                                          </a:solidFill>
                                          <a:latin typeface="Cambria Math" panose="02040503050406030204" pitchFamily="18" charset="0"/>
                                        </a:rPr>
                                        <m:t>𝑖</m:t>
                                      </m:r>
                                    </m:sub>
                                  </m:sSub>
                                </m:num>
                                <m:den>
                                  <m:r>
                                    <a:rPr lang="en-ID" i="1">
                                      <a:solidFill>
                                        <a:srgbClr val="000000"/>
                                      </a:solidFill>
                                      <a:latin typeface="Cambria Math" panose="02040503050406030204" pitchFamily="18" charset="0"/>
                                    </a:rPr>
                                    <m:t>𝑇</m:t>
                                  </m:r>
                                </m:den>
                              </m:f>
                            </m:e>
                          </m:d>
                        </m:e>
                      </m:nary>
                    </m:oMath>
                  </m:oMathPara>
                </a14:m>
                <a:endParaRPr lang="en-ID"/>
              </a:p>
            </p:txBody>
          </p:sp>
        </mc:Choice>
        <mc:Fallback xmlns="">
          <p:sp>
            <p:nvSpPr>
              <p:cNvPr id="20485" name="Object 7">
                <a:extLst>
                  <a:ext uri="{FF2B5EF4-FFF2-40B4-BE49-F238E27FC236}">
                    <a16:creationId xmlns:a16="http://schemas.microsoft.com/office/drawing/2014/main" id="{9C4DA55B-6F04-0391-C93F-A8EB869AF720}"/>
                  </a:ext>
                </a:extLst>
              </p:cNvPr>
              <p:cNvSpPr txBox="1">
                <a:spLocks noRot="1" noChangeAspect="1" noMove="1" noResize="1" noEditPoints="1" noAdjustHandles="1" noChangeArrowheads="1" noChangeShapeType="1" noTextEdit="1"/>
              </p:cNvSpPr>
              <p:nvPr>
                <p:ph sz="quarter" idx="2"/>
              </p:nvPr>
            </p:nvSpPr>
            <p:spPr bwMode="auto">
              <a:xfrm>
                <a:off x="3200400" y="2762250"/>
                <a:ext cx="2362200" cy="819150"/>
              </a:xfrm>
              <a:prstGeom prst="rect">
                <a:avLst/>
              </a:prstGeom>
              <a:blipFill>
                <a:blip r:embed="rId2"/>
                <a:stretch>
                  <a:fillRect/>
                </a:stretch>
              </a:blipFill>
              <a:ln>
                <a:noFill/>
              </a:ln>
              <a:effectLst/>
            </p:spPr>
            <p:txBody>
              <a:bodyPr/>
              <a:lstStyle/>
              <a:p>
                <a:r>
                  <a:rPr lang="en-ID">
                    <a:noFill/>
                  </a:rPr>
                  <a:t> </a:t>
                </a:r>
              </a:p>
            </p:txBody>
          </p:sp>
        </mc:Fallback>
      </mc:AlternateContent>
      <mc:AlternateContent xmlns:mc="http://schemas.openxmlformats.org/markup-compatibility/2006" xmlns:a14="http://schemas.microsoft.com/office/drawing/2010/main">
        <mc:Choice Requires="a14">
          <p:sp>
            <p:nvSpPr>
              <p:cNvPr id="20486" name="Object 9">
                <a:extLst>
                  <a:ext uri="{FF2B5EF4-FFF2-40B4-BE49-F238E27FC236}">
                    <a16:creationId xmlns:a16="http://schemas.microsoft.com/office/drawing/2014/main" id="{09E00717-425F-BCD3-87DD-9D03B334A5FF}"/>
                  </a:ext>
                </a:extLst>
              </p:cNvPr>
              <p:cNvSpPr txBox="1">
                <a:spLocks noGrp="1"/>
              </p:cNvSpPr>
              <p:nvPr>
                <p:ph sz="quarter" idx="3"/>
              </p:nvPr>
            </p:nvSpPr>
            <p:spPr bwMode="auto">
              <a:xfrm>
                <a:off x="3130550" y="3983038"/>
                <a:ext cx="2743200" cy="889000"/>
              </a:xfrm>
              <a:prstGeom prst="rect">
                <a:avLst/>
              </a:prstGeom>
              <a:noFill/>
              <a:ln>
                <a:noFill/>
              </a:ln>
              <a:effectLst/>
            </p:spPr>
            <p:txBody>
              <a:bodyPr>
                <a:normAutofit fontScale="55000" lnSpcReduction="20000"/>
              </a:bodyPr>
              <a:lstStyle/>
              <a:p>
                <a:pPr>
                  <a:buNone/>
                </a:pPr>
                <a14:m>
                  <m:oMathPara xmlns:m="http://schemas.openxmlformats.org/officeDocument/2006/math">
                    <m:oMathParaPr>
                      <m:jc m:val="left"/>
                    </m:oMathParaPr>
                    <m:oMath xmlns:m="http://schemas.openxmlformats.org/officeDocument/2006/math">
                      <m:acc>
                        <m:accPr>
                          <m:chr m:val="̂"/>
                          <m:ctrlPr>
                            <a:rPr lang="en-ID" i="1">
                              <a:solidFill>
                                <a:srgbClr val="000000"/>
                              </a:solidFill>
                              <a:latin typeface="Cambria Math" panose="02040503050406030204" pitchFamily="18" charset="0"/>
                            </a:rPr>
                          </m:ctrlPr>
                        </m:accPr>
                        <m:e>
                          <m:r>
                            <a:rPr lang="en-ID" i="1">
                              <a:solidFill>
                                <a:srgbClr val="000000"/>
                              </a:solidFill>
                              <a:latin typeface="Cambria Math" panose="02040503050406030204" pitchFamily="18" charset="0"/>
                            </a:rPr>
                            <m:t>𝐿</m:t>
                          </m:r>
                        </m:e>
                      </m:acc>
                      <m:r>
                        <a:rPr lang="en-ID" i="1">
                          <a:solidFill>
                            <a:srgbClr val="000000"/>
                          </a:solidFill>
                          <a:latin typeface="Cambria Math" panose="02040503050406030204" pitchFamily="18" charset="0"/>
                        </a:rPr>
                        <m:t>=</m:t>
                      </m:r>
                      <m:f>
                        <m:fPr>
                          <m:ctrlPr>
                            <a:rPr lang="en-ID" i="1">
                              <a:solidFill>
                                <a:srgbClr val="000000"/>
                              </a:solidFill>
                              <a:latin typeface="Cambria Math" panose="02040503050406030204" pitchFamily="18" charset="0"/>
                            </a:rPr>
                          </m:ctrlPr>
                        </m:fPr>
                        <m:num>
                          <m:r>
                            <a:rPr lang="en-ID" i="1">
                              <a:solidFill>
                                <a:srgbClr val="000000"/>
                              </a:solidFill>
                              <a:latin typeface="Cambria Math" panose="02040503050406030204" pitchFamily="18" charset="0"/>
                            </a:rPr>
                            <m:t>1</m:t>
                          </m:r>
                        </m:num>
                        <m:den>
                          <m:r>
                            <a:rPr lang="en-ID" i="1">
                              <a:solidFill>
                                <a:srgbClr val="000000"/>
                              </a:solidFill>
                              <a:latin typeface="Cambria Math" panose="02040503050406030204" pitchFamily="18" charset="0"/>
                            </a:rPr>
                            <m:t>𝑇</m:t>
                          </m:r>
                        </m:den>
                      </m:f>
                      <m:nary>
                        <m:naryPr>
                          <m:chr m:val="∑"/>
                          <m:ctrlPr>
                            <a:rPr lang="en-ID" i="1">
                              <a:solidFill>
                                <a:srgbClr val="000000"/>
                              </a:solidFill>
                              <a:latin typeface="Cambria Math" panose="02040503050406030204" pitchFamily="18" charset="0"/>
                            </a:rPr>
                          </m:ctrlPr>
                        </m:naryPr>
                        <m:sub>
                          <m:r>
                            <a:rPr lang="en-ID" i="1">
                              <a:solidFill>
                                <a:srgbClr val="000000"/>
                              </a:solidFill>
                              <a:latin typeface="Cambria Math" panose="02040503050406030204" pitchFamily="18" charset="0"/>
                            </a:rPr>
                            <m:t>𝑖</m:t>
                          </m:r>
                          <m:r>
                            <a:rPr lang="en-ID" i="1">
                              <a:solidFill>
                                <a:srgbClr val="000000"/>
                              </a:solidFill>
                              <a:latin typeface="Cambria Math" panose="02040503050406030204" pitchFamily="18" charset="0"/>
                            </a:rPr>
                            <m:t>=0</m:t>
                          </m:r>
                        </m:sub>
                        <m:sup>
                          <m:r>
                            <a:rPr lang="en-ID" i="1">
                              <a:solidFill>
                                <a:srgbClr val="000000"/>
                              </a:solidFill>
                              <a:latin typeface="Cambria Math" panose="02040503050406030204" pitchFamily="18" charset="0"/>
                            </a:rPr>
                            <m:t>∞</m:t>
                          </m:r>
                        </m:sup>
                        <m:e>
                          <m:r>
                            <a:rPr lang="en-ID" i="1">
                              <a:solidFill>
                                <a:srgbClr val="000000"/>
                              </a:solidFill>
                              <a:latin typeface="Cambria Math" panose="02040503050406030204" pitchFamily="18" charset="0"/>
                            </a:rPr>
                            <m:t>𝑖</m:t>
                          </m:r>
                          <m:sSub>
                            <m:sSubPr>
                              <m:ctrlPr>
                                <a:rPr lang="en-ID" i="1">
                                  <a:solidFill>
                                    <a:srgbClr val="000000"/>
                                  </a:solidFill>
                                  <a:latin typeface="Cambria Math" panose="02040503050406030204" pitchFamily="18" charset="0"/>
                                </a:rPr>
                              </m:ctrlPr>
                            </m:sSubPr>
                            <m:e>
                              <m:r>
                                <a:rPr lang="en-ID" i="1">
                                  <a:solidFill>
                                    <a:srgbClr val="000000"/>
                                  </a:solidFill>
                                  <a:latin typeface="Cambria Math" panose="02040503050406030204" pitchFamily="18" charset="0"/>
                                </a:rPr>
                                <m:t>𝑇</m:t>
                              </m:r>
                            </m:e>
                            <m:sub>
                              <m:r>
                                <a:rPr lang="en-ID" i="1">
                                  <a:solidFill>
                                    <a:srgbClr val="000000"/>
                                  </a:solidFill>
                                  <a:latin typeface="Cambria Math" panose="02040503050406030204" pitchFamily="18" charset="0"/>
                                </a:rPr>
                                <m:t>𝑖</m:t>
                              </m:r>
                            </m:sub>
                          </m:sSub>
                        </m:e>
                      </m:nary>
                      <m:r>
                        <a:rPr lang="en-ID" i="1">
                          <a:solidFill>
                            <a:srgbClr val="000000"/>
                          </a:solidFill>
                          <a:latin typeface="Cambria Math" panose="02040503050406030204" pitchFamily="18" charset="0"/>
                        </a:rPr>
                        <m:t>=</m:t>
                      </m:r>
                      <m:f>
                        <m:fPr>
                          <m:ctrlPr>
                            <a:rPr lang="en-ID" i="1">
                              <a:solidFill>
                                <a:srgbClr val="000000"/>
                              </a:solidFill>
                              <a:latin typeface="Cambria Math" panose="02040503050406030204" pitchFamily="18" charset="0"/>
                            </a:rPr>
                          </m:ctrlPr>
                        </m:fPr>
                        <m:num>
                          <m:r>
                            <a:rPr lang="en-ID" i="1">
                              <a:solidFill>
                                <a:srgbClr val="000000"/>
                              </a:solidFill>
                              <a:latin typeface="Cambria Math" panose="02040503050406030204" pitchFamily="18" charset="0"/>
                            </a:rPr>
                            <m:t>1</m:t>
                          </m:r>
                        </m:num>
                        <m:den>
                          <m:r>
                            <a:rPr lang="en-ID" i="1">
                              <a:solidFill>
                                <a:srgbClr val="000000"/>
                              </a:solidFill>
                              <a:latin typeface="Cambria Math" panose="02040503050406030204" pitchFamily="18" charset="0"/>
                            </a:rPr>
                            <m:t>𝑇</m:t>
                          </m:r>
                        </m:den>
                      </m:f>
                      <m:nary>
                        <m:naryPr>
                          <m:ctrlPr>
                            <a:rPr lang="en-ID" i="1">
                              <a:solidFill>
                                <a:srgbClr val="000000"/>
                              </a:solidFill>
                              <a:latin typeface="Cambria Math" panose="02040503050406030204" pitchFamily="18" charset="0"/>
                            </a:rPr>
                          </m:ctrlPr>
                        </m:naryPr>
                        <m:sub>
                          <m:r>
                            <a:rPr lang="en-ID" i="1">
                              <a:solidFill>
                                <a:srgbClr val="000000"/>
                              </a:solidFill>
                              <a:latin typeface="Cambria Math" panose="02040503050406030204" pitchFamily="18" charset="0"/>
                            </a:rPr>
                            <m:t>0</m:t>
                          </m:r>
                        </m:sub>
                        <m:sup>
                          <m:r>
                            <a:rPr lang="en-ID" i="1">
                              <a:solidFill>
                                <a:srgbClr val="000000"/>
                              </a:solidFill>
                              <a:latin typeface="Cambria Math" panose="02040503050406030204" pitchFamily="18" charset="0"/>
                            </a:rPr>
                            <m:t>𝑇</m:t>
                          </m:r>
                        </m:sup>
                        <m:e>
                          <m:r>
                            <a:rPr lang="en-ID" i="1">
                              <a:solidFill>
                                <a:srgbClr val="000000"/>
                              </a:solidFill>
                              <a:latin typeface="Cambria Math" panose="02040503050406030204" pitchFamily="18" charset="0"/>
                            </a:rPr>
                            <m:t>𝐿</m:t>
                          </m:r>
                          <m:r>
                            <a:rPr lang="en-ID" i="1">
                              <a:solidFill>
                                <a:srgbClr val="000000"/>
                              </a:solidFill>
                              <a:latin typeface="Cambria Math" panose="02040503050406030204" pitchFamily="18" charset="0"/>
                            </a:rPr>
                            <m:t>(</m:t>
                          </m:r>
                          <m:r>
                            <a:rPr lang="en-ID" i="1">
                              <a:solidFill>
                                <a:srgbClr val="000000"/>
                              </a:solidFill>
                              <a:latin typeface="Cambria Math" panose="02040503050406030204" pitchFamily="18" charset="0"/>
                            </a:rPr>
                            <m:t>𝑡</m:t>
                          </m:r>
                          <m:r>
                            <a:rPr lang="en-ID" i="1">
                              <a:solidFill>
                                <a:srgbClr val="000000"/>
                              </a:solidFill>
                              <a:latin typeface="Cambria Math" panose="02040503050406030204" pitchFamily="18" charset="0"/>
                            </a:rPr>
                            <m:t>)</m:t>
                          </m:r>
                          <m:r>
                            <a:rPr lang="en-ID" i="1">
                              <a:solidFill>
                                <a:srgbClr val="000000"/>
                              </a:solidFill>
                              <a:latin typeface="Cambria Math" panose="02040503050406030204" pitchFamily="18" charset="0"/>
                            </a:rPr>
                            <m:t>𝑑𝑡</m:t>
                          </m:r>
                        </m:e>
                      </m:nary>
                    </m:oMath>
                  </m:oMathPara>
                </a14:m>
                <a:endParaRPr lang="en-ID"/>
              </a:p>
            </p:txBody>
          </p:sp>
        </mc:Choice>
        <mc:Fallback xmlns="">
          <p:sp>
            <p:nvSpPr>
              <p:cNvPr id="20486" name="Object 9">
                <a:extLst>
                  <a:ext uri="{FF2B5EF4-FFF2-40B4-BE49-F238E27FC236}">
                    <a16:creationId xmlns:a16="http://schemas.microsoft.com/office/drawing/2014/main" id="{09E00717-425F-BCD3-87DD-9D03B334A5FF}"/>
                  </a:ext>
                </a:extLst>
              </p:cNvPr>
              <p:cNvSpPr txBox="1">
                <a:spLocks noRot="1" noChangeAspect="1" noMove="1" noResize="1" noEditPoints="1" noAdjustHandles="1" noChangeArrowheads="1" noChangeShapeType="1" noTextEdit="1"/>
              </p:cNvSpPr>
              <p:nvPr>
                <p:ph sz="quarter" idx="3"/>
              </p:nvPr>
            </p:nvSpPr>
            <p:spPr bwMode="auto">
              <a:xfrm>
                <a:off x="3130550" y="3983038"/>
                <a:ext cx="2743200" cy="889000"/>
              </a:xfrm>
              <a:prstGeom prst="rect">
                <a:avLst/>
              </a:prstGeom>
              <a:blipFill>
                <a:blip r:embed="rId3"/>
                <a:stretch>
                  <a:fillRect/>
                </a:stretch>
              </a:blipFill>
              <a:ln>
                <a:noFill/>
              </a:ln>
              <a:effectLst/>
            </p:spPr>
            <p:txBody>
              <a:bodyPr/>
              <a:lstStyle/>
              <a:p>
                <a:r>
                  <a:rPr lang="en-ID">
                    <a:noFill/>
                  </a:rPr>
                  <a:t> </a:t>
                </a:r>
              </a:p>
            </p:txBody>
          </p:sp>
        </mc:Fallback>
      </mc:AlternateContent>
      <mc:AlternateContent xmlns:mc="http://schemas.openxmlformats.org/markup-compatibility/2006" xmlns:a14="http://schemas.microsoft.com/office/drawing/2010/main">
        <mc:Choice Requires="a14">
          <p:sp>
            <p:nvSpPr>
              <p:cNvPr id="20487" name="Object 11">
                <a:extLst>
                  <a:ext uri="{FF2B5EF4-FFF2-40B4-BE49-F238E27FC236}">
                    <a16:creationId xmlns:a16="http://schemas.microsoft.com/office/drawing/2014/main" id="{F5ADB3D9-3A9C-C6ED-861E-4504438A0C30}"/>
                  </a:ext>
                </a:extLst>
              </p:cNvPr>
              <p:cNvSpPr txBox="1"/>
              <p:nvPr/>
            </p:nvSpPr>
            <p:spPr bwMode="auto">
              <a:xfrm>
                <a:off x="3130550" y="5334000"/>
                <a:ext cx="3498850" cy="695325"/>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acc>
                        <m:accPr>
                          <m:chr m:val="̂"/>
                          <m:ctrlPr>
                            <a:rPr lang="en-ID" i="1">
                              <a:solidFill>
                                <a:srgbClr val="000000"/>
                              </a:solidFill>
                              <a:latin typeface="Cambria Math" panose="02040503050406030204" pitchFamily="18" charset="0"/>
                            </a:rPr>
                          </m:ctrlPr>
                        </m:accPr>
                        <m:e>
                          <m:r>
                            <a:rPr lang="en-ID" i="1">
                              <a:solidFill>
                                <a:srgbClr val="000000"/>
                              </a:solidFill>
                              <a:latin typeface="Cambria Math" panose="02040503050406030204" pitchFamily="18" charset="0"/>
                            </a:rPr>
                            <m:t>𝐿</m:t>
                          </m:r>
                        </m:e>
                      </m:acc>
                      <m:r>
                        <a:rPr lang="en-ID" i="1">
                          <a:solidFill>
                            <a:srgbClr val="000000"/>
                          </a:solidFill>
                          <a:latin typeface="Cambria Math" panose="02040503050406030204" pitchFamily="18" charset="0"/>
                        </a:rPr>
                        <m:t>=</m:t>
                      </m:r>
                      <m:f>
                        <m:fPr>
                          <m:ctrlPr>
                            <a:rPr lang="en-ID" i="1">
                              <a:solidFill>
                                <a:srgbClr val="000000"/>
                              </a:solidFill>
                              <a:latin typeface="Cambria Math" panose="02040503050406030204" pitchFamily="18" charset="0"/>
                            </a:rPr>
                          </m:ctrlPr>
                        </m:fPr>
                        <m:num>
                          <m:r>
                            <a:rPr lang="en-ID" i="1">
                              <a:solidFill>
                                <a:srgbClr val="000000"/>
                              </a:solidFill>
                              <a:latin typeface="Cambria Math" panose="02040503050406030204" pitchFamily="18" charset="0"/>
                            </a:rPr>
                            <m:t>1</m:t>
                          </m:r>
                        </m:num>
                        <m:den>
                          <m:r>
                            <a:rPr lang="en-ID" i="1">
                              <a:solidFill>
                                <a:srgbClr val="000000"/>
                              </a:solidFill>
                              <a:latin typeface="Cambria Math" panose="02040503050406030204" pitchFamily="18" charset="0"/>
                            </a:rPr>
                            <m:t>𝑇</m:t>
                          </m:r>
                        </m:den>
                      </m:f>
                      <m:nary>
                        <m:naryPr>
                          <m:ctrlPr>
                            <a:rPr lang="en-ID" i="1">
                              <a:solidFill>
                                <a:srgbClr val="000000"/>
                              </a:solidFill>
                              <a:latin typeface="Cambria Math" panose="02040503050406030204" pitchFamily="18" charset="0"/>
                            </a:rPr>
                          </m:ctrlPr>
                        </m:naryPr>
                        <m:sub>
                          <m:r>
                            <a:rPr lang="en-ID" i="1">
                              <a:solidFill>
                                <a:srgbClr val="000000"/>
                              </a:solidFill>
                              <a:latin typeface="Cambria Math" panose="02040503050406030204" pitchFamily="18" charset="0"/>
                            </a:rPr>
                            <m:t>0</m:t>
                          </m:r>
                        </m:sub>
                        <m:sup>
                          <m:r>
                            <a:rPr lang="en-ID" i="1">
                              <a:solidFill>
                                <a:srgbClr val="000000"/>
                              </a:solidFill>
                              <a:latin typeface="Cambria Math" panose="02040503050406030204" pitchFamily="18" charset="0"/>
                            </a:rPr>
                            <m:t>𝑇</m:t>
                          </m:r>
                        </m:sup>
                        <m:e>
                          <m:r>
                            <a:rPr lang="en-ID" i="1">
                              <a:solidFill>
                                <a:srgbClr val="000000"/>
                              </a:solidFill>
                              <a:latin typeface="Cambria Math" panose="02040503050406030204" pitchFamily="18" charset="0"/>
                            </a:rPr>
                            <m:t>𝐿</m:t>
                          </m:r>
                          <m:r>
                            <a:rPr lang="en-ID" i="1">
                              <a:solidFill>
                                <a:srgbClr val="000000"/>
                              </a:solidFill>
                              <a:latin typeface="Cambria Math" panose="02040503050406030204" pitchFamily="18" charset="0"/>
                            </a:rPr>
                            <m:t>(</m:t>
                          </m:r>
                          <m:r>
                            <a:rPr lang="en-ID" i="1">
                              <a:solidFill>
                                <a:srgbClr val="000000"/>
                              </a:solidFill>
                              <a:latin typeface="Cambria Math" panose="02040503050406030204" pitchFamily="18" charset="0"/>
                            </a:rPr>
                            <m:t>𝑡</m:t>
                          </m:r>
                          <m:r>
                            <a:rPr lang="en-ID" i="1">
                              <a:solidFill>
                                <a:srgbClr val="000000"/>
                              </a:solidFill>
                              <a:latin typeface="Cambria Math" panose="02040503050406030204" pitchFamily="18" charset="0"/>
                            </a:rPr>
                            <m:t>)</m:t>
                          </m:r>
                          <m:r>
                            <a:rPr lang="en-ID" i="1">
                              <a:solidFill>
                                <a:srgbClr val="000000"/>
                              </a:solidFill>
                              <a:latin typeface="Cambria Math" panose="02040503050406030204" pitchFamily="18" charset="0"/>
                            </a:rPr>
                            <m:t>𝑑𝑡</m:t>
                          </m:r>
                        </m:e>
                      </m:nary>
                      <m:r>
                        <a:rPr lang="en-ID" i="1">
                          <a:solidFill>
                            <a:srgbClr val="000000"/>
                          </a:solidFill>
                          <a:latin typeface="Cambria Math" panose="02040503050406030204" pitchFamily="18" charset="0"/>
                        </a:rPr>
                        <m:t>→</m:t>
                      </m:r>
                      <m:r>
                        <a:rPr lang="en-ID" i="1">
                          <a:solidFill>
                            <a:srgbClr val="000000"/>
                          </a:solidFill>
                          <a:latin typeface="Cambria Math" panose="02040503050406030204" pitchFamily="18" charset="0"/>
                        </a:rPr>
                        <m:t>𝐿</m:t>
                      </m:r>
                      <m:r>
                        <m:rPr>
                          <m:nor/>
                        </m:rPr>
                        <a:rPr lang="en-ID" i="0">
                          <a:solidFill>
                            <a:srgbClr val="000000"/>
                          </a:solidFill>
                          <a:latin typeface="Cambria Math" panose="02040503050406030204" pitchFamily="18" charset="0"/>
                        </a:rPr>
                        <m:t>   </m:t>
                      </m:r>
                      <m:r>
                        <m:rPr>
                          <m:nor/>
                        </m:rPr>
                        <a:rPr lang="en-ID" i="0">
                          <a:solidFill>
                            <a:srgbClr val="000000"/>
                          </a:solidFill>
                          <a:latin typeface="Cambria Math" panose="02040503050406030204" pitchFamily="18" charset="0"/>
                        </a:rPr>
                        <m:t>as</m:t>
                      </m:r>
                      <m:r>
                        <m:rPr>
                          <m:nor/>
                        </m:rPr>
                        <a:rPr lang="en-ID" i="0">
                          <a:solidFill>
                            <a:srgbClr val="000000"/>
                          </a:solidFill>
                          <a:latin typeface="Cambria Math" panose="02040503050406030204" pitchFamily="18" charset="0"/>
                        </a:rPr>
                        <m:t>    </m:t>
                      </m:r>
                      <m:r>
                        <a:rPr lang="en-ID" i="1">
                          <a:solidFill>
                            <a:srgbClr val="000000"/>
                          </a:solidFill>
                          <a:latin typeface="Cambria Math" panose="02040503050406030204" pitchFamily="18" charset="0"/>
                        </a:rPr>
                        <m:t>𝑇</m:t>
                      </m:r>
                      <m:r>
                        <a:rPr lang="en-ID" i="1">
                          <a:solidFill>
                            <a:srgbClr val="000000"/>
                          </a:solidFill>
                          <a:latin typeface="Cambria Math" panose="02040503050406030204" pitchFamily="18" charset="0"/>
                        </a:rPr>
                        <m:t>→∞</m:t>
                      </m:r>
                    </m:oMath>
                  </m:oMathPara>
                </a14:m>
                <a:endParaRPr lang="en-ID"/>
              </a:p>
            </p:txBody>
          </p:sp>
        </mc:Choice>
        <mc:Fallback xmlns="">
          <p:sp>
            <p:nvSpPr>
              <p:cNvPr id="20487" name="Object 11">
                <a:extLst>
                  <a:ext uri="{FF2B5EF4-FFF2-40B4-BE49-F238E27FC236}">
                    <a16:creationId xmlns:a16="http://schemas.microsoft.com/office/drawing/2014/main" id="{F5ADB3D9-3A9C-C6ED-861E-4504438A0C30}"/>
                  </a:ext>
                </a:extLst>
              </p:cNvPr>
              <p:cNvSpPr txBox="1">
                <a:spLocks noRot="1" noChangeAspect="1" noMove="1" noResize="1" noEditPoints="1" noAdjustHandles="1" noChangeArrowheads="1" noChangeShapeType="1" noTextEdit="1"/>
              </p:cNvSpPr>
              <p:nvPr/>
            </p:nvSpPr>
            <p:spPr bwMode="auto">
              <a:xfrm>
                <a:off x="3130550" y="5334000"/>
                <a:ext cx="3498850" cy="695325"/>
              </a:xfrm>
              <a:prstGeom prst="rect">
                <a:avLst/>
              </a:prstGeom>
              <a:blipFill>
                <a:blip r:embed="rId4"/>
                <a:stretch>
                  <a:fillRect/>
                </a:stretch>
              </a:blipFill>
              <a:ln>
                <a:noFill/>
              </a:ln>
              <a:effectLst/>
            </p:spPr>
            <p:txBody>
              <a:bodyPr/>
              <a:lstStyle/>
              <a:p>
                <a:r>
                  <a:rPr lang="en-ID">
                    <a:noFill/>
                  </a:rPr>
                  <a:t> </a:t>
                </a:r>
              </a:p>
            </p:txBody>
          </p:sp>
        </mc:Fallback>
      </mc:AlternateContent>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6">
            <a:extLst>
              <a:ext uri="{FF2B5EF4-FFF2-40B4-BE49-F238E27FC236}">
                <a16:creationId xmlns:a16="http://schemas.microsoft.com/office/drawing/2014/main" id="{E8495907-3B2D-D8CF-33DD-F74A231646E2}"/>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5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4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9pPr>
          </a:lstStyle>
          <a:p>
            <a:pPr>
              <a:spcBef>
                <a:spcPct val="0"/>
              </a:spcBef>
              <a:buClrTx/>
              <a:buSzTx/>
              <a:buFontTx/>
              <a:buNone/>
            </a:pPr>
            <a:fld id="{AF0E6662-4543-4270-9745-CDB2A4764F39}" type="slidenum">
              <a:rPr lang="en-US" altLang="id-ID" sz="1200">
                <a:latin typeface="Arial Black" panose="020B0A04020102020204" pitchFamily="34" charset="0"/>
              </a:rPr>
              <a:pPr>
                <a:spcBef>
                  <a:spcPct val="0"/>
                </a:spcBef>
                <a:buClrTx/>
                <a:buSzTx/>
                <a:buFontTx/>
                <a:buNone/>
              </a:pPr>
              <a:t>16</a:t>
            </a:fld>
            <a:endParaRPr lang="en-US" altLang="id-ID" sz="1200">
              <a:latin typeface="Arial Black" panose="020B0A04020102020204" pitchFamily="34" charset="0"/>
            </a:endParaRPr>
          </a:p>
        </p:txBody>
      </p:sp>
      <p:sp>
        <p:nvSpPr>
          <p:cNvPr id="21507" name="Rectangle 2">
            <a:extLst>
              <a:ext uri="{FF2B5EF4-FFF2-40B4-BE49-F238E27FC236}">
                <a16:creationId xmlns:a16="http://schemas.microsoft.com/office/drawing/2014/main" id="{0E825D35-50AE-9373-DBCE-D352369A0EC4}"/>
              </a:ext>
            </a:extLst>
          </p:cNvPr>
          <p:cNvSpPr>
            <a:spLocks noGrp="1" noChangeArrowheads="1"/>
          </p:cNvSpPr>
          <p:nvPr>
            <p:ph type="title"/>
          </p:nvPr>
        </p:nvSpPr>
        <p:spPr/>
        <p:txBody>
          <a:bodyPr/>
          <a:lstStyle/>
          <a:p>
            <a:pPr eaLnBrk="1" hangingPunct="1"/>
            <a:r>
              <a:rPr lang="en-US" altLang="id-ID" dirty="0" err="1"/>
              <a:t>Jumlah</a:t>
            </a:r>
            <a:r>
              <a:rPr lang="en-US" altLang="id-ID" dirty="0"/>
              <a:t> rata-rata </a:t>
            </a:r>
            <a:r>
              <a:rPr lang="en-US" altLang="id-ID" dirty="0" err="1"/>
              <a:t>waktu</a:t>
            </a:r>
            <a:r>
              <a:rPr lang="en-US" altLang="id-ID" dirty="0"/>
              <a:t> </a:t>
            </a:r>
            <a:r>
              <a:rPr lang="en-US" altLang="id-ID" dirty="0" err="1"/>
              <a:t>dalam</a:t>
            </a:r>
            <a:r>
              <a:rPr lang="en-US" altLang="id-ID" dirty="0"/>
              <a:t> </a:t>
            </a:r>
            <a:r>
              <a:rPr lang="en-US" altLang="id-ID" dirty="0" err="1"/>
              <a:t>Sistem</a:t>
            </a:r>
            <a:r>
              <a:rPr lang="en-US" altLang="id-ID" dirty="0"/>
              <a:t> </a:t>
            </a:r>
            <a:r>
              <a:rPr lang="en-US" altLang="id-ID" i="1" dirty="0"/>
              <a:t>L</a:t>
            </a:r>
            <a:r>
              <a:rPr lang="en-US" altLang="id-ID" sz="2200" dirty="0"/>
              <a:t>	</a:t>
            </a:r>
            <a:br>
              <a:rPr lang="en-US" altLang="id-ID" sz="2200" dirty="0"/>
            </a:br>
            <a:r>
              <a:rPr lang="en-US" altLang="id-ID" sz="2200" dirty="0"/>
              <a:t>			</a:t>
            </a:r>
            <a:r>
              <a:rPr lang="en-US" altLang="id-ID" sz="2200"/>
              <a:t>        </a:t>
            </a:r>
            <a:r>
              <a:rPr lang="en-US" altLang="id-ID" sz="2200">
                <a:solidFill>
                  <a:schemeClr val="bg2"/>
                </a:solidFill>
              </a:rPr>
              <a:t>[kteristik </a:t>
            </a:r>
            <a:r>
              <a:rPr lang="en-US" altLang="id-ID" sz="2200" dirty="0" err="1">
                <a:solidFill>
                  <a:schemeClr val="bg2"/>
                </a:solidFill>
              </a:rPr>
              <a:t>Sistem</a:t>
            </a:r>
            <a:r>
              <a:rPr lang="en-US" altLang="id-ID" sz="2200" dirty="0">
                <a:solidFill>
                  <a:schemeClr val="bg2"/>
                </a:solidFill>
              </a:rPr>
              <a:t> </a:t>
            </a:r>
            <a:r>
              <a:rPr lang="en-US" altLang="id-ID" sz="2200" dirty="0" err="1">
                <a:solidFill>
                  <a:schemeClr val="bg2"/>
                </a:solidFill>
              </a:rPr>
              <a:t>Antrean</a:t>
            </a:r>
            <a:r>
              <a:rPr lang="en-US" altLang="id-ID" sz="2200" dirty="0">
                <a:solidFill>
                  <a:schemeClr val="bg2"/>
                </a:solidFill>
              </a:rPr>
              <a:t>]</a:t>
            </a:r>
          </a:p>
        </p:txBody>
      </p:sp>
      <p:sp>
        <p:nvSpPr>
          <p:cNvPr id="21508" name="Rectangle 3">
            <a:extLst>
              <a:ext uri="{FF2B5EF4-FFF2-40B4-BE49-F238E27FC236}">
                <a16:creationId xmlns:a16="http://schemas.microsoft.com/office/drawing/2014/main" id="{5EA9C6F5-970A-850C-ECCF-8082BF40E97B}"/>
              </a:ext>
            </a:extLst>
          </p:cNvPr>
          <p:cNvSpPr>
            <a:spLocks noGrp="1" noChangeArrowheads="1"/>
          </p:cNvSpPr>
          <p:nvPr>
            <p:ph type="body" sz="half" idx="1"/>
          </p:nvPr>
        </p:nvSpPr>
        <p:spPr>
          <a:xfrm>
            <a:off x="457200" y="1447800"/>
            <a:ext cx="8382000" cy="5029200"/>
          </a:xfrm>
        </p:spPr>
        <p:txBody>
          <a:bodyPr/>
          <a:lstStyle/>
          <a:p>
            <a:pPr lvl="1" eaLnBrk="1" hangingPunct="1"/>
            <a:r>
              <a:rPr lang="en-US" altLang="id-ID" sz="2000"/>
              <a:t>Jumlah rata-rata tertimbang waktu dalam antrian adalah:</a:t>
            </a:r>
            <a:endParaRPr lang="en-US" altLang="id-ID" sz="2000" dirty="0"/>
          </a:p>
          <a:p>
            <a:pPr lvl="1" eaLnBrk="1" hangingPunct="1"/>
            <a:endParaRPr lang="en-US" altLang="id-ID" sz="2000" dirty="0"/>
          </a:p>
          <a:p>
            <a:pPr lvl="1" eaLnBrk="1" hangingPunct="1"/>
            <a:endParaRPr lang="en-US" altLang="id-ID" sz="2000" dirty="0"/>
          </a:p>
          <a:p>
            <a:pPr lvl="1" eaLnBrk="1" hangingPunct="1"/>
            <a:endParaRPr lang="en-US" altLang="id-ID" sz="2000" dirty="0"/>
          </a:p>
          <a:p>
            <a:pPr lvl="1" eaLnBrk="1" hangingPunct="1"/>
            <a:r>
              <a:rPr lang="pt-BR" altLang="id-ID" sz="2000" dirty="0"/>
              <a:t>Contoh G/G/1/N/K: perhatikan hasil dari sistem antrian (N &gt; 4, K &gt; 3)</a:t>
            </a:r>
            <a:r>
              <a:rPr lang="en-US" altLang="id-ID" sz="2000" dirty="0"/>
              <a:t>).</a:t>
            </a:r>
          </a:p>
          <a:p>
            <a:pPr lvl="1" eaLnBrk="1" hangingPunct="1"/>
            <a:endParaRPr lang="en-US" altLang="id-ID" sz="2000" dirty="0"/>
          </a:p>
          <a:p>
            <a:pPr lvl="1" eaLnBrk="1" hangingPunct="1">
              <a:lnSpc>
                <a:spcPct val="90000"/>
              </a:lnSpc>
            </a:pPr>
            <a:endParaRPr lang="en-US" altLang="id-ID" sz="2000" dirty="0"/>
          </a:p>
        </p:txBody>
      </p:sp>
      <mc:AlternateContent xmlns:mc="http://schemas.openxmlformats.org/markup-compatibility/2006" xmlns:a14="http://schemas.microsoft.com/office/drawing/2010/main">
        <mc:Choice Requires="a14">
          <p:sp>
            <p:nvSpPr>
              <p:cNvPr id="21509" name="Object 4">
                <a:extLst>
                  <a:ext uri="{FF2B5EF4-FFF2-40B4-BE49-F238E27FC236}">
                    <a16:creationId xmlns:a16="http://schemas.microsoft.com/office/drawing/2014/main" id="{D17FA473-E037-DAED-47A3-1CC9DB222DA1}"/>
                  </a:ext>
                </a:extLst>
              </p:cNvPr>
              <p:cNvSpPr txBox="1">
                <a:spLocks noGrp="1"/>
              </p:cNvSpPr>
              <p:nvPr>
                <p:ph sz="quarter" idx="2"/>
              </p:nvPr>
            </p:nvSpPr>
            <p:spPr bwMode="auto">
              <a:xfrm>
                <a:off x="4876800" y="4479925"/>
                <a:ext cx="2933700" cy="777875"/>
              </a:xfrm>
              <a:prstGeom prst="rect">
                <a:avLst/>
              </a:prstGeom>
              <a:noFill/>
              <a:ln>
                <a:noFill/>
              </a:ln>
              <a:effectLst/>
            </p:spPr>
            <p:txBody>
              <a:bodyPr>
                <a:normAutofit fontScale="47500" lnSpcReduction="20000"/>
              </a:bodyPr>
              <a:lstStyle/>
              <a:p>
                <a:pPr>
                  <a:buNone/>
                </a:pPr>
                <a14:m>
                  <m:oMathPara xmlns:m="http://schemas.openxmlformats.org/officeDocument/2006/math">
                    <m:oMathParaPr>
                      <m:jc m:val="left"/>
                    </m:oMathParaPr>
                    <m:oMath xmlns:m="http://schemas.openxmlformats.org/officeDocument/2006/math">
                      <m:sSub>
                        <m:sSubPr>
                          <m:ctrlPr>
                            <a:rPr lang="en-ID" i="1">
                              <a:solidFill>
                                <a:srgbClr val="000000"/>
                              </a:solidFill>
                              <a:latin typeface="Cambria Math" panose="02040503050406030204" pitchFamily="18" charset="0"/>
                            </a:rPr>
                          </m:ctrlPr>
                        </m:sSubPr>
                        <m:e>
                          <m:r>
                            <a:rPr lang="en-ID" i="1">
                              <a:solidFill>
                                <a:srgbClr val="000000"/>
                              </a:solidFill>
                              <a:latin typeface="Cambria Math" panose="02040503050406030204" pitchFamily="18" charset="0"/>
                            </a:rPr>
                            <m:t>𝐿</m:t>
                          </m:r>
                        </m:e>
                        <m:sub>
                          <m:r>
                            <a:rPr lang="en-ID" i="1">
                              <a:solidFill>
                                <a:srgbClr val="000000"/>
                              </a:solidFill>
                              <a:latin typeface="Cambria Math" panose="02040503050406030204" pitchFamily="18" charset="0"/>
                            </a:rPr>
                            <m:t>𝑄</m:t>
                          </m:r>
                        </m:sub>
                      </m:sSub>
                      <m:r>
                        <a:rPr lang="en-ID" i="1">
                          <a:solidFill>
                            <a:srgbClr val="000000"/>
                          </a:solidFill>
                          <a:latin typeface="Cambria Math" panose="02040503050406030204" pitchFamily="18" charset="0"/>
                        </a:rPr>
                        <m:t>(</m:t>
                      </m:r>
                      <m:r>
                        <a:rPr lang="en-ID" i="1">
                          <a:solidFill>
                            <a:srgbClr val="000000"/>
                          </a:solidFill>
                          <a:latin typeface="Cambria Math" panose="02040503050406030204" pitchFamily="18" charset="0"/>
                        </a:rPr>
                        <m:t>𝑡</m:t>
                      </m:r>
                      <m:r>
                        <a:rPr lang="en-ID" i="1">
                          <a:solidFill>
                            <a:srgbClr val="000000"/>
                          </a:solidFill>
                          <a:latin typeface="Cambria Math" panose="02040503050406030204" pitchFamily="18" charset="0"/>
                        </a:rPr>
                        <m:t>)=</m:t>
                      </m:r>
                      <m:d>
                        <m:dPr>
                          <m:begChr m:val="{"/>
                          <m:endChr m:val=""/>
                          <m:ctrlPr>
                            <a:rPr lang="en-ID" i="1">
                              <a:solidFill>
                                <a:srgbClr val="000000"/>
                              </a:solidFill>
                              <a:latin typeface="Cambria Math" panose="02040503050406030204" pitchFamily="18" charset="0"/>
                            </a:rPr>
                          </m:ctrlPr>
                        </m:dPr>
                        <m:e>
                          <m:m>
                            <m:mPr>
                              <m:plcHide m:val="on"/>
                              <m:mcs>
                                <m:mc>
                                  <m:mcPr>
                                    <m:count m:val="1"/>
                                    <m:mcJc m:val="center"/>
                                  </m:mcPr>
                                </m:mc>
                              </m:mcs>
                              <m:ctrlPr>
                                <a:rPr lang="en-ID" i="1">
                                  <a:solidFill>
                                    <a:srgbClr val="000000"/>
                                  </a:solidFill>
                                  <a:latin typeface="Cambria Math" panose="02040503050406030204" pitchFamily="18" charset="0"/>
                                </a:rPr>
                              </m:ctrlPr>
                            </m:mPr>
                            <m:mr>
                              <m:e>
                                <m:r>
                                  <a:rPr lang="en-ID" i="1">
                                    <a:solidFill>
                                      <a:srgbClr val="000000"/>
                                    </a:solidFill>
                                    <a:latin typeface="Cambria Math" panose="02040503050406030204" pitchFamily="18" charset="0"/>
                                  </a:rPr>
                                  <m:t>0</m:t>
                                </m:r>
                                <m:r>
                                  <m:rPr>
                                    <m:nor/>
                                  </m:rPr>
                                  <a:rPr lang="en-ID" i="0">
                                    <a:solidFill>
                                      <a:srgbClr val="000000"/>
                                    </a:solidFill>
                                    <a:latin typeface="Cambria Math" panose="02040503050406030204" pitchFamily="18" charset="0"/>
                                  </a:rPr>
                                  <m:t>,            </m:t>
                                </m:r>
                                <m:r>
                                  <m:rPr>
                                    <m:nor/>
                                  </m:rPr>
                                  <a:rPr lang="en-ID" i="0">
                                    <a:solidFill>
                                      <a:srgbClr val="000000"/>
                                    </a:solidFill>
                                    <a:latin typeface="Cambria Math" panose="02040503050406030204" pitchFamily="18" charset="0"/>
                                  </a:rPr>
                                  <m:t>if</m:t>
                                </m:r>
                                <m:r>
                                  <m:rPr>
                                    <m:nor/>
                                  </m:rPr>
                                  <a:rPr lang="en-ID" i="0">
                                    <a:solidFill>
                                      <a:srgbClr val="000000"/>
                                    </a:solidFill>
                                    <a:latin typeface="Cambria Math" panose="02040503050406030204" pitchFamily="18" charset="0"/>
                                  </a:rPr>
                                  <m:t> </m:t>
                                </m:r>
                                <m:r>
                                  <a:rPr lang="en-ID" i="1">
                                    <a:solidFill>
                                      <a:srgbClr val="000000"/>
                                    </a:solidFill>
                                    <a:latin typeface="Cambria Math" panose="02040503050406030204" pitchFamily="18" charset="0"/>
                                  </a:rPr>
                                  <m:t>𝐿</m:t>
                                </m:r>
                                <m:r>
                                  <a:rPr lang="en-ID" i="1">
                                    <a:solidFill>
                                      <a:srgbClr val="000000"/>
                                    </a:solidFill>
                                    <a:latin typeface="Cambria Math" panose="02040503050406030204" pitchFamily="18" charset="0"/>
                                  </a:rPr>
                                  <m:t>(</m:t>
                                </m:r>
                                <m:r>
                                  <a:rPr lang="en-ID" i="1">
                                    <a:solidFill>
                                      <a:srgbClr val="000000"/>
                                    </a:solidFill>
                                    <a:latin typeface="Cambria Math" panose="02040503050406030204" pitchFamily="18" charset="0"/>
                                  </a:rPr>
                                  <m:t>𝑡</m:t>
                                </m:r>
                                <m:r>
                                  <a:rPr lang="en-ID" i="1">
                                    <a:solidFill>
                                      <a:srgbClr val="000000"/>
                                    </a:solidFill>
                                    <a:latin typeface="Cambria Math" panose="02040503050406030204" pitchFamily="18" charset="0"/>
                                  </a:rPr>
                                  <m:t>)=0</m:t>
                                </m:r>
                              </m:e>
                            </m:mr>
                            <m:mr>
                              <m:e>
                                <m:r>
                                  <a:rPr lang="en-ID" i="1">
                                    <a:solidFill>
                                      <a:srgbClr val="000000"/>
                                    </a:solidFill>
                                    <a:latin typeface="Cambria Math" panose="02040503050406030204" pitchFamily="18" charset="0"/>
                                  </a:rPr>
                                  <m:t>𝐿</m:t>
                                </m:r>
                                <m:r>
                                  <a:rPr lang="en-ID" i="1">
                                    <a:solidFill>
                                      <a:srgbClr val="000000"/>
                                    </a:solidFill>
                                    <a:latin typeface="Cambria Math" panose="02040503050406030204" pitchFamily="18" charset="0"/>
                                  </a:rPr>
                                  <m:t>(</m:t>
                                </m:r>
                                <m:r>
                                  <a:rPr lang="en-ID" i="1">
                                    <a:solidFill>
                                      <a:srgbClr val="000000"/>
                                    </a:solidFill>
                                    <a:latin typeface="Cambria Math" panose="02040503050406030204" pitchFamily="18" charset="0"/>
                                  </a:rPr>
                                  <m:t>𝑡</m:t>
                                </m:r>
                                <m:r>
                                  <a:rPr lang="en-ID" i="1">
                                    <a:solidFill>
                                      <a:srgbClr val="000000"/>
                                    </a:solidFill>
                                    <a:latin typeface="Cambria Math" panose="02040503050406030204" pitchFamily="18" charset="0"/>
                                  </a:rPr>
                                  <m:t>)−1,</m:t>
                                </m:r>
                                <m:r>
                                  <m:rPr>
                                    <m:nor/>
                                  </m:rPr>
                                  <a:rPr lang="en-ID" i="0">
                                    <a:solidFill>
                                      <a:srgbClr val="000000"/>
                                    </a:solidFill>
                                    <a:latin typeface="Cambria Math" panose="02040503050406030204" pitchFamily="18" charset="0"/>
                                  </a:rPr>
                                  <m:t>   </m:t>
                                </m:r>
                                <m:r>
                                  <m:rPr>
                                    <m:nor/>
                                  </m:rPr>
                                  <a:rPr lang="en-ID" i="0">
                                    <a:solidFill>
                                      <a:srgbClr val="000000"/>
                                    </a:solidFill>
                                    <a:latin typeface="Cambria Math" panose="02040503050406030204" pitchFamily="18" charset="0"/>
                                  </a:rPr>
                                  <m:t>if</m:t>
                                </m:r>
                                <m:r>
                                  <m:rPr>
                                    <m:nor/>
                                  </m:rPr>
                                  <a:rPr lang="en-ID" i="0">
                                    <a:solidFill>
                                      <a:srgbClr val="000000"/>
                                    </a:solidFill>
                                    <a:latin typeface="Cambria Math" panose="02040503050406030204" pitchFamily="18" charset="0"/>
                                  </a:rPr>
                                  <m:t> </m:t>
                                </m:r>
                                <m:r>
                                  <a:rPr lang="en-ID" i="1">
                                    <a:solidFill>
                                      <a:srgbClr val="000000"/>
                                    </a:solidFill>
                                    <a:latin typeface="Cambria Math" panose="02040503050406030204" pitchFamily="18" charset="0"/>
                                  </a:rPr>
                                  <m:t>𝐿</m:t>
                                </m:r>
                                <m:r>
                                  <a:rPr lang="en-ID" i="1">
                                    <a:solidFill>
                                      <a:srgbClr val="000000"/>
                                    </a:solidFill>
                                    <a:latin typeface="Cambria Math" panose="02040503050406030204" pitchFamily="18" charset="0"/>
                                  </a:rPr>
                                  <m:t>(</m:t>
                                </m:r>
                                <m:r>
                                  <a:rPr lang="en-ID" i="1">
                                    <a:solidFill>
                                      <a:srgbClr val="000000"/>
                                    </a:solidFill>
                                    <a:latin typeface="Cambria Math" panose="02040503050406030204" pitchFamily="18" charset="0"/>
                                  </a:rPr>
                                  <m:t>𝑡</m:t>
                                </m:r>
                                <m:r>
                                  <a:rPr lang="en-ID" i="1">
                                    <a:solidFill>
                                      <a:srgbClr val="000000"/>
                                    </a:solidFill>
                                    <a:latin typeface="Cambria Math" panose="02040503050406030204" pitchFamily="18" charset="0"/>
                                  </a:rPr>
                                  <m:t>)≥1</m:t>
                                </m:r>
                              </m:e>
                            </m:mr>
                          </m:m>
                        </m:e>
                      </m:d>
                    </m:oMath>
                  </m:oMathPara>
                </a14:m>
                <a:endParaRPr lang="en-ID"/>
              </a:p>
            </p:txBody>
          </p:sp>
        </mc:Choice>
        <mc:Fallback xmlns="">
          <p:sp>
            <p:nvSpPr>
              <p:cNvPr id="21509" name="Object 4">
                <a:extLst>
                  <a:ext uri="{FF2B5EF4-FFF2-40B4-BE49-F238E27FC236}">
                    <a16:creationId xmlns:a16="http://schemas.microsoft.com/office/drawing/2014/main" id="{D17FA473-E037-DAED-47A3-1CC9DB222DA1}"/>
                  </a:ext>
                </a:extLst>
              </p:cNvPr>
              <p:cNvSpPr txBox="1">
                <a:spLocks noRot="1" noChangeAspect="1" noMove="1" noResize="1" noEditPoints="1" noAdjustHandles="1" noChangeArrowheads="1" noChangeShapeType="1" noTextEdit="1"/>
              </p:cNvSpPr>
              <p:nvPr>
                <p:ph sz="quarter" idx="2"/>
              </p:nvPr>
            </p:nvSpPr>
            <p:spPr bwMode="auto">
              <a:xfrm>
                <a:off x="4876800" y="4479925"/>
                <a:ext cx="2933700" cy="777875"/>
              </a:xfrm>
              <a:prstGeom prst="rect">
                <a:avLst/>
              </a:prstGeom>
              <a:blipFill>
                <a:blip r:embed="rId2"/>
                <a:stretch>
                  <a:fillRect l="-4574" t="-124219" b="-148438"/>
                </a:stretch>
              </a:blipFill>
              <a:ln>
                <a:noFill/>
              </a:ln>
              <a:effectLst/>
            </p:spPr>
            <p:txBody>
              <a:bodyPr/>
              <a:lstStyle/>
              <a:p>
                <a:r>
                  <a:rPr lang="en-ID">
                    <a:noFill/>
                  </a:rPr>
                  <a:t> </a:t>
                </a:r>
              </a:p>
            </p:txBody>
          </p:sp>
        </mc:Fallback>
      </mc:AlternateContent>
      <mc:AlternateContent xmlns:mc="http://schemas.openxmlformats.org/markup-compatibility/2006" xmlns:a14="http://schemas.microsoft.com/office/drawing/2010/main">
        <mc:Choice Requires="a14">
          <p:sp>
            <p:nvSpPr>
              <p:cNvPr id="21510" name="Object 6">
                <a:extLst>
                  <a:ext uri="{FF2B5EF4-FFF2-40B4-BE49-F238E27FC236}">
                    <a16:creationId xmlns:a16="http://schemas.microsoft.com/office/drawing/2014/main" id="{16B560B9-69E5-DF88-7FA1-0FCC0E20783A}"/>
                  </a:ext>
                </a:extLst>
              </p:cNvPr>
              <p:cNvSpPr txBox="1">
                <a:spLocks noGrp="1"/>
              </p:cNvSpPr>
              <p:nvPr>
                <p:ph sz="quarter" idx="3"/>
              </p:nvPr>
            </p:nvSpPr>
            <p:spPr bwMode="auto">
              <a:xfrm>
                <a:off x="4876800" y="5475288"/>
                <a:ext cx="3581400" cy="620712"/>
              </a:xfrm>
              <a:prstGeom prst="rect">
                <a:avLst/>
              </a:prstGeom>
              <a:noFill/>
              <a:ln>
                <a:noFill/>
              </a:ln>
              <a:effectLst/>
            </p:spPr>
            <p:txBody>
              <a:bodyPr>
                <a:normAutofit fontScale="47500" lnSpcReduction="20000"/>
              </a:bodyPr>
              <a:lstStyle/>
              <a:p>
                <a:pPr>
                  <a:buNone/>
                </a:pPr>
                <a14:m>
                  <m:oMathPara xmlns:m="http://schemas.openxmlformats.org/officeDocument/2006/math">
                    <m:oMathParaPr>
                      <m:jc m:val="left"/>
                    </m:oMathParaPr>
                    <m:oMath xmlns:m="http://schemas.openxmlformats.org/officeDocument/2006/math">
                      <m:sSub>
                        <m:sSubPr>
                          <m:ctrlPr>
                            <a:rPr lang="en-ID" i="1">
                              <a:solidFill>
                                <a:srgbClr val="000000"/>
                              </a:solidFill>
                              <a:latin typeface="Cambria Math" panose="02040503050406030204" pitchFamily="18" charset="0"/>
                            </a:rPr>
                          </m:ctrlPr>
                        </m:sSubPr>
                        <m:e>
                          <m:acc>
                            <m:accPr>
                              <m:chr m:val="̂"/>
                              <m:ctrlPr>
                                <a:rPr lang="en-ID" i="1">
                                  <a:solidFill>
                                    <a:srgbClr val="000000"/>
                                  </a:solidFill>
                                  <a:latin typeface="Cambria Math" panose="02040503050406030204" pitchFamily="18" charset="0"/>
                                </a:rPr>
                              </m:ctrlPr>
                            </m:accPr>
                            <m:e>
                              <m:r>
                                <a:rPr lang="en-ID" i="1">
                                  <a:solidFill>
                                    <a:srgbClr val="000000"/>
                                  </a:solidFill>
                                  <a:latin typeface="Cambria Math" panose="02040503050406030204" pitchFamily="18" charset="0"/>
                                </a:rPr>
                                <m:t>𝐿</m:t>
                              </m:r>
                            </m:e>
                          </m:acc>
                        </m:e>
                        <m:sub>
                          <m:r>
                            <a:rPr lang="en-ID" i="1">
                              <a:solidFill>
                                <a:srgbClr val="000000"/>
                              </a:solidFill>
                              <a:latin typeface="Cambria Math" panose="02040503050406030204" pitchFamily="18" charset="0"/>
                            </a:rPr>
                            <m:t>𝑄</m:t>
                          </m:r>
                        </m:sub>
                      </m:sSub>
                      <m:r>
                        <a:rPr lang="en-ID" i="1">
                          <a:solidFill>
                            <a:srgbClr val="000000"/>
                          </a:solidFill>
                          <a:latin typeface="Cambria Math" panose="02040503050406030204" pitchFamily="18" charset="0"/>
                        </a:rPr>
                        <m:t>=</m:t>
                      </m:r>
                      <m:f>
                        <m:fPr>
                          <m:ctrlPr>
                            <a:rPr lang="en-ID" i="1">
                              <a:solidFill>
                                <a:srgbClr val="000000"/>
                              </a:solidFill>
                              <a:latin typeface="Cambria Math" panose="02040503050406030204" pitchFamily="18" charset="0"/>
                            </a:rPr>
                          </m:ctrlPr>
                        </m:fPr>
                        <m:num>
                          <m:r>
                            <a:rPr lang="en-ID" i="1">
                              <a:solidFill>
                                <a:srgbClr val="000000"/>
                              </a:solidFill>
                              <a:latin typeface="Cambria Math" panose="02040503050406030204" pitchFamily="18" charset="0"/>
                            </a:rPr>
                            <m:t>0(15)+1(4)+2(1)</m:t>
                          </m:r>
                        </m:num>
                        <m:den>
                          <m:r>
                            <a:rPr lang="en-ID" i="1">
                              <a:solidFill>
                                <a:srgbClr val="000000"/>
                              </a:solidFill>
                              <a:latin typeface="Cambria Math" panose="02040503050406030204" pitchFamily="18" charset="0"/>
                            </a:rPr>
                            <m:t>20</m:t>
                          </m:r>
                        </m:den>
                      </m:f>
                      <m:r>
                        <a:rPr lang="en-ID" i="1">
                          <a:solidFill>
                            <a:srgbClr val="000000"/>
                          </a:solidFill>
                          <a:latin typeface="Cambria Math" panose="02040503050406030204" pitchFamily="18" charset="0"/>
                        </a:rPr>
                        <m:t>=0.3</m:t>
                      </m:r>
                      <m:r>
                        <m:rPr>
                          <m:nor/>
                        </m:rPr>
                        <a:rPr lang="en-ID" i="0">
                          <a:solidFill>
                            <a:srgbClr val="000000"/>
                          </a:solidFill>
                          <a:latin typeface="Cambria Math" panose="02040503050406030204" pitchFamily="18" charset="0"/>
                        </a:rPr>
                        <m:t> </m:t>
                      </m:r>
                      <m:r>
                        <m:rPr>
                          <m:nor/>
                        </m:rPr>
                        <a:rPr lang="en-ID" i="0">
                          <a:solidFill>
                            <a:srgbClr val="000000"/>
                          </a:solidFill>
                          <a:latin typeface="Cambria Math" panose="02040503050406030204" pitchFamily="18" charset="0"/>
                        </a:rPr>
                        <m:t>customers</m:t>
                      </m:r>
                    </m:oMath>
                  </m:oMathPara>
                </a14:m>
                <a:endParaRPr lang="en-ID"/>
              </a:p>
            </p:txBody>
          </p:sp>
        </mc:Choice>
        <mc:Fallback xmlns="">
          <p:sp>
            <p:nvSpPr>
              <p:cNvPr id="21510" name="Object 6">
                <a:extLst>
                  <a:ext uri="{FF2B5EF4-FFF2-40B4-BE49-F238E27FC236}">
                    <a16:creationId xmlns:a16="http://schemas.microsoft.com/office/drawing/2014/main" id="{16B560B9-69E5-DF88-7FA1-0FCC0E20783A}"/>
                  </a:ext>
                </a:extLst>
              </p:cNvPr>
              <p:cNvSpPr txBox="1">
                <a:spLocks noRot="1" noChangeAspect="1" noMove="1" noResize="1" noEditPoints="1" noAdjustHandles="1" noChangeArrowheads="1" noChangeShapeType="1" noTextEdit="1"/>
              </p:cNvSpPr>
              <p:nvPr>
                <p:ph sz="quarter" idx="3"/>
              </p:nvPr>
            </p:nvSpPr>
            <p:spPr bwMode="auto">
              <a:xfrm>
                <a:off x="4876800" y="5475288"/>
                <a:ext cx="3581400" cy="620712"/>
              </a:xfrm>
              <a:prstGeom prst="rect">
                <a:avLst/>
              </a:prstGeom>
              <a:blipFill>
                <a:blip r:embed="rId3"/>
                <a:stretch>
                  <a:fillRect/>
                </a:stretch>
              </a:blipFill>
              <a:ln>
                <a:noFill/>
              </a:ln>
              <a:effectLst/>
            </p:spPr>
            <p:txBody>
              <a:bodyPr/>
              <a:lstStyle/>
              <a:p>
                <a:r>
                  <a:rPr lang="en-ID">
                    <a:noFill/>
                  </a:rPr>
                  <a:t> </a:t>
                </a:r>
              </a:p>
            </p:txBody>
          </p:sp>
        </mc:Fallback>
      </mc:AlternateContent>
      <mc:AlternateContent xmlns:mc="http://schemas.openxmlformats.org/markup-compatibility/2006" xmlns:a14="http://schemas.microsoft.com/office/drawing/2010/main">
        <mc:Choice Requires="a14">
          <p:sp>
            <p:nvSpPr>
              <p:cNvPr id="21511" name="Object 7">
                <a:extLst>
                  <a:ext uri="{FF2B5EF4-FFF2-40B4-BE49-F238E27FC236}">
                    <a16:creationId xmlns:a16="http://schemas.microsoft.com/office/drawing/2014/main" id="{908EC1BC-5A30-8F60-24C5-65158D5666C5}"/>
                  </a:ext>
                </a:extLst>
              </p:cNvPr>
              <p:cNvSpPr txBox="1"/>
              <p:nvPr/>
            </p:nvSpPr>
            <p:spPr bwMode="auto">
              <a:xfrm>
                <a:off x="1685925" y="1765300"/>
                <a:ext cx="5248275" cy="901700"/>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sSub>
                        <m:sSubPr>
                          <m:ctrlPr>
                            <a:rPr lang="en-ID" i="1">
                              <a:solidFill>
                                <a:srgbClr val="000000"/>
                              </a:solidFill>
                              <a:latin typeface="Cambria Math" panose="02040503050406030204" pitchFamily="18" charset="0"/>
                            </a:rPr>
                          </m:ctrlPr>
                        </m:sSubPr>
                        <m:e>
                          <m:acc>
                            <m:accPr>
                              <m:chr m:val="̂"/>
                              <m:ctrlPr>
                                <a:rPr lang="en-ID" i="1">
                                  <a:solidFill>
                                    <a:srgbClr val="000000"/>
                                  </a:solidFill>
                                  <a:latin typeface="Cambria Math" panose="02040503050406030204" pitchFamily="18" charset="0"/>
                                </a:rPr>
                              </m:ctrlPr>
                            </m:accPr>
                            <m:e>
                              <m:r>
                                <a:rPr lang="en-ID" i="1">
                                  <a:solidFill>
                                    <a:srgbClr val="000000"/>
                                  </a:solidFill>
                                  <a:latin typeface="Cambria Math" panose="02040503050406030204" pitchFamily="18" charset="0"/>
                                </a:rPr>
                                <m:t>𝐿</m:t>
                              </m:r>
                            </m:e>
                          </m:acc>
                        </m:e>
                        <m:sub>
                          <m:r>
                            <a:rPr lang="en-ID" i="1">
                              <a:solidFill>
                                <a:srgbClr val="000000"/>
                              </a:solidFill>
                              <a:latin typeface="Cambria Math" panose="02040503050406030204" pitchFamily="18" charset="0"/>
                            </a:rPr>
                            <m:t>𝑄</m:t>
                          </m:r>
                        </m:sub>
                      </m:sSub>
                      <m:r>
                        <a:rPr lang="en-ID" i="1">
                          <a:solidFill>
                            <a:srgbClr val="000000"/>
                          </a:solidFill>
                          <a:latin typeface="Cambria Math" panose="02040503050406030204" pitchFamily="18" charset="0"/>
                        </a:rPr>
                        <m:t>=</m:t>
                      </m:r>
                      <m:f>
                        <m:fPr>
                          <m:ctrlPr>
                            <a:rPr lang="en-ID" i="1">
                              <a:solidFill>
                                <a:srgbClr val="000000"/>
                              </a:solidFill>
                              <a:latin typeface="Cambria Math" panose="02040503050406030204" pitchFamily="18" charset="0"/>
                            </a:rPr>
                          </m:ctrlPr>
                        </m:fPr>
                        <m:num>
                          <m:r>
                            <a:rPr lang="en-ID" i="1">
                              <a:solidFill>
                                <a:srgbClr val="000000"/>
                              </a:solidFill>
                              <a:latin typeface="Cambria Math" panose="02040503050406030204" pitchFamily="18" charset="0"/>
                            </a:rPr>
                            <m:t>1</m:t>
                          </m:r>
                        </m:num>
                        <m:den>
                          <m:r>
                            <a:rPr lang="en-ID" i="1">
                              <a:solidFill>
                                <a:srgbClr val="000000"/>
                              </a:solidFill>
                              <a:latin typeface="Cambria Math" panose="02040503050406030204" pitchFamily="18" charset="0"/>
                            </a:rPr>
                            <m:t>𝑇</m:t>
                          </m:r>
                        </m:den>
                      </m:f>
                      <m:nary>
                        <m:naryPr>
                          <m:chr m:val="∑"/>
                          <m:ctrlPr>
                            <a:rPr lang="en-ID" i="1">
                              <a:solidFill>
                                <a:srgbClr val="000000"/>
                              </a:solidFill>
                              <a:latin typeface="Cambria Math" panose="02040503050406030204" pitchFamily="18" charset="0"/>
                            </a:rPr>
                          </m:ctrlPr>
                        </m:naryPr>
                        <m:sub>
                          <m:r>
                            <a:rPr lang="en-ID" i="1">
                              <a:solidFill>
                                <a:srgbClr val="000000"/>
                              </a:solidFill>
                              <a:latin typeface="Cambria Math" panose="02040503050406030204" pitchFamily="18" charset="0"/>
                            </a:rPr>
                            <m:t>𝑖</m:t>
                          </m:r>
                          <m:r>
                            <a:rPr lang="en-ID" i="1">
                              <a:solidFill>
                                <a:srgbClr val="000000"/>
                              </a:solidFill>
                              <a:latin typeface="Cambria Math" panose="02040503050406030204" pitchFamily="18" charset="0"/>
                            </a:rPr>
                            <m:t>=0</m:t>
                          </m:r>
                        </m:sub>
                        <m:sup>
                          <m:r>
                            <a:rPr lang="en-ID" i="1">
                              <a:solidFill>
                                <a:srgbClr val="000000"/>
                              </a:solidFill>
                              <a:latin typeface="Cambria Math" panose="02040503050406030204" pitchFamily="18" charset="0"/>
                            </a:rPr>
                            <m:t>∞</m:t>
                          </m:r>
                        </m:sup>
                        <m:e>
                          <m:r>
                            <a:rPr lang="en-ID" i="1">
                              <a:solidFill>
                                <a:srgbClr val="000000"/>
                              </a:solidFill>
                              <a:latin typeface="Cambria Math" panose="02040503050406030204" pitchFamily="18" charset="0"/>
                            </a:rPr>
                            <m:t>𝑖</m:t>
                          </m:r>
                          <m:sSubSup>
                            <m:sSubSupPr>
                              <m:ctrlPr>
                                <a:rPr lang="en-ID" i="1">
                                  <a:solidFill>
                                    <a:srgbClr val="000000"/>
                                  </a:solidFill>
                                  <a:latin typeface="Cambria Math" panose="02040503050406030204" pitchFamily="18" charset="0"/>
                                </a:rPr>
                              </m:ctrlPr>
                            </m:sSubSupPr>
                            <m:e>
                              <m:r>
                                <a:rPr lang="en-ID" i="1">
                                  <a:solidFill>
                                    <a:srgbClr val="000000"/>
                                  </a:solidFill>
                                  <a:latin typeface="Cambria Math" panose="02040503050406030204" pitchFamily="18" charset="0"/>
                                </a:rPr>
                                <m:t>𝑇</m:t>
                              </m:r>
                            </m:e>
                            <m:sub>
                              <m:r>
                                <a:rPr lang="en-ID" i="1">
                                  <a:solidFill>
                                    <a:srgbClr val="000000"/>
                                  </a:solidFill>
                                  <a:latin typeface="Cambria Math" panose="02040503050406030204" pitchFamily="18" charset="0"/>
                                </a:rPr>
                                <m:t>𝑖</m:t>
                              </m:r>
                            </m:sub>
                            <m:sup>
                              <m:r>
                                <a:rPr lang="en-ID" i="1">
                                  <a:solidFill>
                                    <a:srgbClr val="000000"/>
                                  </a:solidFill>
                                  <a:latin typeface="Cambria Math" panose="02040503050406030204" pitchFamily="18" charset="0"/>
                                </a:rPr>
                                <m:t>𝑄</m:t>
                              </m:r>
                            </m:sup>
                          </m:sSubSup>
                        </m:e>
                      </m:nary>
                      <m:r>
                        <a:rPr lang="en-ID" i="1">
                          <a:solidFill>
                            <a:srgbClr val="000000"/>
                          </a:solidFill>
                          <a:latin typeface="Cambria Math" panose="02040503050406030204" pitchFamily="18" charset="0"/>
                        </a:rPr>
                        <m:t>=</m:t>
                      </m:r>
                      <m:f>
                        <m:fPr>
                          <m:ctrlPr>
                            <a:rPr lang="en-ID" i="1">
                              <a:solidFill>
                                <a:srgbClr val="000000"/>
                              </a:solidFill>
                              <a:latin typeface="Cambria Math" panose="02040503050406030204" pitchFamily="18" charset="0"/>
                            </a:rPr>
                          </m:ctrlPr>
                        </m:fPr>
                        <m:num>
                          <m:r>
                            <a:rPr lang="en-ID" i="1">
                              <a:solidFill>
                                <a:srgbClr val="000000"/>
                              </a:solidFill>
                              <a:latin typeface="Cambria Math" panose="02040503050406030204" pitchFamily="18" charset="0"/>
                            </a:rPr>
                            <m:t>1</m:t>
                          </m:r>
                        </m:num>
                        <m:den>
                          <m:r>
                            <a:rPr lang="en-ID" i="1">
                              <a:solidFill>
                                <a:srgbClr val="000000"/>
                              </a:solidFill>
                              <a:latin typeface="Cambria Math" panose="02040503050406030204" pitchFamily="18" charset="0"/>
                            </a:rPr>
                            <m:t>𝑇</m:t>
                          </m:r>
                        </m:den>
                      </m:f>
                      <m:nary>
                        <m:naryPr>
                          <m:ctrlPr>
                            <a:rPr lang="en-ID" i="1">
                              <a:solidFill>
                                <a:srgbClr val="000000"/>
                              </a:solidFill>
                              <a:latin typeface="Cambria Math" panose="02040503050406030204" pitchFamily="18" charset="0"/>
                            </a:rPr>
                          </m:ctrlPr>
                        </m:naryPr>
                        <m:sub>
                          <m:r>
                            <a:rPr lang="en-ID" i="1">
                              <a:solidFill>
                                <a:srgbClr val="000000"/>
                              </a:solidFill>
                              <a:latin typeface="Cambria Math" panose="02040503050406030204" pitchFamily="18" charset="0"/>
                            </a:rPr>
                            <m:t>0</m:t>
                          </m:r>
                        </m:sub>
                        <m:sup>
                          <m:r>
                            <a:rPr lang="en-ID" i="1">
                              <a:solidFill>
                                <a:srgbClr val="000000"/>
                              </a:solidFill>
                              <a:latin typeface="Cambria Math" panose="02040503050406030204" pitchFamily="18" charset="0"/>
                            </a:rPr>
                            <m:t>𝑇</m:t>
                          </m:r>
                        </m:sup>
                        <m:e>
                          <m:sSub>
                            <m:sSubPr>
                              <m:ctrlPr>
                                <a:rPr lang="en-ID" i="1">
                                  <a:solidFill>
                                    <a:srgbClr val="000000"/>
                                  </a:solidFill>
                                  <a:latin typeface="Cambria Math" panose="02040503050406030204" pitchFamily="18" charset="0"/>
                                </a:rPr>
                              </m:ctrlPr>
                            </m:sSubPr>
                            <m:e>
                              <m:r>
                                <a:rPr lang="en-ID" i="1">
                                  <a:solidFill>
                                    <a:srgbClr val="000000"/>
                                  </a:solidFill>
                                  <a:latin typeface="Cambria Math" panose="02040503050406030204" pitchFamily="18" charset="0"/>
                                </a:rPr>
                                <m:t>𝐿</m:t>
                              </m:r>
                            </m:e>
                            <m:sub>
                              <m:r>
                                <a:rPr lang="en-ID" i="1">
                                  <a:solidFill>
                                    <a:srgbClr val="000000"/>
                                  </a:solidFill>
                                  <a:latin typeface="Cambria Math" panose="02040503050406030204" pitchFamily="18" charset="0"/>
                                </a:rPr>
                                <m:t>𝑄</m:t>
                              </m:r>
                            </m:sub>
                          </m:sSub>
                          <m:r>
                            <a:rPr lang="en-ID" i="1">
                              <a:solidFill>
                                <a:srgbClr val="000000"/>
                              </a:solidFill>
                              <a:latin typeface="Cambria Math" panose="02040503050406030204" pitchFamily="18" charset="0"/>
                            </a:rPr>
                            <m:t>(</m:t>
                          </m:r>
                          <m:r>
                            <a:rPr lang="en-ID" i="1">
                              <a:solidFill>
                                <a:srgbClr val="000000"/>
                              </a:solidFill>
                              <a:latin typeface="Cambria Math" panose="02040503050406030204" pitchFamily="18" charset="0"/>
                            </a:rPr>
                            <m:t>𝑡</m:t>
                          </m:r>
                          <m:r>
                            <a:rPr lang="en-ID" i="1">
                              <a:solidFill>
                                <a:srgbClr val="000000"/>
                              </a:solidFill>
                              <a:latin typeface="Cambria Math" panose="02040503050406030204" pitchFamily="18" charset="0"/>
                            </a:rPr>
                            <m:t>)</m:t>
                          </m:r>
                          <m:r>
                            <a:rPr lang="en-ID" i="1">
                              <a:solidFill>
                                <a:srgbClr val="000000"/>
                              </a:solidFill>
                              <a:latin typeface="Cambria Math" panose="02040503050406030204" pitchFamily="18" charset="0"/>
                            </a:rPr>
                            <m:t>𝑑𝑡</m:t>
                          </m:r>
                        </m:e>
                      </m:nary>
                      <m:r>
                        <a:rPr lang="en-ID" i="1">
                          <a:solidFill>
                            <a:srgbClr val="000000"/>
                          </a:solidFill>
                          <a:latin typeface="Cambria Math" panose="02040503050406030204" pitchFamily="18" charset="0"/>
                        </a:rPr>
                        <m:t>→</m:t>
                      </m:r>
                      <m:sSub>
                        <m:sSubPr>
                          <m:ctrlPr>
                            <a:rPr lang="en-ID" i="1">
                              <a:solidFill>
                                <a:srgbClr val="000000"/>
                              </a:solidFill>
                              <a:latin typeface="Cambria Math" panose="02040503050406030204" pitchFamily="18" charset="0"/>
                            </a:rPr>
                          </m:ctrlPr>
                        </m:sSubPr>
                        <m:e>
                          <m:r>
                            <a:rPr lang="en-ID" i="1">
                              <a:solidFill>
                                <a:srgbClr val="000000"/>
                              </a:solidFill>
                              <a:latin typeface="Cambria Math" panose="02040503050406030204" pitchFamily="18" charset="0"/>
                            </a:rPr>
                            <m:t>𝐿</m:t>
                          </m:r>
                        </m:e>
                        <m:sub>
                          <m:r>
                            <a:rPr lang="en-ID" i="1">
                              <a:solidFill>
                                <a:srgbClr val="000000"/>
                              </a:solidFill>
                              <a:latin typeface="Cambria Math" panose="02040503050406030204" pitchFamily="18" charset="0"/>
                            </a:rPr>
                            <m:t>𝑄</m:t>
                          </m:r>
                        </m:sub>
                      </m:sSub>
                      <m:r>
                        <m:rPr>
                          <m:nor/>
                        </m:rPr>
                        <a:rPr lang="en-ID" i="0">
                          <a:solidFill>
                            <a:srgbClr val="000000"/>
                          </a:solidFill>
                          <a:latin typeface="Cambria Math" panose="02040503050406030204" pitchFamily="18" charset="0"/>
                        </a:rPr>
                        <m:t>   </m:t>
                      </m:r>
                      <m:r>
                        <m:rPr>
                          <m:nor/>
                        </m:rPr>
                        <a:rPr lang="en-ID" i="0">
                          <a:solidFill>
                            <a:srgbClr val="000000"/>
                          </a:solidFill>
                          <a:latin typeface="Cambria Math" panose="02040503050406030204" pitchFamily="18" charset="0"/>
                        </a:rPr>
                        <m:t>as</m:t>
                      </m:r>
                      <m:r>
                        <m:rPr>
                          <m:nor/>
                        </m:rPr>
                        <a:rPr lang="en-ID" i="0">
                          <a:solidFill>
                            <a:srgbClr val="000000"/>
                          </a:solidFill>
                          <a:latin typeface="Cambria Math" panose="02040503050406030204" pitchFamily="18" charset="0"/>
                        </a:rPr>
                        <m:t>    </m:t>
                      </m:r>
                      <m:r>
                        <a:rPr lang="en-ID" i="1">
                          <a:solidFill>
                            <a:srgbClr val="000000"/>
                          </a:solidFill>
                          <a:latin typeface="Cambria Math" panose="02040503050406030204" pitchFamily="18" charset="0"/>
                        </a:rPr>
                        <m:t>𝑇</m:t>
                      </m:r>
                      <m:r>
                        <a:rPr lang="en-ID" i="1">
                          <a:solidFill>
                            <a:srgbClr val="000000"/>
                          </a:solidFill>
                          <a:latin typeface="Cambria Math" panose="02040503050406030204" pitchFamily="18" charset="0"/>
                        </a:rPr>
                        <m:t>→∞</m:t>
                      </m:r>
                    </m:oMath>
                  </m:oMathPara>
                </a14:m>
                <a:endParaRPr lang="en-ID"/>
              </a:p>
            </p:txBody>
          </p:sp>
        </mc:Choice>
        <mc:Fallback xmlns="">
          <p:sp>
            <p:nvSpPr>
              <p:cNvPr id="21511" name="Object 7">
                <a:extLst>
                  <a:ext uri="{FF2B5EF4-FFF2-40B4-BE49-F238E27FC236}">
                    <a16:creationId xmlns:a16="http://schemas.microsoft.com/office/drawing/2014/main" id="{908EC1BC-5A30-8F60-24C5-65158D5666C5}"/>
                  </a:ext>
                </a:extLst>
              </p:cNvPr>
              <p:cNvSpPr txBox="1">
                <a:spLocks noRot="1" noChangeAspect="1" noMove="1" noResize="1" noEditPoints="1" noAdjustHandles="1" noChangeArrowheads="1" noChangeShapeType="1" noTextEdit="1"/>
              </p:cNvSpPr>
              <p:nvPr/>
            </p:nvSpPr>
            <p:spPr bwMode="auto">
              <a:xfrm>
                <a:off x="1685925" y="1765300"/>
                <a:ext cx="5248275" cy="901700"/>
              </a:xfrm>
              <a:prstGeom prst="rect">
                <a:avLst/>
              </a:prstGeom>
              <a:blipFill>
                <a:blip r:embed="rId4"/>
                <a:stretch>
                  <a:fillRect/>
                </a:stretch>
              </a:blipFill>
              <a:ln>
                <a:noFill/>
              </a:ln>
              <a:effectLst/>
            </p:spPr>
            <p:txBody>
              <a:bodyPr/>
              <a:lstStyle/>
              <a:p>
                <a:r>
                  <a:rPr lang="en-ID">
                    <a:noFill/>
                  </a:rPr>
                  <a:t> </a:t>
                </a:r>
              </a:p>
            </p:txBody>
          </p:sp>
        </mc:Fallback>
      </mc:AlternateContent>
      <mc:AlternateContent xmlns:mc="http://schemas.openxmlformats.org/markup-compatibility/2006" xmlns:a14="http://schemas.microsoft.com/office/drawing/2010/main">
        <mc:Choice Requires="a14">
          <p:sp>
            <p:nvSpPr>
              <p:cNvPr id="21512" name="Object 8">
                <a:extLst>
                  <a:ext uri="{FF2B5EF4-FFF2-40B4-BE49-F238E27FC236}">
                    <a16:creationId xmlns:a16="http://schemas.microsoft.com/office/drawing/2014/main" id="{1C45C582-B954-253F-B0DF-8C1924260D83}"/>
                  </a:ext>
                </a:extLst>
              </p:cNvPr>
              <p:cNvSpPr txBox="1"/>
              <p:nvPr/>
            </p:nvSpPr>
            <p:spPr bwMode="auto">
              <a:xfrm>
                <a:off x="4876800" y="3648075"/>
                <a:ext cx="3048000" cy="695325"/>
              </a:xfrm>
              <a:prstGeom prst="rect">
                <a:avLst/>
              </a:prstGeom>
              <a:noFill/>
              <a:ln>
                <a:noFill/>
              </a:ln>
              <a:effectLst/>
            </p:spPr>
            <p:txBody>
              <a:bodyPr>
                <a:normAutofit fontScale="85000" lnSpcReduction="10000"/>
              </a:bodyPr>
              <a:lstStyle/>
              <a:p>
                <a:pPr/>
                <a14:m>
                  <m:oMathPara xmlns:m="http://schemas.openxmlformats.org/officeDocument/2006/math">
                    <m:oMathParaPr>
                      <m:jc m:val="left"/>
                    </m:oMathParaPr>
                    <m:oMath xmlns:m="http://schemas.openxmlformats.org/officeDocument/2006/math">
                      <m:acc>
                        <m:accPr>
                          <m:chr m:val="̂"/>
                          <m:ctrlPr>
                            <a:rPr lang="en-ID" i="1">
                              <a:solidFill>
                                <a:srgbClr val="000000"/>
                              </a:solidFill>
                              <a:latin typeface="Cambria Math" panose="02040503050406030204" pitchFamily="18" charset="0"/>
                            </a:rPr>
                          </m:ctrlPr>
                        </m:accPr>
                        <m:e>
                          <m:r>
                            <a:rPr lang="en-ID" i="1">
                              <a:solidFill>
                                <a:srgbClr val="000000"/>
                              </a:solidFill>
                              <a:latin typeface="Cambria Math" panose="02040503050406030204" pitchFamily="18" charset="0"/>
                            </a:rPr>
                            <m:t>𝐿</m:t>
                          </m:r>
                        </m:e>
                      </m:acc>
                      <m:r>
                        <m:rPr>
                          <m:aln/>
                        </m:rPr>
                        <a:rPr lang="en-ID" i="1">
                          <a:solidFill>
                            <a:srgbClr val="000000"/>
                          </a:solidFill>
                          <a:latin typeface="Cambria Math" panose="02040503050406030204" pitchFamily="18" charset="0"/>
                        </a:rPr>
                        <m:t>=</m:t>
                      </m:r>
                      <m:r>
                        <a:rPr lang="en-ID" i="1">
                          <a:solidFill>
                            <a:srgbClr val="000000"/>
                          </a:solidFill>
                          <a:latin typeface="Cambria Math" panose="02040503050406030204" pitchFamily="18" charset="0"/>
                        </a:rPr>
                        <m:t>[0(3)+1(12)+2(4)+3(1)]/20</m:t>
                      </m:r>
                    </m:oMath>
                    <m:oMath xmlns:m="http://schemas.openxmlformats.org/officeDocument/2006/math">
                      <m:r>
                        <m:rPr>
                          <m:aln/>
                        </m:rPr>
                        <a:rPr lang="en-ID" i="1">
                          <a:solidFill>
                            <a:srgbClr val="000000"/>
                          </a:solidFill>
                          <a:latin typeface="Cambria Math" panose="02040503050406030204" pitchFamily="18" charset="0"/>
                        </a:rPr>
                        <m:t>=</m:t>
                      </m:r>
                      <m:r>
                        <a:rPr lang="en-ID" i="1">
                          <a:solidFill>
                            <a:srgbClr val="000000"/>
                          </a:solidFill>
                          <a:latin typeface="Cambria Math" panose="02040503050406030204" pitchFamily="18" charset="0"/>
                        </a:rPr>
                        <m:t>23/20=1.15</m:t>
                      </m:r>
                      <m:r>
                        <m:rPr>
                          <m:nor/>
                        </m:rPr>
                        <a:rPr lang="en-ID" i="0">
                          <a:solidFill>
                            <a:srgbClr val="000000"/>
                          </a:solidFill>
                          <a:latin typeface="Cambria Math" panose="02040503050406030204" pitchFamily="18" charset="0"/>
                        </a:rPr>
                        <m:t> </m:t>
                      </m:r>
                      <m:r>
                        <m:rPr>
                          <m:nor/>
                        </m:rPr>
                        <a:rPr lang="en-ID" i="0">
                          <a:solidFill>
                            <a:srgbClr val="000000"/>
                          </a:solidFill>
                          <a:latin typeface="Cambria Math" panose="02040503050406030204" pitchFamily="18" charset="0"/>
                        </a:rPr>
                        <m:t>cusomters</m:t>
                      </m:r>
                    </m:oMath>
                  </m:oMathPara>
                </a14:m>
                <a:endParaRPr lang="en-ID"/>
              </a:p>
            </p:txBody>
          </p:sp>
        </mc:Choice>
        <mc:Fallback xmlns="">
          <p:sp>
            <p:nvSpPr>
              <p:cNvPr id="21512" name="Object 8">
                <a:extLst>
                  <a:ext uri="{FF2B5EF4-FFF2-40B4-BE49-F238E27FC236}">
                    <a16:creationId xmlns:a16="http://schemas.microsoft.com/office/drawing/2014/main" id="{1C45C582-B954-253F-B0DF-8C1924260D83}"/>
                  </a:ext>
                </a:extLst>
              </p:cNvPr>
              <p:cNvSpPr txBox="1">
                <a:spLocks noRot="1" noChangeAspect="1" noMove="1" noResize="1" noEditPoints="1" noAdjustHandles="1" noChangeArrowheads="1" noChangeShapeType="1" noTextEdit="1"/>
              </p:cNvSpPr>
              <p:nvPr/>
            </p:nvSpPr>
            <p:spPr bwMode="auto">
              <a:xfrm>
                <a:off x="4876800" y="3648075"/>
                <a:ext cx="3048000" cy="695325"/>
              </a:xfrm>
              <a:prstGeom prst="rect">
                <a:avLst/>
              </a:prstGeom>
              <a:blipFill>
                <a:blip r:embed="rId5"/>
                <a:stretch>
                  <a:fillRect t="-870"/>
                </a:stretch>
              </a:blipFill>
              <a:ln>
                <a:noFill/>
              </a:ln>
              <a:effectLst/>
            </p:spPr>
            <p:txBody>
              <a:bodyPr/>
              <a:lstStyle/>
              <a:p>
                <a:r>
                  <a:rPr lang="en-ID">
                    <a:noFill/>
                  </a:rPr>
                  <a:t> </a:t>
                </a:r>
              </a:p>
            </p:txBody>
          </p:sp>
        </mc:Fallback>
      </mc:AlternateContent>
      <p:pic>
        <p:nvPicPr>
          <p:cNvPr id="21513" name="Picture 9" descr="06-6">
            <a:extLst>
              <a:ext uri="{FF2B5EF4-FFF2-40B4-BE49-F238E27FC236}">
                <a16:creationId xmlns:a16="http://schemas.microsoft.com/office/drawing/2014/main" id="{2BF6FAD8-4EBC-9A4E-E586-F76C193A8B6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5800" y="3871913"/>
            <a:ext cx="3810000" cy="2376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Number Placeholder 6">
            <a:extLst>
              <a:ext uri="{FF2B5EF4-FFF2-40B4-BE49-F238E27FC236}">
                <a16:creationId xmlns:a16="http://schemas.microsoft.com/office/drawing/2014/main" id="{3283B287-AE06-ACC6-3A62-728D9EBA15D9}"/>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5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4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9pPr>
          </a:lstStyle>
          <a:p>
            <a:pPr>
              <a:spcBef>
                <a:spcPct val="0"/>
              </a:spcBef>
              <a:buClrTx/>
              <a:buSzTx/>
              <a:buFontTx/>
              <a:buNone/>
            </a:pPr>
            <a:fld id="{24DC6F9C-BA12-42C0-AC2D-5AB4E362F20C}" type="slidenum">
              <a:rPr lang="en-US" altLang="id-ID" sz="1200">
                <a:latin typeface="Arial Black" panose="020B0A04020102020204" pitchFamily="34" charset="0"/>
              </a:rPr>
              <a:pPr>
                <a:spcBef>
                  <a:spcPct val="0"/>
                </a:spcBef>
                <a:buClrTx/>
                <a:buSzTx/>
                <a:buFontTx/>
                <a:buNone/>
              </a:pPr>
              <a:t>17</a:t>
            </a:fld>
            <a:endParaRPr lang="en-US" altLang="id-ID" sz="1200">
              <a:latin typeface="Arial Black" panose="020B0A04020102020204" pitchFamily="34" charset="0"/>
            </a:endParaRPr>
          </a:p>
        </p:txBody>
      </p:sp>
      <p:sp>
        <p:nvSpPr>
          <p:cNvPr id="22531" name="Rectangle 2">
            <a:extLst>
              <a:ext uri="{FF2B5EF4-FFF2-40B4-BE49-F238E27FC236}">
                <a16:creationId xmlns:a16="http://schemas.microsoft.com/office/drawing/2014/main" id="{52E5395F-249B-84B2-AB19-8FCBE490FC26}"/>
              </a:ext>
            </a:extLst>
          </p:cNvPr>
          <p:cNvSpPr>
            <a:spLocks noGrp="1" noChangeArrowheads="1"/>
          </p:cNvSpPr>
          <p:nvPr>
            <p:ph type="title"/>
          </p:nvPr>
        </p:nvSpPr>
        <p:spPr>
          <a:xfrm>
            <a:off x="457200" y="381000"/>
            <a:ext cx="8305800" cy="762000"/>
          </a:xfrm>
        </p:spPr>
        <p:txBody>
          <a:bodyPr/>
          <a:lstStyle/>
          <a:p>
            <a:pPr eaLnBrk="1" hangingPunct="1"/>
            <a:r>
              <a:rPr lang="en-US" altLang="id-ID" dirty="0"/>
              <a:t>Rata-rata </a:t>
            </a:r>
            <a:r>
              <a:rPr lang="en-US" altLang="id-ID" dirty="0" err="1"/>
              <a:t>waktu</a:t>
            </a:r>
            <a:r>
              <a:rPr lang="en-US" altLang="id-ID" dirty="0"/>
              <a:t> </a:t>
            </a:r>
            <a:r>
              <a:rPr lang="en-US" altLang="id-ID" dirty="0" err="1"/>
              <a:t>yg</a:t>
            </a:r>
            <a:r>
              <a:rPr lang="en-US" altLang="id-ID" dirty="0"/>
              <a:t> </a:t>
            </a:r>
            <a:r>
              <a:rPr lang="en-US" altLang="id-ID" dirty="0" err="1"/>
              <a:t>dihabiskan</a:t>
            </a:r>
            <a:r>
              <a:rPr lang="en-US" altLang="id-ID" dirty="0"/>
              <a:t> </a:t>
            </a:r>
            <a:r>
              <a:rPr lang="en-US" altLang="id-ID" dirty="0" err="1"/>
              <a:t>dalam</a:t>
            </a:r>
            <a:r>
              <a:rPr lang="en-US" altLang="id-ID" dirty="0"/>
              <a:t> </a:t>
            </a:r>
            <a:r>
              <a:rPr lang="en-US" altLang="id-ID" dirty="0" err="1"/>
              <a:t>sistem</a:t>
            </a:r>
            <a:r>
              <a:rPr lang="en-US" altLang="id-ID" dirty="0"/>
              <a:t> per Customer </a:t>
            </a:r>
            <a:r>
              <a:rPr lang="en-US" altLang="id-ID" i="1" dirty="0"/>
              <a:t>w</a:t>
            </a:r>
            <a:r>
              <a:rPr lang="en-US" altLang="id-ID" sz="2200" dirty="0"/>
              <a:t>	                    </a:t>
            </a:r>
            <a:r>
              <a:rPr lang="en-US" altLang="id-ID" sz="2200" dirty="0">
                <a:solidFill>
                  <a:schemeClr val="bg2"/>
                </a:solidFill>
              </a:rPr>
              <a:t>[</a:t>
            </a:r>
            <a:r>
              <a:rPr lang="en-US" altLang="id-ID" sz="2200" dirty="0" err="1">
                <a:solidFill>
                  <a:schemeClr val="bg2"/>
                </a:solidFill>
              </a:rPr>
              <a:t>Karakteristik</a:t>
            </a:r>
            <a:r>
              <a:rPr lang="en-US" altLang="id-ID" sz="2200" dirty="0">
                <a:solidFill>
                  <a:schemeClr val="bg2"/>
                </a:solidFill>
              </a:rPr>
              <a:t> </a:t>
            </a:r>
            <a:r>
              <a:rPr lang="en-US" altLang="id-ID" sz="2200" dirty="0" err="1">
                <a:solidFill>
                  <a:schemeClr val="bg2"/>
                </a:solidFill>
              </a:rPr>
              <a:t>Sistem</a:t>
            </a:r>
            <a:r>
              <a:rPr lang="en-US" altLang="id-ID" sz="2200" dirty="0">
                <a:solidFill>
                  <a:schemeClr val="bg2"/>
                </a:solidFill>
              </a:rPr>
              <a:t> </a:t>
            </a:r>
            <a:r>
              <a:rPr lang="en-US" altLang="id-ID" sz="2200" dirty="0" err="1">
                <a:solidFill>
                  <a:schemeClr val="bg2"/>
                </a:solidFill>
              </a:rPr>
              <a:t>Antrean</a:t>
            </a:r>
            <a:r>
              <a:rPr lang="en-US" altLang="id-ID" sz="2200" dirty="0">
                <a:solidFill>
                  <a:schemeClr val="bg2"/>
                </a:solidFill>
              </a:rPr>
              <a:t>]</a:t>
            </a:r>
          </a:p>
        </p:txBody>
      </p:sp>
      <p:sp>
        <p:nvSpPr>
          <p:cNvPr id="22532" name="Rectangle 3">
            <a:extLst>
              <a:ext uri="{FF2B5EF4-FFF2-40B4-BE49-F238E27FC236}">
                <a16:creationId xmlns:a16="http://schemas.microsoft.com/office/drawing/2014/main" id="{7BDFB54A-D505-1005-B1D2-0784E14E9531}"/>
              </a:ext>
            </a:extLst>
          </p:cNvPr>
          <p:cNvSpPr>
            <a:spLocks noGrp="1" noChangeArrowheads="1"/>
          </p:cNvSpPr>
          <p:nvPr>
            <p:ph type="body" sz="half" idx="1"/>
          </p:nvPr>
        </p:nvSpPr>
        <p:spPr>
          <a:xfrm>
            <a:off x="457200" y="1447800"/>
            <a:ext cx="8305800" cy="4800600"/>
          </a:xfrm>
        </p:spPr>
        <p:txBody>
          <a:bodyPr/>
          <a:lstStyle/>
          <a:p>
            <a:pPr eaLnBrk="1" hangingPunct="1"/>
            <a:r>
              <a:rPr lang="en-US" altLang="id-ID" sz="2400" dirty="0"/>
              <a:t>Waktu rata-rata yang </a:t>
            </a:r>
            <a:r>
              <a:rPr lang="en-US" altLang="id-ID" sz="2400" dirty="0" err="1"/>
              <a:t>dihabiskan</a:t>
            </a:r>
            <a:r>
              <a:rPr lang="en-US" altLang="id-ID" sz="2400" dirty="0"/>
              <a:t> </a:t>
            </a:r>
            <a:r>
              <a:rPr lang="en-US" altLang="id-ID" sz="2400" dirty="0" err="1"/>
              <a:t>dalam</a:t>
            </a:r>
            <a:r>
              <a:rPr lang="en-US" altLang="id-ID" sz="2400" dirty="0"/>
              <a:t> </a:t>
            </a:r>
            <a:r>
              <a:rPr lang="en-US" altLang="id-ID" sz="2400" dirty="0" err="1"/>
              <a:t>sistem</a:t>
            </a:r>
            <a:r>
              <a:rPr lang="en-US" altLang="id-ID" sz="2400" dirty="0"/>
              <a:t> per customer, </a:t>
            </a:r>
            <a:r>
              <a:rPr lang="en-US" altLang="id-ID" sz="2400" dirty="0" err="1"/>
              <a:t>disebut</a:t>
            </a:r>
            <a:r>
              <a:rPr lang="en-US" altLang="id-ID" sz="2400" dirty="0"/>
              <a:t> </a:t>
            </a:r>
            <a:r>
              <a:rPr lang="en-US" altLang="id-ID" sz="2400" dirty="0" err="1"/>
              <a:t>waktu</a:t>
            </a:r>
            <a:r>
              <a:rPr lang="en-US" altLang="id-ID" sz="2400" dirty="0"/>
              <a:t> </a:t>
            </a:r>
            <a:r>
              <a:rPr lang="en-US" altLang="id-ID" sz="2400" dirty="0" err="1"/>
              <a:t>sistem</a:t>
            </a:r>
            <a:r>
              <a:rPr lang="en-US" altLang="id-ID" sz="2400" dirty="0"/>
              <a:t> rata-rata, </a:t>
            </a:r>
            <a:r>
              <a:rPr lang="en-US" altLang="id-ID" sz="2400" dirty="0" err="1"/>
              <a:t>adalah</a:t>
            </a:r>
            <a:r>
              <a:rPr lang="en-US" altLang="id-ID" sz="2400" dirty="0"/>
              <a:t> :</a:t>
            </a:r>
          </a:p>
          <a:p>
            <a:pPr lvl="1" eaLnBrk="1" hangingPunct="1"/>
            <a:endParaRPr lang="en-US" altLang="id-ID" sz="2000" dirty="0"/>
          </a:p>
          <a:p>
            <a:pPr lvl="1" eaLnBrk="1" hangingPunct="1">
              <a:buFont typeface="Wingdings" panose="05000000000000000000" pitchFamily="2" charset="2"/>
              <a:buNone/>
            </a:pPr>
            <a:endParaRPr lang="en-US" altLang="id-ID" sz="2000" dirty="0"/>
          </a:p>
          <a:p>
            <a:pPr lvl="1" eaLnBrk="1" hangingPunct="1">
              <a:buFont typeface="Wingdings" panose="05000000000000000000" pitchFamily="2" charset="2"/>
              <a:buNone/>
            </a:pPr>
            <a:r>
              <a:rPr lang="en-US" altLang="id-ID" sz="2000" dirty="0"/>
              <a:t> </a:t>
            </a:r>
            <a:r>
              <a:rPr lang="en-US" altLang="id-ID" sz="2000" dirty="0" err="1"/>
              <a:t>dimana</a:t>
            </a:r>
            <a:r>
              <a:rPr lang="en-US" altLang="id-ID" sz="2000" dirty="0"/>
              <a:t> </a:t>
            </a:r>
            <a:r>
              <a:rPr lang="en-US" altLang="id-ID" sz="2000" i="1" dirty="0"/>
              <a:t>W</a:t>
            </a:r>
            <a:r>
              <a:rPr lang="en-US" altLang="id-ID" sz="2000" i="1" baseline="-25000" dirty="0"/>
              <a:t>1</a:t>
            </a:r>
            <a:r>
              <a:rPr lang="en-US" altLang="id-ID" sz="2000" i="1" dirty="0"/>
              <a:t>, W</a:t>
            </a:r>
            <a:r>
              <a:rPr lang="en-US" altLang="id-ID" sz="2000" i="1" baseline="-25000" dirty="0"/>
              <a:t>2</a:t>
            </a:r>
            <a:r>
              <a:rPr lang="en-US" altLang="id-ID" sz="2000" i="1" dirty="0"/>
              <a:t>, …, W</a:t>
            </a:r>
            <a:r>
              <a:rPr lang="en-US" altLang="id-ID" sz="2000" i="1" baseline="-25000" dirty="0"/>
              <a:t>N</a:t>
            </a:r>
            <a:r>
              <a:rPr lang="en-US" altLang="id-ID" sz="2000" dirty="0"/>
              <a:t> </a:t>
            </a:r>
            <a:r>
              <a:rPr lang="en-US" altLang="id-ID" sz="2000" dirty="0" err="1"/>
              <a:t>adalah</a:t>
            </a:r>
            <a:r>
              <a:rPr lang="en-US" altLang="id-ID" sz="2000" dirty="0"/>
              <a:t> </a:t>
            </a:r>
            <a:r>
              <a:rPr lang="en-US" altLang="id-ID" sz="2000" dirty="0" err="1"/>
              <a:t>waktu</a:t>
            </a:r>
            <a:r>
              <a:rPr lang="en-US" altLang="id-ID" sz="2000" dirty="0"/>
              <a:t> individual yang masing-masing </a:t>
            </a:r>
            <a:r>
              <a:rPr lang="en-US" altLang="id-ID" sz="2000" dirty="0" err="1"/>
              <a:t>dari</a:t>
            </a:r>
            <a:r>
              <a:rPr lang="en-US" altLang="id-ID" sz="2000" dirty="0"/>
              <a:t> </a:t>
            </a:r>
            <a:r>
              <a:rPr lang="en-US" altLang="id-ID" sz="2000" i="1" dirty="0"/>
              <a:t>N</a:t>
            </a:r>
            <a:r>
              <a:rPr lang="en-US" altLang="id-ID" sz="2000" dirty="0"/>
              <a:t> customer </a:t>
            </a:r>
            <a:r>
              <a:rPr lang="en-US" altLang="id-ID" sz="2000" dirty="0" err="1"/>
              <a:t>habiskan</a:t>
            </a:r>
            <a:r>
              <a:rPr lang="en-US" altLang="id-ID" sz="2000" dirty="0"/>
              <a:t> </a:t>
            </a:r>
            <a:r>
              <a:rPr lang="en-US" altLang="id-ID" sz="2000" dirty="0" err="1"/>
              <a:t>dalam</a:t>
            </a:r>
            <a:r>
              <a:rPr lang="en-US" altLang="id-ID" sz="2000" dirty="0"/>
              <a:t> </a:t>
            </a:r>
            <a:r>
              <a:rPr lang="en-US" altLang="id-ID" sz="2000" dirty="0" err="1"/>
              <a:t>sistem</a:t>
            </a:r>
            <a:r>
              <a:rPr lang="en-US" altLang="id-ID" sz="2000" dirty="0"/>
              <a:t> </a:t>
            </a:r>
            <a:r>
              <a:rPr lang="en-US" altLang="id-ID" sz="2000" dirty="0" err="1"/>
              <a:t>selama</a:t>
            </a:r>
            <a:r>
              <a:rPr lang="en-US" altLang="id-ID" sz="2000" dirty="0"/>
              <a:t>  [</a:t>
            </a:r>
            <a:r>
              <a:rPr lang="en-US" altLang="id-ID" sz="2000" i="1" dirty="0"/>
              <a:t>0,T</a:t>
            </a:r>
            <a:r>
              <a:rPr lang="en-US" altLang="id-ID" sz="2000" dirty="0"/>
              <a:t>].</a:t>
            </a:r>
          </a:p>
          <a:p>
            <a:pPr lvl="1" eaLnBrk="1" hangingPunct="1"/>
            <a:r>
              <a:rPr lang="en-US" altLang="id-ID" sz="2000" dirty="0" err="1"/>
              <a:t>Untuk</a:t>
            </a:r>
            <a:r>
              <a:rPr lang="en-US" altLang="id-ID" sz="2000" dirty="0"/>
              <a:t> </a:t>
            </a:r>
            <a:r>
              <a:rPr lang="en-US" altLang="id-ID" sz="2000" dirty="0" err="1"/>
              <a:t>sistem</a:t>
            </a:r>
            <a:r>
              <a:rPr lang="en-US" altLang="id-ID" sz="2000" dirty="0"/>
              <a:t> </a:t>
            </a:r>
            <a:r>
              <a:rPr lang="en-US" altLang="id-ID" sz="2000" dirty="0" err="1"/>
              <a:t>stabil</a:t>
            </a:r>
            <a:endParaRPr lang="en-US" altLang="id-ID" sz="2000" dirty="0"/>
          </a:p>
          <a:p>
            <a:pPr lvl="1" eaLnBrk="1" hangingPunct="1"/>
            <a:r>
              <a:rPr lang="en-US" altLang="id-ID" sz="2000" dirty="0"/>
              <a:t>Jika </a:t>
            </a:r>
            <a:r>
              <a:rPr lang="en-US" altLang="id-ID" sz="2000" dirty="0" err="1"/>
              <a:t>sistem</a:t>
            </a:r>
            <a:r>
              <a:rPr lang="en-US" altLang="id-ID" sz="2000" dirty="0"/>
              <a:t> yang </a:t>
            </a:r>
            <a:r>
              <a:rPr lang="en-US" altLang="id-ID" sz="2000" dirty="0" err="1"/>
              <a:t>diulas</a:t>
            </a:r>
            <a:r>
              <a:rPr lang="en-US" altLang="id-ID" sz="2000" dirty="0"/>
              <a:t> </a:t>
            </a:r>
            <a:r>
              <a:rPr lang="en-US" altLang="id-ID" sz="2000" dirty="0" err="1"/>
              <a:t>adalah</a:t>
            </a:r>
            <a:r>
              <a:rPr lang="en-US" altLang="id-ID" sz="2000" dirty="0"/>
              <a:t> </a:t>
            </a:r>
            <a:r>
              <a:rPr lang="en-US" altLang="id-ID" sz="2000" dirty="0" err="1"/>
              <a:t>antrean</a:t>
            </a:r>
            <a:r>
              <a:rPr lang="en-US" altLang="id-ID" sz="2000" dirty="0"/>
              <a:t> </a:t>
            </a:r>
            <a:r>
              <a:rPr lang="en-US" altLang="id-ID" sz="2000" dirty="0" err="1"/>
              <a:t>tunggal</a:t>
            </a:r>
            <a:r>
              <a:rPr lang="en-US" altLang="id-ID" sz="2000" dirty="0"/>
              <a:t> :</a:t>
            </a:r>
          </a:p>
          <a:p>
            <a:pPr lvl="1" eaLnBrk="1" hangingPunct="1"/>
            <a:endParaRPr lang="en-US" altLang="id-ID" sz="2000" dirty="0"/>
          </a:p>
          <a:p>
            <a:pPr lvl="1" eaLnBrk="1" hangingPunct="1"/>
            <a:endParaRPr lang="en-US" altLang="id-ID" sz="2000" dirty="0"/>
          </a:p>
          <a:p>
            <a:pPr lvl="1" eaLnBrk="1" hangingPunct="1"/>
            <a:r>
              <a:rPr lang="en-US" altLang="id-ID" sz="2000" i="1" dirty="0" err="1"/>
              <a:t>Contoh</a:t>
            </a:r>
            <a:r>
              <a:rPr lang="en-US" altLang="id-ID" sz="2000" i="1" dirty="0"/>
              <a:t> G/G/1/N/K (</a:t>
            </a:r>
            <a:r>
              <a:rPr lang="en-US" altLang="id-ID" sz="2000" i="1" dirty="0" err="1"/>
              <a:t>lanjutan</a:t>
            </a:r>
            <a:r>
              <a:rPr lang="en-US" altLang="id-ID" sz="2000" i="1" dirty="0"/>
              <a:t>): </a:t>
            </a:r>
            <a:r>
              <a:rPr lang="en-US" altLang="id-ID" sz="2000" i="1" dirty="0" err="1"/>
              <a:t>waktu</a:t>
            </a:r>
            <a:r>
              <a:rPr lang="en-US" altLang="id-ID" sz="2000" i="1" dirty="0"/>
              <a:t> </a:t>
            </a:r>
            <a:r>
              <a:rPr lang="en-US" altLang="id-ID" sz="2000" i="1" dirty="0" err="1"/>
              <a:t>sistem</a:t>
            </a:r>
            <a:r>
              <a:rPr lang="en-US" altLang="id-ID" sz="2000" i="1" dirty="0"/>
              <a:t> rata-rata </a:t>
            </a:r>
            <a:r>
              <a:rPr lang="en-US" altLang="id-ID" sz="2000" i="1" dirty="0" err="1"/>
              <a:t>adalah</a:t>
            </a:r>
            <a:endParaRPr lang="en-US" altLang="id-ID" sz="2000" dirty="0"/>
          </a:p>
        </p:txBody>
      </p:sp>
      <mc:AlternateContent xmlns:mc="http://schemas.openxmlformats.org/markup-compatibility/2006" xmlns:a14="http://schemas.microsoft.com/office/drawing/2010/main">
        <mc:Choice Requires="a14">
          <p:sp>
            <p:nvSpPr>
              <p:cNvPr id="22533" name="Object 15">
                <a:extLst>
                  <a:ext uri="{FF2B5EF4-FFF2-40B4-BE49-F238E27FC236}">
                    <a16:creationId xmlns:a16="http://schemas.microsoft.com/office/drawing/2014/main" id="{7C9ED095-9164-5031-C408-C498DB79173D}"/>
                  </a:ext>
                </a:extLst>
              </p:cNvPr>
              <p:cNvSpPr txBox="1">
                <a:spLocks noGrp="1"/>
              </p:cNvSpPr>
              <p:nvPr>
                <p:ph sz="quarter" idx="2"/>
              </p:nvPr>
            </p:nvSpPr>
            <p:spPr bwMode="auto">
              <a:xfrm>
                <a:off x="3733800" y="3657600"/>
                <a:ext cx="2286000" cy="376238"/>
              </a:xfrm>
              <a:prstGeom prst="rect">
                <a:avLst/>
              </a:prstGeom>
              <a:noFill/>
              <a:ln>
                <a:noFill/>
              </a:ln>
              <a:effectLst/>
            </p:spPr>
            <p:txBody>
              <a:bodyPr>
                <a:normAutofit fontScale="62500" lnSpcReduction="20000"/>
              </a:bodyPr>
              <a:lstStyle/>
              <a:p>
                <a:pPr>
                  <a:buNone/>
                </a:pPr>
                <a14:m>
                  <m:oMathPara xmlns:m="http://schemas.openxmlformats.org/officeDocument/2006/math">
                    <m:oMathParaPr>
                      <m:jc m:val="left"/>
                    </m:oMathParaPr>
                    <m:oMath xmlns:m="http://schemas.openxmlformats.org/officeDocument/2006/math">
                      <m:acc>
                        <m:accPr>
                          <m:chr m:val="̂"/>
                          <m:ctrlPr>
                            <a:rPr lang="en-ID" i="1">
                              <a:solidFill>
                                <a:srgbClr val="000000"/>
                              </a:solidFill>
                              <a:latin typeface="Cambria Math" panose="02040503050406030204" pitchFamily="18" charset="0"/>
                            </a:rPr>
                          </m:ctrlPr>
                        </m:accPr>
                        <m:e>
                          <m:r>
                            <a:rPr lang="en-ID" i="1">
                              <a:solidFill>
                                <a:srgbClr val="000000"/>
                              </a:solidFill>
                              <a:latin typeface="Cambria Math" panose="02040503050406030204" pitchFamily="18" charset="0"/>
                            </a:rPr>
                            <m:t>𝑤</m:t>
                          </m:r>
                        </m:e>
                      </m:acc>
                      <m:r>
                        <a:rPr lang="en-ID" i="1">
                          <a:solidFill>
                            <a:srgbClr val="000000"/>
                          </a:solidFill>
                          <a:latin typeface="Cambria Math" panose="02040503050406030204" pitchFamily="18" charset="0"/>
                        </a:rPr>
                        <m:t>→</m:t>
                      </m:r>
                      <m:r>
                        <a:rPr lang="en-ID" i="1">
                          <a:solidFill>
                            <a:srgbClr val="000000"/>
                          </a:solidFill>
                          <a:latin typeface="Cambria Math" panose="02040503050406030204" pitchFamily="18" charset="0"/>
                        </a:rPr>
                        <m:t>𝑤</m:t>
                      </m:r>
                      <m:r>
                        <m:rPr>
                          <m:nor/>
                        </m:rPr>
                        <a:rPr lang="en-ID" i="0">
                          <a:solidFill>
                            <a:srgbClr val="000000"/>
                          </a:solidFill>
                          <a:latin typeface="Cambria Math" panose="02040503050406030204" pitchFamily="18" charset="0"/>
                        </a:rPr>
                        <m:t>  </m:t>
                      </m:r>
                      <m:r>
                        <m:rPr>
                          <m:nor/>
                        </m:rPr>
                        <a:rPr lang="en-ID" i="0">
                          <a:solidFill>
                            <a:srgbClr val="000000"/>
                          </a:solidFill>
                          <a:latin typeface="Cambria Math" panose="02040503050406030204" pitchFamily="18" charset="0"/>
                        </a:rPr>
                        <m:t>as</m:t>
                      </m:r>
                      <m:r>
                        <m:rPr>
                          <m:nor/>
                        </m:rPr>
                        <a:rPr lang="en-ID" i="0">
                          <a:solidFill>
                            <a:srgbClr val="000000"/>
                          </a:solidFill>
                          <a:latin typeface="Cambria Math" panose="02040503050406030204" pitchFamily="18" charset="0"/>
                        </a:rPr>
                        <m:t>  </m:t>
                      </m:r>
                      <m:r>
                        <a:rPr lang="en-ID" i="1">
                          <a:solidFill>
                            <a:srgbClr val="000000"/>
                          </a:solidFill>
                          <a:latin typeface="Cambria Math" panose="02040503050406030204" pitchFamily="18" charset="0"/>
                        </a:rPr>
                        <m:t>𝑁</m:t>
                      </m:r>
                      <m:r>
                        <a:rPr lang="en-ID" i="1">
                          <a:solidFill>
                            <a:srgbClr val="000000"/>
                          </a:solidFill>
                          <a:latin typeface="Cambria Math" panose="02040503050406030204" pitchFamily="18" charset="0"/>
                        </a:rPr>
                        <m:t>→∞</m:t>
                      </m:r>
                    </m:oMath>
                  </m:oMathPara>
                </a14:m>
                <a:endParaRPr lang="en-ID"/>
              </a:p>
            </p:txBody>
          </p:sp>
        </mc:Choice>
        <mc:Fallback xmlns="">
          <p:sp>
            <p:nvSpPr>
              <p:cNvPr id="22533" name="Object 15">
                <a:extLst>
                  <a:ext uri="{FF2B5EF4-FFF2-40B4-BE49-F238E27FC236}">
                    <a16:creationId xmlns:a16="http://schemas.microsoft.com/office/drawing/2014/main" id="{7C9ED095-9164-5031-C408-C498DB79173D}"/>
                  </a:ext>
                </a:extLst>
              </p:cNvPr>
              <p:cNvSpPr txBox="1">
                <a:spLocks noRot="1" noChangeAspect="1" noMove="1" noResize="1" noEditPoints="1" noAdjustHandles="1" noChangeArrowheads="1" noChangeShapeType="1" noTextEdit="1"/>
              </p:cNvSpPr>
              <p:nvPr>
                <p:ph sz="quarter" idx="2"/>
              </p:nvPr>
            </p:nvSpPr>
            <p:spPr bwMode="auto">
              <a:xfrm>
                <a:off x="3733800" y="3657600"/>
                <a:ext cx="2286000" cy="376238"/>
              </a:xfrm>
              <a:prstGeom prst="rect">
                <a:avLst/>
              </a:prstGeom>
              <a:blipFill>
                <a:blip r:embed="rId2"/>
                <a:stretch>
                  <a:fillRect t="-4839"/>
                </a:stretch>
              </a:blipFill>
              <a:ln>
                <a:noFill/>
              </a:ln>
              <a:effectLst/>
            </p:spPr>
            <p:txBody>
              <a:bodyPr/>
              <a:lstStyle/>
              <a:p>
                <a:r>
                  <a:rPr lang="en-ID">
                    <a:noFill/>
                  </a:rPr>
                  <a:t> </a:t>
                </a:r>
              </a:p>
            </p:txBody>
          </p:sp>
        </mc:Fallback>
      </mc:AlternateContent>
      <mc:AlternateContent xmlns:mc="http://schemas.openxmlformats.org/markup-compatibility/2006" xmlns:a14="http://schemas.microsoft.com/office/drawing/2010/main">
        <mc:Choice Requires="a14">
          <p:sp>
            <p:nvSpPr>
              <p:cNvPr id="22534" name="Object 8">
                <a:extLst>
                  <a:ext uri="{FF2B5EF4-FFF2-40B4-BE49-F238E27FC236}">
                    <a16:creationId xmlns:a16="http://schemas.microsoft.com/office/drawing/2014/main" id="{70F187BB-A5FB-B1FB-4888-95F7BE54BF3D}"/>
                  </a:ext>
                </a:extLst>
              </p:cNvPr>
              <p:cNvSpPr txBox="1"/>
              <p:nvPr/>
            </p:nvSpPr>
            <p:spPr bwMode="auto">
              <a:xfrm>
                <a:off x="5062870" y="2155824"/>
                <a:ext cx="1524000" cy="938213"/>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acc>
                        <m:accPr>
                          <m:chr m:val="̂"/>
                          <m:ctrlPr>
                            <a:rPr lang="en-ID" i="1">
                              <a:solidFill>
                                <a:srgbClr val="000000"/>
                              </a:solidFill>
                              <a:latin typeface="Cambria Math" panose="02040503050406030204" pitchFamily="18" charset="0"/>
                            </a:rPr>
                          </m:ctrlPr>
                        </m:accPr>
                        <m:e>
                          <m:r>
                            <a:rPr lang="en-ID" i="1">
                              <a:solidFill>
                                <a:srgbClr val="000000"/>
                              </a:solidFill>
                              <a:latin typeface="Cambria Math" panose="02040503050406030204" pitchFamily="18" charset="0"/>
                            </a:rPr>
                            <m:t>𝑤</m:t>
                          </m:r>
                        </m:e>
                      </m:acc>
                      <m:r>
                        <a:rPr lang="en-ID" i="1">
                          <a:solidFill>
                            <a:srgbClr val="000000"/>
                          </a:solidFill>
                          <a:latin typeface="Cambria Math" panose="02040503050406030204" pitchFamily="18" charset="0"/>
                        </a:rPr>
                        <m:t>=</m:t>
                      </m:r>
                      <m:f>
                        <m:fPr>
                          <m:ctrlPr>
                            <a:rPr lang="en-ID" i="1">
                              <a:solidFill>
                                <a:srgbClr val="000000"/>
                              </a:solidFill>
                              <a:latin typeface="Cambria Math" panose="02040503050406030204" pitchFamily="18" charset="0"/>
                            </a:rPr>
                          </m:ctrlPr>
                        </m:fPr>
                        <m:num>
                          <m:r>
                            <a:rPr lang="en-ID" i="1">
                              <a:solidFill>
                                <a:srgbClr val="000000"/>
                              </a:solidFill>
                              <a:latin typeface="Cambria Math" panose="02040503050406030204" pitchFamily="18" charset="0"/>
                            </a:rPr>
                            <m:t>1</m:t>
                          </m:r>
                        </m:num>
                        <m:den>
                          <m:r>
                            <a:rPr lang="en-ID" i="1">
                              <a:solidFill>
                                <a:srgbClr val="000000"/>
                              </a:solidFill>
                              <a:latin typeface="Cambria Math" panose="02040503050406030204" pitchFamily="18" charset="0"/>
                            </a:rPr>
                            <m:t>𝑁</m:t>
                          </m:r>
                        </m:den>
                      </m:f>
                      <m:nary>
                        <m:naryPr>
                          <m:chr m:val="∑"/>
                          <m:ctrlPr>
                            <a:rPr lang="en-ID" i="1">
                              <a:solidFill>
                                <a:srgbClr val="000000"/>
                              </a:solidFill>
                              <a:latin typeface="Cambria Math" panose="02040503050406030204" pitchFamily="18" charset="0"/>
                            </a:rPr>
                          </m:ctrlPr>
                        </m:naryPr>
                        <m:sub>
                          <m:r>
                            <a:rPr lang="en-ID" i="1">
                              <a:solidFill>
                                <a:srgbClr val="000000"/>
                              </a:solidFill>
                              <a:latin typeface="Cambria Math" panose="02040503050406030204" pitchFamily="18" charset="0"/>
                            </a:rPr>
                            <m:t>𝑖</m:t>
                          </m:r>
                          <m:r>
                            <a:rPr lang="en-ID" i="1">
                              <a:solidFill>
                                <a:srgbClr val="000000"/>
                              </a:solidFill>
                              <a:latin typeface="Cambria Math" panose="02040503050406030204" pitchFamily="18" charset="0"/>
                            </a:rPr>
                            <m:t>=1</m:t>
                          </m:r>
                        </m:sub>
                        <m:sup>
                          <m:r>
                            <a:rPr lang="en-ID" i="1">
                              <a:solidFill>
                                <a:srgbClr val="000000"/>
                              </a:solidFill>
                              <a:latin typeface="Cambria Math" panose="02040503050406030204" pitchFamily="18" charset="0"/>
                            </a:rPr>
                            <m:t>𝑁</m:t>
                          </m:r>
                        </m:sup>
                        <m:e>
                          <m:sSub>
                            <m:sSubPr>
                              <m:ctrlPr>
                                <a:rPr lang="en-ID" i="1">
                                  <a:solidFill>
                                    <a:srgbClr val="000000"/>
                                  </a:solidFill>
                                  <a:latin typeface="Cambria Math" panose="02040503050406030204" pitchFamily="18" charset="0"/>
                                </a:rPr>
                              </m:ctrlPr>
                            </m:sSubPr>
                            <m:e>
                              <m:r>
                                <a:rPr lang="en-ID" i="1">
                                  <a:solidFill>
                                    <a:srgbClr val="000000"/>
                                  </a:solidFill>
                                  <a:latin typeface="Cambria Math" panose="02040503050406030204" pitchFamily="18" charset="0"/>
                                </a:rPr>
                                <m:t>𝑊</m:t>
                              </m:r>
                            </m:e>
                            <m:sub>
                              <m:r>
                                <a:rPr lang="en-ID" i="1">
                                  <a:solidFill>
                                    <a:srgbClr val="000000"/>
                                  </a:solidFill>
                                  <a:latin typeface="Cambria Math" panose="02040503050406030204" pitchFamily="18" charset="0"/>
                                </a:rPr>
                                <m:t>𝑖</m:t>
                              </m:r>
                            </m:sub>
                          </m:sSub>
                        </m:e>
                      </m:nary>
                    </m:oMath>
                  </m:oMathPara>
                </a14:m>
                <a:endParaRPr lang="en-ID"/>
              </a:p>
            </p:txBody>
          </p:sp>
        </mc:Choice>
        <mc:Fallback xmlns="">
          <p:sp>
            <p:nvSpPr>
              <p:cNvPr id="22534" name="Object 8">
                <a:extLst>
                  <a:ext uri="{FF2B5EF4-FFF2-40B4-BE49-F238E27FC236}">
                    <a16:creationId xmlns:a16="http://schemas.microsoft.com/office/drawing/2014/main" id="{70F187BB-A5FB-B1FB-4888-95F7BE54BF3D}"/>
                  </a:ext>
                </a:extLst>
              </p:cNvPr>
              <p:cNvSpPr txBox="1">
                <a:spLocks noRot="1" noChangeAspect="1" noMove="1" noResize="1" noEditPoints="1" noAdjustHandles="1" noChangeArrowheads="1" noChangeShapeType="1" noTextEdit="1"/>
              </p:cNvSpPr>
              <p:nvPr/>
            </p:nvSpPr>
            <p:spPr bwMode="auto">
              <a:xfrm>
                <a:off x="5062870" y="2155824"/>
                <a:ext cx="1524000" cy="938213"/>
              </a:xfrm>
              <a:prstGeom prst="rect">
                <a:avLst/>
              </a:prstGeom>
              <a:blipFill>
                <a:blip r:embed="rId3"/>
                <a:stretch>
                  <a:fillRect/>
                </a:stretch>
              </a:blipFill>
              <a:ln>
                <a:noFill/>
              </a:ln>
              <a:effectLst/>
            </p:spPr>
            <p:txBody>
              <a:bodyPr/>
              <a:lstStyle/>
              <a:p>
                <a:r>
                  <a:rPr lang="en-ID">
                    <a:noFill/>
                  </a:rPr>
                  <a:t> </a:t>
                </a:r>
              </a:p>
            </p:txBody>
          </p:sp>
        </mc:Fallback>
      </mc:AlternateContent>
      <mc:AlternateContent xmlns:mc="http://schemas.openxmlformats.org/markup-compatibility/2006" xmlns:a14="http://schemas.microsoft.com/office/drawing/2010/main">
        <mc:Choice Requires="a14">
          <p:sp>
            <p:nvSpPr>
              <p:cNvPr id="22535" name="Object 17">
                <a:extLst>
                  <a:ext uri="{FF2B5EF4-FFF2-40B4-BE49-F238E27FC236}">
                    <a16:creationId xmlns:a16="http://schemas.microsoft.com/office/drawing/2014/main" id="{FA2086A2-6F3F-D449-7D9E-34EC5D03F45E}"/>
                  </a:ext>
                </a:extLst>
              </p:cNvPr>
              <p:cNvSpPr txBox="1">
                <a:spLocks noGrp="1"/>
              </p:cNvSpPr>
              <p:nvPr>
                <p:ph sz="quarter" idx="3"/>
              </p:nvPr>
            </p:nvSpPr>
            <p:spPr bwMode="auto">
              <a:xfrm>
                <a:off x="2438400" y="4357688"/>
                <a:ext cx="4038600" cy="735012"/>
              </a:xfrm>
              <a:prstGeom prst="rect">
                <a:avLst/>
              </a:prstGeom>
              <a:noFill/>
              <a:ln>
                <a:noFill/>
              </a:ln>
              <a:effectLst/>
            </p:spPr>
            <p:txBody>
              <a:bodyPr>
                <a:normAutofit fontScale="55000" lnSpcReduction="20000"/>
              </a:bodyPr>
              <a:lstStyle/>
              <a:p>
                <a:pPr>
                  <a:buNone/>
                </a:pPr>
                <a14:m>
                  <m:oMathPara xmlns:m="http://schemas.openxmlformats.org/officeDocument/2006/math">
                    <m:oMathParaPr>
                      <m:jc m:val="left"/>
                    </m:oMathParaPr>
                    <m:oMath xmlns:m="http://schemas.openxmlformats.org/officeDocument/2006/math">
                      <m:sSub>
                        <m:sSubPr>
                          <m:ctrlPr>
                            <a:rPr lang="en-ID" i="1">
                              <a:solidFill>
                                <a:srgbClr val="000000"/>
                              </a:solidFill>
                              <a:latin typeface="Cambria Math" panose="02040503050406030204" pitchFamily="18" charset="0"/>
                            </a:rPr>
                          </m:ctrlPr>
                        </m:sSubPr>
                        <m:e>
                          <m:acc>
                            <m:accPr>
                              <m:chr m:val="̂"/>
                              <m:ctrlPr>
                                <a:rPr lang="en-ID" i="1">
                                  <a:solidFill>
                                    <a:srgbClr val="000000"/>
                                  </a:solidFill>
                                  <a:latin typeface="Cambria Math" panose="02040503050406030204" pitchFamily="18" charset="0"/>
                                </a:rPr>
                              </m:ctrlPr>
                            </m:accPr>
                            <m:e>
                              <m:r>
                                <a:rPr lang="en-ID" i="1">
                                  <a:solidFill>
                                    <a:srgbClr val="000000"/>
                                  </a:solidFill>
                                  <a:latin typeface="Cambria Math" panose="02040503050406030204" pitchFamily="18" charset="0"/>
                                </a:rPr>
                                <m:t>𝑤</m:t>
                              </m:r>
                            </m:e>
                          </m:acc>
                        </m:e>
                        <m:sub>
                          <m:r>
                            <a:rPr lang="en-ID" i="1">
                              <a:solidFill>
                                <a:srgbClr val="000000"/>
                              </a:solidFill>
                              <a:latin typeface="Cambria Math" panose="02040503050406030204" pitchFamily="18" charset="0"/>
                            </a:rPr>
                            <m:t>𝑄</m:t>
                          </m:r>
                        </m:sub>
                      </m:sSub>
                      <m:r>
                        <a:rPr lang="en-ID" i="1">
                          <a:solidFill>
                            <a:srgbClr val="000000"/>
                          </a:solidFill>
                          <a:latin typeface="Cambria Math" panose="02040503050406030204" pitchFamily="18" charset="0"/>
                        </a:rPr>
                        <m:t>=</m:t>
                      </m:r>
                      <m:f>
                        <m:fPr>
                          <m:ctrlPr>
                            <a:rPr lang="en-ID" i="1">
                              <a:solidFill>
                                <a:srgbClr val="000000"/>
                              </a:solidFill>
                              <a:latin typeface="Cambria Math" panose="02040503050406030204" pitchFamily="18" charset="0"/>
                            </a:rPr>
                          </m:ctrlPr>
                        </m:fPr>
                        <m:num>
                          <m:r>
                            <a:rPr lang="en-ID" i="1">
                              <a:solidFill>
                                <a:srgbClr val="000000"/>
                              </a:solidFill>
                              <a:latin typeface="Cambria Math" panose="02040503050406030204" pitchFamily="18" charset="0"/>
                            </a:rPr>
                            <m:t>1</m:t>
                          </m:r>
                        </m:num>
                        <m:den>
                          <m:r>
                            <a:rPr lang="en-ID" i="1">
                              <a:solidFill>
                                <a:srgbClr val="000000"/>
                              </a:solidFill>
                              <a:latin typeface="Cambria Math" panose="02040503050406030204" pitchFamily="18" charset="0"/>
                            </a:rPr>
                            <m:t>𝑁</m:t>
                          </m:r>
                        </m:den>
                      </m:f>
                      <m:nary>
                        <m:naryPr>
                          <m:chr m:val="∑"/>
                          <m:ctrlPr>
                            <a:rPr lang="en-ID" i="1">
                              <a:solidFill>
                                <a:srgbClr val="000000"/>
                              </a:solidFill>
                              <a:latin typeface="Cambria Math" panose="02040503050406030204" pitchFamily="18" charset="0"/>
                            </a:rPr>
                          </m:ctrlPr>
                        </m:naryPr>
                        <m:sub>
                          <m:r>
                            <a:rPr lang="en-ID" i="1">
                              <a:solidFill>
                                <a:srgbClr val="000000"/>
                              </a:solidFill>
                              <a:latin typeface="Cambria Math" panose="02040503050406030204" pitchFamily="18" charset="0"/>
                            </a:rPr>
                            <m:t>𝑖</m:t>
                          </m:r>
                          <m:r>
                            <a:rPr lang="en-ID" i="1">
                              <a:solidFill>
                                <a:srgbClr val="000000"/>
                              </a:solidFill>
                              <a:latin typeface="Cambria Math" panose="02040503050406030204" pitchFamily="18" charset="0"/>
                            </a:rPr>
                            <m:t>=1</m:t>
                          </m:r>
                        </m:sub>
                        <m:sup>
                          <m:r>
                            <a:rPr lang="en-ID" i="1">
                              <a:solidFill>
                                <a:srgbClr val="000000"/>
                              </a:solidFill>
                              <a:latin typeface="Cambria Math" panose="02040503050406030204" pitchFamily="18" charset="0"/>
                            </a:rPr>
                            <m:t>𝑁</m:t>
                          </m:r>
                        </m:sup>
                        <m:e>
                          <m:sSubSup>
                            <m:sSubSupPr>
                              <m:ctrlPr>
                                <a:rPr lang="en-ID" i="1">
                                  <a:solidFill>
                                    <a:srgbClr val="000000"/>
                                  </a:solidFill>
                                  <a:latin typeface="Cambria Math" panose="02040503050406030204" pitchFamily="18" charset="0"/>
                                </a:rPr>
                              </m:ctrlPr>
                            </m:sSubSupPr>
                            <m:e>
                              <m:r>
                                <a:rPr lang="en-ID" i="1">
                                  <a:solidFill>
                                    <a:srgbClr val="000000"/>
                                  </a:solidFill>
                                  <a:latin typeface="Cambria Math" panose="02040503050406030204" pitchFamily="18" charset="0"/>
                                </a:rPr>
                                <m:t>𝑊</m:t>
                              </m:r>
                            </m:e>
                            <m:sub>
                              <m:r>
                                <a:rPr lang="en-ID" i="1">
                                  <a:solidFill>
                                    <a:srgbClr val="000000"/>
                                  </a:solidFill>
                                  <a:latin typeface="Cambria Math" panose="02040503050406030204" pitchFamily="18" charset="0"/>
                                </a:rPr>
                                <m:t>𝑖</m:t>
                              </m:r>
                            </m:sub>
                            <m:sup>
                              <m:r>
                                <a:rPr lang="en-ID" i="1">
                                  <a:solidFill>
                                    <a:srgbClr val="000000"/>
                                  </a:solidFill>
                                  <a:latin typeface="Cambria Math" panose="02040503050406030204" pitchFamily="18" charset="0"/>
                                </a:rPr>
                                <m:t>𝑄</m:t>
                              </m:r>
                            </m:sup>
                          </m:sSubSup>
                        </m:e>
                      </m:nary>
                      <m:r>
                        <a:rPr lang="en-ID" i="1">
                          <a:solidFill>
                            <a:srgbClr val="000000"/>
                          </a:solidFill>
                          <a:latin typeface="Cambria Math" panose="02040503050406030204" pitchFamily="18" charset="0"/>
                        </a:rPr>
                        <m:t>→</m:t>
                      </m:r>
                      <m:sSub>
                        <m:sSubPr>
                          <m:ctrlPr>
                            <a:rPr lang="en-ID" i="1">
                              <a:solidFill>
                                <a:srgbClr val="000000"/>
                              </a:solidFill>
                              <a:latin typeface="Cambria Math" panose="02040503050406030204" pitchFamily="18" charset="0"/>
                            </a:rPr>
                          </m:ctrlPr>
                        </m:sSubPr>
                        <m:e>
                          <m:r>
                            <a:rPr lang="en-ID" i="1">
                              <a:solidFill>
                                <a:srgbClr val="000000"/>
                              </a:solidFill>
                              <a:latin typeface="Cambria Math" panose="02040503050406030204" pitchFamily="18" charset="0"/>
                            </a:rPr>
                            <m:t>𝑤</m:t>
                          </m:r>
                        </m:e>
                        <m:sub>
                          <m:r>
                            <a:rPr lang="en-ID" i="1">
                              <a:solidFill>
                                <a:srgbClr val="000000"/>
                              </a:solidFill>
                              <a:latin typeface="Cambria Math" panose="02040503050406030204" pitchFamily="18" charset="0"/>
                            </a:rPr>
                            <m:t>𝑄</m:t>
                          </m:r>
                        </m:sub>
                      </m:sSub>
                      <m:r>
                        <m:rPr>
                          <m:nor/>
                        </m:rPr>
                        <a:rPr lang="en-ID" i="0">
                          <a:solidFill>
                            <a:srgbClr val="000000"/>
                          </a:solidFill>
                          <a:latin typeface="Cambria Math" panose="02040503050406030204" pitchFamily="18" charset="0"/>
                        </a:rPr>
                        <m:t>    </m:t>
                      </m:r>
                      <m:r>
                        <m:rPr>
                          <m:nor/>
                        </m:rPr>
                        <a:rPr lang="en-ID" i="0">
                          <a:solidFill>
                            <a:srgbClr val="000000"/>
                          </a:solidFill>
                          <a:latin typeface="Cambria Math" panose="02040503050406030204" pitchFamily="18" charset="0"/>
                        </a:rPr>
                        <m:t>as</m:t>
                      </m:r>
                      <m:r>
                        <m:rPr>
                          <m:nor/>
                        </m:rPr>
                        <a:rPr lang="en-ID" i="0">
                          <a:solidFill>
                            <a:srgbClr val="000000"/>
                          </a:solidFill>
                          <a:latin typeface="Cambria Math" panose="02040503050406030204" pitchFamily="18" charset="0"/>
                        </a:rPr>
                        <m:t>    </m:t>
                      </m:r>
                      <m:r>
                        <a:rPr lang="en-ID" i="1">
                          <a:solidFill>
                            <a:srgbClr val="000000"/>
                          </a:solidFill>
                          <a:latin typeface="Cambria Math" panose="02040503050406030204" pitchFamily="18" charset="0"/>
                        </a:rPr>
                        <m:t>𝑁</m:t>
                      </m:r>
                      <m:r>
                        <a:rPr lang="en-ID" i="1">
                          <a:solidFill>
                            <a:srgbClr val="000000"/>
                          </a:solidFill>
                          <a:latin typeface="Cambria Math" panose="02040503050406030204" pitchFamily="18" charset="0"/>
                        </a:rPr>
                        <m:t>→∞</m:t>
                      </m:r>
                    </m:oMath>
                  </m:oMathPara>
                </a14:m>
                <a:endParaRPr lang="en-ID"/>
              </a:p>
            </p:txBody>
          </p:sp>
        </mc:Choice>
        <mc:Fallback xmlns="">
          <p:sp>
            <p:nvSpPr>
              <p:cNvPr id="22535" name="Object 17">
                <a:extLst>
                  <a:ext uri="{FF2B5EF4-FFF2-40B4-BE49-F238E27FC236}">
                    <a16:creationId xmlns:a16="http://schemas.microsoft.com/office/drawing/2014/main" id="{FA2086A2-6F3F-D449-7D9E-34EC5D03F45E}"/>
                  </a:ext>
                </a:extLst>
              </p:cNvPr>
              <p:cNvSpPr txBox="1">
                <a:spLocks noRot="1" noChangeAspect="1" noMove="1" noResize="1" noEditPoints="1" noAdjustHandles="1" noChangeArrowheads="1" noChangeShapeType="1" noTextEdit="1"/>
              </p:cNvSpPr>
              <p:nvPr>
                <p:ph sz="quarter" idx="3"/>
              </p:nvPr>
            </p:nvSpPr>
            <p:spPr bwMode="auto">
              <a:xfrm>
                <a:off x="2438400" y="4357688"/>
                <a:ext cx="4038600" cy="735012"/>
              </a:xfrm>
              <a:prstGeom prst="rect">
                <a:avLst/>
              </a:prstGeom>
              <a:blipFill>
                <a:blip r:embed="rId4"/>
                <a:stretch>
                  <a:fillRect/>
                </a:stretch>
              </a:blipFill>
              <a:ln>
                <a:noFill/>
              </a:ln>
              <a:effectLst/>
            </p:spPr>
            <p:txBody>
              <a:bodyPr/>
              <a:lstStyle/>
              <a:p>
                <a:r>
                  <a:rPr lang="en-ID">
                    <a:noFill/>
                  </a:rPr>
                  <a:t> </a:t>
                </a:r>
              </a:p>
            </p:txBody>
          </p:sp>
        </mc:Fallback>
      </mc:AlternateContent>
      <mc:AlternateContent xmlns:mc="http://schemas.openxmlformats.org/markup-compatibility/2006" xmlns:a14="http://schemas.microsoft.com/office/drawing/2010/main">
        <mc:Choice Requires="a14">
          <p:sp>
            <p:nvSpPr>
              <p:cNvPr id="22536" name="Object 19">
                <a:extLst>
                  <a:ext uri="{FF2B5EF4-FFF2-40B4-BE49-F238E27FC236}">
                    <a16:creationId xmlns:a16="http://schemas.microsoft.com/office/drawing/2014/main" id="{DF37DE92-A17C-7ED5-E8BF-CA7437B0C90F}"/>
                  </a:ext>
                </a:extLst>
              </p:cNvPr>
              <p:cNvSpPr txBox="1"/>
              <p:nvPr/>
            </p:nvSpPr>
            <p:spPr bwMode="auto">
              <a:xfrm>
                <a:off x="1625600" y="5656263"/>
                <a:ext cx="6451600" cy="681037"/>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acc>
                        <m:accPr>
                          <m:chr m:val="̂"/>
                          <m:ctrlPr>
                            <a:rPr lang="en-ID" i="1">
                              <a:solidFill>
                                <a:srgbClr val="000000"/>
                              </a:solidFill>
                              <a:latin typeface="Cambria Math" panose="02040503050406030204" pitchFamily="18" charset="0"/>
                            </a:rPr>
                          </m:ctrlPr>
                        </m:accPr>
                        <m:e>
                          <m:r>
                            <a:rPr lang="en-ID" i="1">
                              <a:solidFill>
                                <a:srgbClr val="000000"/>
                              </a:solidFill>
                              <a:latin typeface="Cambria Math" panose="02040503050406030204" pitchFamily="18" charset="0"/>
                            </a:rPr>
                            <m:t>𝑤</m:t>
                          </m:r>
                        </m:e>
                      </m:acc>
                      <m:r>
                        <a:rPr lang="en-ID" i="1">
                          <a:solidFill>
                            <a:srgbClr val="000000"/>
                          </a:solidFill>
                          <a:latin typeface="Cambria Math" panose="02040503050406030204" pitchFamily="18" charset="0"/>
                        </a:rPr>
                        <m:t>=</m:t>
                      </m:r>
                      <m:f>
                        <m:fPr>
                          <m:ctrlPr>
                            <a:rPr lang="en-ID" i="1">
                              <a:solidFill>
                                <a:srgbClr val="000000"/>
                              </a:solidFill>
                              <a:latin typeface="Cambria Math" panose="02040503050406030204" pitchFamily="18" charset="0"/>
                            </a:rPr>
                          </m:ctrlPr>
                        </m:fPr>
                        <m:num>
                          <m:sSub>
                            <m:sSubPr>
                              <m:ctrlPr>
                                <a:rPr lang="en-ID" i="1">
                                  <a:solidFill>
                                    <a:srgbClr val="000000"/>
                                  </a:solidFill>
                                  <a:latin typeface="Cambria Math" panose="02040503050406030204" pitchFamily="18" charset="0"/>
                                </a:rPr>
                              </m:ctrlPr>
                            </m:sSubPr>
                            <m:e>
                              <m:r>
                                <a:rPr lang="en-ID" i="1">
                                  <a:solidFill>
                                    <a:srgbClr val="000000"/>
                                  </a:solidFill>
                                  <a:latin typeface="Cambria Math" panose="02040503050406030204" pitchFamily="18" charset="0"/>
                                </a:rPr>
                                <m:t>𝑊</m:t>
                              </m:r>
                            </m:e>
                            <m:sub>
                              <m:r>
                                <a:rPr lang="en-ID" i="1">
                                  <a:solidFill>
                                    <a:srgbClr val="000000"/>
                                  </a:solidFill>
                                  <a:latin typeface="Cambria Math" panose="02040503050406030204" pitchFamily="18" charset="0"/>
                                </a:rPr>
                                <m:t>1</m:t>
                              </m:r>
                            </m:sub>
                          </m:sSub>
                          <m:r>
                            <a:rPr lang="en-ID" i="1">
                              <a:solidFill>
                                <a:srgbClr val="000000"/>
                              </a:solidFill>
                              <a:latin typeface="Cambria Math" panose="02040503050406030204" pitchFamily="18" charset="0"/>
                            </a:rPr>
                            <m:t>+</m:t>
                          </m:r>
                          <m:sSub>
                            <m:sSubPr>
                              <m:ctrlPr>
                                <a:rPr lang="en-ID" i="1">
                                  <a:solidFill>
                                    <a:srgbClr val="000000"/>
                                  </a:solidFill>
                                  <a:latin typeface="Cambria Math" panose="02040503050406030204" pitchFamily="18" charset="0"/>
                                </a:rPr>
                              </m:ctrlPr>
                            </m:sSubPr>
                            <m:e>
                              <m:r>
                                <a:rPr lang="en-ID" i="1">
                                  <a:solidFill>
                                    <a:srgbClr val="000000"/>
                                  </a:solidFill>
                                  <a:latin typeface="Cambria Math" panose="02040503050406030204" pitchFamily="18" charset="0"/>
                                </a:rPr>
                                <m:t>𝑊</m:t>
                              </m:r>
                            </m:e>
                            <m:sub>
                              <m:r>
                                <a:rPr lang="en-ID" i="1">
                                  <a:solidFill>
                                    <a:srgbClr val="000000"/>
                                  </a:solidFill>
                                  <a:latin typeface="Cambria Math" panose="02040503050406030204" pitchFamily="18" charset="0"/>
                                </a:rPr>
                                <m:t>2</m:t>
                              </m:r>
                            </m:sub>
                          </m:sSub>
                          <m:r>
                            <a:rPr lang="en-ID" i="1">
                              <a:solidFill>
                                <a:srgbClr val="000000"/>
                              </a:solidFill>
                              <a:latin typeface="Cambria Math" panose="02040503050406030204" pitchFamily="18" charset="0"/>
                            </a:rPr>
                            <m:t>+...+</m:t>
                          </m:r>
                          <m:sSub>
                            <m:sSubPr>
                              <m:ctrlPr>
                                <a:rPr lang="en-ID" i="1">
                                  <a:solidFill>
                                    <a:srgbClr val="000000"/>
                                  </a:solidFill>
                                  <a:latin typeface="Cambria Math" panose="02040503050406030204" pitchFamily="18" charset="0"/>
                                </a:rPr>
                              </m:ctrlPr>
                            </m:sSubPr>
                            <m:e>
                              <m:r>
                                <a:rPr lang="en-ID" i="1">
                                  <a:solidFill>
                                    <a:srgbClr val="000000"/>
                                  </a:solidFill>
                                  <a:latin typeface="Cambria Math" panose="02040503050406030204" pitchFamily="18" charset="0"/>
                                </a:rPr>
                                <m:t>𝑊</m:t>
                              </m:r>
                            </m:e>
                            <m:sub>
                              <m:r>
                                <a:rPr lang="en-ID" i="1">
                                  <a:solidFill>
                                    <a:srgbClr val="000000"/>
                                  </a:solidFill>
                                  <a:latin typeface="Cambria Math" panose="02040503050406030204" pitchFamily="18" charset="0"/>
                                </a:rPr>
                                <m:t>5</m:t>
                              </m:r>
                            </m:sub>
                          </m:sSub>
                        </m:num>
                        <m:den>
                          <m:r>
                            <a:rPr lang="en-ID" i="1">
                              <a:solidFill>
                                <a:srgbClr val="000000"/>
                              </a:solidFill>
                              <a:latin typeface="Cambria Math" panose="02040503050406030204" pitchFamily="18" charset="0"/>
                            </a:rPr>
                            <m:t>5</m:t>
                          </m:r>
                        </m:den>
                      </m:f>
                      <m:r>
                        <a:rPr lang="en-ID" i="1">
                          <a:solidFill>
                            <a:srgbClr val="000000"/>
                          </a:solidFill>
                          <a:latin typeface="Cambria Math" panose="02040503050406030204" pitchFamily="18" charset="0"/>
                        </a:rPr>
                        <m:t>=</m:t>
                      </m:r>
                      <m:f>
                        <m:fPr>
                          <m:ctrlPr>
                            <a:rPr lang="en-ID" i="1">
                              <a:solidFill>
                                <a:srgbClr val="000000"/>
                              </a:solidFill>
                              <a:latin typeface="Cambria Math" panose="02040503050406030204" pitchFamily="18" charset="0"/>
                            </a:rPr>
                          </m:ctrlPr>
                        </m:fPr>
                        <m:num>
                          <m:r>
                            <a:rPr lang="en-ID" i="1">
                              <a:solidFill>
                                <a:srgbClr val="000000"/>
                              </a:solidFill>
                              <a:latin typeface="Cambria Math" panose="02040503050406030204" pitchFamily="18" charset="0"/>
                            </a:rPr>
                            <m:t>2+(8−3)+...+(20−16)</m:t>
                          </m:r>
                        </m:num>
                        <m:den>
                          <m:r>
                            <a:rPr lang="en-ID" i="1">
                              <a:solidFill>
                                <a:srgbClr val="000000"/>
                              </a:solidFill>
                              <a:latin typeface="Cambria Math" panose="02040503050406030204" pitchFamily="18" charset="0"/>
                            </a:rPr>
                            <m:t>5</m:t>
                          </m:r>
                        </m:den>
                      </m:f>
                      <m:r>
                        <a:rPr lang="en-ID" i="1">
                          <a:solidFill>
                            <a:srgbClr val="000000"/>
                          </a:solidFill>
                          <a:latin typeface="Cambria Math" panose="02040503050406030204" pitchFamily="18" charset="0"/>
                        </a:rPr>
                        <m:t>=4.6</m:t>
                      </m:r>
                      <m:r>
                        <m:rPr>
                          <m:nor/>
                        </m:rPr>
                        <a:rPr lang="en-ID" i="0">
                          <a:solidFill>
                            <a:srgbClr val="000000"/>
                          </a:solidFill>
                          <a:latin typeface="Cambria Math" panose="02040503050406030204" pitchFamily="18" charset="0"/>
                        </a:rPr>
                        <m:t> </m:t>
                      </m:r>
                      <m:r>
                        <m:rPr>
                          <m:nor/>
                        </m:rPr>
                        <a:rPr lang="en-ID" i="0">
                          <a:solidFill>
                            <a:srgbClr val="000000"/>
                          </a:solidFill>
                          <a:latin typeface="Cambria Math" panose="02040503050406030204" pitchFamily="18" charset="0"/>
                        </a:rPr>
                        <m:t>time</m:t>
                      </m:r>
                      <m:r>
                        <m:rPr>
                          <m:nor/>
                        </m:rPr>
                        <a:rPr lang="en-ID" i="0">
                          <a:solidFill>
                            <a:srgbClr val="000000"/>
                          </a:solidFill>
                          <a:latin typeface="Cambria Math" panose="02040503050406030204" pitchFamily="18" charset="0"/>
                        </a:rPr>
                        <m:t> </m:t>
                      </m:r>
                      <m:r>
                        <m:rPr>
                          <m:nor/>
                        </m:rPr>
                        <a:rPr lang="en-ID" i="0">
                          <a:solidFill>
                            <a:srgbClr val="000000"/>
                          </a:solidFill>
                          <a:latin typeface="Cambria Math" panose="02040503050406030204" pitchFamily="18" charset="0"/>
                        </a:rPr>
                        <m:t>units</m:t>
                      </m:r>
                    </m:oMath>
                  </m:oMathPara>
                </a14:m>
                <a:endParaRPr lang="en-ID"/>
              </a:p>
            </p:txBody>
          </p:sp>
        </mc:Choice>
        <mc:Fallback xmlns="">
          <p:sp>
            <p:nvSpPr>
              <p:cNvPr id="22536" name="Object 19">
                <a:extLst>
                  <a:ext uri="{FF2B5EF4-FFF2-40B4-BE49-F238E27FC236}">
                    <a16:creationId xmlns:a16="http://schemas.microsoft.com/office/drawing/2014/main" id="{DF37DE92-A17C-7ED5-E8BF-CA7437B0C90F}"/>
                  </a:ext>
                </a:extLst>
              </p:cNvPr>
              <p:cNvSpPr txBox="1">
                <a:spLocks noRot="1" noChangeAspect="1" noMove="1" noResize="1" noEditPoints="1" noAdjustHandles="1" noChangeArrowheads="1" noChangeShapeType="1" noTextEdit="1"/>
              </p:cNvSpPr>
              <p:nvPr/>
            </p:nvSpPr>
            <p:spPr bwMode="auto">
              <a:xfrm>
                <a:off x="1625600" y="5656263"/>
                <a:ext cx="6451600" cy="681037"/>
              </a:xfrm>
              <a:prstGeom prst="rect">
                <a:avLst/>
              </a:prstGeom>
              <a:blipFill>
                <a:blip r:embed="rId5"/>
                <a:stretch>
                  <a:fillRect/>
                </a:stretch>
              </a:blipFill>
              <a:ln>
                <a:noFill/>
              </a:ln>
              <a:effectLst/>
            </p:spPr>
            <p:txBody>
              <a:bodyPr/>
              <a:lstStyle/>
              <a:p>
                <a:r>
                  <a:rPr lang="en-ID">
                    <a:noFill/>
                  </a:rPr>
                  <a:t> </a:t>
                </a:r>
              </a:p>
            </p:txBody>
          </p:sp>
        </mc:Fallback>
      </mc:AlternateContent>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Number Placeholder 6">
            <a:extLst>
              <a:ext uri="{FF2B5EF4-FFF2-40B4-BE49-F238E27FC236}">
                <a16:creationId xmlns:a16="http://schemas.microsoft.com/office/drawing/2014/main" id="{19EB8541-FAB7-056A-C735-27B8FD7918DF}"/>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5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4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9pPr>
          </a:lstStyle>
          <a:p>
            <a:pPr>
              <a:spcBef>
                <a:spcPct val="0"/>
              </a:spcBef>
              <a:buClrTx/>
              <a:buSzTx/>
              <a:buFontTx/>
              <a:buNone/>
            </a:pPr>
            <a:fld id="{7C2B98AF-ACFF-4D8D-8616-E0AD3A2A2384}" type="slidenum">
              <a:rPr lang="en-US" altLang="id-ID" sz="1200">
                <a:latin typeface="Arial Black" panose="020B0A04020102020204" pitchFamily="34" charset="0"/>
              </a:rPr>
              <a:pPr>
                <a:spcBef>
                  <a:spcPct val="0"/>
                </a:spcBef>
                <a:buClrTx/>
                <a:buSzTx/>
                <a:buFontTx/>
                <a:buNone/>
              </a:pPr>
              <a:t>18</a:t>
            </a:fld>
            <a:endParaRPr lang="en-US" altLang="id-ID" sz="1200">
              <a:latin typeface="Arial Black" panose="020B0A04020102020204" pitchFamily="34" charset="0"/>
            </a:endParaRPr>
          </a:p>
        </p:txBody>
      </p:sp>
      <p:sp>
        <p:nvSpPr>
          <p:cNvPr id="23555" name="Rectangle 2">
            <a:extLst>
              <a:ext uri="{FF2B5EF4-FFF2-40B4-BE49-F238E27FC236}">
                <a16:creationId xmlns:a16="http://schemas.microsoft.com/office/drawing/2014/main" id="{A42D3292-AC61-6517-CDF4-F2134A64965B}"/>
              </a:ext>
            </a:extLst>
          </p:cNvPr>
          <p:cNvSpPr>
            <a:spLocks noGrp="1" noChangeArrowheads="1"/>
          </p:cNvSpPr>
          <p:nvPr>
            <p:ph type="title"/>
          </p:nvPr>
        </p:nvSpPr>
        <p:spPr/>
        <p:txBody>
          <a:bodyPr/>
          <a:lstStyle/>
          <a:p>
            <a:pPr eaLnBrk="1" hangingPunct="1"/>
            <a:r>
              <a:rPr lang="en-US" altLang="id-ID"/>
              <a:t>Persamaan Konservasi</a:t>
            </a:r>
            <a:br>
              <a:rPr lang="en-US" altLang="id-ID" sz="2200"/>
            </a:br>
            <a:r>
              <a:rPr lang="en-US" altLang="id-ID" sz="2200"/>
              <a:t>                                                         </a:t>
            </a:r>
            <a:r>
              <a:rPr lang="en-US" altLang="id-ID" sz="2200">
                <a:solidFill>
                  <a:schemeClr val="bg2"/>
                </a:solidFill>
              </a:rPr>
              <a:t>[Karakteristik Sistem Antran]</a:t>
            </a:r>
          </a:p>
        </p:txBody>
      </p:sp>
      <p:sp>
        <p:nvSpPr>
          <p:cNvPr id="23556" name="Rectangle 3">
            <a:extLst>
              <a:ext uri="{FF2B5EF4-FFF2-40B4-BE49-F238E27FC236}">
                <a16:creationId xmlns:a16="http://schemas.microsoft.com/office/drawing/2014/main" id="{E76B516E-BCE8-395B-BB4E-5FF000F52516}"/>
              </a:ext>
            </a:extLst>
          </p:cNvPr>
          <p:cNvSpPr>
            <a:spLocks noGrp="1" noChangeArrowheads="1"/>
          </p:cNvSpPr>
          <p:nvPr>
            <p:ph type="body" sz="half" idx="1"/>
          </p:nvPr>
        </p:nvSpPr>
        <p:spPr>
          <a:xfrm>
            <a:off x="457200" y="1447800"/>
            <a:ext cx="8305800" cy="4800600"/>
          </a:xfrm>
        </p:spPr>
        <p:txBody>
          <a:bodyPr/>
          <a:lstStyle/>
          <a:p>
            <a:pPr eaLnBrk="1" hangingPunct="1"/>
            <a:r>
              <a:rPr lang="en-US" altLang="id-ID" sz="2400" dirty="0" err="1"/>
              <a:t>Persamaan</a:t>
            </a:r>
            <a:r>
              <a:rPr lang="en-US" altLang="id-ID" sz="2400" dirty="0"/>
              <a:t> Conservation (a.k.a. Little’s law)</a:t>
            </a:r>
          </a:p>
          <a:p>
            <a:pPr lvl="1" eaLnBrk="1" hangingPunct="1"/>
            <a:endParaRPr lang="en-US" altLang="id-ID" sz="2000" dirty="0"/>
          </a:p>
          <a:p>
            <a:pPr lvl="1" eaLnBrk="1" hangingPunct="1"/>
            <a:endParaRPr lang="en-US" altLang="id-ID" sz="2000" dirty="0"/>
          </a:p>
          <a:p>
            <a:pPr lvl="1" eaLnBrk="1" hangingPunct="1"/>
            <a:endParaRPr lang="en-US" altLang="id-ID" sz="2000" dirty="0"/>
          </a:p>
          <a:p>
            <a:pPr lvl="1" eaLnBrk="1" hangingPunct="1"/>
            <a:endParaRPr lang="en-US" altLang="id-ID" sz="2000" dirty="0"/>
          </a:p>
          <a:p>
            <a:pPr lvl="1" eaLnBrk="1" hangingPunct="1"/>
            <a:endParaRPr lang="en-US" altLang="id-ID" sz="2000" dirty="0"/>
          </a:p>
          <a:p>
            <a:pPr lvl="1" eaLnBrk="1" hangingPunct="1"/>
            <a:r>
              <a:rPr lang="en-US" altLang="id-ID" sz="2000" dirty="0" err="1"/>
              <a:t>Berlaku</a:t>
            </a:r>
            <a:r>
              <a:rPr lang="en-US" altLang="id-ID" sz="2000" dirty="0"/>
              <a:t> </a:t>
            </a:r>
            <a:r>
              <a:rPr lang="en-US" altLang="id-ID" sz="2000" dirty="0" err="1"/>
              <a:t>untuk</a:t>
            </a:r>
            <a:r>
              <a:rPr lang="en-US" altLang="id-ID" sz="2000" dirty="0"/>
              <a:t> </a:t>
            </a:r>
            <a:r>
              <a:rPr lang="en-US" altLang="id-ID" sz="2000" dirty="0" err="1"/>
              <a:t>hampir</a:t>
            </a:r>
            <a:r>
              <a:rPr lang="en-US" altLang="id-ID" sz="2000" dirty="0"/>
              <a:t> </a:t>
            </a:r>
            <a:r>
              <a:rPr lang="en-US" altLang="id-ID" sz="2000" dirty="0" err="1"/>
              <a:t>semua</a:t>
            </a:r>
            <a:r>
              <a:rPr lang="en-US" altLang="id-ID" sz="2000" dirty="0"/>
              <a:t> </a:t>
            </a:r>
            <a:r>
              <a:rPr lang="en-US" altLang="id-ID" sz="2000" dirty="0" err="1"/>
              <a:t>sistem</a:t>
            </a:r>
            <a:r>
              <a:rPr lang="en-US" altLang="id-ID" sz="2000" dirty="0"/>
              <a:t> </a:t>
            </a:r>
            <a:r>
              <a:rPr lang="en-US" altLang="id-ID" sz="2000" dirty="0" err="1"/>
              <a:t>atau</a:t>
            </a:r>
            <a:r>
              <a:rPr lang="en-US" altLang="id-ID" sz="2000" dirty="0"/>
              <a:t> </a:t>
            </a:r>
            <a:r>
              <a:rPr lang="en-US" altLang="id-ID" sz="2000" dirty="0" err="1"/>
              <a:t>subsistem</a:t>
            </a:r>
            <a:r>
              <a:rPr lang="en-US" altLang="id-ID" sz="2000" dirty="0"/>
              <a:t> </a:t>
            </a:r>
            <a:r>
              <a:rPr lang="en-US" altLang="id-ID" sz="2000" dirty="0" err="1"/>
              <a:t>antrian</a:t>
            </a:r>
            <a:r>
              <a:rPr lang="en-US" altLang="id-ID" sz="2000" dirty="0"/>
              <a:t> (</a:t>
            </a:r>
            <a:r>
              <a:rPr lang="en-US" altLang="id-ID" sz="2000" dirty="0" err="1"/>
              <a:t>berapapun</a:t>
            </a:r>
            <a:r>
              <a:rPr lang="en-US" altLang="id-ID" sz="2000" dirty="0"/>
              <a:t> </a:t>
            </a:r>
            <a:r>
              <a:rPr lang="en-US" altLang="id-ID" sz="2000" dirty="0" err="1"/>
              <a:t>jumlah</a:t>
            </a:r>
            <a:r>
              <a:rPr lang="en-US" altLang="id-ID" sz="2000" dirty="0"/>
              <a:t> server, </a:t>
            </a:r>
            <a:r>
              <a:rPr lang="en-US" altLang="id-ID" sz="2000" dirty="0" err="1"/>
              <a:t>disiplin</a:t>
            </a:r>
            <a:r>
              <a:rPr lang="en-US" altLang="id-ID" sz="2000" dirty="0"/>
              <a:t> </a:t>
            </a:r>
            <a:r>
              <a:rPr lang="en-US" altLang="id-ID" sz="2000" dirty="0" err="1"/>
              <a:t>antrian</a:t>
            </a:r>
            <a:r>
              <a:rPr lang="en-US" altLang="id-ID" sz="2000" dirty="0"/>
              <a:t>, </a:t>
            </a:r>
            <a:r>
              <a:rPr lang="en-US" altLang="id-ID" sz="2000" dirty="0" err="1"/>
              <a:t>atau</a:t>
            </a:r>
            <a:r>
              <a:rPr lang="en-US" altLang="id-ID" sz="2000" dirty="0"/>
              <a:t> </a:t>
            </a:r>
            <a:r>
              <a:rPr lang="en-US" altLang="id-ID" sz="2000" dirty="0" err="1"/>
              <a:t>keadaan</a:t>
            </a:r>
            <a:r>
              <a:rPr lang="en-US" altLang="id-ID" sz="2000" dirty="0"/>
              <a:t> </a:t>
            </a:r>
            <a:r>
              <a:rPr lang="en-US" altLang="id-ID" sz="2000" dirty="0" err="1"/>
              <a:t>khusus</a:t>
            </a:r>
            <a:r>
              <a:rPr lang="en-US" altLang="id-ID" sz="2000" dirty="0"/>
              <a:t> </a:t>
            </a:r>
            <a:r>
              <a:rPr lang="en-US" altLang="id-ID" sz="2000" dirty="0" err="1"/>
              <a:t>lainnya</a:t>
            </a:r>
            <a:r>
              <a:rPr lang="en-US" altLang="id-ID" sz="2000" dirty="0"/>
              <a:t>).</a:t>
            </a:r>
          </a:p>
          <a:p>
            <a:pPr lvl="1" eaLnBrk="1" hangingPunct="1"/>
            <a:r>
              <a:rPr lang="en-US" altLang="id-ID" sz="2000" dirty="0" err="1"/>
              <a:t>Contoh</a:t>
            </a:r>
            <a:r>
              <a:rPr lang="en-US" altLang="id-ID" sz="2000" dirty="0"/>
              <a:t> G/G/1/N/K (</a:t>
            </a:r>
            <a:r>
              <a:rPr lang="en-US" altLang="id-ID" sz="2000" dirty="0" err="1"/>
              <a:t>lanjutan</a:t>
            </a:r>
            <a:r>
              <a:rPr lang="en-US" altLang="id-ID" sz="2000" dirty="0"/>
              <a:t>): Rata-rata, </a:t>
            </a:r>
            <a:r>
              <a:rPr lang="en-US" altLang="id-ID" sz="2000" dirty="0" err="1"/>
              <a:t>satu</a:t>
            </a:r>
            <a:r>
              <a:rPr lang="en-US" altLang="id-ID" sz="2000" dirty="0"/>
              <a:t> </a:t>
            </a:r>
            <a:r>
              <a:rPr lang="en-US" altLang="id-ID" sz="2000" dirty="0" err="1"/>
              <a:t>kedatangan</a:t>
            </a:r>
            <a:r>
              <a:rPr lang="en-US" altLang="id-ID" sz="2000" dirty="0"/>
              <a:t> </a:t>
            </a:r>
            <a:r>
              <a:rPr lang="en-US" altLang="id-ID" sz="2000" dirty="0" err="1"/>
              <a:t>setiap</a:t>
            </a:r>
            <a:r>
              <a:rPr lang="en-US" altLang="id-ID" sz="2000" dirty="0"/>
              <a:t> 4 unit </a:t>
            </a:r>
            <a:r>
              <a:rPr lang="en-US" altLang="id-ID" sz="2000" dirty="0" err="1"/>
              <a:t>waktu</a:t>
            </a:r>
            <a:r>
              <a:rPr lang="en-US" altLang="id-ID" sz="2000" dirty="0"/>
              <a:t> dan </a:t>
            </a:r>
            <a:r>
              <a:rPr lang="en-US" altLang="id-ID" sz="2000" dirty="0" err="1"/>
              <a:t>setiap</a:t>
            </a:r>
            <a:r>
              <a:rPr lang="en-US" altLang="id-ID" sz="2000" dirty="0"/>
              <a:t> </a:t>
            </a:r>
            <a:r>
              <a:rPr lang="en-US" altLang="id-ID" sz="2000" dirty="0" err="1"/>
              <a:t>kedatangan</a:t>
            </a:r>
            <a:r>
              <a:rPr lang="en-US" altLang="id-ID" sz="2000" dirty="0"/>
              <a:t> </a:t>
            </a:r>
            <a:r>
              <a:rPr lang="en-US" altLang="id-ID" sz="2000" dirty="0" err="1"/>
              <a:t>menghabiskan</a:t>
            </a:r>
            <a:r>
              <a:rPr lang="en-US" altLang="id-ID" sz="2000" dirty="0"/>
              <a:t> 4,6 unit </a:t>
            </a:r>
            <a:r>
              <a:rPr lang="en-US" altLang="id-ID" sz="2000" dirty="0" err="1"/>
              <a:t>waktu</a:t>
            </a:r>
            <a:r>
              <a:rPr lang="en-US" altLang="id-ID" sz="2000" dirty="0"/>
              <a:t> </a:t>
            </a:r>
            <a:r>
              <a:rPr lang="en-US" altLang="id-ID" sz="2000" dirty="0" err="1"/>
              <a:t>dalam</a:t>
            </a:r>
            <a:r>
              <a:rPr lang="en-US" altLang="id-ID" sz="2000" dirty="0"/>
              <a:t> </a:t>
            </a:r>
            <a:r>
              <a:rPr lang="en-US" altLang="id-ID" sz="2000" dirty="0" err="1"/>
              <a:t>sistem</a:t>
            </a:r>
            <a:r>
              <a:rPr lang="en-US" altLang="id-ID" sz="2000" dirty="0"/>
              <a:t>. Oleh </a:t>
            </a:r>
            <a:r>
              <a:rPr lang="en-US" altLang="id-ID" sz="2000" dirty="0" err="1"/>
              <a:t>karena</a:t>
            </a:r>
            <a:r>
              <a:rPr lang="en-US" altLang="id-ID" sz="2000" dirty="0"/>
              <a:t> </a:t>
            </a:r>
            <a:r>
              <a:rPr lang="en-US" altLang="id-ID" sz="2000" dirty="0" err="1"/>
              <a:t>itu</a:t>
            </a:r>
            <a:r>
              <a:rPr lang="en-US" altLang="id-ID" sz="2000" dirty="0"/>
              <a:t>, pada </a:t>
            </a:r>
            <a:r>
              <a:rPr lang="en-US" altLang="id-ID" sz="2000" dirty="0" err="1"/>
              <a:t>waktu</a:t>
            </a:r>
            <a:r>
              <a:rPr lang="en-US" altLang="id-ID" sz="2000" dirty="0"/>
              <a:t> </a:t>
            </a:r>
            <a:r>
              <a:rPr lang="en-US" altLang="id-ID" sz="2000" dirty="0" err="1"/>
              <a:t>tertentu</a:t>
            </a:r>
            <a:r>
              <a:rPr lang="en-US" altLang="id-ID" sz="2000" dirty="0"/>
              <a:t>, rata-rata </a:t>
            </a:r>
            <a:r>
              <a:rPr lang="en-US" altLang="id-ID" sz="2000" dirty="0" err="1"/>
              <a:t>terdapat</a:t>
            </a:r>
            <a:r>
              <a:rPr lang="en-US" altLang="id-ID" sz="2000" dirty="0"/>
              <a:t> (1/4)(4,6) = 1,15 customer yang </a:t>
            </a:r>
            <a:r>
              <a:rPr lang="en-US" altLang="id-ID" sz="2000" dirty="0" err="1"/>
              <a:t>hadir</a:t>
            </a:r>
            <a:r>
              <a:rPr lang="en-US" altLang="id-ID" sz="2000" dirty="0"/>
              <a:t>.</a:t>
            </a:r>
          </a:p>
        </p:txBody>
      </p:sp>
      <mc:AlternateContent xmlns:mc="http://schemas.openxmlformats.org/markup-compatibility/2006">
        <mc:Choice xmlns:a14="http://schemas.microsoft.com/office/drawing/2010/main" Requires="a14">
          <p:sp>
            <p:nvSpPr>
              <p:cNvPr id="23557" name="Object 5">
                <a:extLst>
                  <a:ext uri="{FF2B5EF4-FFF2-40B4-BE49-F238E27FC236}">
                    <a16:creationId xmlns:a16="http://schemas.microsoft.com/office/drawing/2014/main" id="{6EC3C199-A368-4FB8-FE6C-279853344D83}"/>
                  </a:ext>
                </a:extLst>
              </p:cNvPr>
              <p:cNvSpPr txBox="1"/>
              <p:nvPr/>
            </p:nvSpPr>
            <p:spPr bwMode="auto">
              <a:xfrm>
                <a:off x="3748087" y="1885507"/>
                <a:ext cx="1724025" cy="627062"/>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acc>
                        <m:accPr>
                          <m:chr m:val="̂"/>
                          <m:ctrlPr>
                            <a:rPr lang="en-ID" sz="2000" i="1">
                              <a:solidFill>
                                <a:srgbClr val="000000"/>
                              </a:solidFill>
                              <a:latin typeface="Cambria Math" panose="02040503050406030204" pitchFamily="18" charset="0"/>
                            </a:rPr>
                          </m:ctrlPr>
                        </m:accPr>
                        <m:e>
                          <m:r>
                            <a:rPr lang="en-ID" sz="2000" i="1">
                              <a:solidFill>
                                <a:srgbClr val="000000"/>
                              </a:solidFill>
                              <a:latin typeface="Cambria Math" panose="02040503050406030204" pitchFamily="18" charset="0"/>
                            </a:rPr>
                            <m:t>𝐿</m:t>
                          </m:r>
                        </m:e>
                      </m:acc>
                      <m:r>
                        <a:rPr lang="en-ID" sz="2000" i="1">
                          <a:solidFill>
                            <a:srgbClr val="000000"/>
                          </a:solidFill>
                          <a:latin typeface="Cambria Math" panose="02040503050406030204" pitchFamily="18" charset="0"/>
                        </a:rPr>
                        <m:t>=</m:t>
                      </m:r>
                      <m:acc>
                        <m:accPr>
                          <m:chr m:val="̂"/>
                          <m:ctrlPr>
                            <a:rPr lang="en-ID" sz="2000" i="1">
                              <a:solidFill>
                                <a:srgbClr val="000000"/>
                              </a:solidFill>
                              <a:latin typeface="Cambria Math" panose="02040503050406030204" pitchFamily="18" charset="0"/>
                            </a:rPr>
                          </m:ctrlPr>
                        </m:accPr>
                        <m:e>
                          <m:r>
                            <a:rPr lang="en-ID" sz="2000" i="1">
                              <a:solidFill>
                                <a:srgbClr val="000000"/>
                              </a:solidFill>
                              <a:latin typeface="Cambria Math" panose="02040503050406030204" pitchFamily="18" charset="0"/>
                            </a:rPr>
                            <m:t>𝜆</m:t>
                          </m:r>
                        </m:e>
                      </m:acc>
                      <m:acc>
                        <m:accPr>
                          <m:chr m:val="̂"/>
                          <m:ctrlPr>
                            <a:rPr lang="en-ID" sz="2000" i="1">
                              <a:solidFill>
                                <a:srgbClr val="000000"/>
                              </a:solidFill>
                              <a:latin typeface="Cambria Math" panose="02040503050406030204" pitchFamily="18" charset="0"/>
                            </a:rPr>
                          </m:ctrlPr>
                        </m:accPr>
                        <m:e>
                          <m:r>
                            <a:rPr lang="en-ID" sz="2000" i="1">
                              <a:solidFill>
                                <a:srgbClr val="000000"/>
                              </a:solidFill>
                              <a:latin typeface="Cambria Math" panose="02040503050406030204" pitchFamily="18" charset="0"/>
                            </a:rPr>
                            <m:t>𝑤</m:t>
                          </m:r>
                        </m:e>
                      </m:acc>
                    </m:oMath>
                  </m:oMathPara>
                </a14:m>
                <a:endParaRPr lang="en-ID" sz="2000" dirty="0"/>
              </a:p>
            </p:txBody>
          </p:sp>
        </mc:Choice>
        <mc:Fallback>
          <p:sp>
            <p:nvSpPr>
              <p:cNvPr id="23557" name="Object 5">
                <a:extLst>
                  <a:ext uri="{FF2B5EF4-FFF2-40B4-BE49-F238E27FC236}">
                    <a16:creationId xmlns:a16="http://schemas.microsoft.com/office/drawing/2014/main" id="{6EC3C199-A368-4FB8-FE6C-279853344D83}"/>
                  </a:ext>
                </a:extLst>
              </p:cNvPr>
              <p:cNvSpPr txBox="1">
                <a:spLocks noRot="1" noChangeAspect="1" noMove="1" noResize="1" noEditPoints="1" noAdjustHandles="1" noChangeArrowheads="1" noChangeShapeType="1" noTextEdit="1"/>
              </p:cNvSpPr>
              <p:nvPr/>
            </p:nvSpPr>
            <p:spPr bwMode="auto">
              <a:xfrm>
                <a:off x="3748087" y="1885507"/>
                <a:ext cx="1724025" cy="627062"/>
              </a:xfrm>
              <a:prstGeom prst="rect">
                <a:avLst/>
              </a:prstGeom>
              <a:blipFill>
                <a:blip r:embed="rId2"/>
                <a:stretch>
                  <a:fillRect t="-3883"/>
                </a:stretch>
              </a:blipFill>
              <a:ln>
                <a:noFill/>
              </a:ln>
              <a:effectLst/>
            </p:spPr>
            <p:txBody>
              <a:bodyPr/>
              <a:lstStyle/>
              <a:p>
                <a:r>
                  <a:rPr lang="en-ID">
                    <a:noFill/>
                  </a:rPr>
                  <a:t> </a:t>
                </a:r>
              </a:p>
            </p:txBody>
          </p:sp>
        </mc:Fallback>
      </mc:AlternateContent>
      <mc:AlternateContent xmlns:mc="http://schemas.openxmlformats.org/markup-compatibility/2006" xmlns:a14="http://schemas.microsoft.com/office/drawing/2010/main">
        <mc:Choice Requires="a14">
          <p:sp>
            <p:nvSpPr>
              <p:cNvPr id="23558" name="Object 6">
                <a:extLst>
                  <a:ext uri="{FF2B5EF4-FFF2-40B4-BE49-F238E27FC236}">
                    <a16:creationId xmlns:a16="http://schemas.microsoft.com/office/drawing/2014/main" id="{EDFCE92C-EF18-DFBD-A449-05F5A3C64F52}"/>
                  </a:ext>
                </a:extLst>
              </p:cNvPr>
              <p:cNvSpPr txBox="1">
                <a:spLocks noGrp="1"/>
              </p:cNvSpPr>
              <p:nvPr>
                <p:ph sz="quarter" idx="3"/>
              </p:nvPr>
            </p:nvSpPr>
            <p:spPr bwMode="auto">
              <a:xfrm>
                <a:off x="2133600" y="3182938"/>
                <a:ext cx="4876800" cy="454025"/>
              </a:xfrm>
              <a:prstGeom prst="rect">
                <a:avLst/>
              </a:prstGeom>
              <a:noFill/>
              <a:ln>
                <a:noFill/>
              </a:ln>
              <a:effectLst/>
            </p:spPr>
            <p:txBody>
              <a:bodyPr>
                <a:normAutofit fontScale="77500" lnSpcReduction="20000"/>
              </a:bodyPr>
              <a:lstStyle/>
              <a:p>
                <a:pPr>
                  <a:buNone/>
                </a:pPr>
                <a14:m>
                  <m:oMathPara xmlns:m="http://schemas.openxmlformats.org/officeDocument/2006/math">
                    <m:oMathParaPr>
                      <m:jc m:val="left"/>
                    </m:oMathParaPr>
                    <m:oMath xmlns:m="http://schemas.openxmlformats.org/officeDocument/2006/math">
                      <m:r>
                        <a:rPr lang="en-ID" i="1">
                          <a:solidFill>
                            <a:srgbClr val="000000"/>
                          </a:solidFill>
                          <a:latin typeface="Cambria Math" panose="02040503050406030204" pitchFamily="18" charset="0"/>
                        </a:rPr>
                        <m:t>𝐿</m:t>
                      </m:r>
                      <m:r>
                        <a:rPr lang="en-ID" i="1">
                          <a:solidFill>
                            <a:srgbClr val="000000"/>
                          </a:solidFill>
                          <a:latin typeface="Cambria Math" panose="02040503050406030204" pitchFamily="18" charset="0"/>
                        </a:rPr>
                        <m:t>=</m:t>
                      </m:r>
                      <m:r>
                        <a:rPr lang="en-ID" i="1">
                          <a:solidFill>
                            <a:srgbClr val="000000"/>
                          </a:solidFill>
                          <a:latin typeface="Cambria Math" panose="02040503050406030204" pitchFamily="18" charset="0"/>
                        </a:rPr>
                        <m:t>𝜆</m:t>
                      </m:r>
                      <m:r>
                        <a:rPr lang="en-ID" i="1">
                          <a:solidFill>
                            <a:srgbClr val="000000"/>
                          </a:solidFill>
                          <a:latin typeface="Cambria Math" panose="02040503050406030204" pitchFamily="18" charset="0"/>
                        </a:rPr>
                        <m:t>𝑤</m:t>
                      </m:r>
                      <m:r>
                        <m:rPr>
                          <m:nor/>
                        </m:rPr>
                        <a:rPr lang="en-ID" i="0">
                          <a:solidFill>
                            <a:srgbClr val="000000"/>
                          </a:solidFill>
                          <a:latin typeface="Cambria Math" panose="02040503050406030204" pitchFamily="18" charset="0"/>
                        </a:rPr>
                        <m:t>    </m:t>
                      </m:r>
                      <m:r>
                        <m:rPr>
                          <m:nor/>
                        </m:rPr>
                        <a:rPr lang="en-ID" i="0">
                          <a:solidFill>
                            <a:srgbClr val="000000"/>
                          </a:solidFill>
                          <a:latin typeface="Cambria Math" panose="02040503050406030204" pitchFamily="18" charset="0"/>
                        </a:rPr>
                        <m:t>as</m:t>
                      </m:r>
                      <m:r>
                        <m:rPr>
                          <m:nor/>
                        </m:rPr>
                        <a:rPr lang="en-ID" i="0">
                          <a:solidFill>
                            <a:srgbClr val="000000"/>
                          </a:solidFill>
                          <a:latin typeface="Cambria Math" panose="02040503050406030204" pitchFamily="18" charset="0"/>
                        </a:rPr>
                        <m:t>    </m:t>
                      </m:r>
                      <m:r>
                        <a:rPr lang="en-ID" i="1">
                          <a:solidFill>
                            <a:srgbClr val="000000"/>
                          </a:solidFill>
                          <a:latin typeface="Cambria Math" panose="02040503050406030204" pitchFamily="18" charset="0"/>
                        </a:rPr>
                        <m:t>𝑇</m:t>
                      </m:r>
                      <m:r>
                        <a:rPr lang="en-ID" i="1">
                          <a:solidFill>
                            <a:srgbClr val="000000"/>
                          </a:solidFill>
                          <a:latin typeface="Cambria Math" panose="02040503050406030204" pitchFamily="18" charset="0"/>
                        </a:rPr>
                        <m:t>→∞</m:t>
                      </m:r>
                      <m:r>
                        <m:rPr>
                          <m:nor/>
                        </m:rPr>
                        <a:rPr lang="en-ID" i="0">
                          <a:solidFill>
                            <a:srgbClr val="000000"/>
                          </a:solidFill>
                          <a:latin typeface="Cambria Math" panose="02040503050406030204" pitchFamily="18" charset="0"/>
                        </a:rPr>
                        <m:t>  </m:t>
                      </m:r>
                      <m:r>
                        <m:rPr>
                          <m:nor/>
                        </m:rPr>
                        <a:rPr lang="en-ID" i="0">
                          <a:solidFill>
                            <a:srgbClr val="000000"/>
                          </a:solidFill>
                          <a:latin typeface="Cambria Math" panose="02040503050406030204" pitchFamily="18" charset="0"/>
                        </a:rPr>
                        <m:t>and</m:t>
                      </m:r>
                      <m:r>
                        <m:rPr>
                          <m:nor/>
                        </m:rPr>
                        <a:rPr lang="en-ID" i="0">
                          <a:solidFill>
                            <a:srgbClr val="000000"/>
                          </a:solidFill>
                          <a:latin typeface="Cambria Math" panose="02040503050406030204" pitchFamily="18" charset="0"/>
                        </a:rPr>
                        <m:t>  </m:t>
                      </m:r>
                      <m:r>
                        <a:rPr lang="en-ID" i="1">
                          <a:solidFill>
                            <a:srgbClr val="000000"/>
                          </a:solidFill>
                          <a:latin typeface="Cambria Math" panose="02040503050406030204" pitchFamily="18" charset="0"/>
                        </a:rPr>
                        <m:t>𝑁</m:t>
                      </m:r>
                      <m:r>
                        <a:rPr lang="en-ID" i="1">
                          <a:solidFill>
                            <a:srgbClr val="000000"/>
                          </a:solidFill>
                          <a:latin typeface="Cambria Math" panose="02040503050406030204" pitchFamily="18" charset="0"/>
                        </a:rPr>
                        <m:t>→∞</m:t>
                      </m:r>
                    </m:oMath>
                  </m:oMathPara>
                </a14:m>
                <a:endParaRPr lang="en-ID" dirty="0"/>
              </a:p>
            </p:txBody>
          </p:sp>
        </mc:Choice>
        <mc:Fallback xmlns="">
          <p:sp>
            <p:nvSpPr>
              <p:cNvPr id="23558" name="Object 6">
                <a:extLst>
                  <a:ext uri="{FF2B5EF4-FFF2-40B4-BE49-F238E27FC236}">
                    <a16:creationId xmlns:a16="http://schemas.microsoft.com/office/drawing/2014/main" id="{EDFCE92C-EF18-DFBD-A449-05F5A3C64F52}"/>
                  </a:ext>
                </a:extLst>
              </p:cNvPr>
              <p:cNvSpPr txBox="1">
                <a:spLocks noRot="1" noChangeAspect="1" noMove="1" noResize="1" noEditPoints="1" noAdjustHandles="1" noChangeArrowheads="1" noChangeShapeType="1" noTextEdit="1"/>
              </p:cNvSpPr>
              <p:nvPr>
                <p:ph sz="quarter" idx="3"/>
              </p:nvPr>
            </p:nvSpPr>
            <p:spPr bwMode="auto">
              <a:xfrm>
                <a:off x="2133600" y="3182938"/>
                <a:ext cx="4876800" cy="454025"/>
              </a:xfrm>
              <a:prstGeom prst="rect">
                <a:avLst/>
              </a:prstGeom>
              <a:blipFill>
                <a:blip r:embed="rId3"/>
                <a:stretch>
                  <a:fillRect l="-125"/>
                </a:stretch>
              </a:blipFill>
              <a:ln>
                <a:noFill/>
              </a:ln>
              <a:effectLst/>
            </p:spPr>
            <p:txBody>
              <a:bodyPr/>
              <a:lstStyle/>
              <a:p>
                <a:r>
                  <a:rPr lang="en-ID">
                    <a:noFill/>
                  </a:rPr>
                  <a:t> </a:t>
                </a:r>
              </a:p>
            </p:txBody>
          </p:sp>
        </mc:Fallback>
      </mc:AlternateContent>
      <p:sp>
        <p:nvSpPr>
          <p:cNvPr id="23559" name="AutoShape 8">
            <a:extLst>
              <a:ext uri="{FF2B5EF4-FFF2-40B4-BE49-F238E27FC236}">
                <a16:creationId xmlns:a16="http://schemas.microsoft.com/office/drawing/2014/main" id="{04D9E27F-425D-7DC1-4E1B-7F1B57160A08}"/>
              </a:ext>
            </a:extLst>
          </p:cNvPr>
          <p:cNvSpPr>
            <a:spLocks noChangeArrowheads="1"/>
          </p:cNvSpPr>
          <p:nvPr/>
        </p:nvSpPr>
        <p:spPr bwMode="auto">
          <a:xfrm rot="-5400000">
            <a:off x="4114800" y="2057400"/>
            <a:ext cx="381000" cy="1600200"/>
          </a:xfrm>
          <a:prstGeom prst="wedgeRoundRectCallout">
            <a:avLst>
              <a:gd name="adj1" fmla="val 135829"/>
              <a:gd name="adj2" fmla="val -5755"/>
              <a:gd name="adj3" fmla="val 16667"/>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nchor="ctr"/>
          <a:lstStyle>
            <a:lvl1pPr>
              <a:spcBef>
                <a:spcPct val="20000"/>
              </a:spcBef>
              <a:buClr>
                <a:schemeClr val="bg2"/>
              </a:buClr>
              <a:buSzPct val="75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4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9pPr>
          </a:lstStyle>
          <a:p>
            <a:pPr algn="ctr">
              <a:spcBef>
                <a:spcPct val="0"/>
              </a:spcBef>
              <a:buClrTx/>
              <a:buSzTx/>
              <a:buFontTx/>
              <a:buNone/>
            </a:pPr>
            <a:r>
              <a:rPr lang="en-US" altLang="id-ID" sz="1600"/>
              <a:t>Arrival rate</a:t>
            </a:r>
          </a:p>
        </p:txBody>
      </p:sp>
      <p:sp>
        <p:nvSpPr>
          <p:cNvPr id="23560" name="AutoShape 9">
            <a:extLst>
              <a:ext uri="{FF2B5EF4-FFF2-40B4-BE49-F238E27FC236}">
                <a16:creationId xmlns:a16="http://schemas.microsoft.com/office/drawing/2014/main" id="{102F825C-2C51-2784-C9DF-DEFA0A49FD7D}"/>
              </a:ext>
            </a:extLst>
          </p:cNvPr>
          <p:cNvSpPr>
            <a:spLocks noChangeArrowheads="1"/>
          </p:cNvSpPr>
          <p:nvPr/>
        </p:nvSpPr>
        <p:spPr bwMode="auto">
          <a:xfrm rot="-5400000">
            <a:off x="5715000" y="1676400"/>
            <a:ext cx="457200" cy="1524000"/>
          </a:xfrm>
          <a:prstGeom prst="wedgeRoundRectCallout">
            <a:avLst>
              <a:gd name="adj1" fmla="val 52778"/>
              <a:gd name="adj2" fmla="val -86880"/>
              <a:gd name="adj3" fmla="val 16667"/>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nchor="ctr"/>
          <a:lstStyle>
            <a:lvl1pPr>
              <a:spcBef>
                <a:spcPct val="20000"/>
              </a:spcBef>
              <a:buClr>
                <a:schemeClr val="bg2"/>
              </a:buClr>
              <a:buSzPct val="75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4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9pPr>
          </a:lstStyle>
          <a:p>
            <a:pPr algn="ctr">
              <a:spcBef>
                <a:spcPct val="0"/>
              </a:spcBef>
              <a:buClrTx/>
              <a:buSzTx/>
              <a:buFontTx/>
              <a:buNone/>
            </a:pPr>
            <a:r>
              <a:rPr lang="en-US" altLang="id-ID" sz="1600"/>
              <a:t>Average System time</a:t>
            </a:r>
          </a:p>
        </p:txBody>
      </p:sp>
      <p:sp>
        <p:nvSpPr>
          <p:cNvPr id="23561" name="AutoShape 10">
            <a:extLst>
              <a:ext uri="{FF2B5EF4-FFF2-40B4-BE49-F238E27FC236}">
                <a16:creationId xmlns:a16="http://schemas.microsoft.com/office/drawing/2014/main" id="{6AEE41AB-FC2A-E6BD-042C-35F9DD2A3450}"/>
              </a:ext>
            </a:extLst>
          </p:cNvPr>
          <p:cNvSpPr>
            <a:spLocks noChangeArrowheads="1"/>
          </p:cNvSpPr>
          <p:nvPr/>
        </p:nvSpPr>
        <p:spPr bwMode="auto">
          <a:xfrm rot="-5400000">
            <a:off x="2095500" y="1790700"/>
            <a:ext cx="457200" cy="1447800"/>
          </a:xfrm>
          <a:prstGeom prst="wedgeRoundRectCallout">
            <a:avLst>
              <a:gd name="adj1" fmla="val 60759"/>
              <a:gd name="adj2" fmla="val 77630"/>
              <a:gd name="adj3" fmla="val 16667"/>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nchor="ctr"/>
          <a:lstStyle>
            <a:lvl1pPr>
              <a:spcBef>
                <a:spcPct val="20000"/>
              </a:spcBef>
              <a:buClr>
                <a:schemeClr val="bg2"/>
              </a:buClr>
              <a:buSzPct val="75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4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9pPr>
          </a:lstStyle>
          <a:p>
            <a:pPr algn="ctr">
              <a:spcBef>
                <a:spcPct val="0"/>
              </a:spcBef>
              <a:buClrTx/>
              <a:buSzTx/>
              <a:buFontTx/>
              <a:buNone/>
            </a:pPr>
            <a:r>
              <a:rPr lang="en-US" altLang="id-ID" sz="1600"/>
              <a:t>Average # in system</a:t>
            </a: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Number Placeholder 6">
            <a:extLst>
              <a:ext uri="{FF2B5EF4-FFF2-40B4-BE49-F238E27FC236}">
                <a16:creationId xmlns:a16="http://schemas.microsoft.com/office/drawing/2014/main" id="{F599B0CA-32B1-276B-5C82-01341A2DC9FA}"/>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5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4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9pPr>
          </a:lstStyle>
          <a:p>
            <a:pPr>
              <a:spcBef>
                <a:spcPct val="0"/>
              </a:spcBef>
              <a:buClrTx/>
              <a:buSzTx/>
              <a:buFontTx/>
              <a:buNone/>
            </a:pPr>
            <a:fld id="{FF3CF55C-E232-474C-9257-D71572AF6709}" type="slidenum">
              <a:rPr lang="en-US" altLang="id-ID" sz="1200">
                <a:latin typeface="Arial Black" panose="020B0A04020102020204" pitchFamily="34" charset="0"/>
              </a:rPr>
              <a:pPr>
                <a:spcBef>
                  <a:spcPct val="0"/>
                </a:spcBef>
                <a:buClrTx/>
                <a:buSzTx/>
                <a:buFontTx/>
                <a:buNone/>
              </a:pPr>
              <a:t>19</a:t>
            </a:fld>
            <a:endParaRPr lang="en-US" altLang="id-ID" sz="1200">
              <a:latin typeface="Arial Black" panose="020B0A04020102020204" pitchFamily="34" charset="0"/>
            </a:endParaRPr>
          </a:p>
        </p:txBody>
      </p:sp>
      <p:sp>
        <p:nvSpPr>
          <p:cNvPr id="24579" name="Rectangle 2">
            <a:extLst>
              <a:ext uri="{FF2B5EF4-FFF2-40B4-BE49-F238E27FC236}">
                <a16:creationId xmlns:a16="http://schemas.microsoft.com/office/drawing/2014/main" id="{D1271F6A-3E72-D5FD-F263-EF6783D184D1}"/>
              </a:ext>
            </a:extLst>
          </p:cNvPr>
          <p:cNvSpPr>
            <a:spLocks noGrp="1" noChangeArrowheads="1"/>
          </p:cNvSpPr>
          <p:nvPr>
            <p:ph type="title"/>
          </p:nvPr>
        </p:nvSpPr>
        <p:spPr/>
        <p:txBody>
          <a:bodyPr/>
          <a:lstStyle/>
          <a:p>
            <a:pPr eaLnBrk="1" hangingPunct="1"/>
            <a:r>
              <a:rPr lang="en-US" altLang="id-ID"/>
              <a:t>Utilisasi Server</a:t>
            </a:r>
            <a:br>
              <a:rPr lang="en-US" altLang="id-ID"/>
            </a:br>
            <a:r>
              <a:rPr lang="en-US" altLang="id-ID" sz="2200"/>
              <a:t>		            	</a:t>
            </a:r>
            <a:r>
              <a:rPr lang="en-US" altLang="id-ID" sz="2200">
                <a:solidFill>
                  <a:schemeClr val="bg2"/>
                </a:solidFill>
              </a:rPr>
              <a:t>[Karakteristik Sistem Antrean]</a:t>
            </a:r>
          </a:p>
        </p:txBody>
      </p:sp>
      <p:sp>
        <p:nvSpPr>
          <p:cNvPr id="24580" name="Rectangle 3">
            <a:extLst>
              <a:ext uri="{FF2B5EF4-FFF2-40B4-BE49-F238E27FC236}">
                <a16:creationId xmlns:a16="http://schemas.microsoft.com/office/drawing/2014/main" id="{F6B6A0C2-8EB9-3F04-258B-74221629D411}"/>
              </a:ext>
            </a:extLst>
          </p:cNvPr>
          <p:cNvSpPr>
            <a:spLocks noGrp="1" noChangeArrowheads="1"/>
          </p:cNvSpPr>
          <p:nvPr>
            <p:ph type="body" sz="half" idx="1"/>
          </p:nvPr>
        </p:nvSpPr>
        <p:spPr>
          <a:xfrm>
            <a:off x="457200" y="1447800"/>
            <a:ext cx="8305800" cy="4800600"/>
          </a:xfrm>
        </p:spPr>
        <p:txBody>
          <a:bodyPr/>
          <a:lstStyle/>
          <a:p>
            <a:pPr eaLnBrk="1" hangingPunct="1"/>
            <a:r>
              <a:rPr lang="it-IT" altLang="id-ID" sz="2400"/>
              <a:t>Definisi: proporsi waktu server sedang sibuk</a:t>
            </a:r>
            <a:r>
              <a:rPr lang="en-US" altLang="id-ID" sz="2400"/>
              <a:t>.</a:t>
            </a:r>
          </a:p>
          <a:p>
            <a:pPr lvl="1" eaLnBrk="1" hangingPunct="1"/>
            <a:r>
              <a:rPr lang="en-US" altLang="id-ID" sz="2000"/>
              <a:t>Pemanfaatan server yang diamati,       ditentukan dalam interval waktu tertentu [0,T].</a:t>
            </a:r>
          </a:p>
          <a:p>
            <a:pPr lvl="1" eaLnBrk="1" hangingPunct="1"/>
            <a:r>
              <a:rPr lang="en-US" altLang="id-ID" sz="2000"/>
              <a:t>Pemanfaatan server jangka panjang adalah </a:t>
            </a:r>
            <a:r>
              <a:rPr lang="en-US" altLang="id-ID" sz="2000" i="1">
                <a:latin typeface="Symbol" panose="05050102010706020507" pitchFamily="18" charset="2"/>
              </a:rPr>
              <a:t>r</a:t>
            </a:r>
            <a:r>
              <a:rPr lang="en-US" altLang="id-ID" sz="2000"/>
              <a:t>.</a:t>
            </a:r>
          </a:p>
          <a:p>
            <a:pPr lvl="1" eaLnBrk="1" hangingPunct="1"/>
            <a:r>
              <a:rPr lang="en-US" altLang="id-ID" sz="2000"/>
              <a:t>Untuk sistem dengan stabilitas jangka panjang:</a:t>
            </a:r>
          </a:p>
        </p:txBody>
      </p:sp>
      <mc:AlternateContent xmlns:mc="http://schemas.openxmlformats.org/markup-compatibility/2006" xmlns:a14="http://schemas.microsoft.com/office/drawing/2010/main">
        <mc:Choice Requires="a14">
          <p:sp>
            <p:nvSpPr>
              <p:cNvPr id="24581" name="Object 5">
                <a:extLst>
                  <a:ext uri="{FF2B5EF4-FFF2-40B4-BE49-F238E27FC236}">
                    <a16:creationId xmlns:a16="http://schemas.microsoft.com/office/drawing/2014/main" id="{F85DE28E-4CBF-7CB5-1B89-58824F33F975}"/>
                  </a:ext>
                </a:extLst>
              </p:cNvPr>
              <p:cNvSpPr txBox="1">
                <a:spLocks noGrp="1"/>
              </p:cNvSpPr>
              <p:nvPr>
                <p:ph sz="quarter" idx="3"/>
              </p:nvPr>
            </p:nvSpPr>
            <p:spPr bwMode="auto">
              <a:xfrm>
                <a:off x="4572000" y="3407546"/>
                <a:ext cx="2514600" cy="449263"/>
              </a:xfrm>
              <a:prstGeom prst="rect">
                <a:avLst/>
              </a:prstGeom>
              <a:noFill/>
              <a:ln>
                <a:noFill/>
              </a:ln>
              <a:effectLst/>
            </p:spPr>
            <p:txBody>
              <a:bodyPr>
                <a:normAutofit fontScale="77500" lnSpcReduction="20000"/>
              </a:bodyPr>
              <a:lstStyle/>
              <a:p>
                <a:pPr>
                  <a:buNone/>
                </a:pPr>
                <a14:m>
                  <m:oMathPara xmlns:m="http://schemas.openxmlformats.org/officeDocument/2006/math">
                    <m:oMathParaPr>
                      <m:jc m:val="left"/>
                    </m:oMathParaPr>
                    <m:oMath xmlns:m="http://schemas.openxmlformats.org/officeDocument/2006/math">
                      <m:acc>
                        <m:accPr>
                          <m:chr m:val="̂"/>
                          <m:ctrlPr>
                            <a:rPr lang="en-ID" i="1">
                              <a:solidFill>
                                <a:srgbClr val="000000"/>
                              </a:solidFill>
                              <a:latin typeface="Cambria Math" panose="02040503050406030204" pitchFamily="18" charset="0"/>
                            </a:rPr>
                          </m:ctrlPr>
                        </m:accPr>
                        <m:e>
                          <m:r>
                            <a:rPr lang="en-ID" i="1">
                              <a:solidFill>
                                <a:srgbClr val="000000"/>
                              </a:solidFill>
                              <a:latin typeface="Cambria Math" panose="02040503050406030204" pitchFamily="18" charset="0"/>
                            </a:rPr>
                            <m:t>𝜌</m:t>
                          </m:r>
                        </m:e>
                      </m:acc>
                      <m:r>
                        <a:rPr lang="en-ID" i="1">
                          <a:solidFill>
                            <a:srgbClr val="000000"/>
                          </a:solidFill>
                          <a:latin typeface="Cambria Math" panose="02040503050406030204" pitchFamily="18" charset="0"/>
                        </a:rPr>
                        <m:t>→</m:t>
                      </m:r>
                      <m:r>
                        <a:rPr lang="en-ID" i="0">
                          <a:solidFill>
                            <a:srgbClr val="000000"/>
                          </a:solidFill>
                          <a:latin typeface="Cambria Math" panose="02040503050406030204" pitchFamily="18" charset="0"/>
                        </a:rPr>
                        <m:t> </m:t>
                      </m:r>
                      <m:r>
                        <a:rPr lang="en-ID" i="1">
                          <a:solidFill>
                            <a:srgbClr val="000000"/>
                          </a:solidFill>
                          <a:latin typeface="Cambria Math" panose="02040503050406030204" pitchFamily="18" charset="0"/>
                        </a:rPr>
                        <m:t>𝜌</m:t>
                      </m:r>
                      <m:r>
                        <m:rPr>
                          <m:nor/>
                        </m:rPr>
                        <a:rPr lang="en-ID" i="0">
                          <a:solidFill>
                            <a:srgbClr val="000000"/>
                          </a:solidFill>
                          <a:latin typeface="Cambria Math" panose="02040503050406030204" pitchFamily="18" charset="0"/>
                        </a:rPr>
                        <m:t>   </m:t>
                      </m:r>
                      <m:r>
                        <m:rPr>
                          <m:nor/>
                        </m:rPr>
                        <a:rPr lang="en-ID" i="0">
                          <a:solidFill>
                            <a:srgbClr val="000000"/>
                          </a:solidFill>
                          <a:latin typeface="Cambria Math" panose="02040503050406030204" pitchFamily="18" charset="0"/>
                        </a:rPr>
                        <m:t>as</m:t>
                      </m:r>
                      <m:r>
                        <m:rPr>
                          <m:nor/>
                        </m:rPr>
                        <a:rPr lang="en-ID" i="0">
                          <a:solidFill>
                            <a:srgbClr val="000000"/>
                          </a:solidFill>
                          <a:latin typeface="Cambria Math" panose="02040503050406030204" pitchFamily="18" charset="0"/>
                        </a:rPr>
                        <m:t>    </m:t>
                      </m:r>
                      <m:r>
                        <a:rPr lang="en-ID" i="1">
                          <a:solidFill>
                            <a:srgbClr val="000000"/>
                          </a:solidFill>
                          <a:latin typeface="Cambria Math" panose="02040503050406030204" pitchFamily="18" charset="0"/>
                        </a:rPr>
                        <m:t>𝑇</m:t>
                      </m:r>
                      <m:r>
                        <a:rPr lang="en-ID" i="1">
                          <a:solidFill>
                            <a:srgbClr val="000000"/>
                          </a:solidFill>
                          <a:latin typeface="Cambria Math" panose="02040503050406030204" pitchFamily="18" charset="0"/>
                        </a:rPr>
                        <m:t>→∞</m:t>
                      </m:r>
                    </m:oMath>
                  </m:oMathPara>
                </a14:m>
                <a:endParaRPr lang="en-ID"/>
              </a:p>
            </p:txBody>
          </p:sp>
        </mc:Choice>
        <mc:Fallback xmlns="">
          <p:sp>
            <p:nvSpPr>
              <p:cNvPr id="24581" name="Object 5">
                <a:extLst>
                  <a:ext uri="{FF2B5EF4-FFF2-40B4-BE49-F238E27FC236}">
                    <a16:creationId xmlns:a16="http://schemas.microsoft.com/office/drawing/2014/main" id="{F85DE28E-4CBF-7CB5-1B89-58824F33F975}"/>
                  </a:ext>
                </a:extLst>
              </p:cNvPr>
              <p:cNvSpPr txBox="1">
                <a:spLocks noGrp="1" noRot="1" noChangeAspect="1" noMove="1" noResize="1" noEditPoints="1" noAdjustHandles="1" noChangeArrowheads="1" noChangeShapeType="1" noTextEdit="1"/>
              </p:cNvSpPr>
              <p:nvPr>
                <p:ph sz="quarter" idx="3"/>
              </p:nvPr>
            </p:nvSpPr>
            <p:spPr bwMode="auto">
              <a:xfrm>
                <a:off x="4572000" y="3407546"/>
                <a:ext cx="2514600" cy="449263"/>
              </a:xfrm>
              <a:prstGeom prst="rect">
                <a:avLst/>
              </a:prstGeom>
              <a:blipFill>
                <a:blip r:embed="rId2"/>
                <a:stretch>
                  <a:fillRect l="-242" b="-6757"/>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582" name="Object 9">
                <a:extLst>
                  <a:ext uri="{FF2B5EF4-FFF2-40B4-BE49-F238E27FC236}">
                    <a16:creationId xmlns:a16="http://schemas.microsoft.com/office/drawing/2014/main" id="{BBBFF247-5DEF-8C75-308B-EC8B437AE45D}"/>
                  </a:ext>
                </a:extLst>
              </p:cNvPr>
              <p:cNvSpPr txBox="1">
                <a:spLocks noGrp="1"/>
              </p:cNvSpPr>
              <p:nvPr>
                <p:ph sz="quarter" idx="2"/>
              </p:nvPr>
            </p:nvSpPr>
            <p:spPr bwMode="auto">
              <a:xfrm>
                <a:off x="5181600" y="1856173"/>
                <a:ext cx="457200" cy="381000"/>
              </a:xfrm>
              <a:prstGeom prst="rect">
                <a:avLst/>
              </a:prstGeom>
              <a:noFill/>
              <a:ln>
                <a:noFill/>
              </a:ln>
              <a:effectLst/>
            </p:spPr>
            <p:txBody>
              <a:bodyPr>
                <a:normAutofit fontScale="62500" lnSpcReduction="20000"/>
              </a:bodyPr>
              <a:lstStyle/>
              <a:p>
                <a:pPr>
                  <a:buNone/>
                </a:pPr>
                <a14:m>
                  <m:oMathPara xmlns:m="http://schemas.openxmlformats.org/officeDocument/2006/math">
                    <m:oMathParaPr>
                      <m:jc m:val="left"/>
                    </m:oMathParaPr>
                    <m:oMath xmlns:m="http://schemas.openxmlformats.org/officeDocument/2006/math">
                      <m:acc>
                        <m:accPr>
                          <m:chr m:val="̂"/>
                          <m:ctrlPr>
                            <a:rPr lang="en-ID" i="1" smtClean="0">
                              <a:solidFill>
                                <a:srgbClr val="000000"/>
                              </a:solidFill>
                              <a:latin typeface="Cambria Math" panose="02040503050406030204" pitchFamily="18" charset="0"/>
                            </a:rPr>
                          </m:ctrlPr>
                        </m:accPr>
                        <m:e>
                          <m:r>
                            <a:rPr lang="en-ID" i="1">
                              <a:solidFill>
                                <a:srgbClr val="000000"/>
                              </a:solidFill>
                              <a:latin typeface="Cambria Math" panose="02040503050406030204" pitchFamily="18" charset="0"/>
                            </a:rPr>
                            <m:t>𝜌</m:t>
                          </m:r>
                        </m:e>
                      </m:acc>
                      <m:r>
                        <a:rPr lang="en-US" b="0" i="1" smtClean="0">
                          <a:solidFill>
                            <a:srgbClr val="000000"/>
                          </a:solidFill>
                          <a:latin typeface="Cambria Math" panose="02040503050406030204" pitchFamily="18" charset="0"/>
                        </a:rPr>
                        <m:t>   </m:t>
                      </m:r>
                    </m:oMath>
                  </m:oMathPara>
                </a14:m>
                <a:endParaRPr lang="en-ID"/>
              </a:p>
            </p:txBody>
          </p:sp>
        </mc:Choice>
        <mc:Fallback xmlns="">
          <p:sp>
            <p:nvSpPr>
              <p:cNvPr id="24582" name="Object 9">
                <a:extLst>
                  <a:ext uri="{FF2B5EF4-FFF2-40B4-BE49-F238E27FC236}">
                    <a16:creationId xmlns:a16="http://schemas.microsoft.com/office/drawing/2014/main" id="{BBBFF247-5DEF-8C75-308B-EC8B437AE45D}"/>
                  </a:ext>
                </a:extLst>
              </p:cNvPr>
              <p:cNvSpPr txBox="1">
                <a:spLocks noGrp="1" noRot="1" noChangeAspect="1" noMove="1" noResize="1" noEditPoints="1" noAdjustHandles="1" noChangeArrowheads="1" noChangeShapeType="1" noTextEdit="1"/>
              </p:cNvSpPr>
              <p:nvPr>
                <p:ph sz="quarter" idx="2"/>
              </p:nvPr>
            </p:nvSpPr>
            <p:spPr bwMode="auto">
              <a:xfrm>
                <a:off x="5181600" y="1856173"/>
                <a:ext cx="457200" cy="381000"/>
              </a:xfrm>
              <a:prstGeom prst="rect">
                <a:avLst/>
              </a:prstGeom>
              <a:blipFill>
                <a:blip r:embed="rId3"/>
                <a:stretch>
                  <a:fillRect t="-4762" r="-6667" b="-4762"/>
                </a:stretch>
              </a:blipFill>
              <a:ln>
                <a:noFill/>
              </a:ln>
              <a:effectLst/>
            </p:spPr>
            <p:txBody>
              <a:bodyPr/>
              <a:lstStyle/>
              <a:p>
                <a:r>
                  <a:rPr lang="en-US">
                    <a:noFill/>
                  </a:rPr>
                  <a:t> </a:t>
                </a:r>
              </a:p>
            </p:txBody>
          </p:sp>
        </mc:Fallback>
      </mc:AlternateContent>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Number Placeholder 6">
            <a:extLst>
              <a:ext uri="{FF2B5EF4-FFF2-40B4-BE49-F238E27FC236}">
                <a16:creationId xmlns:a16="http://schemas.microsoft.com/office/drawing/2014/main" id="{F9462F07-4F52-0EB8-8647-383A249B0F4A}"/>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5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4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9pPr>
          </a:lstStyle>
          <a:p>
            <a:pPr>
              <a:spcBef>
                <a:spcPct val="0"/>
              </a:spcBef>
              <a:buClrTx/>
              <a:buSzTx/>
              <a:buFontTx/>
              <a:buNone/>
            </a:pPr>
            <a:fld id="{0EA78E22-8FA8-434F-A154-6397DF95551B}" type="slidenum">
              <a:rPr lang="en-US" altLang="id-ID" sz="1200">
                <a:latin typeface="Arial Black" panose="020B0A04020102020204" pitchFamily="34" charset="0"/>
              </a:rPr>
              <a:pPr>
                <a:spcBef>
                  <a:spcPct val="0"/>
                </a:spcBef>
                <a:buClrTx/>
                <a:buSzTx/>
                <a:buFontTx/>
                <a:buNone/>
              </a:pPr>
              <a:t>20</a:t>
            </a:fld>
            <a:endParaRPr lang="en-US" altLang="id-ID" sz="1200">
              <a:latin typeface="Arial Black" panose="020B0A04020102020204" pitchFamily="34" charset="0"/>
            </a:endParaRPr>
          </a:p>
        </p:txBody>
      </p:sp>
      <p:sp>
        <p:nvSpPr>
          <p:cNvPr id="25603" name="Rectangle 2">
            <a:extLst>
              <a:ext uri="{FF2B5EF4-FFF2-40B4-BE49-F238E27FC236}">
                <a16:creationId xmlns:a16="http://schemas.microsoft.com/office/drawing/2014/main" id="{B27692D6-9902-6F34-7E6F-04D74ECBC489}"/>
              </a:ext>
            </a:extLst>
          </p:cNvPr>
          <p:cNvSpPr>
            <a:spLocks noGrp="1" noChangeArrowheads="1"/>
          </p:cNvSpPr>
          <p:nvPr>
            <p:ph type="title"/>
          </p:nvPr>
        </p:nvSpPr>
        <p:spPr>
          <a:xfrm>
            <a:off x="685800" y="446314"/>
            <a:ext cx="8153400" cy="446088"/>
          </a:xfrm>
        </p:spPr>
        <p:txBody>
          <a:bodyPr/>
          <a:lstStyle/>
          <a:p>
            <a:pPr eaLnBrk="1" hangingPunct="1"/>
            <a:r>
              <a:rPr lang="en-US" altLang="id-ID"/>
              <a:t>Utilisasi Server</a:t>
            </a:r>
            <a:br>
              <a:rPr lang="en-US" altLang="id-ID"/>
            </a:br>
            <a:r>
              <a:rPr lang="en-US" altLang="id-ID"/>
              <a:t>		      </a:t>
            </a:r>
            <a:r>
              <a:rPr lang="en-US" altLang="id-ID">
                <a:solidFill>
                  <a:schemeClr val="bg2"/>
                </a:solidFill>
              </a:rPr>
              <a:t>[Karakteristik Sistem Antrean]</a:t>
            </a:r>
            <a:endParaRPr lang="en-US" altLang="id-ID" sz="2200">
              <a:solidFill>
                <a:schemeClr val="bg2"/>
              </a:solidFill>
            </a:endParaRPr>
          </a:p>
        </p:txBody>
      </p:sp>
      <p:sp>
        <p:nvSpPr>
          <p:cNvPr id="25604" name="Rectangle 3">
            <a:extLst>
              <a:ext uri="{FF2B5EF4-FFF2-40B4-BE49-F238E27FC236}">
                <a16:creationId xmlns:a16="http://schemas.microsoft.com/office/drawing/2014/main" id="{8F27356D-FFA6-6668-68AD-3395241A9F5F}"/>
              </a:ext>
            </a:extLst>
          </p:cNvPr>
          <p:cNvSpPr>
            <a:spLocks noGrp="1" noChangeArrowheads="1"/>
          </p:cNvSpPr>
          <p:nvPr>
            <p:ph type="body" sz="half" idx="1"/>
          </p:nvPr>
        </p:nvSpPr>
        <p:spPr>
          <a:xfrm>
            <a:off x="457200" y="1447800"/>
            <a:ext cx="8305800" cy="4800600"/>
          </a:xfrm>
        </p:spPr>
        <p:txBody>
          <a:bodyPr/>
          <a:lstStyle/>
          <a:p>
            <a:pPr eaLnBrk="1" hangingPunct="1"/>
            <a:r>
              <a:rPr lang="en-US" altLang="id-ID" sz="2400"/>
              <a:t>Untuk Antrian </a:t>
            </a:r>
            <a:r>
              <a:rPr lang="en-US" altLang="id-ID" sz="2400" i="1"/>
              <a:t>G/G/1/∞/∞</a:t>
            </a:r>
            <a:r>
              <a:rPr lang="en-US" altLang="id-ID" sz="2400"/>
              <a:t>:</a:t>
            </a:r>
          </a:p>
          <a:p>
            <a:pPr lvl="1" eaLnBrk="1" hangingPunct="1"/>
            <a:r>
              <a:rPr lang="en-US" altLang="id-ID" sz="2200"/>
              <a:t>Sistem antrian server tunggal dengan tingkat kedatangan rata-rata </a:t>
            </a:r>
            <a:r>
              <a:rPr lang="en-US" altLang="id-ID" sz="2200" i="1">
                <a:latin typeface="Symbol" panose="05050102010706020507" pitchFamily="18" charset="2"/>
              </a:rPr>
              <a:t>l</a:t>
            </a:r>
            <a:r>
              <a:rPr lang="en-US" altLang="id-ID" sz="2200"/>
              <a:t> customers per unit waktu, dimana waktu pelayanan rata-rata </a:t>
            </a:r>
            <a:r>
              <a:rPr lang="en-US" altLang="id-ID" sz="2200" i="1"/>
              <a:t>E(S) = 1/</a:t>
            </a:r>
            <a:r>
              <a:rPr lang="en-US" altLang="id-ID" sz="2200" i="1">
                <a:latin typeface="Symbol" panose="05050102010706020507" pitchFamily="18" charset="2"/>
              </a:rPr>
              <a:t>m</a:t>
            </a:r>
            <a:r>
              <a:rPr lang="en-US" altLang="id-ID" sz="2200"/>
              <a:t> satuan waktu, kapasitas antrian tak terbatas dan populasi panggilan.</a:t>
            </a:r>
          </a:p>
          <a:p>
            <a:pPr lvl="1" eaLnBrk="1" hangingPunct="1"/>
            <a:r>
              <a:rPr lang="en-US" altLang="id-ID" sz="2200"/>
              <a:t>Persamaan Konservasi, </a:t>
            </a:r>
            <a:r>
              <a:rPr lang="en-US" altLang="id-ID" sz="2200" i="1"/>
              <a:t>L = </a:t>
            </a:r>
            <a:r>
              <a:rPr lang="en-US" altLang="id-ID" sz="2200" i="1">
                <a:latin typeface="Symbol" panose="05050102010706020507" pitchFamily="18" charset="2"/>
              </a:rPr>
              <a:t>l</a:t>
            </a:r>
            <a:r>
              <a:rPr lang="en-US" altLang="id-ID" sz="2200" i="1"/>
              <a:t>w</a:t>
            </a:r>
            <a:r>
              <a:rPr lang="en-US" altLang="id-ID" sz="2200"/>
              <a:t>, dapat diterapkan.</a:t>
            </a:r>
          </a:p>
          <a:p>
            <a:pPr lvl="1" eaLnBrk="1" hangingPunct="1"/>
            <a:r>
              <a:rPr lang="en-US" altLang="id-ID" sz="2200"/>
              <a:t>Untuk sistem yang stabil, rata-rata tingkat kedatangan ke server, </a:t>
            </a:r>
            <a:r>
              <a:rPr lang="en-US" altLang="id-ID" sz="2200" i="1">
                <a:latin typeface="Symbol" panose="05050102010706020507" pitchFamily="18" charset="2"/>
              </a:rPr>
              <a:t>l</a:t>
            </a:r>
            <a:r>
              <a:rPr lang="en-US" altLang="id-ID" sz="2200" i="1" baseline="-25000"/>
              <a:t>s</a:t>
            </a:r>
            <a:r>
              <a:rPr lang="en-US" altLang="id-ID" sz="2200"/>
              <a:t>, harus sama dengan </a:t>
            </a:r>
            <a:r>
              <a:rPr lang="en-US" altLang="id-ID" sz="2200" i="1">
                <a:latin typeface="Symbol" panose="05050102010706020507" pitchFamily="18" charset="2"/>
              </a:rPr>
              <a:t>l</a:t>
            </a:r>
            <a:r>
              <a:rPr lang="en-US" altLang="id-ID" sz="2200"/>
              <a:t>.</a:t>
            </a:r>
          </a:p>
          <a:p>
            <a:pPr lvl="1" eaLnBrk="1" hangingPunct="1"/>
            <a:r>
              <a:rPr lang="it-IT" altLang="id-ID" sz="2200"/>
              <a:t>Jumlah rata-rata customer di server adalah</a:t>
            </a:r>
            <a:r>
              <a:rPr lang="en-US" altLang="id-ID" sz="2200"/>
              <a:t>:</a:t>
            </a:r>
          </a:p>
          <a:p>
            <a:pPr lvl="1" eaLnBrk="1" hangingPunct="1"/>
            <a:endParaRPr lang="en-US" altLang="id-ID" sz="2200"/>
          </a:p>
          <a:p>
            <a:pPr lvl="1" eaLnBrk="1" hangingPunct="1"/>
            <a:endParaRPr lang="en-US" altLang="id-ID" sz="2000"/>
          </a:p>
        </p:txBody>
      </p:sp>
      <mc:AlternateContent xmlns:mc="http://schemas.openxmlformats.org/markup-compatibility/2006" xmlns:a14="http://schemas.microsoft.com/office/drawing/2010/main">
        <mc:Choice Requires="a14">
          <p:sp>
            <p:nvSpPr>
              <p:cNvPr id="25605" name="Object 4">
                <a:extLst>
                  <a:ext uri="{FF2B5EF4-FFF2-40B4-BE49-F238E27FC236}">
                    <a16:creationId xmlns:a16="http://schemas.microsoft.com/office/drawing/2014/main" id="{2B3941C5-94BF-17FB-9DDB-89F56E117E90}"/>
                  </a:ext>
                </a:extLst>
              </p:cNvPr>
              <p:cNvSpPr txBox="1">
                <a:spLocks noGrp="1"/>
              </p:cNvSpPr>
              <p:nvPr>
                <p:ph sz="quarter" idx="3"/>
              </p:nvPr>
            </p:nvSpPr>
            <p:spPr bwMode="auto">
              <a:xfrm>
                <a:off x="2819400" y="4953000"/>
                <a:ext cx="3886200" cy="750888"/>
              </a:xfrm>
              <a:prstGeom prst="rect">
                <a:avLst/>
              </a:prstGeom>
              <a:noFill/>
              <a:ln>
                <a:noFill/>
              </a:ln>
              <a:effectLst/>
            </p:spPr>
            <p:txBody>
              <a:bodyPr>
                <a:normAutofit fontScale="62500" lnSpcReduction="20000"/>
              </a:bodyPr>
              <a:lstStyle/>
              <a:p>
                <a:pPr>
                  <a:buNone/>
                </a:pPr>
                <a14:m>
                  <m:oMathPara xmlns:m="http://schemas.openxmlformats.org/officeDocument/2006/math">
                    <m:oMathParaPr>
                      <m:jc m:val="left"/>
                    </m:oMathParaPr>
                    <m:oMath xmlns:m="http://schemas.openxmlformats.org/officeDocument/2006/math">
                      <m:sSub>
                        <m:sSubPr>
                          <m:ctrlPr>
                            <a:rPr lang="en-ID" i="1">
                              <a:solidFill>
                                <a:srgbClr val="000000"/>
                              </a:solidFill>
                              <a:latin typeface="Cambria Math" panose="02040503050406030204" pitchFamily="18" charset="0"/>
                            </a:rPr>
                          </m:ctrlPr>
                        </m:sSubPr>
                        <m:e>
                          <m:acc>
                            <m:accPr>
                              <m:chr m:val="̂"/>
                              <m:ctrlPr>
                                <a:rPr lang="en-ID" i="1">
                                  <a:solidFill>
                                    <a:srgbClr val="000000"/>
                                  </a:solidFill>
                                  <a:latin typeface="Cambria Math" panose="02040503050406030204" pitchFamily="18" charset="0"/>
                                </a:rPr>
                              </m:ctrlPr>
                            </m:accPr>
                            <m:e>
                              <m:r>
                                <a:rPr lang="en-ID" i="1">
                                  <a:solidFill>
                                    <a:srgbClr val="000000"/>
                                  </a:solidFill>
                                  <a:latin typeface="Cambria Math" panose="02040503050406030204" pitchFamily="18" charset="0"/>
                                </a:rPr>
                                <m:t>𝐿</m:t>
                              </m:r>
                            </m:e>
                          </m:acc>
                        </m:e>
                        <m:sub>
                          <m:r>
                            <a:rPr lang="en-ID" i="1">
                              <a:solidFill>
                                <a:srgbClr val="000000"/>
                              </a:solidFill>
                              <a:latin typeface="Cambria Math" panose="02040503050406030204" pitchFamily="18" charset="0"/>
                            </a:rPr>
                            <m:t>𝑠</m:t>
                          </m:r>
                        </m:sub>
                      </m:sSub>
                      <m:r>
                        <a:rPr lang="en-ID" i="1">
                          <a:solidFill>
                            <a:srgbClr val="000000"/>
                          </a:solidFill>
                          <a:latin typeface="Cambria Math" panose="02040503050406030204" pitchFamily="18" charset="0"/>
                        </a:rPr>
                        <m:t>=</m:t>
                      </m:r>
                      <m:f>
                        <m:fPr>
                          <m:ctrlPr>
                            <a:rPr lang="en-ID" i="1">
                              <a:solidFill>
                                <a:srgbClr val="000000"/>
                              </a:solidFill>
                              <a:latin typeface="Cambria Math" panose="02040503050406030204" pitchFamily="18" charset="0"/>
                            </a:rPr>
                          </m:ctrlPr>
                        </m:fPr>
                        <m:num>
                          <m:r>
                            <a:rPr lang="en-ID" i="1">
                              <a:solidFill>
                                <a:srgbClr val="000000"/>
                              </a:solidFill>
                              <a:latin typeface="Cambria Math" panose="02040503050406030204" pitchFamily="18" charset="0"/>
                            </a:rPr>
                            <m:t>1</m:t>
                          </m:r>
                        </m:num>
                        <m:den>
                          <m:r>
                            <a:rPr lang="en-ID" i="1">
                              <a:solidFill>
                                <a:srgbClr val="000000"/>
                              </a:solidFill>
                              <a:latin typeface="Cambria Math" panose="02040503050406030204" pitchFamily="18" charset="0"/>
                            </a:rPr>
                            <m:t>𝑇</m:t>
                          </m:r>
                        </m:den>
                      </m:f>
                      <m:nary>
                        <m:naryPr>
                          <m:ctrlPr>
                            <a:rPr lang="en-ID" i="1">
                              <a:solidFill>
                                <a:srgbClr val="000000"/>
                              </a:solidFill>
                              <a:latin typeface="Cambria Math" panose="02040503050406030204" pitchFamily="18" charset="0"/>
                            </a:rPr>
                          </m:ctrlPr>
                        </m:naryPr>
                        <m:sub>
                          <m:r>
                            <a:rPr lang="en-ID" i="1">
                              <a:solidFill>
                                <a:srgbClr val="000000"/>
                              </a:solidFill>
                              <a:latin typeface="Cambria Math" panose="02040503050406030204" pitchFamily="18" charset="0"/>
                            </a:rPr>
                            <m:t>0</m:t>
                          </m:r>
                        </m:sub>
                        <m:sup>
                          <m:r>
                            <a:rPr lang="en-ID" i="1">
                              <a:solidFill>
                                <a:srgbClr val="000000"/>
                              </a:solidFill>
                              <a:latin typeface="Cambria Math" panose="02040503050406030204" pitchFamily="18" charset="0"/>
                            </a:rPr>
                            <m:t>𝑇</m:t>
                          </m:r>
                        </m:sup>
                        <m:e>
                          <m:d>
                            <m:dPr>
                              <m:ctrlPr>
                                <a:rPr lang="en-ID" i="1">
                                  <a:solidFill>
                                    <a:srgbClr val="000000"/>
                                  </a:solidFill>
                                  <a:latin typeface="Cambria Math" panose="02040503050406030204" pitchFamily="18" charset="0"/>
                                </a:rPr>
                              </m:ctrlPr>
                            </m:dPr>
                            <m:e>
                              <m:r>
                                <a:rPr lang="en-ID" i="1">
                                  <a:solidFill>
                                    <a:srgbClr val="000000"/>
                                  </a:solidFill>
                                  <a:latin typeface="Cambria Math" panose="02040503050406030204" pitchFamily="18" charset="0"/>
                                </a:rPr>
                                <m:t>𝐿</m:t>
                              </m:r>
                              <m:r>
                                <a:rPr lang="en-ID" i="1">
                                  <a:solidFill>
                                    <a:srgbClr val="000000"/>
                                  </a:solidFill>
                                  <a:latin typeface="Cambria Math" panose="02040503050406030204" pitchFamily="18" charset="0"/>
                                </a:rPr>
                                <m:t>(</m:t>
                              </m:r>
                              <m:r>
                                <a:rPr lang="en-ID" i="1">
                                  <a:solidFill>
                                    <a:srgbClr val="000000"/>
                                  </a:solidFill>
                                  <a:latin typeface="Cambria Math" panose="02040503050406030204" pitchFamily="18" charset="0"/>
                                </a:rPr>
                                <m:t>𝑡</m:t>
                              </m:r>
                              <m:r>
                                <a:rPr lang="en-ID" i="1">
                                  <a:solidFill>
                                    <a:srgbClr val="000000"/>
                                  </a:solidFill>
                                  <a:latin typeface="Cambria Math" panose="02040503050406030204" pitchFamily="18" charset="0"/>
                                </a:rPr>
                                <m:t>)−</m:t>
                              </m:r>
                              <m:sSub>
                                <m:sSubPr>
                                  <m:ctrlPr>
                                    <a:rPr lang="en-ID" i="1">
                                      <a:solidFill>
                                        <a:srgbClr val="000000"/>
                                      </a:solidFill>
                                      <a:latin typeface="Cambria Math" panose="02040503050406030204" pitchFamily="18" charset="0"/>
                                    </a:rPr>
                                  </m:ctrlPr>
                                </m:sSubPr>
                                <m:e>
                                  <m:r>
                                    <a:rPr lang="en-ID" i="1">
                                      <a:solidFill>
                                        <a:srgbClr val="000000"/>
                                      </a:solidFill>
                                      <a:latin typeface="Cambria Math" panose="02040503050406030204" pitchFamily="18" charset="0"/>
                                    </a:rPr>
                                    <m:t>𝐿</m:t>
                                  </m:r>
                                </m:e>
                                <m:sub>
                                  <m:r>
                                    <a:rPr lang="en-ID" i="1">
                                      <a:solidFill>
                                        <a:srgbClr val="000000"/>
                                      </a:solidFill>
                                      <a:latin typeface="Cambria Math" panose="02040503050406030204" pitchFamily="18" charset="0"/>
                                    </a:rPr>
                                    <m:t>𝑄</m:t>
                                  </m:r>
                                </m:sub>
                              </m:sSub>
                              <m:r>
                                <a:rPr lang="en-ID" i="1">
                                  <a:solidFill>
                                    <a:srgbClr val="000000"/>
                                  </a:solidFill>
                                  <a:latin typeface="Cambria Math" panose="02040503050406030204" pitchFamily="18" charset="0"/>
                                </a:rPr>
                                <m:t>(</m:t>
                              </m:r>
                              <m:r>
                                <a:rPr lang="en-ID" i="1">
                                  <a:solidFill>
                                    <a:srgbClr val="000000"/>
                                  </a:solidFill>
                                  <a:latin typeface="Cambria Math" panose="02040503050406030204" pitchFamily="18" charset="0"/>
                                </a:rPr>
                                <m:t>𝑡</m:t>
                              </m:r>
                              <m:r>
                                <a:rPr lang="en-ID" i="1">
                                  <a:solidFill>
                                    <a:srgbClr val="000000"/>
                                  </a:solidFill>
                                  <a:latin typeface="Cambria Math" panose="02040503050406030204" pitchFamily="18" charset="0"/>
                                </a:rPr>
                                <m:t>)</m:t>
                              </m:r>
                            </m:e>
                          </m:d>
                          <m:r>
                            <a:rPr lang="en-ID" i="1">
                              <a:solidFill>
                                <a:srgbClr val="000000"/>
                              </a:solidFill>
                              <a:latin typeface="Cambria Math" panose="02040503050406030204" pitchFamily="18" charset="0"/>
                            </a:rPr>
                            <m:t>𝑑𝑡</m:t>
                          </m:r>
                        </m:e>
                      </m:nary>
                      <m:r>
                        <a:rPr lang="en-ID" i="1">
                          <a:solidFill>
                            <a:srgbClr val="000000"/>
                          </a:solidFill>
                          <a:latin typeface="Cambria Math" panose="02040503050406030204" pitchFamily="18" charset="0"/>
                        </a:rPr>
                        <m:t>=</m:t>
                      </m:r>
                      <m:f>
                        <m:fPr>
                          <m:ctrlPr>
                            <a:rPr lang="en-ID" i="1">
                              <a:solidFill>
                                <a:srgbClr val="000000"/>
                              </a:solidFill>
                              <a:latin typeface="Cambria Math" panose="02040503050406030204" pitchFamily="18" charset="0"/>
                            </a:rPr>
                          </m:ctrlPr>
                        </m:fPr>
                        <m:num>
                          <m:r>
                            <a:rPr lang="en-ID" i="1">
                              <a:solidFill>
                                <a:srgbClr val="000000"/>
                              </a:solidFill>
                              <a:latin typeface="Cambria Math" panose="02040503050406030204" pitchFamily="18" charset="0"/>
                            </a:rPr>
                            <m:t>𝑇</m:t>
                          </m:r>
                          <m:r>
                            <a:rPr lang="en-ID" i="1">
                              <a:solidFill>
                                <a:srgbClr val="000000"/>
                              </a:solidFill>
                              <a:latin typeface="Cambria Math" panose="02040503050406030204" pitchFamily="18" charset="0"/>
                            </a:rPr>
                            <m:t>−</m:t>
                          </m:r>
                          <m:sSub>
                            <m:sSubPr>
                              <m:ctrlPr>
                                <a:rPr lang="en-ID" i="1">
                                  <a:solidFill>
                                    <a:srgbClr val="000000"/>
                                  </a:solidFill>
                                  <a:latin typeface="Cambria Math" panose="02040503050406030204" pitchFamily="18" charset="0"/>
                                </a:rPr>
                              </m:ctrlPr>
                            </m:sSubPr>
                            <m:e>
                              <m:r>
                                <a:rPr lang="en-ID" i="1">
                                  <a:solidFill>
                                    <a:srgbClr val="000000"/>
                                  </a:solidFill>
                                  <a:latin typeface="Cambria Math" panose="02040503050406030204" pitchFamily="18" charset="0"/>
                                </a:rPr>
                                <m:t>𝑇</m:t>
                              </m:r>
                            </m:e>
                            <m:sub>
                              <m:r>
                                <a:rPr lang="en-ID" i="1">
                                  <a:solidFill>
                                    <a:srgbClr val="000000"/>
                                  </a:solidFill>
                                  <a:latin typeface="Cambria Math" panose="02040503050406030204" pitchFamily="18" charset="0"/>
                                </a:rPr>
                                <m:t>0</m:t>
                              </m:r>
                            </m:sub>
                          </m:sSub>
                        </m:num>
                        <m:den>
                          <m:r>
                            <a:rPr lang="en-ID" i="1">
                              <a:solidFill>
                                <a:srgbClr val="000000"/>
                              </a:solidFill>
                              <a:latin typeface="Cambria Math" panose="02040503050406030204" pitchFamily="18" charset="0"/>
                            </a:rPr>
                            <m:t>𝑇</m:t>
                          </m:r>
                        </m:den>
                      </m:f>
                    </m:oMath>
                  </m:oMathPara>
                </a14:m>
                <a:endParaRPr lang="en-ID"/>
              </a:p>
            </p:txBody>
          </p:sp>
        </mc:Choice>
        <mc:Fallback xmlns="">
          <p:sp>
            <p:nvSpPr>
              <p:cNvPr id="25605" name="Object 4">
                <a:extLst>
                  <a:ext uri="{FF2B5EF4-FFF2-40B4-BE49-F238E27FC236}">
                    <a16:creationId xmlns:a16="http://schemas.microsoft.com/office/drawing/2014/main" id="{2B3941C5-94BF-17FB-9DDB-89F56E117E90}"/>
                  </a:ext>
                </a:extLst>
              </p:cNvPr>
              <p:cNvSpPr txBox="1">
                <a:spLocks noRot="1" noChangeAspect="1" noMove="1" noResize="1" noEditPoints="1" noAdjustHandles="1" noChangeArrowheads="1" noChangeShapeType="1" noTextEdit="1"/>
              </p:cNvSpPr>
              <p:nvPr>
                <p:ph sz="quarter" idx="3"/>
              </p:nvPr>
            </p:nvSpPr>
            <p:spPr bwMode="auto">
              <a:xfrm>
                <a:off x="2819400" y="4953000"/>
                <a:ext cx="3886200" cy="750888"/>
              </a:xfrm>
              <a:prstGeom prst="rect">
                <a:avLst/>
              </a:prstGeom>
              <a:blipFill>
                <a:blip r:embed="rId2"/>
                <a:stretch>
                  <a:fillRect/>
                </a:stretch>
              </a:blipFill>
              <a:ln>
                <a:noFill/>
              </a:ln>
              <a:effectLst/>
            </p:spPr>
            <p:txBody>
              <a:bodyPr/>
              <a:lstStyle/>
              <a:p>
                <a:r>
                  <a:rPr lang="en-ID">
                    <a:noFill/>
                  </a:rPr>
                  <a:t> </a:t>
                </a:r>
              </a:p>
            </p:txBody>
          </p:sp>
        </mc:Fallback>
      </mc:AlternateContent>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Number Placeholder 6">
            <a:extLst>
              <a:ext uri="{FF2B5EF4-FFF2-40B4-BE49-F238E27FC236}">
                <a16:creationId xmlns:a16="http://schemas.microsoft.com/office/drawing/2014/main" id="{43C7DBD5-EF39-5E7B-8D0B-982824F962FD}"/>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5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4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9pPr>
          </a:lstStyle>
          <a:p>
            <a:pPr>
              <a:spcBef>
                <a:spcPct val="0"/>
              </a:spcBef>
              <a:buClrTx/>
              <a:buSzTx/>
              <a:buFontTx/>
              <a:buNone/>
            </a:pPr>
            <a:fld id="{8E18BBAF-5284-41F8-8AB4-E7EDD7644C52}" type="slidenum">
              <a:rPr lang="en-US" altLang="id-ID" sz="1200">
                <a:latin typeface="Arial Black" panose="020B0A04020102020204" pitchFamily="34" charset="0"/>
              </a:rPr>
              <a:pPr>
                <a:spcBef>
                  <a:spcPct val="0"/>
                </a:spcBef>
                <a:buClrTx/>
                <a:buSzTx/>
                <a:buFontTx/>
                <a:buNone/>
              </a:pPr>
              <a:t>21</a:t>
            </a:fld>
            <a:endParaRPr lang="en-US" altLang="id-ID" sz="1200">
              <a:latin typeface="Arial Black" panose="020B0A04020102020204" pitchFamily="34" charset="0"/>
            </a:endParaRPr>
          </a:p>
        </p:txBody>
      </p:sp>
      <p:sp>
        <p:nvSpPr>
          <p:cNvPr id="26627" name="Rectangle 2">
            <a:extLst>
              <a:ext uri="{FF2B5EF4-FFF2-40B4-BE49-F238E27FC236}">
                <a16:creationId xmlns:a16="http://schemas.microsoft.com/office/drawing/2014/main" id="{CAC62A8D-D66C-5883-C84B-BC9CD27B5EEC}"/>
              </a:ext>
            </a:extLst>
          </p:cNvPr>
          <p:cNvSpPr>
            <a:spLocks noGrp="1" noChangeArrowheads="1"/>
          </p:cNvSpPr>
          <p:nvPr>
            <p:ph type="title"/>
          </p:nvPr>
        </p:nvSpPr>
        <p:spPr/>
        <p:txBody>
          <a:bodyPr/>
          <a:lstStyle/>
          <a:p>
            <a:pPr eaLnBrk="1" hangingPunct="1"/>
            <a:r>
              <a:rPr lang="en-US" altLang="id-ID"/>
              <a:t>Utilisasi Server</a:t>
            </a:r>
            <a:br>
              <a:rPr lang="en-US" altLang="id-ID"/>
            </a:br>
            <a:r>
              <a:rPr lang="en-US" altLang="id-ID"/>
              <a:t>		      </a:t>
            </a:r>
            <a:r>
              <a:rPr lang="en-US" altLang="id-ID">
                <a:solidFill>
                  <a:schemeClr val="bg2"/>
                </a:solidFill>
              </a:rPr>
              <a:t>[Karakteristik Sistem Antrean]</a:t>
            </a:r>
            <a:endParaRPr lang="en-US" altLang="id-ID" sz="2200">
              <a:solidFill>
                <a:schemeClr val="bg2"/>
              </a:solidFill>
            </a:endParaRPr>
          </a:p>
        </p:txBody>
      </p:sp>
      <p:sp>
        <p:nvSpPr>
          <p:cNvPr id="26628" name="Rectangle 3">
            <a:extLst>
              <a:ext uri="{FF2B5EF4-FFF2-40B4-BE49-F238E27FC236}">
                <a16:creationId xmlns:a16="http://schemas.microsoft.com/office/drawing/2014/main" id="{38B11AB2-8B4E-B2D0-848D-8502EE1522E8}"/>
              </a:ext>
            </a:extLst>
          </p:cNvPr>
          <p:cNvSpPr>
            <a:spLocks noGrp="1" noChangeArrowheads="1"/>
          </p:cNvSpPr>
          <p:nvPr>
            <p:ph type="body" sz="half" idx="1"/>
          </p:nvPr>
        </p:nvSpPr>
        <p:spPr>
          <a:xfrm>
            <a:off x="457200" y="1447800"/>
            <a:ext cx="8305800" cy="4800600"/>
          </a:xfrm>
        </p:spPr>
        <p:txBody>
          <a:bodyPr/>
          <a:lstStyle/>
          <a:p>
            <a:pPr lvl="1" eaLnBrk="1" hangingPunct="1"/>
            <a:r>
              <a:rPr lang="en-US" altLang="id-ID" sz="2200"/>
              <a:t>Secara umum, untuk antreas server tunggal:</a:t>
            </a:r>
          </a:p>
          <a:p>
            <a:pPr lvl="1" eaLnBrk="1" hangingPunct="1"/>
            <a:endParaRPr lang="en-US" altLang="id-ID" sz="2200"/>
          </a:p>
          <a:p>
            <a:pPr lvl="1" eaLnBrk="1" hangingPunct="1"/>
            <a:endParaRPr lang="en-US" altLang="id-ID" sz="2000"/>
          </a:p>
          <a:p>
            <a:pPr lvl="2" eaLnBrk="1" hangingPunct="1"/>
            <a:endParaRPr lang="en-US" altLang="id-ID"/>
          </a:p>
          <a:p>
            <a:pPr lvl="2" eaLnBrk="1" hangingPunct="1"/>
            <a:r>
              <a:rPr lang="sv-SE" altLang="id-ID"/>
              <a:t>Untuk antrian stabil server tunggal</a:t>
            </a:r>
            <a:r>
              <a:rPr lang="en-US" altLang="id-ID"/>
              <a:t>:</a:t>
            </a:r>
          </a:p>
          <a:p>
            <a:pPr lvl="1" eaLnBrk="1" hangingPunct="1"/>
            <a:endParaRPr lang="en-US" altLang="id-ID" sz="2000"/>
          </a:p>
          <a:p>
            <a:pPr lvl="2" eaLnBrk="1" hangingPunct="1"/>
            <a:r>
              <a:rPr lang="en-US"/>
              <a:t>Untuk antrian tidak stabil (</a:t>
            </a:r>
            <a:r>
              <a:rPr lang="en-US" altLang="id-ID" i="1">
                <a:latin typeface="Symbol" panose="05050102010706020507" pitchFamily="18" charset="2"/>
              </a:rPr>
              <a:t>l &gt; m</a:t>
            </a:r>
            <a:r>
              <a:rPr lang="en-US"/>
              <a:t>), pemanfaatan server jangka panjang adalah 1</a:t>
            </a:r>
            <a:r>
              <a:rPr lang="en-US" altLang="id-ID"/>
              <a:t>.</a:t>
            </a:r>
          </a:p>
          <a:p>
            <a:pPr lvl="2" eaLnBrk="1" hangingPunct="1">
              <a:buFont typeface="Wingdings" panose="05000000000000000000" pitchFamily="2" charset="2"/>
              <a:buNone/>
            </a:pPr>
            <a:endParaRPr lang="en-US" altLang="id-ID"/>
          </a:p>
        </p:txBody>
      </p:sp>
      <mc:AlternateContent xmlns:mc="http://schemas.openxmlformats.org/markup-compatibility/2006" xmlns:a14="http://schemas.microsoft.com/office/drawing/2010/main">
        <mc:Choice Requires="a14">
          <p:sp>
            <p:nvSpPr>
              <p:cNvPr id="26629" name="Object 4">
                <a:extLst>
                  <a:ext uri="{FF2B5EF4-FFF2-40B4-BE49-F238E27FC236}">
                    <a16:creationId xmlns:a16="http://schemas.microsoft.com/office/drawing/2014/main" id="{EA2F9290-220C-3E30-AC23-583EED4F7E2C}"/>
                  </a:ext>
                </a:extLst>
              </p:cNvPr>
              <p:cNvSpPr txBox="1">
                <a:spLocks noGrp="1"/>
              </p:cNvSpPr>
              <p:nvPr>
                <p:ph sz="quarter" idx="3"/>
              </p:nvPr>
            </p:nvSpPr>
            <p:spPr bwMode="auto">
              <a:xfrm>
                <a:off x="2819400" y="1892300"/>
                <a:ext cx="3048000" cy="1155700"/>
              </a:xfrm>
              <a:prstGeom prst="rect">
                <a:avLst/>
              </a:prstGeom>
              <a:noFill/>
              <a:ln>
                <a:noFill/>
              </a:ln>
              <a:effectLst/>
            </p:spPr>
            <p:txBody>
              <a:bodyPr>
                <a:normAutofit fontScale="55000" lnSpcReduction="20000"/>
              </a:bodyPr>
              <a:lstStyle/>
              <a:p>
                <a:pPr>
                  <a:buNone/>
                </a:pPr>
                <a14:m>
                  <m:oMathPara xmlns:m="http://schemas.openxmlformats.org/officeDocument/2006/math">
                    <m:oMathParaPr>
                      <m:jc m:val="left"/>
                    </m:oMathParaPr>
                    <m:oMath xmlns:m="http://schemas.openxmlformats.org/officeDocument/2006/math">
                      <m:sSub>
                        <m:sSubPr>
                          <m:ctrlPr>
                            <a:rPr lang="en-ID" i="1">
                              <a:solidFill>
                                <a:srgbClr val="000000"/>
                              </a:solidFill>
                              <a:latin typeface="Cambria Math" panose="02040503050406030204" pitchFamily="18" charset="0"/>
                            </a:rPr>
                          </m:ctrlPr>
                        </m:sSubPr>
                        <m:e>
                          <m:acc>
                            <m:accPr>
                              <m:chr m:val="̂"/>
                              <m:ctrlPr>
                                <a:rPr lang="en-ID" i="1">
                                  <a:solidFill>
                                    <a:srgbClr val="000000"/>
                                  </a:solidFill>
                                  <a:latin typeface="Cambria Math" panose="02040503050406030204" pitchFamily="18" charset="0"/>
                                </a:rPr>
                              </m:ctrlPr>
                            </m:accPr>
                            <m:e>
                              <m:r>
                                <a:rPr lang="en-ID" i="1">
                                  <a:solidFill>
                                    <a:srgbClr val="000000"/>
                                  </a:solidFill>
                                  <a:latin typeface="Cambria Math" panose="02040503050406030204" pitchFamily="18" charset="0"/>
                                </a:rPr>
                                <m:t>𝐿</m:t>
                              </m:r>
                            </m:e>
                          </m:acc>
                        </m:e>
                        <m:sub>
                          <m:r>
                            <a:rPr lang="en-ID" i="1">
                              <a:solidFill>
                                <a:srgbClr val="000000"/>
                              </a:solidFill>
                              <a:latin typeface="Cambria Math" panose="02040503050406030204" pitchFamily="18" charset="0"/>
                            </a:rPr>
                            <m:t>𝑠</m:t>
                          </m:r>
                        </m:sub>
                      </m:sSub>
                      <m:r>
                        <a:rPr lang="en-ID" i="1">
                          <a:solidFill>
                            <a:srgbClr val="000000"/>
                          </a:solidFill>
                          <a:latin typeface="Cambria Math" panose="02040503050406030204" pitchFamily="18" charset="0"/>
                        </a:rPr>
                        <m:t>=</m:t>
                      </m:r>
                      <m:acc>
                        <m:accPr>
                          <m:chr m:val="̂"/>
                          <m:ctrlPr>
                            <a:rPr lang="en-ID" i="1">
                              <a:solidFill>
                                <a:srgbClr val="000000"/>
                              </a:solidFill>
                              <a:latin typeface="Cambria Math" panose="02040503050406030204" pitchFamily="18" charset="0"/>
                            </a:rPr>
                          </m:ctrlPr>
                        </m:accPr>
                        <m:e>
                          <m:r>
                            <a:rPr lang="en-ID" i="1">
                              <a:solidFill>
                                <a:srgbClr val="000000"/>
                              </a:solidFill>
                              <a:latin typeface="Cambria Math" panose="02040503050406030204" pitchFamily="18" charset="0"/>
                            </a:rPr>
                            <m:t>𝜌</m:t>
                          </m:r>
                        </m:e>
                      </m:acc>
                      <m:r>
                        <m:rPr>
                          <m:nor/>
                        </m:rPr>
                        <a:rPr lang="en-ID" i="0">
                          <a:solidFill>
                            <a:srgbClr val="000000"/>
                          </a:solidFill>
                          <a:latin typeface="Cambria Math" panose="02040503050406030204" pitchFamily="18" charset="0"/>
                        </a:rPr>
                        <m:t>  </m:t>
                      </m:r>
                      <m:r>
                        <a:rPr lang="en-ID" i="1">
                          <a:solidFill>
                            <a:srgbClr val="000000"/>
                          </a:solidFill>
                          <a:latin typeface="Cambria Math" panose="02040503050406030204" pitchFamily="18" charset="0"/>
                        </a:rPr>
                        <m:t>→</m:t>
                      </m:r>
                      <m:r>
                        <m:rPr>
                          <m:nor/>
                        </m:rPr>
                        <a:rPr lang="en-ID" i="0">
                          <a:solidFill>
                            <a:srgbClr val="000000"/>
                          </a:solidFill>
                          <a:latin typeface="Cambria Math" panose="02040503050406030204" pitchFamily="18" charset="0"/>
                        </a:rPr>
                        <m:t>  </m:t>
                      </m:r>
                      <m:sSub>
                        <m:sSubPr>
                          <m:ctrlPr>
                            <a:rPr lang="en-ID" i="1">
                              <a:solidFill>
                                <a:srgbClr val="000000"/>
                              </a:solidFill>
                              <a:latin typeface="Cambria Math" panose="02040503050406030204" pitchFamily="18" charset="0"/>
                            </a:rPr>
                          </m:ctrlPr>
                        </m:sSubPr>
                        <m:e>
                          <m:r>
                            <a:rPr lang="en-ID" i="1">
                              <a:solidFill>
                                <a:srgbClr val="000000"/>
                              </a:solidFill>
                              <a:latin typeface="Cambria Math" panose="02040503050406030204" pitchFamily="18" charset="0"/>
                            </a:rPr>
                            <m:t>𝐿</m:t>
                          </m:r>
                        </m:e>
                        <m:sub>
                          <m:r>
                            <a:rPr lang="en-ID" i="1">
                              <a:solidFill>
                                <a:srgbClr val="000000"/>
                              </a:solidFill>
                              <a:latin typeface="Cambria Math" panose="02040503050406030204" pitchFamily="18" charset="0"/>
                            </a:rPr>
                            <m:t>𝑠</m:t>
                          </m:r>
                        </m:sub>
                      </m:sSub>
                      <m:r>
                        <a:rPr lang="en-ID" i="1">
                          <a:solidFill>
                            <a:srgbClr val="000000"/>
                          </a:solidFill>
                          <a:latin typeface="Cambria Math" panose="02040503050406030204" pitchFamily="18" charset="0"/>
                        </a:rPr>
                        <m:t>=</m:t>
                      </m:r>
                      <m:r>
                        <a:rPr lang="en-ID" i="1">
                          <a:solidFill>
                            <a:srgbClr val="000000"/>
                          </a:solidFill>
                          <a:latin typeface="Cambria Math" panose="02040503050406030204" pitchFamily="18" charset="0"/>
                        </a:rPr>
                        <m:t>𝜌</m:t>
                      </m:r>
                      <m:r>
                        <m:rPr>
                          <m:nor/>
                        </m:rPr>
                        <a:rPr lang="en-ID" i="0">
                          <a:solidFill>
                            <a:srgbClr val="000000"/>
                          </a:solidFill>
                          <a:latin typeface="Cambria Math" panose="02040503050406030204" pitchFamily="18" charset="0"/>
                        </a:rPr>
                        <m:t>   </m:t>
                      </m:r>
                      <m:r>
                        <m:rPr>
                          <m:nor/>
                        </m:rPr>
                        <a:rPr lang="en-ID" i="0">
                          <a:solidFill>
                            <a:srgbClr val="000000"/>
                          </a:solidFill>
                          <a:latin typeface="Cambria Math" panose="02040503050406030204" pitchFamily="18" charset="0"/>
                        </a:rPr>
                        <m:t>as</m:t>
                      </m:r>
                      <m:r>
                        <m:rPr>
                          <m:nor/>
                        </m:rPr>
                        <a:rPr lang="en-ID" i="0">
                          <a:solidFill>
                            <a:srgbClr val="000000"/>
                          </a:solidFill>
                          <a:latin typeface="Cambria Math" panose="02040503050406030204" pitchFamily="18" charset="0"/>
                        </a:rPr>
                        <m:t>  </m:t>
                      </m:r>
                      <m:r>
                        <a:rPr lang="en-ID" i="1">
                          <a:solidFill>
                            <a:srgbClr val="000000"/>
                          </a:solidFill>
                          <a:latin typeface="Cambria Math" panose="02040503050406030204" pitchFamily="18" charset="0"/>
                        </a:rPr>
                        <m:t>𝑇</m:t>
                      </m:r>
                      <m:r>
                        <a:rPr lang="en-ID" i="1">
                          <a:solidFill>
                            <a:srgbClr val="000000"/>
                          </a:solidFill>
                          <a:latin typeface="Cambria Math" panose="02040503050406030204" pitchFamily="18" charset="0"/>
                        </a:rPr>
                        <m:t>→∞</m:t>
                      </m:r>
                    </m:oMath>
                  </m:oMathPara>
                </a14:m>
                <a:br>
                  <a:rPr lang="en-ID" i="1">
                    <a:solidFill>
                      <a:srgbClr val="000000"/>
                    </a:solidFill>
                    <a:latin typeface="Cambria Math" panose="02040503050406030204" pitchFamily="18" charset="0"/>
                  </a:rPr>
                </a:br>
                <a:r>
                  <a:rPr lang="en-ID" i="1">
                    <a:solidFill>
                      <a:srgbClr val="000000"/>
                    </a:solidFill>
                    <a:latin typeface="Cambria Math" panose="02040503050406030204" pitchFamily="18" charset="0"/>
                  </a:rPr>
                  <a:t>d</a:t>
                </a:r>
                <a14:m>
                  <m:oMath xmlns:m="http://schemas.openxmlformats.org/officeDocument/2006/math">
                    <m:r>
                      <m:rPr>
                        <m:nor/>
                      </m:rPr>
                      <a:rPr lang="en-ID" i="0">
                        <a:solidFill>
                          <a:srgbClr val="000000"/>
                        </a:solidFill>
                        <a:latin typeface="Cambria Math" panose="02040503050406030204" pitchFamily="18" charset="0"/>
                      </a:rPr>
                      <m:t>an</m:t>
                    </m:r>
                    <m:r>
                      <m:rPr>
                        <m:nor/>
                      </m:rPr>
                      <a:rPr lang="en-ID" i="0">
                        <a:solidFill>
                          <a:srgbClr val="000000"/>
                        </a:solidFill>
                        <a:latin typeface="Cambria Math" panose="02040503050406030204" pitchFamily="18" charset="0"/>
                      </a:rPr>
                      <m:t>     </m:t>
                    </m:r>
                    <m:r>
                      <a:rPr lang="en-ID" i="1">
                        <a:solidFill>
                          <a:srgbClr val="000000"/>
                        </a:solidFill>
                        <a:latin typeface="Cambria Math" panose="02040503050406030204" pitchFamily="18" charset="0"/>
                      </a:rPr>
                      <m:t>𝜌</m:t>
                    </m:r>
                    <m:r>
                      <a:rPr lang="en-ID" i="1">
                        <a:solidFill>
                          <a:srgbClr val="000000"/>
                        </a:solidFill>
                        <a:latin typeface="Cambria Math" panose="02040503050406030204" pitchFamily="18" charset="0"/>
                      </a:rPr>
                      <m:t>=</m:t>
                    </m:r>
                    <m:r>
                      <a:rPr lang="en-ID" i="1">
                        <a:solidFill>
                          <a:srgbClr val="000000"/>
                        </a:solidFill>
                        <a:latin typeface="Cambria Math" panose="02040503050406030204" pitchFamily="18" charset="0"/>
                      </a:rPr>
                      <m:t>𝜆</m:t>
                    </m:r>
                    <m:r>
                      <a:rPr lang="en-ID" i="1">
                        <a:solidFill>
                          <a:srgbClr val="000000"/>
                        </a:solidFill>
                        <a:latin typeface="Cambria Math" panose="02040503050406030204" pitchFamily="18" charset="0"/>
                      </a:rPr>
                      <m:t>𝐸</m:t>
                    </m:r>
                    <m:r>
                      <a:rPr lang="en-ID" i="1">
                        <a:solidFill>
                          <a:srgbClr val="000000"/>
                        </a:solidFill>
                        <a:latin typeface="Cambria Math" panose="02040503050406030204" pitchFamily="18" charset="0"/>
                      </a:rPr>
                      <m:t>(</m:t>
                    </m:r>
                    <m:r>
                      <a:rPr lang="en-ID" i="1">
                        <a:solidFill>
                          <a:srgbClr val="000000"/>
                        </a:solidFill>
                        <a:latin typeface="Cambria Math" panose="02040503050406030204" pitchFamily="18" charset="0"/>
                      </a:rPr>
                      <m:t>𝑠</m:t>
                    </m:r>
                    <m:r>
                      <a:rPr lang="en-ID" i="1">
                        <a:solidFill>
                          <a:srgbClr val="000000"/>
                        </a:solidFill>
                        <a:latin typeface="Cambria Math" panose="02040503050406030204" pitchFamily="18" charset="0"/>
                      </a:rPr>
                      <m:t>)=</m:t>
                    </m:r>
                    <m:f>
                      <m:fPr>
                        <m:ctrlPr>
                          <a:rPr lang="en-ID" i="1">
                            <a:solidFill>
                              <a:srgbClr val="000000"/>
                            </a:solidFill>
                            <a:latin typeface="Cambria Math" panose="02040503050406030204" pitchFamily="18" charset="0"/>
                          </a:rPr>
                        </m:ctrlPr>
                      </m:fPr>
                      <m:num>
                        <m:r>
                          <a:rPr lang="en-ID" i="1">
                            <a:solidFill>
                              <a:srgbClr val="000000"/>
                            </a:solidFill>
                            <a:latin typeface="Cambria Math" panose="02040503050406030204" pitchFamily="18" charset="0"/>
                          </a:rPr>
                          <m:t>𝜆</m:t>
                        </m:r>
                      </m:num>
                      <m:den>
                        <m:r>
                          <a:rPr lang="en-ID" i="1">
                            <a:solidFill>
                              <a:srgbClr val="000000"/>
                            </a:solidFill>
                            <a:latin typeface="Cambria Math" panose="02040503050406030204" pitchFamily="18" charset="0"/>
                          </a:rPr>
                          <m:t>𝜇</m:t>
                        </m:r>
                      </m:den>
                    </m:f>
                  </m:oMath>
                </a14:m>
                <a:endParaRPr lang="en-ID"/>
              </a:p>
            </p:txBody>
          </p:sp>
        </mc:Choice>
        <mc:Fallback xmlns="">
          <p:sp>
            <p:nvSpPr>
              <p:cNvPr id="26629" name="Object 4">
                <a:extLst>
                  <a:ext uri="{FF2B5EF4-FFF2-40B4-BE49-F238E27FC236}">
                    <a16:creationId xmlns:a16="http://schemas.microsoft.com/office/drawing/2014/main" id="{EA2F9290-220C-3E30-AC23-583EED4F7E2C}"/>
                  </a:ext>
                </a:extLst>
              </p:cNvPr>
              <p:cNvSpPr txBox="1">
                <a:spLocks noGrp="1" noRot="1" noChangeAspect="1" noMove="1" noResize="1" noEditPoints="1" noAdjustHandles="1" noChangeArrowheads="1" noChangeShapeType="1" noTextEdit="1"/>
              </p:cNvSpPr>
              <p:nvPr>
                <p:ph sz="quarter" idx="3"/>
              </p:nvPr>
            </p:nvSpPr>
            <p:spPr bwMode="auto">
              <a:xfrm>
                <a:off x="2819400" y="1892300"/>
                <a:ext cx="3048000" cy="1155700"/>
              </a:xfrm>
              <a:prstGeom prst="rect">
                <a:avLst/>
              </a:prstGeom>
              <a:blipFill>
                <a:blip r:embed="rId2"/>
                <a:stretch>
                  <a:fillRect l="-800" t="-526"/>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630" name="Object 5">
                <a:extLst>
                  <a:ext uri="{FF2B5EF4-FFF2-40B4-BE49-F238E27FC236}">
                    <a16:creationId xmlns:a16="http://schemas.microsoft.com/office/drawing/2014/main" id="{6D0E3B4A-A0E2-5A26-9ED5-35164A770FC6}"/>
                  </a:ext>
                </a:extLst>
              </p:cNvPr>
              <p:cNvSpPr txBox="1">
                <a:spLocks noGrp="1"/>
              </p:cNvSpPr>
              <p:nvPr>
                <p:ph sz="quarter" idx="2"/>
              </p:nvPr>
            </p:nvSpPr>
            <p:spPr bwMode="auto">
              <a:xfrm>
                <a:off x="5943600" y="2895600"/>
                <a:ext cx="989013" cy="666750"/>
              </a:xfrm>
              <a:prstGeom prst="rect">
                <a:avLst/>
              </a:prstGeom>
              <a:noFill/>
              <a:ln>
                <a:noFill/>
              </a:ln>
              <a:effectLst/>
            </p:spPr>
            <p:txBody>
              <a:bodyPr>
                <a:normAutofit fontScale="47500" lnSpcReduction="20000"/>
              </a:bodyPr>
              <a:lstStyle/>
              <a:p>
                <a:pPr>
                  <a:buNone/>
                </a:pPr>
                <a14:m>
                  <m:oMathPara xmlns:m="http://schemas.openxmlformats.org/officeDocument/2006/math">
                    <m:oMathParaPr>
                      <m:jc m:val="left"/>
                    </m:oMathParaPr>
                    <m:oMath xmlns:m="http://schemas.openxmlformats.org/officeDocument/2006/math">
                      <m:r>
                        <a:rPr lang="en-ID" i="1">
                          <a:solidFill>
                            <a:srgbClr val="000000"/>
                          </a:solidFill>
                          <a:latin typeface="Cambria Math" panose="02040503050406030204" pitchFamily="18" charset="0"/>
                        </a:rPr>
                        <m:t>𝜌</m:t>
                      </m:r>
                      <m:r>
                        <a:rPr lang="en-ID" i="1">
                          <a:solidFill>
                            <a:srgbClr val="000000"/>
                          </a:solidFill>
                          <a:latin typeface="Cambria Math" panose="02040503050406030204" pitchFamily="18" charset="0"/>
                        </a:rPr>
                        <m:t>=</m:t>
                      </m:r>
                      <m:f>
                        <m:fPr>
                          <m:ctrlPr>
                            <a:rPr lang="en-ID" i="1">
                              <a:solidFill>
                                <a:srgbClr val="000000"/>
                              </a:solidFill>
                              <a:latin typeface="Cambria Math" panose="02040503050406030204" pitchFamily="18" charset="0"/>
                            </a:rPr>
                          </m:ctrlPr>
                        </m:fPr>
                        <m:num>
                          <m:r>
                            <a:rPr lang="en-ID" i="1">
                              <a:solidFill>
                                <a:srgbClr val="000000"/>
                              </a:solidFill>
                              <a:latin typeface="Cambria Math" panose="02040503050406030204" pitchFamily="18" charset="0"/>
                            </a:rPr>
                            <m:t>𝜆</m:t>
                          </m:r>
                        </m:num>
                        <m:den>
                          <m:r>
                            <a:rPr lang="en-ID" i="1">
                              <a:solidFill>
                                <a:srgbClr val="000000"/>
                              </a:solidFill>
                              <a:latin typeface="Cambria Math" panose="02040503050406030204" pitchFamily="18" charset="0"/>
                            </a:rPr>
                            <m:t>𝜇</m:t>
                          </m:r>
                        </m:den>
                      </m:f>
                      <m:r>
                        <a:rPr lang="en-ID" i="1">
                          <a:solidFill>
                            <a:srgbClr val="000000"/>
                          </a:solidFill>
                          <a:latin typeface="Cambria Math" panose="02040503050406030204" pitchFamily="18" charset="0"/>
                        </a:rPr>
                        <m:t>&lt;1</m:t>
                      </m:r>
                    </m:oMath>
                  </m:oMathPara>
                </a14:m>
                <a:endParaRPr lang="en-ID"/>
              </a:p>
            </p:txBody>
          </p:sp>
        </mc:Choice>
        <mc:Fallback xmlns="">
          <p:sp>
            <p:nvSpPr>
              <p:cNvPr id="26630" name="Object 5">
                <a:extLst>
                  <a:ext uri="{FF2B5EF4-FFF2-40B4-BE49-F238E27FC236}">
                    <a16:creationId xmlns:a16="http://schemas.microsoft.com/office/drawing/2014/main" id="{6D0E3B4A-A0E2-5A26-9ED5-35164A770FC6}"/>
                  </a:ext>
                </a:extLst>
              </p:cNvPr>
              <p:cNvSpPr txBox="1">
                <a:spLocks noRot="1" noChangeAspect="1" noMove="1" noResize="1" noEditPoints="1" noAdjustHandles="1" noChangeArrowheads="1" noChangeShapeType="1" noTextEdit="1"/>
              </p:cNvSpPr>
              <p:nvPr>
                <p:ph sz="quarter" idx="2"/>
              </p:nvPr>
            </p:nvSpPr>
            <p:spPr bwMode="auto">
              <a:xfrm>
                <a:off x="5943600" y="2895600"/>
                <a:ext cx="989013" cy="666750"/>
              </a:xfrm>
              <a:prstGeom prst="rect">
                <a:avLst/>
              </a:prstGeom>
              <a:blipFill>
                <a:blip r:embed="rId3"/>
                <a:stretch>
                  <a:fillRect/>
                </a:stretch>
              </a:blipFill>
              <a:ln>
                <a:noFill/>
              </a:ln>
              <a:effectLst/>
            </p:spPr>
            <p:txBody>
              <a:bodyPr/>
              <a:lstStyle/>
              <a:p>
                <a:r>
                  <a:rPr lang="en-ID">
                    <a:noFill/>
                  </a:rPr>
                  <a:t> </a:t>
                </a:r>
              </a:p>
            </p:txBody>
          </p:sp>
        </mc:Fallback>
      </mc:AlternateContent>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Number Placeholder 5">
            <a:extLst>
              <a:ext uri="{FF2B5EF4-FFF2-40B4-BE49-F238E27FC236}">
                <a16:creationId xmlns:a16="http://schemas.microsoft.com/office/drawing/2014/main" id="{601A14FC-786F-F3CD-7ED6-DC5A556ED2AB}"/>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5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4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9pPr>
          </a:lstStyle>
          <a:p>
            <a:pPr>
              <a:spcBef>
                <a:spcPct val="0"/>
              </a:spcBef>
              <a:buClrTx/>
              <a:buSzTx/>
              <a:buFontTx/>
              <a:buNone/>
            </a:pPr>
            <a:fld id="{FE278E0B-D945-4352-8895-43B09786EDBB}" type="slidenum">
              <a:rPr lang="en-US" altLang="id-ID" sz="1200">
                <a:latin typeface="Arial Black" panose="020B0A04020102020204" pitchFamily="34" charset="0"/>
              </a:rPr>
              <a:pPr>
                <a:spcBef>
                  <a:spcPct val="0"/>
                </a:spcBef>
                <a:buClrTx/>
                <a:buSzTx/>
                <a:buFontTx/>
                <a:buNone/>
              </a:pPr>
              <a:t>22</a:t>
            </a:fld>
            <a:endParaRPr lang="en-US" altLang="id-ID" sz="1200">
              <a:latin typeface="Arial Black" panose="020B0A04020102020204" pitchFamily="34" charset="0"/>
            </a:endParaRPr>
          </a:p>
        </p:txBody>
      </p:sp>
      <p:sp>
        <p:nvSpPr>
          <p:cNvPr id="27651" name="Rectangle 2">
            <a:extLst>
              <a:ext uri="{FF2B5EF4-FFF2-40B4-BE49-F238E27FC236}">
                <a16:creationId xmlns:a16="http://schemas.microsoft.com/office/drawing/2014/main" id="{87F2C2D3-3F45-CECA-06F2-DE890C327995}"/>
              </a:ext>
            </a:extLst>
          </p:cNvPr>
          <p:cNvSpPr>
            <a:spLocks noGrp="1" noChangeArrowheads="1"/>
          </p:cNvSpPr>
          <p:nvPr>
            <p:ph type="title"/>
          </p:nvPr>
        </p:nvSpPr>
        <p:spPr/>
        <p:txBody>
          <a:bodyPr/>
          <a:lstStyle/>
          <a:p>
            <a:pPr eaLnBrk="1" hangingPunct="1"/>
            <a:r>
              <a:rPr lang="en-US" altLang="id-ID"/>
              <a:t>Utilisasi Server</a:t>
            </a:r>
            <a:br>
              <a:rPr lang="en-US" altLang="id-ID"/>
            </a:br>
            <a:r>
              <a:rPr lang="en-US" altLang="id-ID"/>
              <a:t>		      </a:t>
            </a:r>
            <a:r>
              <a:rPr lang="en-US" altLang="id-ID">
                <a:solidFill>
                  <a:schemeClr val="bg2"/>
                </a:solidFill>
              </a:rPr>
              <a:t>[Karakteristik Sistem Antrean]</a:t>
            </a:r>
            <a:endParaRPr lang="en-US" altLang="id-ID" sz="2200">
              <a:solidFill>
                <a:schemeClr val="bg2"/>
              </a:solidFill>
            </a:endParaRPr>
          </a:p>
        </p:txBody>
      </p:sp>
      <p:sp>
        <p:nvSpPr>
          <p:cNvPr id="27652" name="Rectangle 3">
            <a:extLst>
              <a:ext uri="{FF2B5EF4-FFF2-40B4-BE49-F238E27FC236}">
                <a16:creationId xmlns:a16="http://schemas.microsoft.com/office/drawing/2014/main" id="{8E05DB17-0D6E-EF8D-770F-88E10473A28F}"/>
              </a:ext>
            </a:extLst>
          </p:cNvPr>
          <p:cNvSpPr>
            <a:spLocks noGrp="1" noChangeArrowheads="1"/>
          </p:cNvSpPr>
          <p:nvPr>
            <p:ph type="body" sz="half" idx="1"/>
          </p:nvPr>
        </p:nvSpPr>
        <p:spPr>
          <a:xfrm>
            <a:off x="457200" y="1447800"/>
            <a:ext cx="8458200" cy="4419600"/>
          </a:xfrm>
        </p:spPr>
        <p:txBody>
          <a:bodyPr/>
          <a:lstStyle/>
          <a:p>
            <a:pPr eaLnBrk="1" hangingPunct="1"/>
            <a:r>
              <a:rPr lang="en-US" altLang="id-ID" sz="2400"/>
              <a:t>Untuk Antrian </a:t>
            </a:r>
            <a:r>
              <a:rPr lang="en-US" altLang="id-ID" sz="2400" i="1"/>
              <a:t>G/G/c/∞/∞</a:t>
            </a:r>
            <a:r>
              <a:rPr lang="en-US" altLang="id-ID" sz="2400"/>
              <a:t> :</a:t>
            </a:r>
          </a:p>
          <a:p>
            <a:pPr lvl="1" eaLnBrk="1" hangingPunct="1"/>
            <a:r>
              <a:rPr lang="en-US" altLang="id-ID" sz="2200"/>
              <a:t>Sebuah sistem dengan c server identik secara paralel.</a:t>
            </a:r>
          </a:p>
          <a:p>
            <a:pPr lvl="1" eaLnBrk="1" hangingPunct="1"/>
            <a:r>
              <a:rPr lang="en-US" altLang="id-ID" sz="2200"/>
              <a:t>Jika pelanggan yang datang menemukan lebih dari satu server menganggur, pelanggan memilih server tanpa memilih server tertentu.</a:t>
            </a:r>
          </a:p>
          <a:p>
            <a:pPr lvl="1" eaLnBrk="1" hangingPunct="1"/>
            <a:r>
              <a:rPr lang="en-US" altLang="id-ID" sz="2200"/>
              <a:t>Untuk sistem dalam keseimbangan statistik, jumlah rata-rata server yang sibuk, </a:t>
            </a:r>
            <a:r>
              <a:rPr lang="en-US" altLang="id-ID" sz="2200" i="1"/>
              <a:t>L</a:t>
            </a:r>
            <a:r>
              <a:rPr lang="en-US" altLang="id-ID" sz="2200" i="1" baseline="-25000"/>
              <a:t>s</a:t>
            </a:r>
            <a:r>
              <a:rPr lang="en-US" altLang="id-ID" sz="2200"/>
              <a:t>, adalah: </a:t>
            </a:r>
            <a:r>
              <a:rPr lang="en-US" altLang="id-ID" sz="2200" i="1"/>
              <a:t>L</a:t>
            </a:r>
            <a:r>
              <a:rPr lang="en-US" altLang="id-ID" sz="2200" i="1" baseline="-25000"/>
              <a:t>s</a:t>
            </a:r>
            <a:r>
              <a:rPr lang="en-US" altLang="id-ID" sz="2200"/>
              <a:t>,</a:t>
            </a:r>
            <a:r>
              <a:rPr lang="en-US" altLang="id-ID" sz="2200" i="1"/>
              <a:t> = </a:t>
            </a:r>
            <a:r>
              <a:rPr lang="en-US" altLang="id-ID" sz="2200" i="1">
                <a:latin typeface="Symbol" panose="05050102010706020507" pitchFamily="18" charset="2"/>
              </a:rPr>
              <a:t>l</a:t>
            </a:r>
            <a:r>
              <a:rPr lang="en-US" altLang="id-ID" sz="2200" i="1"/>
              <a:t>E(s) = </a:t>
            </a:r>
            <a:r>
              <a:rPr lang="en-US" altLang="id-ID" sz="2200" i="1">
                <a:latin typeface="Symbol" panose="05050102010706020507" pitchFamily="18" charset="2"/>
              </a:rPr>
              <a:t>l/m</a:t>
            </a:r>
            <a:r>
              <a:rPr lang="en-US" altLang="id-ID" sz="2200"/>
              <a:t>.</a:t>
            </a:r>
          </a:p>
          <a:p>
            <a:pPr lvl="1" eaLnBrk="1" hangingPunct="1"/>
            <a:r>
              <a:rPr lang="en-US" altLang="id-ID" sz="2200"/>
              <a:t>Utilisasi server rata-rata jangka panjang adalah:</a:t>
            </a:r>
          </a:p>
          <a:p>
            <a:pPr lvl="1" eaLnBrk="1" hangingPunct="1"/>
            <a:endParaRPr lang="en-US" altLang="id-ID" sz="2200"/>
          </a:p>
          <a:p>
            <a:pPr lvl="1" eaLnBrk="1" hangingPunct="1"/>
            <a:endParaRPr lang="en-US" altLang="id-ID" sz="2000"/>
          </a:p>
        </p:txBody>
      </p:sp>
      <mc:AlternateContent xmlns:mc="http://schemas.openxmlformats.org/markup-compatibility/2006" xmlns:a14="http://schemas.microsoft.com/office/drawing/2010/main">
        <mc:Choice Requires="a14">
          <p:sp>
            <p:nvSpPr>
              <p:cNvPr id="27653" name="Object 7">
                <a:extLst>
                  <a:ext uri="{FF2B5EF4-FFF2-40B4-BE49-F238E27FC236}">
                    <a16:creationId xmlns:a16="http://schemas.microsoft.com/office/drawing/2014/main" id="{F1963554-7D68-BAC7-F476-634391FB7366}"/>
                  </a:ext>
                </a:extLst>
              </p:cNvPr>
              <p:cNvSpPr txBox="1">
                <a:spLocks noGrp="1"/>
              </p:cNvSpPr>
              <p:nvPr>
                <p:ph sz="half" idx="2"/>
              </p:nvPr>
            </p:nvSpPr>
            <p:spPr bwMode="auto">
              <a:xfrm>
                <a:off x="2057400" y="4484688"/>
                <a:ext cx="5867400" cy="849312"/>
              </a:xfrm>
              <a:prstGeom prst="rect">
                <a:avLst/>
              </a:prstGeom>
              <a:noFill/>
              <a:ln>
                <a:noFill/>
              </a:ln>
              <a:effectLst/>
            </p:spPr>
            <p:txBody>
              <a:bodyPr>
                <a:normAutofit fontScale="62500" lnSpcReduction="20000"/>
              </a:bodyPr>
              <a:lstStyle/>
              <a:p>
                <a:pPr>
                  <a:buNone/>
                </a:pPr>
                <a14:m>
                  <m:oMathPara xmlns:m="http://schemas.openxmlformats.org/officeDocument/2006/math">
                    <m:oMathParaPr>
                      <m:jc m:val="left"/>
                    </m:oMathParaPr>
                    <m:oMath xmlns:m="http://schemas.openxmlformats.org/officeDocument/2006/math">
                      <m:r>
                        <a:rPr lang="en-ID" i="1">
                          <a:solidFill>
                            <a:srgbClr val="000000"/>
                          </a:solidFill>
                          <a:latin typeface="Cambria Math" panose="02040503050406030204" pitchFamily="18" charset="0"/>
                        </a:rPr>
                        <m:t>𝜌</m:t>
                      </m:r>
                      <m:r>
                        <a:rPr lang="en-ID" i="1">
                          <a:solidFill>
                            <a:srgbClr val="000000"/>
                          </a:solidFill>
                          <a:latin typeface="Cambria Math" panose="02040503050406030204" pitchFamily="18" charset="0"/>
                        </a:rPr>
                        <m:t>=</m:t>
                      </m:r>
                      <m:f>
                        <m:fPr>
                          <m:ctrlPr>
                            <a:rPr lang="en-ID" i="1">
                              <a:solidFill>
                                <a:srgbClr val="000000"/>
                              </a:solidFill>
                              <a:latin typeface="Cambria Math" panose="02040503050406030204" pitchFamily="18" charset="0"/>
                            </a:rPr>
                          </m:ctrlPr>
                        </m:fPr>
                        <m:num>
                          <m:sSub>
                            <m:sSubPr>
                              <m:ctrlPr>
                                <a:rPr lang="en-ID" i="1">
                                  <a:solidFill>
                                    <a:srgbClr val="000000"/>
                                  </a:solidFill>
                                  <a:latin typeface="Cambria Math" panose="02040503050406030204" pitchFamily="18" charset="0"/>
                                </a:rPr>
                              </m:ctrlPr>
                            </m:sSubPr>
                            <m:e>
                              <m:r>
                                <a:rPr lang="en-ID" i="1">
                                  <a:solidFill>
                                    <a:srgbClr val="000000"/>
                                  </a:solidFill>
                                  <a:latin typeface="Cambria Math" panose="02040503050406030204" pitchFamily="18" charset="0"/>
                                </a:rPr>
                                <m:t>𝐿</m:t>
                              </m:r>
                            </m:e>
                            <m:sub>
                              <m:r>
                                <a:rPr lang="en-ID" i="1">
                                  <a:solidFill>
                                    <a:srgbClr val="000000"/>
                                  </a:solidFill>
                                  <a:latin typeface="Cambria Math" panose="02040503050406030204" pitchFamily="18" charset="0"/>
                                </a:rPr>
                                <m:t>𝑠</m:t>
                              </m:r>
                            </m:sub>
                          </m:sSub>
                        </m:num>
                        <m:den>
                          <m:r>
                            <a:rPr lang="en-ID" i="1">
                              <a:solidFill>
                                <a:srgbClr val="000000"/>
                              </a:solidFill>
                              <a:latin typeface="Cambria Math" panose="02040503050406030204" pitchFamily="18" charset="0"/>
                            </a:rPr>
                            <m:t>𝑐</m:t>
                          </m:r>
                        </m:den>
                      </m:f>
                      <m:r>
                        <a:rPr lang="en-ID" i="1">
                          <a:solidFill>
                            <a:srgbClr val="000000"/>
                          </a:solidFill>
                          <a:latin typeface="Cambria Math" panose="02040503050406030204" pitchFamily="18" charset="0"/>
                        </a:rPr>
                        <m:t>=</m:t>
                      </m:r>
                      <m:f>
                        <m:fPr>
                          <m:ctrlPr>
                            <a:rPr lang="en-ID" i="1">
                              <a:solidFill>
                                <a:srgbClr val="000000"/>
                              </a:solidFill>
                              <a:latin typeface="Cambria Math" panose="02040503050406030204" pitchFamily="18" charset="0"/>
                            </a:rPr>
                          </m:ctrlPr>
                        </m:fPr>
                        <m:num>
                          <m:r>
                            <a:rPr lang="en-ID" i="1">
                              <a:solidFill>
                                <a:srgbClr val="000000"/>
                              </a:solidFill>
                              <a:latin typeface="Cambria Math" panose="02040503050406030204" pitchFamily="18" charset="0"/>
                            </a:rPr>
                            <m:t>𝜆</m:t>
                          </m:r>
                        </m:num>
                        <m:den>
                          <m:r>
                            <a:rPr lang="en-ID" i="1">
                              <a:solidFill>
                                <a:srgbClr val="000000"/>
                              </a:solidFill>
                              <a:latin typeface="Cambria Math" panose="02040503050406030204" pitchFamily="18" charset="0"/>
                            </a:rPr>
                            <m:t>𝑐</m:t>
                          </m:r>
                          <m:r>
                            <a:rPr lang="en-ID" i="1">
                              <a:solidFill>
                                <a:srgbClr val="000000"/>
                              </a:solidFill>
                              <a:latin typeface="Cambria Math" panose="02040503050406030204" pitchFamily="18" charset="0"/>
                            </a:rPr>
                            <m:t>𝜇</m:t>
                          </m:r>
                        </m:den>
                      </m:f>
                      <m:r>
                        <m:rPr>
                          <m:nor/>
                        </m:rPr>
                        <a:rPr lang="en-ID" i="0">
                          <a:solidFill>
                            <a:srgbClr val="000000"/>
                          </a:solidFill>
                          <a:latin typeface="Cambria Math" panose="02040503050406030204" pitchFamily="18" charset="0"/>
                        </a:rPr>
                        <m:t> ,    </m:t>
                      </m:r>
                      <m:r>
                        <m:rPr>
                          <m:nor/>
                        </m:rPr>
                        <a:rPr lang="en-US" b="0" i="0" smtClean="0">
                          <a:solidFill>
                            <a:srgbClr val="000000"/>
                          </a:solidFill>
                          <a:latin typeface="Cambria Math" panose="02040503050406030204" pitchFamily="18" charset="0"/>
                        </a:rPr>
                        <m:t>dimana</m:t>
                      </m:r>
                      <m:r>
                        <m:rPr>
                          <m:nor/>
                        </m:rPr>
                        <a:rPr lang="en-ID" i="0">
                          <a:solidFill>
                            <a:srgbClr val="000000"/>
                          </a:solidFill>
                          <a:latin typeface="Cambria Math" panose="02040503050406030204" pitchFamily="18" charset="0"/>
                        </a:rPr>
                        <m:t> </m:t>
                      </m:r>
                      <m:r>
                        <a:rPr lang="en-ID" i="1">
                          <a:solidFill>
                            <a:srgbClr val="000000"/>
                          </a:solidFill>
                          <a:latin typeface="Cambria Math" panose="02040503050406030204" pitchFamily="18" charset="0"/>
                        </a:rPr>
                        <m:t>𝜆</m:t>
                      </m:r>
                      <m:r>
                        <a:rPr lang="en-ID" i="1">
                          <a:solidFill>
                            <a:srgbClr val="000000"/>
                          </a:solidFill>
                          <a:latin typeface="Cambria Math" panose="02040503050406030204" pitchFamily="18" charset="0"/>
                        </a:rPr>
                        <m:t>&lt;</m:t>
                      </m:r>
                      <m:r>
                        <a:rPr lang="en-ID" i="1">
                          <a:solidFill>
                            <a:srgbClr val="000000"/>
                          </a:solidFill>
                          <a:latin typeface="Cambria Math" panose="02040503050406030204" pitchFamily="18" charset="0"/>
                        </a:rPr>
                        <m:t>𝑐</m:t>
                      </m:r>
                      <m:r>
                        <a:rPr lang="en-ID" i="1">
                          <a:solidFill>
                            <a:srgbClr val="000000"/>
                          </a:solidFill>
                          <a:latin typeface="Cambria Math" panose="02040503050406030204" pitchFamily="18" charset="0"/>
                        </a:rPr>
                        <m:t>𝜇</m:t>
                      </m:r>
                      <m:r>
                        <m:rPr>
                          <m:nor/>
                        </m:rPr>
                        <a:rPr lang="en-ID" i="0">
                          <a:solidFill>
                            <a:srgbClr val="000000"/>
                          </a:solidFill>
                          <a:latin typeface="Cambria Math" panose="02040503050406030204" pitchFamily="18" charset="0"/>
                        </a:rPr>
                        <m:t>  </m:t>
                      </m:r>
                      <m:r>
                        <m:rPr>
                          <m:nor/>
                        </m:rPr>
                        <a:rPr lang="en-US" b="0" i="0" smtClean="0">
                          <a:solidFill>
                            <a:srgbClr val="000000"/>
                          </a:solidFill>
                          <a:latin typeface="Cambria Math" panose="02040503050406030204" pitchFamily="18" charset="0"/>
                        </a:rPr>
                        <m:t>untuk</m:t>
                      </m:r>
                      <m:r>
                        <m:rPr>
                          <m:nor/>
                        </m:rPr>
                        <a:rPr lang="en-US" b="0" i="0" smtClean="0">
                          <a:solidFill>
                            <a:srgbClr val="000000"/>
                          </a:solidFill>
                          <a:latin typeface="Cambria Math" panose="02040503050406030204" pitchFamily="18" charset="0"/>
                        </a:rPr>
                        <m:t> </m:t>
                      </m:r>
                      <m:r>
                        <m:rPr>
                          <m:nor/>
                        </m:rPr>
                        <a:rPr lang="en-US" b="0" i="0" smtClean="0">
                          <a:solidFill>
                            <a:srgbClr val="000000"/>
                          </a:solidFill>
                          <a:latin typeface="Cambria Math" panose="02040503050406030204" pitchFamily="18" charset="0"/>
                        </a:rPr>
                        <m:t>sistem</m:t>
                      </m:r>
                      <m:r>
                        <m:rPr>
                          <m:nor/>
                        </m:rPr>
                        <a:rPr lang="en-US" b="0" i="0" smtClean="0">
                          <a:solidFill>
                            <a:srgbClr val="000000"/>
                          </a:solidFill>
                          <a:latin typeface="Cambria Math" panose="02040503050406030204" pitchFamily="18" charset="0"/>
                        </a:rPr>
                        <m:t> </m:t>
                      </m:r>
                      <m:r>
                        <m:rPr>
                          <m:nor/>
                        </m:rPr>
                        <a:rPr lang="en-US" b="0" i="0" smtClean="0">
                          <a:solidFill>
                            <a:srgbClr val="000000"/>
                          </a:solidFill>
                          <a:latin typeface="Cambria Math" panose="02040503050406030204" pitchFamily="18" charset="0"/>
                        </a:rPr>
                        <m:t>yg</m:t>
                      </m:r>
                      <m:r>
                        <m:rPr>
                          <m:nor/>
                        </m:rPr>
                        <a:rPr lang="en-US" b="0" i="0" smtClean="0">
                          <a:solidFill>
                            <a:srgbClr val="000000"/>
                          </a:solidFill>
                          <a:latin typeface="Cambria Math" panose="02040503050406030204" pitchFamily="18" charset="0"/>
                        </a:rPr>
                        <m:t> </m:t>
                      </m:r>
                      <m:r>
                        <m:rPr>
                          <m:nor/>
                        </m:rPr>
                        <a:rPr lang="en-US" b="0" i="0" smtClean="0">
                          <a:solidFill>
                            <a:srgbClr val="000000"/>
                          </a:solidFill>
                          <a:latin typeface="Cambria Math" panose="02040503050406030204" pitchFamily="18" charset="0"/>
                        </a:rPr>
                        <m:t>stabil</m:t>
                      </m:r>
                    </m:oMath>
                  </m:oMathPara>
                </a14:m>
                <a:endParaRPr lang="en-ID"/>
              </a:p>
            </p:txBody>
          </p:sp>
        </mc:Choice>
        <mc:Fallback xmlns="">
          <p:sp>
            <p:nvSpPr>
              <p:cNvPr id="27653" name="Object 7">
                <a:extLst>
                  <a:ext uri="{FF2B5EF4-FFF2-40B4-BE49-F238E27FC236}">
                    <a16:creationId xmlns:a16="http://schemas.microsoft.com/office/drawing/2014/main" id="{F1963554-7D68-BAC7-F476-634391FB7366}"/>
                  </a:ext>
                </a:extLst>
              </p:cNvPr>
              <p:cNvSpPr txBox="1">
                <a:spLocks noGrp="1" noRot="1" noChangeAspect="1" noMove="1" noResize="1" noEditPoints="1" noAdjustHandles="1" noChangeArrowheads="1" noChangeShapeType="1" noTextEdit="1"/>
              </p:cNvSpPr>
              <p:nvPr>
                <p:ph sz="half" idx="2"/>
              </p:nvPr>
            </p:nvSpPr>
            <p:spPr bwMode="auto">
              <a:xfrm>
                <a:off x="2057400" y="4484688"/>
                <a:ext cx="5867400" cy="849312"/>
              </a:xfrm>
              <a:prstGeom prst="rect">
                <a:avLst/>
              </a:prstGeom>
              <a:blipFill>
                <a:blip r:embed="rId2"/>
                <a:stretch>
                  <a:fillRect/>
                </a:stretch>
              </a:blipFill>
              <a:ln>
                <a:noFill/>
              </a:ln>
              <a:effectLst/>
            </p:spPr>
            <p:txBody>
              <a:bodyPr/>
              <a:lstStyle/>
              <a:p>
                <a:r>
                  <a:rPr lang="en-US">
                    <a:noFill/>
                  </a:rPr>
                  <a:t> </a:t>
                </a:r>
              </a:p>
            </p:txBody>
          </p:sp>
        </mc:Fallback>
      </mc:AlternateContent>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Number Placeholder 5">
            <a:extLst>
              <a:ext uri="{FF2B5EF4-FFF2-40B4-BE49-F238E27FC236}">
                <a16:creationId xmlns:a16="http://schemas.microsoft.com/office/drawing/2014/main" id="{20303008-130D-321A-E598-3825BC4C0C40}"/>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5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4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9pPr>
          </a:lstStyle>
          <a:p>
            <a:pPr>
              <a:spcBef>
                <a:spcPct val="0"/>
              </a:spcBef>
              <a:buClrTx/>
              <a:buSzTx/>
              <a:buFontTx/>
              <a:buNone/>
            </a:pPr>
            <a:fld id="{9242297B-2678-4C72-AD17-3044974EBE67}" type="slidenum">
              <a:rPr lang="en-US" altLang="id-ID" sz="1200">
                <a:latin typeface="Arial Black" panose="020B0A04020102020204" pitchFamily="34" charset="0"/>
              </a:rPr>
              <a:pPr>
                <a:spcBef>
                  <a:spcPct val="0"/>
                </a:spcBef>
                <a:buClrTx/>
                <a:buSzTx/>
                <a:buFontTx/>
                <a:buNone/>
              </a:pPr>
              <a:t>23</a:t>
            </a:fld>
            <a:endParaRPr lang="en-US" altLang="id-ID" sz="1200">
              <a:latin typeface="Arial Black" panose="020B0A04020102020204" pitchFamily="34" charset="0"/>
            </a:endParaRPr>
          </a:p>
        </p:txBody>
      </p:sp>
      <p:sp>
        <p:nvSpPr>
          <p:cNvPr id="28675" name="Rectangle 2">
            <a:extLst>
              <a:ext uri="{FF2B5EF4-FFF2-40B4-BE49-F238E27FC236}">
                <a16:creationId xmlns:a16="http://schemas.microsoft.com/office/drawing/2014/main" id="{5807B163-EC94-32F0-EEF2-12FF033CB8D3}"/>
              </a:ext>
            </a:extLst>
          </p:cNvPr>
          <p:cNvSpPr>
            <a:spLocks noGrp="1" noChangeArrowheads="1"/>
          </p:cNvSpPr>
          <p:nvPr>
            <p:ph type="title"/>
          </p:nvPr>
        </p:nvSpPr>
        <p:spPr/>
        <p:txBody>
          <a:bodyPr/>
          <a:lstStyle/>
          <a:p>
            <a:pPr eaLnBrk="1" hangingPunct="1"/>
            <a:r>
              <a:rPr lang="en-US" altLang="id-ID"/>
              <a:t>Utilisasi Server dan Performa Sistem</a:t>
            </a:r>
            <a:br>
              <a:rPr lang="en-US" altLang="id-ID"/>
            </a:br>
            <a:r>
              <a:rPr lang="en-US" altLang="id-ID"/>
              <a:t>		      </a:t>
            </a:r>
            <a:r>
              <a:rPr lang="en-US" altLang="id-ID">
                <a:solidFill>
                  <a:schemeClr val="bg2"/>
                </a:solidFill>
              </a:rPr>
              <a:t>[Karakteristik Sistem Antrean]</a:t>
            </a:r>
            <a:endParaRPr lang="en-US" altLang="id-ID" sz="2200">
              <a:solidFill>
                <a:schemeClr val="bg2"/>
              </a:solidFill>
            </a:endParaRPr>
          </a:p>
        </p:txBody>
      </p:sp>
      <p:sp>
        <p:nvSpPr>
          <p:cNvPr id="28676" name="Rectangle 3">
            <a:extLst>
              <a:ext uri="{FF2B5EF4-FFF2-40B4-BE49-F238E27FC236}">
                <a16:creationId xmlns:a16="http://schemas.microsoft.com/office/drawing/2014/main" id="{90DF86E0-A077-AD10-463F-BC4FF0E46B2A}"/>
              </a:ext>
            </a:extLst>
          </p:cNvPr>
          <p:cNvSpPr>
            <a:spLocks noGrp="1" noChangeArrowheads="1"/>
          </p:cNvSpPr>
          <p:nvPr>
            <p:ph type="body" sz="half" idx="1"/>
          </p:nvPr>
        </p:nvSpPr>
        <p:spPr>
          <a:xfrm>
            <a:off x="457200" y="1447800"/>
            <a:ext cx="8458200" cy="4419600"/>
          </a:xfrm>
        </p:spPr>
        <p:txBody>
          <a:bodyPr/>
          <a:lstStyle/>
          <a:p>
            <a:pPr eaLnBrk="1" hangingPunct="1"/>
            <a:r>
              <a:rPr lang="en-US" altLang="id-ID" sz="2400"/>
              <a:t>System performance varies widely for a given utilization </a:t>
            </a:r>
            <a:r>
              <a:rPr lang="en-US" altLang="id-ID" sz="2400" i="1">
                <a:latin typeface="Symbol" panose="05050102010706020507" pitchFamily="18" charset="2"/>
              </a:rPr>
              <a:t>r.</a:t>
            </a:r>
            <a:endParaRPr lang="en-US" altLang="id-ID" sz="2400"/>
          </a:p>
          <a:p>
            <a:pPr lvl="1" eaLnBrk="1" hangingPunct="1"/>
            <a:r>
              <a:rPr lang="en-US" altLang="id-ID" sz="2200"/>
              <a:t>For example, a </a:t>
            </a:r>
            <a:r>
              <a:rPr lang="en-US" altLang="id-ID" sz="2200" i="1"/>
              <a:t>D/D/1</a:t>
            </a:r>
            <a:r>
              <a:rPr lang="en-US" altLang="id-ID" sz="2200"/>
              <a:t> queue where </a:t>
            </a:r>
            <a:r>
              <a:rPr lang="en-US" altLang="id-ID" sz="2200" i="1"/>
              <a:t>E(A) = 1/</a:t>
            </a:r>
            <a:r>
              <a:rPr lang="en-US" altLang="id-ID" sz="2200" i="1">
                <a:latin typeface="Symbol" panose="05050102010706020507" pitchFamily="18" charset="2"/>
              </a:rPr>
              <a:t>l</a:t>
            </a:r>
            <a:r>
              <a:rPr lang="en-US" altLang="id-ID" sz="2200"/>
              <a:t> and </a:t>
            </a:r>
            <a:r>
              <a:rPr lang="en-US" altLang="id-ID" sz="2200" i="1"/>
              <a:t>E(S) = 1/</a:t>
            </a:r>
            <a:r>
              <a:rPr lang="en-US" altLang="id-ID" sz="2200" i="1">
                <a:latin typeface="Symbol" panose="05050102010706020507" pitchFamily="18" charset="2"/>
              </a:rPr>
              <a:t>m</a:t>
            </a:r>
            <a:r>
              <a:rPr lang="en-US" altLang="id-ID" sz="2200"/>
              <a:t>, where:</a:t>
            </a:r>
          </a:p>
          <a:p>
            <a:pPr lvl="2" algn="ctr" eaLnBrk="1" hangingPunct="1">
              <a:buFont typeface="Wingdings" panose="05000000000000000000" pitchFamily="2" charset="2"/>
              <a:buNone/>
            </a:pPr>
            <a:r>
              <a:rPr lang="en-US" altLang="id-ID" sz="2200" i="1"/>
              <a:t>L = </a:t>
            </a:r>
            <a:r>
              <a:rPr lang="en-US" altLang="id-ID" sz="2200" i="1">
                <a:latin typeface="Symbol" panose="05050102010706020507" pitchFamily="18" charset="2"/>
              </a:rPr>
              <a:t>r</a:t>
            </a:r>
            <a:r>
              <a:rPr lang="en-US" altLang="id-ID" sz="2200" i="1"/>
              <a:t> = </a:t>
            </a:r>
            <a:r>
              <a:rPr lang="en-US" altLang="id-ID" sz="2200" i="1">
                <a:latin typeface="Symbol" panose="05050102010706020507" pitchFamily="18" charset="2"/>
              </a:rPr>
              <a:t>l/m</a:t>
            </a:r>
            <a:r>
              <a:rPr lang="en-US" altLang="id-ID" sz="2200" i="1"/>
              <a:t>,   w = E(S) = 1/</a:t>
            </a:r>
            <a:r>
              <a:rPr lang="en-US" altLang="id-ID" sz="2200" i="1">
                <a:latin typeface="Symbol" panose="05050102010706020507" pitchFamily="18" charset="2"/>
              </a:rPr>
              <a:t>m</a:t>
            </a:r>
            <a:r>
              <a:rPr lang="en-US" altLang="id-ID" sz="2200" i="1"/>
              <a:t>,   L</a:t>
            </a:r>
            <a:r>
              <a:rPr lang="en-US" altLang="id-ID" sz="2200" i="1" baseline="-25000"/>
              <a:t>Q </a:t>
            </a:r>
            <a:r>
              <a:rPr lang="en-US" altLang="id-ID" sz="2200" i="1"/>
              <a:t>= W</a:t>
            </a:r>
            <a:r>
              <a:rPr lang="en-US" altLang="id-ID" sz="2200" i="1" baseline="-25000"/>
              <a:t>Q </a:t>
            </a:r>
            <a:r>
              <a:rPr lang="en-US" altLang="id-ID" sz="2200" i="1"/>
              <a:t>= 0.</a:t>
            </a:r>
          </a:p>
          <a:p>
            <a:pPr lvl="2" eaLnBrk="1" hangingPunct="1"/>
            <a:r>
              <a:rPr lang="en-US" altLang="id-ID"/>
              <a:t>By varying </a:t>
            </a:r>
            <a:r>
              <a:rPr lang="en-US" altLang="id-ID" i="1">
                <a:latin typeface="Symbol" panose="05050102010706020507" pitchFamily="18" charset="2"/>
              </a:rPr>
              <a:t>l</a:t>
            </a:r>
            <a:r>
              <a:rPr lang="en-US" altLang="id-ID"/>
              <a:t> and </a:t>
            </a:r>
            <a:r>
              <a:rPr lang="en-US" altLang="id-ID" i="1">
                <a:latin typeface="Symbol" panose="05050102010706020507" pitchFamily="18" charset="2"/>
              </a:rPr>
              <a:t>m</a:t>
            </a:r>
            <a:r>
              <a:rPr lang="en-US" altLang="id-ID"/>
              <a:t>, server utilization can assume any value between </a:t>
            </a:r>
            <a:r>
              <a:rPr lang="en-US" altLang="id-ID" i="1"/>
              <a:t>0</a:t>
            </a:r>
            <a:r>
              <a:rPr lang="en-US" altLang="id-ID"/>
              <a:t> and </a:t>
            </a:r>
            <a:r>
              <a:rPr lang="en-US" altLang="id-ID" i="1"/>
              <a:t>1</a:t>
            </a:r>
            <a:r>
              <a:rPr lang="en-US" altLang="id-ID"/>
              <a:t>.</a:t>
            </a:r>
          </a:p>
          <a:p>
            <a:pPr lvl="2" eaLnBrk="1" hangingPunct="1"/>
            <a:r>
              <a:rPr lang="en-US" altLang="id-ID"/>
              <a:t>Yet there is never any line.</a:t>
            </a:r>
          </a:p>
          <a:p>
            <a:pPr lvl="1" eaLnBrk="1" hangingPunct="1"/>
            <a:r>
              <a:rPr lang="en-US" altLang="id-ID"/>
              <a:t>In general, variability of interarrival and service times causes lines to fluctuate in length.</a:t>
            </a:r>
            <a:endParaRPr lang="en-US" altLang="id-ID" sz="2000"/>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6">
            <a:extLst>
              <a:ext uri="{FF2B5EF4-FFF2-40B4-BE49-F238E27FC236}">
                <a16:creationId xmlns:a16="http://schemas.microsoft.com/office/drawing/2014/main" id="{CD24F008-B6E8-28CA-F976-F8609CCC304C}"/>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5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4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9pPr>
          </a:lstStyle>
          <a:p>
            <a:pPr>
              <a:spcBef>
                <a:spcPct val="0"/>
              </a:spcBef>
              <a:buClrTx/>
              <a:buSzTx/>
              <a:buFontTx/>
              <a:buNone/>
            </a:pPr>
            <a:fld id="{3C3A0B41-0DE8-4AD2-A250-E8256ED9EAAA}" type="slidenum">
              <a:rPr lang="en-US" altLang="id-ID" sz="1200">
                <a:latin typeface="Arial Black" panose="020B0A04020102020204" pitchFamily="34" charset="0"/>
              </a:rPr>
              <a:pPr>
                <a:spcBef>
                  <a:spcPct val="0"/>
                </a:spcBef>
                <a:buClrTx/>
                <a:buSzTx/>
                <a:buFontTx/>
                <a:buNone/>
              </a:pPr>
              <a:t>24</a:t>
            </a:fld>
            <a:endParaRPr lang="en-US" altLang="id-ID" sz="1200">
              <a:latin typeface="Arial Black" panose="020B0A04020102020204" pitchFamily="34" charset="0"/>
            </a:endParaRPr>
          </a:p>
        </p:txBody>
      </p:sp>
      <p:pic>
        <p:nvPicPr>
          <p:cNvPr id="29699" name="Picture 9" descr="06-11">
            <a:extLst>
              <a:ext uri="{FF2B5EF4-FFF2-40B4-BE49-F238E27FC236}">
                <a16:creationId xmlns:a16="http://schemas.microsoft.com/office/drawing/2014/main" id="{8458D0A4-58A6-A54B-B152-7F059D181142}"/>
              </a:ext>
            </a:extLst>
          </p:cNvPr>
          <p:cNvPicPr>
            <a:picLocks noGrp="1" noChangeArrowheads="1"/>
          </p:cNvPicPr>
          <p:nvPr>
            <p:ph sz="quarter" idx="3"/>
          </p:nvPr>
        </p:nvPicPr>
        <p:blipFill>
          <a:blip r:embed="rId2">
            <a:extLst>
              <a:ext uri="{28A0092B-C50C-407E-A947-70E740481C1C}">
                <a14:useLocalDpi xmlns:a14="http://schemas.microsoft.com/office/drawing/2010/main" val="0"/>
              </a:ext>
            </a:extLst>
          </a:blip>
          <a:srcRect/>
          <a:stretch>
            <a:fillRect/>
          </a:stretch>
        </p:blipFill>
        <p:spPr>
          <a:xfrm>
            <a:off x="2514600" y="4267200"/>
            <a:ext cx="3352800" cy="1524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9700" name="Rectangle 2">
            <a:extLst>
              <a:ext uri="{FF2B5EF4-FFF2-40B4-BE49-F238E27FC236}">
                <a16:creationId xmlns:a16="http://schemas.microsoft.com/office/drawing/2014/main" id="{E2CA82A8-1787-76A2-AD26-A9E4A32E984C}"/>
              </a:ext>
            </a:extLst>
          </p:cNvPr>
          <p:cNvSpPr>
            <a:spLocks noGrp="1" noChangeArrowheads="1"/>
          </p:cNvSpPr>
          <p:nvPr>
            <p:ph type="title"/>
          </p:nvPr>
        </p:nvSpPr>
        <p:spPr/>
        <p:txBody>
          <a:bodyPr/>
          <a:lstStyle/>
          <a:p>
            <a:pPr eaLnBrk="1" hangingPunct="1"/>
            <a:r>
              <a:rPr lang="en-US" altLang="id-ID"/>
              <a:t>Server Utilization and System Performance</a:t>
            </a:r>
            <a:br>
              <a:rPr lang="en-US" altLang="id-ID"/>
            </a:br>
            <a:r>
              <a:rPr lang="en-US" altLang="id-ID" sz="2200"/>
              <a:t>			</a:t>
            </a:r>
            <a:r>
              <a:rPr lang="en-US" altLang="id-ID" sz="2200">
                <a:solidFill>
                  <a:schemeClr val="bg2"/>
                </a:solidFill>
              </a:rPr>
              <a:t>[Characteristics of Queueing System]</a:t>
            </a:r>
          </a:p>
        </p:txBody>
      </p:sp>
      <p:sp>
        <p:nvSpPr>
          <p:cNvPr id="29701" name="Rectangle 3">
            <a:extLst>
              <a:ext uri="{FF2B5EF4-FFF2-40B4-BE49-F238E27FC236}">
                <a16:creationId xmlns:a16="http://schemas.microsoft.com/office/drawing/2014/main" id="{CD369713-D5E1-B10C-7571-46AF2BA3563E}"/>
              </a:ext>
            </a:extLst>
          </p:cNvPr>
          <p:cNvSpPr>
            <a:spLocks noGrp="1" noChangeArrowheads="1"/>
          </p:cNvSpPr>
          <p:nvPr>
            <p:ph type="body" sz="half" idx="1"/>
          </p:nvPr>
        </p:nvSpPr>
        <p:spPr>
          <a:xfrm>
            <a:off x="457200" y="1447800"/>
            <a:ext cx="8458200" cy="5029200"/>
          </a:xfrm>
        </p:spPr>
        <p:txBody>
          <a:bodyPr/>
          <a:lstStyle/>
          <a:p>
            <a:pPr eaLnBrk="1" hangingPunct="1"/>
            <a:r>
              <a:rPr lang="en-US" altLang="id-ID" sz="2000"/>
              <a:t>Example: A physician who schedules patients every </a:t>
            </a:r>
            <a:r>
              <a:rPr lang="en-US" altLang="id-ID" sz="2000" i="1"/>
              <a:t>10</a:t>
            </a:r>
            <a:r>
              <a:rPr lang="en-US" altLang="id-ID" sz="2000"/>
              <a:t> minutes and spends </a:t>
            </a:r>
            <a:r>
              <a:rPr lang="en-US" altLang="id-ID" sz="2000" i="1"/>
              <a:t>S</a:t>
            </a:r>
            <a:r>
              <a:rPr lang="en-US" altLang="id-ID" sz="2000" i="1" baseline="-25000"/>
              <a:t>i</a:t>
            </a:r>
            <a:r>
              <a:rPr lang="en-US" altLang="id-ID" sz="2000" i="1"/>
              <a:t> </a:t>
            </a:r>
            <a:r>
              <a:rPr lang="en-US" altLang="id-ID" sz="2000"/>
              <a:t>minutes with the </a:t>
            </a:r>
            <a:r>
              <a:rPr lang="en-US" altLang="id-ID" sz="2000" i="1"/>
              <a:t>i</a:t>
            </a:r>
            <a:r>
              <a:rPr lang="en-US" altLang="id-ID" sz="2000" i="1" baseline="30000"/>
              <a:t>th</a:t>
            </a:r>
            <a:r>
              <a:rPr lang="en-US" altLang="id-ID" sz="2000"/>
              <a:t> patient:</a:t>
            </a:r>
          </a:p>
          <a:p>
            <a:pPr eaLnBrk="1" hangingPunct="1"/>
            <a:endParaRPr lang="en-US" altLang="id-ID" sz="2000"/>
          </a:p>
          <a:p>
            <a:pPr lvl="1" eaLnBrk="1" hangingPunct="1"/>
            <a:r>
              <a:rPr lang="en-US" altLang="id-ID" sz="2000"/>
              <a:t>Arrivals are deterministic, </a:t>
            </a:r>
            <a:r>
              <a:rPr lang="en-US" altLang="id-ID" sz="2000" i="1"/>
              <a:t>A</a:t>
            </a:r>
            <a:r>
              <a:rPr lang="en-US" altLang="id-ID" sz="2000" i="1" baseline="-25000"/>
              <a:t>1</a:t>
            </a:r>
            <a:r>
              <a:rPr lang="en-US" altLang="id-ID" sz="2000" i="1"/>
              <a:t> = A</a:t>
            </a:r>
            <a:r>
              <a:rPr lang="en-US" altLang="id-ID" sz="2000" i="1" baseline="-25000"/>
              <a:t>2</a:t>
            </a:r>
            <a:r>
              <a:rPr lang="en-US" altLang="id-ID" sz="2000" i="1"/>
              <a:t> = … = </a:t>
            </a:r>
            <a:r>
              <a:rPr lang="en-US" altLang="id-ID" sz="2000" i="1">
                <a:latin typeface="Symbol" panose="05050102010706020507" pitchFamily="18" charset="2"/>
              </a:rPr>
              <a:t>l</a:t>
            </a:r>
            <a:r>
              <a:rPr lang="en-US" altLang="id-ID" sz="2000" i="1" baseline="30000"/>
              <a:t>-1</a:t>
            </a:r>
            <a:r>
              <a:rPr lang="en-US" altLang="id-ID" sz="2000" i="1"/>
              <a:t> = 10</a:t>
            </a:r>
            <a:r>
              <a:rPr lang="en-US" altLang="id-ID" sz="2000"/>
              <a:t>.</a:t>
            </a:r>
          </a:p>
          <a:p>
            <a:pPr lvl="1" eaLnBrk="1" hangingPunct="1"/>
            <a:r>
              <a:rPr lang="en-US" altLang="id-ID" sz="2000"/>
              <a:t>Services are stochastic, </a:t>
            </a:r>
            <a:r>
              <a:rPr lang="en-US" altLang="id-ID" sz="2000" i="1"/>
              <a:t>E(S</a:t>
            </a:r>
            <a:r>
              <a:rPr lang="en-US" altLang="id-ID" sz="2000" i="1" baseline="-25000"/>
              <a:t>i</a:t>
            </a:r>
            <a:r>
              <a:rPr lang="en-US" altLang="id-ID" sz="2000" i="1"/>
              <a:t>) = 9.3</a:t>
            </a:r>
            <a:r>
              <a:rPr lang="en-US" altLang="id-ID" sz="2000"/>
              <a:t> min and </a:t>
            </a:r>
            <a:r>
              <a:rPr lang="en-US" altLang="id-ID" sz="2000" i="1"/>
              <a:t>V(S</a:t>
            </a:r>
            <a:r>
              <a:rPr lang="en-US" altLang="id-ID" sz="2000" i="1" baseline="-25000"/>
              <a:t>0</a:t>
            </a:r>
            <a:r>
              <a:rPr lang="en-US" altLang="id-ID" sz="2000" i="1"/>
              <a:t>) = 0.81</a:t>
            </a:r>
            <a:r>
              <a:rPr lang="en-US" altLang="id-ID" sz="2000"/>
              <a:t> min</a:t>
            </a:r>
            <a:r>
              <a:rPr lang="en-US" altLang="id-ID" sz="2000" baseline="30000"/>
              <a:t>2</a:t>
            </a:r>
            <a:r>
              <a:rPr lang="en-US" altLang="id-ID" sz="2000"/>
              <a:t>.</a:t>
            </a:r>
          </a:p>
          <a:p>
            <a:pPr lvl="1" eaLnBrk="1" hangingPunct="1"/>
            <a:r>
              <a:rPr lang="en-US" altLang="id-ID" sz="2000"/>
              <a:t>On average, the physician's utilization </a:t>
            </a:r>
            <a:r>
              <a:rPr lang="en-US" altLang="id-ID" sz="2000" i="1"/>
              <a:t>= </a:t>
            </a:r>
            <a:r>
              <a:rPr lang="en-US" altLang="id-ID" sz="2000" i="1">
                <a:latin typeface="Symbol" panose="05050102010706020507" pitchFamily="18" charset="2"/>
              </a:rPr>
              <a:t>r = l/m</a:t>
            </a:r>
            <a:r>
              <a:rPr lang="en-US" altLang="id-ID" sz="2000" i="1"/>
              <a:t> = 0.93 &lt; 1</a:t>
            </a:r>
            <a:r>
              <a:rPr lang="en-US" altLang="id-ID" sz="2000"/>
              <a:t>.</a:t>
            </a:r>
          </a:p>
          <a:p>
            <a:pPr lvl="1" eaLnBrk="1" hangingPunct="1"/>
            <a:r>
              <a:rPr lang="en-US" altLang="id-ID" sz="2000"/>
              <a:t>Consider the system is simulated with service times: </a:t>
            </a:r>
            <a:r>
              <a:rPr lang="en-US" altLang="id-ID" sz="2000" i="1"/>
              <a:t>S</a:t>
            </a:r>
            <a:r>
              <a:rPr lang="en-US" altLang="id-ID" sz="2000" i="1" baseline="-25000"/>
              <a:t>1</a:t>
            </a:r>
            <a:r>
              <a:rPr lang="en-US" altLang="id-ID" sz="2000" i="1"/>
              <a:t> = 9, S</a:t>
            </a:r>
            <a:r>
              <a:rPr lang="en-US" altLang="id-ID" sz="2000" i="1" baseline="-25000"/>
              <a:t>2</a:t>
            </a:r>
            <a:r>
              <a:rPr lang="en-US" altLang="id-ID" sz="2000" i="1"/>
              <a:t> = 12, S</a:t>
            </a:r>
            <a:r>
              <a:rPr lang="en-US" altLang="id-ID" sz="2000" i="1" baseline="-25000"/>
              <a:t>3</a:t>
            </a:r>
            <a:r>
              <a:rPr lang="en-US" altLang="id-ID" sz="2000" i="1"/>
              <a:t> = 9, S</a:t>
            </a:r>
            <a:r>
              <a:rPr lang="en-US" altLang="id-ID" sz="2000" i="1" baseline="-25000"/>
              <a:t>4</a:t>
            </a:r>
            <a:r>
              <a:rPr lang="en-US" altLang="id-ID" sz="2000" i="1"/>
              <a:t> = 9, S</a:t>
            </a:r>
            <a:r>
              <a:rPr lang="en-US" altLang="id-ID" sz="2000" i="1" baseline="-25000"/>
              <a:t>5</a:t>
            </a:r>
            <a:r>
              <a:rPr lang="en-US" altLang="id-ID" sz="2000" i="1"/>
              <a:t> = 9, ….</a:t>
            </a:r>
            <a:r>
              <a:rPr lang="en-US" altLang="id-ID" sz="2000"/>
              <a:t>  The system becomes:</a:t>
            </a:r>
          </a:p>
          <a:p>
            <a:pPr lvl="1" eaLnBrk="1" hangingPunct="1"/>
            <a:endParaRPr lang="en-US" altLang="id-ID" sz="2000"/>
          </a:p>
          <a:p>
            <a:pPr lvl="1" eaLnBrk="1" hangingPunct="1"/>
            <a:endParaRPr lang="en-US" altLang="id-ID" sz="2000"/>
          </a:p>
          <a:p>
            <a:pPr lvl="1" eaLnBrk="1" hangingPunct="1"/>
            <a:endParaRPr lang="en-US" altLang="id-ID" sz="2000"/>
          </a:p>
          <a:p>
            <a:pPr lvl="1" eaLnBrk="1" hangingPunct="1"/>
            <a:endParaRPr lang="en-US" altLang="id-ID" sz="2000"/>
          </a:p>
          <a:p>
            <a:pPr lvl="1" eaLnBrk="1" hangingPunct="1"/>
            <a:r>
              <a:rPr lang="en-US" altLang="id-ID" sz="2000"/>
              <a:t>The occurrence of a relatively long service time (</a:t>
            </a:r>
            <a:r>
              <a:rPr lang="en-US" altLang="id-ID" sz="2000" i="1"/>
              <a:t>S</a:t>
            </a:r>
            <a:r>
              <a:rPr lang="en-US" altLang="id-ID" sz="2000" i="1" baseline="-25000"/>
              <a:t>2</a:t>
            </a:r>
            <a:r>
              <a:rPr lang="en-US" altLang="id-ID" sz="2000" i="1"/>
              <a:t> = 12</a:t>
            </a:r>
            <a:r>
              <a:rPr lang="en-US" altLang="id-ID" sz="2000"/>
              <a:t>) causes a waiting line to form temporarily.</a:t>
            </a:r>
            <a:endParaRPr lang="en-US" altLang="id-ID" sz="1800"/>
          </a:p>
        </p:txBody>
      </p:sp>
      <mc:AlternateContent xmlns:mc="http://schemas.openxmlformats.org/markup-compatibility/2006" xmlns:a14="http://schemas.microsoft.com/office/drawing/2010/main">
        <mc:Choice Requires="a14">
          <p:sp>
            <p:nvSpPr>
              <p:cNvPr id="29702" name="Object 4">
                <a:extLst>
                  <a:ext uri="{FF2B5EF4-FFF2-40B4-BE49-F238E27FC236}">
                    <a16:creationId xmlns:a16="http://schemas.microsoft.com/office/drawing/2014/main" id="{63526E7C-84F6-D8C1-B9C1-F0DD153DD4B8}"/>
                  </a:ext>
                </a:extLst>
              </p:cNvPr>
              <p:cNvSpPr txBox="1">
                <a:spLocks noGrp="1"/>
              </p:cNvSpPr>
              <p:nvPr>
                <p:ph sz="quarter" idx="2"/>
              </p:nvPr>
            </p:nvSpPr>
            <p:spPr bwMode="auto">
              <a:xfrm>
                <a:off x="5029200" y="1790700"/>
                <a:ext cx="3505200" cy="723900"/>
              </a:xfrm>
              <a:prstGeom prst="rect">
                <a:avLst/>
              </a:prstGeom>
              <a:noFill/>
              <a:ln>
                <a:noFill/>
              </a:ln>
              <a:effectLst/>
            </p:spPr>
            <p:txBody>
              <a:bodyPr>
                <a:normAutofit fontScale="55000" lnSpcReduction="20000"/>
              </a:bodyPr>
              <a:lstStyle/>
              <a:p>
                <a:pPr>
                  <a:buNone/>
                </a:pPr>
                <a14:m>
                  <m:oMathPara xmlns:m="http://schemas.openxmlformats.org/officeDocument/2006/math">
                    <m:oMathParaPr>
                      <m:jc m:val="left"/>
                    </m:oMathParaPr>
                    <m:oMath xmlns:m="http://schemas.openxmlformats.org/officeDocument/2006/math">
                      <m:sSub>
                        <m:sSubPr>
                          <m:ctrlPr>
                            <a:rPr lang="en-ID" i="1">
                              <a:solidFill>
                                <a:srgbClr val="000000"/>
                              </a:solidFill>
                              <a:latin typeface="Cambria Math" panose="02040503050406030204" pitchFamily="18" charset="0"/>
                            </a:rPr>
                          </m:ctrlPr>
                        </m:sSubPr>
                        <m:e>
                          <m:r>
                            <a:rPr lang="en-ID" i="1">
                              <a:solidFill>
                                <a:srgbClr val="000000"/>
                              </a:solidFill>
                              <a:latin typeface="Cambria Math" panose="02040503050406030204" pitchFamily="18" charset="0"/>
                            </a:rPr>
                            <m:t>𝑆</m:t>
                          </m:r>
                        </m:e>
                        <m:sub>
                          <m:r>
                            <a:rPr lang="en-ID" i="1">
                              <a:solidFill>
                                <a:srgbClr val="000000"/>
                              </a:solidFill>
                              <a:latin typeface="Cambria Math" panose="02040503050406030204" pitchFamily="18" charset="0"/>
                            </a:rPr>
                            <m:t>𝑖</m:t>
                          </m:r>
                        </m:sub>
                      </m:sSub>
                      <m:r>
                        <a:rPr lang="en-ID" i="1">
                          <a:solidFill>
                            <a:srgbClr val="000000"/>
                          </a:solidFill>
                          <a:latin typeface="Cambria Math" panose="02040503050406030204" pitchFamily="18" charset="0"/>
                        </a:rPr>
                        <m:t>=</m:t>
                      </m:r>
                      <m:d>
                        <m:dPr>
                          <m:begChr m:val="{"/>
                          <m:endChr m:val=""/>
                          <m:ctrlPr>
                            <a:rPr lang="en-ID" i="1">
                              <a:solidFill>
                                <a:srgbClr val="000000"/>
                              </a:solidFill>
                              <a:latin typeface="Cambria Math" panose="02040503050406030204" pitchFamily="18" charset="0"/>
                            </a:rPr>
                          </m:ctrlPr>
                        </m:dPr>
                        <m:e>
                          <m:m>
                            <m:mPr>
                              <m:plcHide m:val="on"/>
                              <m:mcs>
                                <m:mc>
                                  <m:mcPr>
                                    <m:count m:val="1"/>
                                    <m:mcJc m:val="center"/>
                                  </m:mcPr>
                                </m:mc>
                              </m:mcs>
                              <m:ctrlPr>
                                <a:rPr lang="en-ID" i="1">
                                  <a:solidFill>
                                    <a:srgbClr val="000000"/>
                                  </a:solidFill>
                                  <a:latin typeface="Cambria Math" panose="02040503050406030204" pitchFamily="18" charset="0"/>
                                </a:rPr>
                              </m:ctrlPr>
                            </m:mPr>
                            <m:mr>
                              <m:e>
                                <m:r>
                                  <a:rPr lang="en-ID" i="1">
                                    <a:solidFill>
                                      <a:srgbClr val="000000"/>
                                    </a:solidFill>
                                    <a:latin typeface="Cambria Math" panose="02040503050406030204" pitchFamily="18" charset="0"/>
                                  </a:rPr>
                                  <m:t>9</m:t>
                                </m:r>
                                <m:r>
                                  <m:rPr>
                                    <m:nor/>
                                  </m:rPr>
                                  <a:rPr lang="en-ID" i="0">
                                    <a:solidFill>
                                      <a:srgbClr val="000000"/>
                                    </a:solidFill>
                                    <a:latin typeface="Cambria Math" panose="02040503050406030204" pitchFamily="18" charset="0"/>
                                  </a:rPr>
                                  <m:t> </m:t>
                                </m:r>
                                <m:r>
                                  <m:rPr>
                                    <m:nor/>
                                  </m:rPr>
                                  <a:rPr lang="en-ID" i="0">
                                    <a:solidFill>
                                      <a:srgbClr val="000000"/>
                                    </a:solidFill>
                                    <a:latin typeface="Cambria Math" panose="02040503050406030204" pitchFamily="18" charset="0"/>
                                  </a:rPr>
                                  <m:t>minutes</m:t>
                                </m:r>
                                <m:r>
                                  <m:rPr>
                                    <m:nor/>
                                  </m:rPr>
                                  <a:rPr lang="en-ID" i="0">
                                    <a:solidFill>
                                      <a:srgbClr val="000000"/>
                                    </a:solidFill>
                                    <a:latin typeface="Cambria Math" panose="02040503050406030204" pitchFamily="18" charset="0"/>
                                  </a:rPr>
                                  <m:t> </m:t>
                                </m:r>
                                <m:r>
                                  <m:rPr>
                                    <m:nor/>
                                  </m:rPr>
                                  <a:rPr lang="en-ID" i="0">
                                    <a:solidFill>
                                      <a:srgbClr val="000000"/>
                                    </a:solidFill>
                                    <a:latin typeface="Cambria Math" panose="02040503050406030204" pitchFamily="18" charset="0"/>
                                  </a:rPr>
                                  <m:t>with</m:t>
                                </m:r>
                                <m:r>
                                  <m:rPr>
                                    <m:nor/>
                                  </m:rPr>
                                  <a:rPr lang="en-ID" i="0">
                                    <a:solidFill>
                                      <a:srgbClr val="000000"/>
                                    </a:solidFill>
                                    <a:latin typeface="Cambria Math" panose="02040503050406030204" pitchFamily="18" charset="0"/>
                                  </a:rPr>
                                  <m:t> </m:t>
                                </m:r>
                                <m:r>
                                  <m:rPr>
                                    <m:nor/>
                                  </m:rPr>
                                  <a:rPr lang="en-ID" i="0">
                                    <a:solidFill>
                                      <a:srgbClr val="000000"/>
                                    </a:solidFill>
                                    <a:latin typeface="Cambria Math" panose="02040503050406030204" pitchFamily="18" charset="0"/>
                                  </a:rPr>
                                  <m:t>probability</m:t>
                                </m:r>
                                <m:r>
                                  <m:rPr>
                                    <m:nor/>
                                  </m:rPr>
                                  <a:rPr lang="en-ID" i="0">
                                    <a:solidFill>
                                      <a:srgbClr val="000000"/>
                                    </a:solidFill>
                                    <a:latin typeface="Cambria Math" panose="02040503050406030204" pitchFamily="18" charset="0"/>
                                  </a:rPr>
                                  <m:t> </m:t>
                                </m:r>
                                <m:r>
                                  <a:rPr lang="en-ID" i="1">
                                    <a:solidFill>
                                      <a:srgbClr val="000000"/>
                                    </a:solidFill>
                                    <a:latin typeface="Cambria Math" panose="02040503050406030204" pitchFamily="18" charset="0"/>
                                  </a:rPr>
                                  <m:t>0.9</m:t>
                                </m:r>
                              </m:e>
                            </m:mr>
                            <m:mr>
                              <m:e>
                                <m:r>
                                  <a:rPr lang="en-ID" i="1">
                                    <a:solidFill>
                                      <a:srgbClr val="000000"/>
                                    </a:solidFill>
                                    <a:latin typeface="Cambria Math" panose="02040503050406030204" pitchFamily="18" charset="0"/>
                                  </a:rPr>
                                  <m:t>12</m:t>
                                </m:r>
                                <m:r>
                                  <m:rPr>
                                    <m:nor/>
                                  </m:rPr>
                                  <a:rPr lang="en-ID" i="0">
                                    <a:solidFill>
                                      <a:srgbClr val="000000"/>
                                    </a:solidFill>
                                    <a:latin typeface="Cambria Math" panose="02040503050406030204" pitchFamily="18" charset="0"/>
                                  </a:rPr>
                                  <m:t> </m:t>
                                </m:r>
                                <m:r>
                                  <m:rPr>
                                    <m:nor/>
                                  </m:rPr>
                                  <a:rPr lang="en-ID" i="0">
                                    <a:solidFill>
                                      <a:srgbClr val="000000"/>
                                    </a:solidFill>
                                    <a:latin typeface="Cambria Math" panose="02040503050406030204" pitchFamily="18" charset="0"/>
                                  </a:rPr>
                                  <m:t>minutes</m:t>
                                </m:r>
                                <m:r>
                                  <m:rPr>
                                    <m:nor/>
                                  </m:rPr>
                                  <a:rPr lang="en-ID" i="0">
                                    <a:solidFill>
                                      <a:srgbClr val="000000"/>
                                    </a:solidFill>
                                    <a:latin typeface="Cambria Math" panose="02040503050406030204" pitchFamily="18" charset="0"/>
                                  </a:rPr>
                                  <m:t> </m:t>
                                </m:r>
                                <m:r>
                                  <m:rPr>
                                    <m:nor/>
                                  </m:rPr>
                                  <a:rPr lang="en-ID" i="0">
                                    <a:solidFill>
                                      <a:srgbClr val="000000"/>
                                    </a:solidFill>
                                    <a:latin typeface="Cambria Math" panose="02040503050406030204" pitchFamily="18" charset="0"/>
                                  </a:rPr>
                                  <m:t>with</m:t>
                                </m:r>
                                <m:r>
                                  <m:rPr>
                                    <m:nor/>
                                  </m:rPr>
                                  <a:rPr lang="en-ID" i="0">
                                    <a:solidFill>
                                      <a:srgbClr val="000000"/>
                                    </a:solidFill>
                                    <a:latin typeface="Cambria Math" panose="02040503050406030204" pitchFamily="18" charset="0"/>
                                  </a:rPr>
                                  <m:t> </m:t>
                                </m:r>
                                <m:r>
                                  <m:rPr>
                                    <m:nor/>
                                  </m:rPr>
                                  <a:rPr lang="en-ID" i="0">
                                    <a:solidFill>
                                      <a:srgbClr val="000000"/>
                                    </a:solidFill>
                                    <a:latin typeface="Cambria Math" panose="02040503050406030204" pitchFamily="18" charset="0"/>
                                  </a:rPr>
                                  <m:t>probability</m:t>
                                </m:r>
                                <m:r>
                                  <m:rPr>
                                    <m:nor/>
                                  </m:rPr>
                                  <a:rPr lang="en-ID" i="0">
                                    <a:solidFill>
                                      <a:srgbClr val="000000"/>
                                    </a:solidFill>
                                    <a:latin typeface="Cambria Math" panose="02040503050406030204" pitchFamily="18" charset="0"/>
                                  </a:rPr>
                                  <m:t> </m:t>
                                </m:r>
                                <m:r>
                                  <a:rPr lang="en-ID" i="1">
                                    <a:solidFill>
                                      <a:srgbClr val="000000"/>
                                    </a:solidFill>
                                    <a:latin typeface="Cambria Math" panose="02040503050406030204" pitchFamily="18" charset="0"/>
                                  </a:rPr>
                                  <m:t>0.1</m:t>
                                </m:r>
                              </m:e>
                            </m:mr>
                          </m:m>
                        </m:e>
                      </m:d>
                    </m:oMath>
                  </m:oMathPara>
                </a14:m>
                <a:endParaRPr lang="en-ID"/>
              </a:p>
            </p:txBody>
          </p:sp>
        </mc:Choice>
        <mc:Fallback xmlns="">
          <p:sp>
            <p:nvSpPr>
              <p:cNvPr id="29702" name="Object 4">
                <a:extLst>
                  <a:ext uri="{FF2B5EF4-FFF2-40B4-BE49-F238E27FC236}">
                    <a16:creationId xmlns:a16="http://schemas.microsoft.com/office/drawing/2014/main" id="{63526E7C-84F6-D8C1-B9C1-F0DD153DD4B8}"/>
                  </a:ext>
                </a:extLst>
              </p:cNvPr>
              <p:cNvSpPr txBox="1">
                <a:spLocks noRot="1" noChangeAspect="1" noMove="1" noResize="1" noEditPoints="1" noAdjustHandles="1" noChangeArrowheads="1" noChangeShapeType="1" noTextEdit="1"/>
              </p:cNvSpPr>
              <p:nvPr>
                <p:ph sz="quarter" idx="2"/>
              </p:nvPr>
            </p:nvSpPr>
            <p:spPr bwMode="auto">
              <a:xfrm>
                <a:off x="5029200" y="1790700"/>
                <a:ext cx="3505200" cy="723900"/>
              </a:xfrm>
              <a:prstGeom prst="rect">
                <a:avLst/>
              </a:prstGeom>
              <a:blipFill>
                <a:blip r:embed="rId3"/>
                <a:stretch>
                  <a:fillRect/>
                </a:stretch>
              </a:blipFill>
              <a:ln>
                <a:noFill/>
              </a:ln>
              <a:effectLst/>
            </p:spPr>
            <p:txBody>
              <a:bodyPr/>
              <a:lstStyle/>
              <a:p>
                <a:r>
                  <a:rPr lang="en-ID">
                    <a:noFill/>
                  </a:rPr>
                  <a:t> </a:t>
                </a:r>
              </a:p>
            </p:txBody>
          </p:sp>
        </mc:Fallback>
      </mc:AlternateContent>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Number Placeholder 6">
            <a:extLst>
              <a:ext uri="{FF2B5EF4-FFF2-40B4-BE49-F238E27FC236}">
                <a16:creationId xmlns:a16="http://schemas.microsoft.com/office/drawing/2014/main" id="{CC64F3CC-9A17-09A9-1E18-CADF7B9F8A8E}"/>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5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4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9pPr>
          </a:lstStyle>
          <a:p>
            <a:pPr>
              <a:spcBef>
                <a:spcPct val="0"/>
              </a:spcBef>
              <a:buClrTx/>
              <a:buSzTx/>
              <a:buFontTx/>
              <a:buNone/>
            </a:pPr>
            <a:fld id="{F31204E8-1FE6-4AE1-BD1B-9F401C2766BC}" type="slidenum">
              <a:rPr lang="en-US" altLang="id-ID" sz="1200">
                <a:latin typeface="Arial Black" panose="020B0A04020102020204" pitchFamily="34" charset="0"/>
              </a:rPr>
              <a:pPr>
                <a:spcBef>
                  <a:spcPct val="0"/>
                </a:spcBef>
                <a:buClrTx/>
                <a:buSzTx/>
                <a:buFontTx/>
                <a:buNone/>
              </a:pPr>
              <a:t>25</a:t>
            </a:fld>
            <a:endParaRPr lang="en-US" altLang="id-ID" sz="1200">
              <a:latin typeface="Arial Black" panose="020B0A04020102020204" pitchFamily="34" charset="0"/>
            </a:endParaRPr>
          </a:p>
        </p:txBody>
      </p:sp>
      <p:sp>
        <p:nvSpPr>
          <p:cNvPr id="30723" name="Rectangle 2">
            <a:extLst>
              <a:ext uri="{FF2B5EF4-FFF2-40B4-BE49-F238E27FC236}">
                <a16:creationId xmlns:a16="http://schemas.microsoft.com/office/drawing/2014/main" id="{BC901365-07A4-B7A1-0F0E-850CB11C5274}"/>
              </a:ext>
            </a:extLst>
          </p:cNvPr>
          <p:cNvSpPr>
            <a:spLocks noGrp="1" noChangeArrowheads="1"/>
          </p:cNvSpPr>
          <p:nvPr>
            <p:ph type="title"/>
          </p:nvPr>
        </p:nvSpPr>
        <p:spPr/>
        <p:txBody>
          <a:bodyPr/>
          <a:lstStyle/>
          <a:p>
            <a:pPr eaLnBrk="1" hangingPunct="1"/>
            <a:r>
              <a:rPr lang="en-US" altLang="id-ID"/>
              <a:t>Costs in Queueing Problems</a:t>
            </a:r>
            <a:br>
              <a:rPr lang="en-US" altLang="id-ID"/>
            </a:br>
            <a:r>
              <a:rPr lang="en-US" altLang="id-ID" sz="2200"/>
              <a:t>			</a:t>
            </a:r>
            <a:r>
              <a:rPr lang="en-US" altLang="id-ID" sz="2200">
                <a:solidFill>
                  <a:schemeClr val="bg2"/>
                </a:solidFill>
              </a:rPr>
              <a:t>[Characteristics of Queueing System]</a:t>
            </a:r>
          </a:p>
        </p:txBody>
      </p:sp>
      <p:sp>
        <p:nvSpPr>
          <p:cNvPr id="30724" name="Rectangle 3">
            <a:extLst>
              <a:ext uri="{FF2B5EF4-FFF2-40B4-BE49-F238E27FC236}">
                <a16:creationId xmlns:a16="http://schemas.microsoft.com/office/drawing/2014/main" id="{C095996F-530C-8286-032C-08918DEC5F99}"/>
              </a:ext>
            </a:extLst>
          </p:cNvPr>
          <p:cNvSpPr>
            <a:spLocks noGrp="1" noChangeArrowheads="1"/>
          </p:cNvSpPr>
          <p:nvPr>
            <p:ph type="body" sz="half" idx="1"/>
          </p:nvPr>
        </p:nvSpPr>
        <p:spPr>
          <a:xfrm>
            <a:off x="457200" y="1447800"/>
            <a:ext cx="8382000" cy="4953000"/>
          </a:xfrm>
        </p:spPr>
        <p:txBody>
          <a:bodyPr/>
          <a:lstStyle/>
          <a:p>
            <a:pPr eaLnBrk="1" hangingPunct="1">
              <a:lnSpc>
                <a:spcPct val="90000"/>
              </a:lnSpc>
            </a:pPr>
            <a:r>
              <a:rPr lang="en-US" altLang="id-ID" sz="2400"/>
              <a:t>Costs can be associated with various aspects of the waiting line or servers:</a:t>
            </a:r>
          </a:p>
          <a:p>
            <a:pPr lvl="1" eaLnBrk="1" hangingPunct="1">
              <a:lnSpc>
                <a:spcPct val="90000"/>
              </a:lnSpc>
            </a:pPr>
            <a:r>
              <a:rPr lang="en-US" altLang="id-ID" sz="2000"/>
              <a:t>System incurs a cost for each customer in the queue, say at a rate of </a:t>
            </a:r>
            <a:r>
              <a:rPr lang="en-US" altLang="id-ID" sz="2000" i="1"/>
              <a:t>$10</a:t>
            </a:r>
            <a:r>
              <a:rPr lang="en-US" altLang="id-ID" sz="2000"/>
              <a:t> per hour per customer.</a:t>
            </a:r>
          </a:p>
          <a:p>
            <a:pPr lvl="2" eaLnBrk="1" hangingPunct="1">
              <a:lnSpc>
                <a:spcPct val="90000"/>
              </a:lnSpc>
            </a:pPr>
            <a:r>
              <a:rPr lang="en-US" altLang="id-ID"/>
              <a:t>The average cost per customer is:</a:t>
            </a:r>
          </a:p>
          <a:p>
            <a:pPr lvl="1" eaLnBrk="1" hangingPunct="1">
              <a:lnSpc>
                <a:spcPct val="90000"/>
              </a:lnSpc>
            </a:pPr>
            <a:endParaRPr lang="en-US" altLang="id-ID" sz="2000"/>
          </a:p>
          <a:p>
            <a:pPr lvl="1" eaLnBrk="1" hangingPunct="1">
              <a:lnSpc>
                <a:spcPct val="90000"/>
              </a:lnSpc>
            </a:pPr>
            <a:endParaRPr lang="en-US" altLang="id-ID" sz="2000"/>
          </a:p>
          <a:p>
            <a:pPr lvl="2" eaLnBrk="1" hangingPunct="1">
              <a:lnSpc>
                <a:spcPct val="90000"/>
              </a:lnSpc>
            </a:pPr>
            <a:r>
              <a:rPr lang="en-US" altLang="id-ID"/>
              <a:t>If    customers per hour arrive (on average), the average cost per hour is: </a:t>
            </a:r>
          </a:p>
          <a:p>
            <a:pPr lvl="2" eaLnBrk="1" hangingPunct="1">
              <a:lnSpc>
                <a:spcPct val="90000"/>
              </a:lnSpc>
            </a:pPr>
            <a:endParaRPr lang="en-US" altLang="id-ID"/>
          </a:p>
          <a:p>
            <a:pPr lvl="1" eaLnBrk="1" hangingPunct="1">
              <a:lnSpc>
                <a:spcPct val="90000"/>
              </a:lnSpc>
            </a:pPr>
            <a:endParaRPr lang="en-US" altLang="id-ID" sz="2000"/>
          </a:p>
          <a:p>
            <a:pPr lvl="1" eaLnBrk="1" hangingPunct="1">
              <a:lnSpc>
                <a:spcPct val="90000"/>
              </a:lnSpc>
            </a:pPr>
            <a:r>
              <a:rPr lang="en-US" altLang="id-ID" sz="2000"/>
              <a:t>Server may also impose costs on the system, if a group of </a:t>
            </a:r>
            <a:r>
              <a:rPr lang="en-US" altLang="id-ID" sz="2000" i="1"/>
              <a:t>c</a:t>
            </a:r>
            <a:r>
              <a:rPr lang="en-US" altLang="id-ID" sz="2000"/>
              <a:t> parallel servers (</a:t>
            </a:r>
            <a:r>
              <a:rPr lang="en-US" altLang="id-ID" sz="2000" i="1"/>
              <a:t>1 </a:t>
            </a:r>
            <a:r>
              <a:rPr lang="en-US" altLang="id-ID" sz="2000" i="1">
                <a:latin typeface="Symbol" panose="05050102010706020507" pitchFamily="18" charset="2"/>
              </a:rPr>
              <a:t>£</a:t>
            </a:r>
            <a:r>
              <a:rPr lang="en-US" altLang="id-ID" sz="2000" i="1"/>
              <a:t> c </a:t>
            </a:r>
            <a:r>
              <a:rPr lang="en-US" altLang="id-ID" sz="2000" i="1">
                <a:latin typeface="Symbol" panose="05050102010706020507" pitchFamily="18" charset="2"/>
              </a:rPr>
              <a:t>£</a:t>
            </a:r>
            <a:r>
              <a:rPr lang="en-US" altLang="id-ID" sz="2000" i="1"/>
              <a:t> ∞)</a:t>
            </a:r>
            <a:r>
              <a:rPr lang="en-US" altLang="id-ID" sz="2000"/>
              <a:t> have utilization r, each server imposes a cost of </a:t>
            </a:r>
            <a:r>
              <a:rPr lang="en-US" altLang="id-ID" sz="2000" i="1"/>
              <a:t>$5</a:t>
            </a:r>
            <a:r>
              <a:rPr lang="en-US" altLang="id-ID" sz="2000"/>
              <a:t> per hour while busy.</a:t>
            </a:r>
          </a:p>
          <a:p>
            <a:pPr lvl="2" eaLnBrk="1" hangingPunct="1">
              <a:lnSpc>
                <a:spcPct val="90000"/>
              </a:lnSpc>
            </a:pPr>
            <a:r>
              <a:rPr lang="en-US" altLang="id-ID"/>
              <a:t>The total server cost is:   </a:t>
            </a:r>
            <a:r>
              <a:rPr lang="en-US" altLang="id-ID" i="1"/>
              <a:t>$5*c</a:t>
            </a:r>
            <a:r>
              <a:rPr lang="en-US" altLang="id-ID" i="1">
                <a:latin typeface="Symbol" panose="05050102010706020507" pitchFamily="18" charset="2"/>
              </a:rPr>
              <a:t>r.</a:t>
            </a:r>
          </a:p>
        </p:txBody>
      </p:sp>
      <mc:AlternateContent xmlns:mc="http://schemas.openxmlformats.org/markup-compatibility/2006" xmlns:a14="http://schemas.microsoft.com/office/drawing/2010/main">
        <mc:Choice Requires="a14">
          <p:sp>
            <p:nvSpPr>
              <p:cNvPr id="30725" name="Object 7">
                <a:extLst>
                  <a:ext uri="{FF2B5EF4-FFF2-40B4-BE49-F238E27FC236}">
                    <a16:creationId xmlns:a16="http://schemas.microsoft.com/office/drawing/2014/main" id="{ADD62485-F00F-084A-8621-AD334CD5ACFE}"/>
                  </a:ext>
                </a:extLst>
              </p:cNvPr>
              <p:cNvSpPr txBox="1">
                <a:spLocks noGrp="1"/>
              </p:cNvSpPr>
              <p:nvPr>
                <p:ph sz="quarter" idx="2"/>
              </p:nvPr>
            </p:nvSpPr>
            <p:spPr bwMode="auto">
              <a:xfrm>
                <a:off x="3276600" y="3048000"/>
                <a:ext cx="2438400" cy="860425"/>
              </a:xfrm>
              <a:prstGeom prst="rect">
                <a:avLst/>
              </a:prstGeom>
              <a:noFill/>
              <a:ln>
                <a:noFill/>
              </a:ln>
              <a:effectLst/>
            </p:spPr>
            <p:txBody>
              <a:bodyPr>
                <a:normAutofit fontScale="55000" lnSpcReduction="20000"/>
              </a:bodyPr>
              <a:lstStyle/>
              <a:p>
                <a:pPr>
                  <a:buNone/>
                </a:pPr>
                <a14:m>
                  <m:oMathPara xmlns:m="http://schemas.openxmlformats.org/officeDocument/2006/math">
                    <m:oMathParaPr>
                      <m:jc m:val="left"/>
                    </m:oMathParaPr>
                    <m:oMath xmlns:m="http://schemas.openxmlformats.org/officeDocument/2006/math">
                      <m:nary>
                        <m:naryPr>
                          <m:chr m:val="∑"/>
                          <m:ctrlPr>
                            <a:rPr lang="en-ID" i="1">
                              <a:solidFill>
                                <a:srgbClr val="000000"/>
                              </a:solidFill>
                              <a:latin typeface="Cambria Math" panose="02040503050406030204" pitchFamily="18" charset="0"/>
                            </a:rPr>
                          </m:ctrlPr>
                        </m:naryPr>
                        <m:sub>
                          <m:r>
                            <a:rPr lang="en-ID" i="1">
                              <a:solidFill>
                                <a:srgbClr val="000000"/>
                              </a:solidFill>
                              <a:latin typeface="Cambria Math" panose="02040503050406030204" pitchFamily="18" charset="0"/>
                            </a:rPr>
                            <m:t>𝑗</m:t>
                          </m:r>
                          <m:r>
                            <a:rPr lang="en-ID" i="1">
                              <a:solidFill>
                                <a:srgbClr val="000000"/>
                              </a:solidFill>
                              <a:latin typeface="Cambria Math" panose="02040503050406030204" pitchFamily="18" charset="0"/>
                            </a:rPr>
                            <m:t>=1</m:t>
                          </m:r>
                        </m:sub>
                        <m:sup>
                          <m:r>
                            <a:rPr lang="en-ID" i="1">
                              <a:solidFill>
                                <a:srgbClr val="000000"/>
                              </a:solidFill>
                              <a:latin typeface="Cambria Math" panose="02040503050406030204" pitchFamily="18" charset="0"/>
                            </a:rPr>
                            <m:t>𝑁</m:t>
                          </m:r>
                        </m:sup>
                        <m:e>
                          <m:f>
                            <m:fPr>
                              <m:ctrlPr>
                                <a:rPr lang="en-ID" i="1">
                                  <a:solidFill>
                                    <a:srgbClr val="000000"/>
                                  </a:solidFill>
                                  <a:latin typeface="Cambria Math" panose="02040503050406030204" pitchFamily="18" charset="0"/>
                                </a:rPr>
                              </m:ctrlPr>
                            </m:fPr>
                            <m:num>
                              <m:r>
                                <a:rPr lang="en-ID" i="1">
                                  <a:solidFill>
                                    <a:srgbClr val="000000"/>
                                  </a:solidFill>
                                  <a:latin typeface="Cambria Math" panose="02040503050406030204" pitchFamily="18" charset="0"/>
                                </a:rPr>
                                <m:t>$10∗</m:t>
                              </m:r>
                              <m:sSubSup>
                                <m:sSubSupPr>
                                  <m:ctrlPr>
                                    <a:rPr lang="en-ID" i="1">
                                      <a:solidFill>
                                        <a:srgbClr val="000000"/>
                                      </a:solidFill>
                                      <a:latin typeface="Cambria Math" panose="02040503050406030204" pitchFamily="18" charset="0"/>
                                    </a:rPr>
                                  </m:ctrlPr>
                                </m:sSubSupPr>
                                <m:e>
                                  <m:r>
                                    <a:rPr lang="en-ID" i="1">
                                      <a:solidFill>
                                        <a:srgbClr val="000000"/>
                                      </a:solidFill>
                                      <a:latin typeface="Cambria Math" panose="02040503050406030204" pitchFamily="18" charset="0"/>
                                    </a:rPr>
                                    <m:t>𝑊</m:t>
                                  </m:r>
                                </m:e>
                                <m:sub>
                                  <m:r>
                                    <a:rPr lang="en-ID" i="1">
                                      <a:solidFill>
                                        <a:srgbClr val="000000"/>
                                      </a:solidFill>
                                      <a:latin typeface="Cambria Math" panose="02040503050406030204" pitchFamily="18" charset="0"/>
                                    </a:rPr>
                                    <m:t>𝑗</m:t>
                                  </m:r>
                                </m:sub>
                                <m:sup>
                                  <m:r>
                                    <a:rPr lang="en-ID" i="1">
                                      <a:solidFill>
                                        <a:srgbClr val="000000"/>
                                      </a:solidFill>
                                      <a:latin typeface="Cambria Math" panose="02040503050406030204" pitchFamily="18" charset="0"/>
                                    </a:rPr>
                                    <m:t>𝑄</m:t>
                                  </m:r>
                                </m:sup>
                              </m:sSubSup>
                            </m:num>
                            <m:den>
                              <m:r>
                                <a:rPr lang="en-ID" i="1">
                                  <a:solidFill>
                                    <a:srgbClr val="000000"/>
                                  </a:solidFill>
                                  <a:latin typeface="Cambria Math" panose="02040503050406030204" pitchFamily="18" charset="0"/>
                                </a:rPr>
                                <m:t>𝑁</m:t>
                              </m:r>
                            </m:den>
                          </m:f>
                        </m:e>
                      </m:nary>
                      <m:r>
                        <a:rPr lang="en-ID" i="1">
                          <a:solidFill>
                            <a:srgbClr val="000000"/>
                          </a:solidFill>
                          <a:latin typeface="Cambria Math" panose="02040503050406030204" pitchFamily="18" charset="0"/>
                        </a:rPr>
                        <m:t>=$10∗</m:t>
                      </m:r>
                      <m:sSub>
                        <m:sSubPr>
                          <m:ctrlPr>
                            <a:rPr lang="en-ID" i="1">
                              <a:solidFill>
                                <a:srgbClr val="000000"/>
                              </a:solidFill>
                              <a:latin typeface="Cambria Math" panose="02040503050406030204" pitchFamily="18" charset="0"/>
                            </a:rPr>
                          </m:ctrlPr>
                        </m:sSubPr>
                        <m:e>
                          <m:acc>
                            <m:accPr>
                              <m:chr m:val="̂"/>
                              <m:ctrlPr>
                                <a:rPr lang="en-ID" i="1">
                                  <a:solidFill>
                                    <a:srgbClr val="000000"/>
                                  </a:solidFill>
                                  <a:latin typeface="Cambria Math" panose="02040503050406030204" pitchFamily="18" charset="0"/>
                                </a:rPr>
                              </m:ctrlPr>
                            </m:accPr>
                            <m:e>
                              <m:r>
                                <a:rPr lang="en-ID" i="1">
                                  <a:solidFill>
                                    <a:srgbClr val="000000"/>
                                  </a:solidFill>
                                  <a:latin typeface="Cambria Math" panose="02040503050406030204" pitchFamily="18" charset="0"/>
                                </a:rPr>
                                <m:t>𝑤</m:t>
                              </m:r>
                            </m:e>
                          </m:acc>
                        </m:e>
                        <m:sub>
                          <m:r>
                            <a:rPr lang="en-ID" i="1">
                              <a:solidFill>
                                <a:srgbClr val="000000"/>
                              </a:solidFill>
                              <a:latin typeface="Cambria Math" panose="02040503050406030204" pitchFamily="18" charset="0"/>
                            </a:rPr>
                            <m:t>𝑄</m:t>
                          </m:r>
                        </m:sub>
                      </m:sSub>
                    </m:oMath>
                  </m:oMathPara>
                </a14:m>
                <a:endParaRPr lang="en-ID"/>
              </a:p>
            </p:txBody>
          </p:sp>
        </mc:Choice>
        <mc:Fallback xmlns="">
          <p:sp>
            <p:nvSpPr>
              <p:cNvPr id="30725" name="Object 7">
                <a:extLst>
                  <a:ext uri="{FF2B5EF4-FFF2-40B4-BE49-F238E27FC236}">
                    <a16:creationId xmlns:a16="http://schemas.microsoft.com/office/drawing/2014/main" id="{ADD62485-F00F-084A-8621-AD334CD5ACFE}"/>
                  </a:ext>
                </a:extLst>
              </p:cNvPr>
              <p:cNvSpPr txBox="1">
                <a:spLocks noRot="1" noChangeAspect="1" noMove="1" noResize="1" noEditPoints="1" noAdjustHandles="1" noChangeArrowheads="1" noChangeShapeType="1" noTextEdit="1"/>
              </p:cNvSpPr>
              <p:nvPr>
                <p:ph sz="quarter" idx="2"/>
              </p:nvPr>
            </p:nvSpPr>
            <p:spPr bwMode="auto">
              <a:xfrm>
                <a:off x="3276600" y="3048000"/>
                <a:ext cx="2438400" cy="860425"/>
              </a:xfrm>
              <a:prstGeom prst="rect">
                <a:avLst/>
              </a:prstGeom>
              <a:blipFill>
                <a:blip r:embed="rId2"/>
                <a:stretch>
                  <a:fillRect/>
                </a:stretch>
              </a:blipFill>
              <a:ln>
                <a:noFill/>
              </a:ln>
              <a:effectLst/>
            </p:spPr>
            <p:txBody>
              <a:bodyPr/>
              <a:lstStyle/>
              <a:p>
                <a:r>
                  <a:rPr lang="en-ID">
                    <a:noFill/>
                  </a:rPr>
                  <a:t> </a:t>
                </a:r>
              </a:p>
            </p:txBody>
          </p:sp>
        </mc:Fallback>
      </mc:AlternateContent>
      <p:sp>
        <p:nvSpPr>
          <p:cNvPr id="30726" name="AutoShape 9">
            <a:extLst>
              <a:ext uri="{FF2B5EF4-FFF2-40B4-BE49-F238E27FC236}">
                <a16:creationId xmlns:a16="http://schemas.microsoft.com/office/drawing/2014/main" id="{BF227871-8516-37BF-5B4A-207E6584A19D}"/>
              </a:ext>
            </a:extLst>
          </p:cNvPr>
          <p:cNvSpPr>
            <a:spLocks noChangeArrowheads="1"/>
          </p:cNvSpPr>
          <p:nvPr/>
        </p:nvSpPr>
        <p:spPr bwMode="auto">
          <a:xfrm rot="-5400000">
            <a:off x="6591300" y="2476500"/>
            <a:ext cx="762000" cy="1752600"/>
          </a:xfrm>
          <a:prstGeom prst="wedgeRoundRectCallout">
            <a:avLst>
              <a:gd name="adj1" fmla="val 8329"/>
              <a:gd name="adj2" fmla="val -141037"/>
              <a:gd name="adj3" fmla="val 16667"/>
            </a:avLst>
          </a:prstGeom>
          <a:noFill/>
          <a:ln w="9525" algn="ctr">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nchor="ctr"/>
          <a:lstStyle>
            <a:lvl1pPr>
              <a:spcBef>
                <a:spcPct val="20000"/>
              </a:spcBef>
              <a:buClr>
                <a:schemeClr val="bg2"/>
              </a:buClr>
              <a:buSzPct val="75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4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9pPr>
          </a:lstStyle>
          <a:p>
            <a:pPr algn="ctr">
              <a:spcBef>
                <a:spcPct val="0"/>
              </a:spcBef>
              <a:buClrTx/>
              <a:buSzTx/>
              <a:buFontTx/>
              <a:buNone/>
            </a:pPr>
            <a:r>
              <a:rPr lang="en-US" altLang="id-ID" sz="1400" i="1"/>
              <a:t>W</a:t>
            </a:r>
            <a:r>
              <a:rPr lang="en-US" altLang="id-ID" sz="1400" i="1" baseline="-25000"/>
              <a:t>j</a:t>
            </a:r>
            <a:r>
              <a:rPr lang="en-US" altLang="id-ID" sz="1400" i="1" baseline="30000"/>
              <a:t>Q</a:t>
            </a:r>
            <a:r>
              <a:rPr lang="en-US" altLang="id-ID" sz="1400"/>
              <a:t> is the time customer j spends in queue</a:t>
            </a:r>
          </a:p>
        </p:txBody>
      </p:sp>
      <mc:AlternateContent xmlns:mc="http://schemas.openxmlformats.org/markup-compatibility/2006" xmlns:a14="http://schemas.microsoft.com/office/drawing/2010/main">
        <mc:Choice Requires="a14">
          <p:sp>
            <p:nvSpPr>
              <p:cNvPr id="30727" name="Object 10">
                <a:extLst>
                  <a:ext uri="{FF2B5EF4-FFF2-40B4-BE49-F238E27FC236}">
                    <a16:creationId xmlns:a16="http://schemas.microsoft.com/office/drawing/2014/main" id="{2DE8F5C5-1F6C-229B-8ADC-F24A5239A5F9}"/>
                  </a:ext>
                </a:extLst>
              </p:cNvPr>
              <p:cNvSpPr txBox="1">
                <a:spLocks noGrp="1"/>
              </p:cNvSpPr>
              <p:nvPr>
                <p:ph sz="quarter" idx="3"/>
              </p:nvPr>
            </p:nvSpPr>
            <p:spPr bwMode="auto">
              <a:xfrm>
                <a:off x="1828800" y="3733800"/>
                <a:ext cx="238125" cy="381000"/>
              </a:xfrm>
              <a:prstGeom prst="rect">
                <a:avLst/>
              </a:prstGeom>
              <a:noFill/>
              <a:ln>
                <a:noFill/>
              </a:ln>
              <a:effectLst/>
            </p:spPr>
            <p:txBody>
              <a:bodyPr>
                <a:normAutofit fontScale="62500" lnSpcReduction="20000"/>
              </a:bodyPr>
              <a:lstStyle/>
              <a:p>
                <a:pPr>
                  <a:buNone/>
                </a:pPr>
                <a14:m>
                  <m:oMathPara xmlns:m="http://schemas.openxmlformats.org/officeDocument/2006/math">
                    <m:oMathParaPr>
                      <m:jc m:val="left"/>
                    </m:oMathParaPr>
                    <m:oMath xmlns:m="http://schemas.openxmlformats.org/officeDocument/2006/math">
                      <m:acc>
                        <m:accPr>
                          <m:chr m:val="̂"/>
                          <m:ctrlPr>
                            <a:rPr lang="en-ID" i="1">
                              <a:solidFill>
                                <a:srgbClr val="000000"/>
                              </a:solidFill>
                              <a:latin typeface="Cambria Math" panose="02040503050406030204" pitchFamily="18" charset="0"/>
                            </a:rPr>
                          </m:ctrlPr>
                        </m:accPr>
                        <m:e>
                          <m:r>
                            <a:rPr lang="en-ID" i="1">
                              <a:solidFill>
                                <a:srgbClr val="000000"/>
                              </a:solidFill>
                              <a:latin typeface="Cambria Math" panose="02040503050406030204" pitchFamily="18" charset="0"/>
                            </a:rPr>
                            <m:t>𝜆</m:t>
                          </m:r>
                        </m:e>
                      </m:acc>
                    </m:oMath>
                  </m:oMathPara>
                </a14:m>
                <a:endParaRPr lang="en-ID"/>
              </a:p>
            </p:txBody>
          </p:sp>
        </mc:Choice>
        <mc:Fallback xmlns="">
          <p:sp>
            <p:nvSpPr>
              <p:cNvPr id="30727" name="Object 10">
                <a:extLst>
                  <a:ext uri="{FF2B5EF4-FFF2-40B4-BE49-F238E27FC236}">
                    <a16:creationId xmlns:a16="http://schemas.microsoft.com/office/drawing/2014/main" id="{2DE8F5C5-1F6C-229B-8ADC-F24A5239A5F9}"/>
                  </a:ext>
                </a:extLst>
              </p:cNvPr>
              <p:cNvSpPr txBox="1">
                <a:spLocks noRot="1" noChangeAspect="1" noMove="1" noResize="1" noEditPoints="1" noAdjustHandles="1" noChangeArrowheads="1" noChangeShapeType="1" noTextEdit="1"/>
              </p:cNvSpPr>
              <p:nvPr>
                <p:ph sz="quarter" idx="3"/>
              </p:nvPr>
            </p:nvSpPr>
            <p:spPr bwMode="auto">
              <a:xfrm>
                <a:off x="1828800" y="3733800"/>
                <a:ext cx="238125" cy="381000"/>
              </a:xfrm>
              <a:prstGeom prst="rect">
                <a:avLst/>
              </a:prstGeom>
              <a:blipFill>
                <a:blip r:embed="rId3"/>
                <a:stretch>
                  <a:fillRect t="-6452" r="-25641"/>
                </a:stretch>
              </a:blipFill>
              <a:ln>
                <a:noFill/>
              </a:ln>
              <a:effectLst/>
            </p:spPr>
            <p:txBody>
              <a:bodyPr/>
              <a:lstStyle/>
              <a:p>
                <a:r>
                  <a:rPr lang="en-ID">
                    <a:noFill/>
                  </a:rPr>
                  <a:t> </a:t>
                </a:r>
              </a:p>
            </p:txBody>
          </p:sp>
        </mc:Fallback>
      </mc:AlternateContent>
      <mc:AlternateContent xmlns:mc="http://schemas.openxmlformats.org/markup-compatibility/2006" xmlns:a14="http://schemas.microsoft.com/office/drawing/2010/main">
        <mc:Choice Requires="a14">
          <p:sp>
            <p:nvSpPr>
              <p:cNvPr id="30728" name="Object 12">
                <a:extLst>
                  <a:ext uri="{FF2B5EF4-FFF2-40B4-BE49-F238E27FC236}">
                    <a16:creationId xmlns:a16="http://schemas.microsoft.com/office/drawing/2014/main" id="{6129071E-55F0-2530-2344-D27F2FFD88B0}"/>
                  </a:ext>
                </a:extLst>
              </p:cNvPr>
              <p:cNvSpPr txBox="1"/>
              <p:nvPr/>
            </p:nvSpPr>
            <p:spPr bwMode="auto">
              <a:xfrm>
                <a:off x="3276600" y="4230688"/>
                <a:ext cx="4992688" cy="722312"/>
              </a:xfrm>
              <a:prstGeom prst="rect">
                <a:avLst/>
              </a:prstGeom>
              <a:noFill/>
              <a:ln>
                <a:noFill/>
              </a:ln>
              <a:effectLst/>
            </p:spPr>
            <p:txBody>
              <a:bodyPr>
                <a:normAutofit fontScale="92500"/>
              </a:bodyPr>
              <a:lstStyle/>
              <a:p>
                <a:pPr/>
                <a14:m>
                  <m:oMathPara xmlns:m="http://schemas.openxmlformats.org/officeDocument/2006/math">
                    <m:oMathParaPr>
                      <m:jc m:val="left"/>
                    </m:oMathParaPr>
                    <m:oMath xmlns:m="http://schemas.openxmlformats.org/officeDocument/2006/math">
                      <m:d>
                        <m:dPr>
                          <m:ctrlPr>
                            <a:rPr lang="en-ID" i="1">
                              <a:solidFill>
                                <a:srgbClr val="000000"/>
                              </a:solidFill>
                              <a:latin typeface="Cambria Math" panose="02040503050406030204" pitchFamily="18" charset="0"/>
                            </a:rPr>
                          </m:ctrlPr>
                        </m:dPr>
                        <m:e>
                          <m:acc>
                            <m:accPr>
                              <m:chr m:val="̂"/>
                              <m:ctrlPr>
                                <a:rPr lang="en-ID" i="1">
                                  <a:solidFill>
                                    <a:srgbClr val="000000"/>
                                  </a:solidFill>
                                  <a:latin typeface="Cambria Math" panose="02040503050406030204" pitchFamily="18" charset="0"/>
                                </a:rPr>
                              </m:ctrlPr>
                            </m:accPr>
                            <m:e>
                              <m:r>
                                <a:rPr lang="en-ID" i="1">
                                  <a:solidFill>
                                    <a:srgbClr val="000000"/>
                                  </a:solidFill>
                                  <a:latin typeface="Cambria Math" panose="02040503050406030204" pitchFamily="18" charset="0"/>
                                </a:rPr>
                                <m:t>𝜆</m:t>
                              </m:r>
                            </m:e>
                          </m:acc>
                          <m:f>
                            <m:fPr>
                              <m:ctrlPr>
                                <a:rPr lang="en-ID" i="1">
                                  <a:solidFill>
                                    <a:srgbClr val="000000"/>
                                  </a:solidFill>
                                  <a:latin typeface="Cambria Math" panose="02040503050406030204" pitchFamily="18" charset="0"/>
                                </a:rPr>
                              </m:ctrlPr>
                            </m:fPr>
                            <m:num>
                              <m:r>
                                <m:rPr>
                                  <m:nor/>
                                </m:rPr>
                                <a:rPr lang="en-ID" i="0">
                                  <a:solidFill>
                                    <a:srgbClr val="000000"/>
                                  </a:solidFill>
                                  <a:latin typeface="Cambria Math" panose="02040503050406030204" pitchFamily="18" charset="0"/>
                                </a:rPr>
                                <m:t>customer</m:t>
                              </m:r>
                            </m:num>
                            <m:den>
                              <m:r>
                                <m:rPr>
                                  <m:nor/>
                                </m:rPr>
                                <a:rPr lang="en-ID" i="0">
                                  <a:solidFill>
                                    <a:srgbClr val="000000"/>
                                  </a:solidFill>
                                  <a:latin typeface="Cambria Math" panose="02040503050406030204" pitchFamily="18" charset="0"/>
                                </a:rPr>
                                <m:t>hour</m:t>
                              </m:r>
                            </m:den>
                          </m:f>
                        </m:e>
                      </m:d>
                      <m:d>
                        <m:dPr>
                          <m:ctrlPr>
                            <a:rPr lang="en-ID" i="1">
                              <a:solidFill>
                                <a:srgbClr val="000000"/>
                              </a:solidFill>
                              <a:latin typeface="Cambria Math" panose="02040503050406030204" pitchFamily="18" charset="0"/>
                            </a:rPr>
                          </m:ctrlPr>
                        </m:dPr>
                        <m:e>
                          <m:f>
                            <m:fPr>
                              <m:ctrlPr>
                                <a:rPr lang="en-ID" i="1">
                                  <a:solidFill>
                                    <a:srgbClr val="000000"/>
                                  </a:solidFill>
                                  <a:latin typeface="Cambria Math" panose="02040503050406030204" pitchFamily="18" charset="0"/>
                                </a:rPr>
                              </m:ctrlPr>
                            </m:fPr>
                            <m:num>
                              <m:r>
                                <a:rPr lang="en-ID" i="1">
                                  <a:solidFill>
                                    <a:srgbClr val="000000"/>
                                  </a:solidFill>
                                  <a:latin typeface="Cambria Math" panose="02040503050406030204" pitchFamily="18" charset="0"/>
                                </a:rPr>
                                <m:t>$10∗</m:t>
                              </m:r>
                              <m:sSub>
                                <m:sSubPr>
                                  <m:ctrlPr>
                                    <a:rPr lang="en-ID" i="1">
                                      <a:solidFill>
                                        <a:srgbClr val="000000"/>
                                      </a:solidFill>
                                      <a:latin typeface="Cambria Math" panose="02040503050406030204" pitchFamily="18" charset="0"/>
                                    </a:rPr>
                                  </m:ctrlPr>
                                </m:sSubPr>
                                <m:e>
                                  <m:acc>
                                    <m:accPr>
                                      <m:chr m:val="̂"/>
                                      <m:ctrlPr>
                                        <a:rPr lang="en-ID" i="1">
                                          <a:solidFill>
                                            <a:srgbClr val="000000"/>
                                          </a:solidFill>
                                          <a:latin typeface="Cambria Math" panose="02040503050406030204" pitchFamily="18" charset="0"/>
                                        </a:rPr>
                                      </m:ctrlPr>
                                    </m:accPr>
                                    <m:e>
                                      <m:r>
                                        <a:rPr lang="en-ID" i="1">
                                          <a:solidFill>
                                            <a:srgbClr val="000000"/>
                                          </a:solidFill>
                                          <a:latin typeface="Cambria Math" panose="02040503050406030204" pitchFamily="18" charset="0"/>
                                        </a:rPr>
                                        <m:t>𝑤</m:t>
                                      </m:r>
                                    </m:e>
                                  </m:acc>
                                </m:e>
                                <m:sub>
                                  <m:r>
                                    <a:rPr lang="en-ID" i="1">
                                      <a:solidFill>
                                        <a:srgbClr val="000000"/>
                                      </a:solidFill>
                                      <a:latin typeface="Cambria Math" panose="02040503050406030204" pitchFamily="18" charset="0"/>
                                    </a:rPr>
                                    <m:t>𝑄</m:t>
                                  </m:r>
                                </m:sub>
                              </m:sSub>
                            </m:num>
                            <m:den>
                              <m:r>
                                <m:rPr>
                                  <m:nor/>
                                </m:rPr>
                                <a:rPr lang="en-ID" i="0">
                                  <a:solidFill>
                                    <a:srgbClr val="000000"/>
                                  </a:solidFill>
                                  <a:latin typeface="Cambria Math" panose="02040503050406030204" pitchFamily="18" charset="0"/>
                                </a:rPr>
                                <m:t>customer</m:t>
                              </m:r>
                            </m:den>
                          </m:f>
                        </m:e>
                      </m:d>
                      <m:r>
                        <a:rPr lang="en-ID" i="1">
                          <a:solidFill>
                            <a:srgbClr val="000000"/>
                          </a:solidFill>
                          <a:latin typeface="Cambria Math" panose="02040503050406030204" pitchFamily="18" charset="0"/>
                        </a:rPr>
                        <m:t>=$10∗</m:t>
                      </m:r>
                      <m:acc>
                        <m:accPr>
                          <m:chr m:val="̂"/>
                          <m:ctrlPr>
                            <a:rPr lang="en-ID" i="1">
                              <a:solidFill>
                                <a:srgbClr val="000000"/>
                              </a:solidFill>
                              <a:latin typeface="Cambria Math" panose="02040503050406030204" pitchFamily="18" charset="0"/>
                            </a:rPr>
                          </m:ctrlPr>
                        </m:accPr>
                        <m:e>
                          <m:r>
                            <a:rPr lang="en-ID" i="1">
                              <a:solidFill>
                                <a:srgbClr val="000000"/>
                              </a:solidFill>
                              <a:latin typeface="Cambria Math" panose="02040503050406030204" pitchFamily="18" charset="0"/>
                            </a:rPr>
                            <m:t>𝜆</m:t>
                          </m:r>
                        </m:e>
                      </m:acc>
                      <m:sSub>
                        <m:sSubPr>
                          <m:ctrlPr>
                            <a:rPr lang="en-ID" i="1">
                              <a:solidFill>
                                <a:srgbClr val="000000"/>
                              </a:solidFill>
                              <a:latin typeface="Cambria Math" panose="02040503050406030204" pitchFamily="18" charset="0"/>
                            </a:rPr>
                          </m:ctrlPr>
                        </m:sSubPr>
                        <m:e>
                          <m:acc>
                            <m:accPr>
                              <m:chr m:val="̂"/>
                              <m:ctrlPr>
                                <a:rPr lang="en-ID" i="1">
                                  <a:solidFill>
                                    <a:srgbClr val="000000"/>
                                  </a:solidFill>
                                  <a:latin typeface="Cambria Math" panose="02040503050406030204" pitchFamily="18" charset="0"/>
                                </a:rPr>
                              </m:ctrlPr>
                            </m:accPr>
                            <m:e>
                              <m:r>
                                <a:rPr lang="en-ID" i="1">
                                  <a:solidFill>
                                    <a:srgbClr val="000000"/>
                                  </a:solidFill>
                                  <a:latin typeface="Cambria Math" panose="02040503050406030204" pitchFamily="18" charset="0"/>
                                </a:rPr>
                                <m:t>𝑤</m:t>
                              </m:r>
                            </m:e>
                          </m:acc>
                        </m:e>
                        <m:sub>
                          <m:r>
                            <a:rPr lang="en-ID" i="1">
                              <a:solidFill>
                                <a:srgbClr val="000000"/>
                              </a:solidFill>
                              <a:latin typeface="Cambria Math" panose="02040503050406030204" pitchFamily="18" charset="0"/>
                            </a:rPr>
                            <m:t>𝑄</m:t>
                          </m:r>
                        </m:sub>
                      </m:sSub>
                      <m:r>
                        <a:rPr lang="en-ID" i="1">
                          <a:solidFill>
                            <a:srgbClr val="000000"/>
                          </a:solidFill>
                          <a:latin typeface="Cambria Math" panose="02040503050406030204" pitchFamily="18" charset="0"/>
                        </a:rPr>
                        <m:t>=$10∗</m:t>
                      </m:r>
                      <m:sSub>
                        <m:sSubPr>
                          <m:ctrlPr>
                            <a:rPr lang="en-ID" i="1">
                              <a:solidFill>
                                <a:srgbClr val="000000"/>
                              </a:solidFill>
                              <a:latin typeface="Cambria Math" panose="02040503050406030204" pitchFamily="18" charset="0"/>
                            </a:rPr>
                          </m:ctrlPr>
                        </m:sSubPr>
                        <m:e>
                          <m:acc>
                            <m:accPr>
                              <m:chr m:val="̂"/>
                              <m:ctrlPr>
                                <a:rPr lang="en-ID" i="1">
                                  <a:solidFill>
                                    <a:srgbClr val="000000"/>
                                  </a:solidFill>
                                  <a:latin typeface="Cambria Math" panose="02040503050406030204" pitchFamily="18" charset="0"/>
                                </a:rPr>
                              </m:ctrlPr>
                            </m:accPr>
                            <m:e>
                              <m:r>
                                <a:rPr lang="en-ID" i="1">
                                  <a:solidFill>
                                    <a:srgbClr val="000000"/>
                                  </a:solidFill>
                                  <a:latin typeface="Cambria Math" panose="02040503050406030204" pitchFamily="18" charset="0"/>
                                </a:rPr>
                                <m:t>𝐿</m:t>
                              </m:r>
                            </m:e>
                          </m:acc>
                        </m:e>
                        <m:sub>
                          <m:r>
                            <a:rPr lang="en-ID" i="1">
                              <a:solidFill>
                                <a:srgbClr val="000000"/>
                              </a:solidFill>
                              <a:latin typeface="Cambria Math" panose="02040503050406030204" pitchFamily="18" charset="0"/>
                            </a:rPr>
                            <m:t>𝑄</m:t>
                          </m:r>
                        </m:sub>
                      </m:sSub>
                      <m:r>
                        <m:rPr>
                          <m:nor/>
                        </m:rPr>
                        <a:rPr lang="en-ID" i="0">
                          <a:solidFill>
                            <a:srgbClr val="000000"/>
                          </a:solidFill>
                          <a:latin typeface="Cambria Math" panose="02040503050406030204" pitchFamily="18" charset="0"/>
                        </a:rPr>
                        <m:t> / </m:t>
                      </m:r>
                      <m:r>
                        <m:rPr>
                          <m:nor/>
                        </m:rPr>
                        <a:rPr lang="en-ID" i="0">
                          <a:solidFill>
                            <a:srgbClr val="000000"/>
                          </a:solidFill>
                          <a:latin typeface="Cambria Math" panose="02040503050406030204" pitchFamily="18" charset="0"/>
                        </a:rPr>
                        <m:t>hour</m:t>
                      </m:r>
                    </m:oMath>
                  </m:oMathPara>
                </a14:m>
                <a:endParaRPr lang="en-ID"/>
              </a:p>
            </p:txBody>
          </p:sp>
        </mc:Choice>
        <mc:Fallback xmlns="">
          <p:sp>
            <p:nvSpPr>
              <p:cNvPr id="30728" name="Object 12">
                <a:extLst>
                  <a:ext uri="{FF2B5EF4-FFF2-40B4-BE49-F238E27FC236}">
                    <a16:creationId xmlns:a16="http://schemas.microsoft.com/office/drawing/2014/main" id="{6129071E-55F0-2530-2344-D27F2FFD88B0}"/>
                  </a:ext>
                </a:extLst>
              </p:cNvPr>
              <p:cNvSpPr txBox="1">
                <a:spLocks noRot="1" noChangeAspect="1" noMove="1" noResize="1" noEditPoints="1" noAdjustHandles="1" noChangeArrowheads="1" noChangeShapeType="1" noTextEdit="1"/>
              </p:cNvSpPr>
              <p:nvPr/>
            </p:nvSpPr>
            <p:spPr bwMode="auto">
              <a:xfrm>
                <a:off x="3276600" y="4230688"/>
                <a:ext cx="4992688" cy="722312"/>
              </a:xfrm>
              <a:prstGeom prst="rect">
                <a:avLst/>
              </a:prstGeom>
              <a:blipFill>
                <a:blip r:embed="rId4"/>
                <a:stretch>
                  <a:fillRect/>
                </a:stretch>
              </a:blipFill>
              <a:ln>
                <a:noFill/>
              </a:ln>
              <a:effectLst/>
            </p:spPr>
            <p:txBody>
              <a:bodyPr/>
              <a:lstStyle/>
              <a:p>
                <a:r>
                  <a:rPr lang="en-ID">
                    <a:noFill/>
                  </a:rPr>
                  <a:t> </a:t>
                </a:r>
              </a:p>
            </p:txBody>
          </p:sp>
        </mc:Fallback>
      </mc:AlternateContent>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Number Placeholder 6">
            <a:extLst>
              <a:ext uri="{FF2B5EF4-FFF2-40B4-BE49-F238E27FC236}">
                <a16:creationId xmlns:a16="http://schemas.microsoft.com/office/drawing/2014/main" id="{D2C120F5-F206-4E5E-B5EC-731384F0A663}"/>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5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4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9pPr>
          </a:lstStyle>
          <a:p>
            <a:pPr>
              <a:spcBef>
                <a:spcPct val="0"/>
              </a:spcBef>
              <a:buClrTx/>
              <a:buSzTx/>
              <a:buFontTx/>
              <a:buNone/>
            </a:pPr>
            <a:fld id="{089C672C-49ED-4A84-8C90-BF4B2615DAA3}" type="slidenum">
              <a:rPr lang="en-US" altLang="id-ID" sz="1200">
                <a:latin typeface="Arial Black" panose="020B0A04020102020204" pitchFamily="34" charset="0"/>
              </a:rPr>
              <a:pPr>
                <a:spcBef>
                  <a:spcPct val="0"/>
                </a:spcBef>
                <a:buClrTx/>
                <a:buSzTx/>
                <a:buFontTx/>
                <a:buNone/>
              </a:pPr>
              <a:t>26</a:t>
            </a:fld>
            <a:endParaRPr lang="en-US" altLang="id-ID" sz="1200">
              <a:latin typeface="Arial Black" panose="020B0A04020102020204" pitchFamily="34" charset="0"/>
            </a:endParaRPr>
          </a:p>
        </p:txBody>
      </p:sp>
      <p:sp>
        <p:nvSpPr>
          <p:cNvPr id="31747" name="Rectangle 2">
            <a:extLst>
              <a:ext uri="{FF2B5EF4-FFF2-40B4-BE49-F238E27FC236}">
                <a16:creationId xmlns:a16="http://schemas.microsoft.com/office/drawing/2014/main" id="{079E3C64-7514-DFF8-8221-761071450325}"/>
              </a:ext>
            </a:extLst>
          </p:cNvPr>
          <p:cNvSpPr>
            <a:spLocks noGrp="1" noChangeArrowheads="1"/>
          </p:cNvSpPr>
          <p:nvPr>
            <p:ph type="title"/>
          </p:nvPr>
        </p:nvSpPr>
        <p:spPr>
          <a:xfrm>
            <a:off x="457200" y="381000"/>
            <a:ext cx="8229600" cy="762000"/>
          </a:xfrm>
        </p:spPr>
        <p:txBody>
          <a:bodyPr/>
          <a:lstStyle/>
          <a:p>
            <a:pPr eaLnBrk="1" hangingPunct="1"/>
            <a:r>
              <a:rPr lang="en-US" altLang="id-ID"/>
              <a:t>Steady-State Behavior of Infinite-Population Markovian Models</a:t>
            </a:r>
            <a:endParaRPr lang="en-US" altLang="id-ID" sz="2200">
              <a:solidFill>
                <a:schemeClr val="bg2"/>
              </a:solidFill>
            </a:endParaRPr>
          </a:p>
        </p:txBody>
      </p:sp>
      <p:sp>
        <p:nvSpPr>
          <p:cNvPr id="31748" name="Rectangle 3">
            <a:extLst>
              <a:ext uri="{FF2B5EF4-FFF2-40B4-BE49-F238E27FC236}">
                <a16:creationId xmlns:a16="http://schemas.microsoft.com/office/drawing/2014/main" id="{38A47B87-B232-3B8E-1D6F-20B7EB5C79DE}"/>
              </a:ext>
            </a:extLst>
          </p:cNvPr>
          <p:cNvSpPr>
            <a:spLocks noGrp="1" noChangeArrowheads="1"/>
          </p:cNvSpPr>
          <p:nvPr>
            <p:ph type="body" sz="half" idx="1"/>
          </p:nvPr>
        </p:nvSpPr>
        <p:spPr>
          <a:xfrm>
            <a:off x="457200" y="1447800"/>
            <a:ext cx="8382000" cy="4953000"/>
          </a:xfrm>
        </p:spPr>
        <p:txBody>
          <a:bodyPr/>
          <a:lstStyle/>
          <a:p>
            <a:pPr eaLnBrk="1" hangingPunct="1"/>
            <a:r>
              <a:rPr lang="en-US" altLang="id-ID" sz="2200"/>
              <a:t>Markovian models: exponential-distribution arrival process (mean arrival rate = </a:t>
            </a:r>
            <a:r>
              <a:rPr lang="en-US" altLang="id-ID" sz="2200">
                <a:latin typeface="Symbol" panose="05050102010706020507" pitchFamily="18" charset="2"/>
              </a:rPr>
              <a:t>l</a:t>
            </a:r>
            <a:r>
              <a:rPr lang="en-US" altLang="id-ID" sz="2200"/>
              <a:t>).</a:t>
            </a:r>
          </a:p>
          <a:p>
            <a:pPr eaLnBrk="1" hangingPunct="1"/>
            <a:r>
              <a:rPr lang="en-US" altLang="id-ID" sz="2200"/>
              <a:t>Service times may be exponentially distributed as well (</a:t>
            </a:r>
            <a:r>
              <a:rPr lang="en-US" altLang="id-ID" sz="2200" i="1"/>
              <a:t>M</a:t>
            </a:r>
            <a:r>
              <a:rPr lang="en-US" altLang="id-ID" sz="2200"/>
              <a:t>) or arbitrary (</a:t>
            </a:r>
            <a:r>
              <a:rPr lang="en-US" altLang="id-ID" sz="2200" i="1"/>
              <a:t>G</a:t>
            </a:r>
            <a:r>
              <a:rPr lang="en-US" altLang="id-ID" sz="2200"/>
              <a:t>).</a:t>
            </a:r>
          </a:p>
          <a:p>
            <a:pPr eaLnBrk="1" hangingPunct="1"/>
            <a:r>
              <a:rPr lang="en-US" altLang="id-ID" sz="2200"/>
              <a:t>A queueing system is in statistical equilibrium if the probability that the system is in a given state is not time dependent:  </a:t>
            </a:r>
          </a:p>
          <a:p>
            <a:pPr eaLnBrk="1" hangingPunct="1">
              <a:buFont typeface="Wingdings" panose="05000000000000000000" pitchFamily="2" charset="2"/>
              <a:buNone/>
            </a:pPr>
            <a:r>
              <a:rPr lang="en-US" altLang="id-ID" sz="2200" i="1"/>
              <a:t>			P( L(t) = n ) = P</a:t>
            </a:r>
            <a:r>
              <a:rPr lang="en-US" altLang="id-ID" sz="2200" i="1" baseline="-25000"/>
              <a:t>n</a:t>
            </a:r>
            <a:r>
              <a:rPr lang="en-US" altLang="id-ID" sz="2200" i="1"/>
              <a:t>(t) = P</a:t>
            </a:r>
            <a:r>
              <a:rPr lang="en-US" altLang="id-ID" sz="2200" i="1" baseline="-25000"/>
              <a:t>n</a:t>
            </a:r>
            <a:r>
              <a:rPr lang="en-US" altLang="id-ID" sz="2200"/>
              <a:t>.</a:t>
            </a:r>
          </a:p>
          <a:p>
            <a:pPr eaLnBrk="1" hangingPunct="1"/>
            <a:r>
              <a:rPr lang="en-US" altLang="id-ID" sz="2200"/>
              <a:t>Mathematical models in this chapter can be used to obtain approximate results even when the model assumptions do not strictly hold (as a rough guide).</a:t>
            </a:r>
          </a:p>
          <a:p>
            <a:pPr eaLnBrk="1" hangingPunct="1"/>
            <a:r>
              <a:rPr lang="en-US" altLang="id-ID" sz="2200"/>
              <a:t>Simulation can be used for more refined analysis (more faithful representation for complex systems).</a:t>
            </a: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Number Placeholder 6">
            <a:extLst>
              <a:ext uri="{FF2B5EF4-FFF2-40B4-BE49-F238E27FC236}">
                <a16:creationId xmlns:a16="http://schemas.microsoft.com/office/drawing/2014/main" id="{4B27601B-87DF-5292-C7FC-102009B46F8F}"/>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5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4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9pPr>
          </a:lstStyle>
          <a:p>
            <a:pPr>
              <a:spcBef>
                <a:spcPct val="0"/>
              </a:spcBef>
              <a:buClrTx/>
              <a:buSzTx/>
              <a:buFontTx/>
              <a:buNone/>
            </a:pPr>
            <a:fld id="{55567DBB-965C-4237-A836-92EEABE060A1}" type="slidenum">
              <a:rPr lang="en-US" altLang="id-ID" sz="1200">
                <a:latin typeface="Arial Black" panose="020B0A04020102020204" pitchFamily="34" charset="0"/>
              </a:rPr>
              <a:pPr>
                <a:spcBef>
                  <a:spcPct val="0"/>
                </a:spcBef>
                <a:buClrTx/>
                <a:buSzTx/>
                <a:buFontTx/>
                <a:buNone/>
              </a:pPr>
              <a:t>27</a:t>
            </a:fld>
            <a:endParaRPr lang="en-US" altLang="id-ID" sz="1200">
              <a:latin typeface="Arial Black" panose="020B0A04020102020204" pitchFamily="34" charset="0"/>
            </a:endParaRPr>
          </a:p>
        </p:txBody>
      </p:sp>
      <p:sp>
        <p:nvSpPr>
          <p:cNvPr id="32771" name="Rectangle 2">
            <a:extLst>
              <a:ext uri="{FF2B5EF4-FFF2-40B4-BE49-F238E27FC236}">
                <a16:creationId xmlns:a16="http://schemas.microsoft.com/office/drawing/2014/main" id="{4B3C38FD-1BD0-A421-4FE3-5EB119FBA446}"/>
              </a:ext>
            </a:extLst>
          </p:cNvPr>
          <p:cNvSpPr>
            <a:spLocks noGrp="1" noChangeArrowheads="1"/>
          </p:cNvSpPr>
          <p:nvPr>
            <p:ph type="title"/>
          </p:nvPr>
        </p:nvSpPr>
        <p:spPr>
          <a:xfrm>
            <a:off x="457200" y="381000"/>
            <a:ext cx="8229600" cy="762000"/>
          </a:xfrm>
        </p:spPr>
        <p:txBody>
          <a:bodyPr/>
          <a:lstStyle/>
          <a:p>
            <a:pPr eaLnBrk="1" hangingPunct="1"/>
            <a:r>
              <a:rPr lang="en-US" altLang="id-ID"/>
              <a:t>Steady-State Behavior of Infinite-Population Markovian Models</a:t>
            </a:r>
            <a:endParaRPr lang="en-US" altLang="id-ID" sz="2200">
              <a:solidFill>
                <a:schemeClr val="bg2"/>
              </a:solidFill>
            </a:endParaRPr>
          </a:p>
        </p:txBody>
      </p:sp>
      <p:sp>
        <p:nvSpPr>
          <p:cNvPr id="32772" name="Rectangle 3">
            <a:extLst>
              <a:ext uri="{FF2B5EF4-FFF2-40B4-BE49-F238E27FC236}">
                <a16:creationId xmlns:a16="http://schemas.microsoft.com/office/drawing/2014/main" id="{AEE2EE9E-6F72-E43D-6647-9EC8D96663D4}"/>
              </a:ext>
            </a:extLst>
          </p:cNvPr>
          <p:cNvSpPr>
            <a:spLocks noGrp="1" noChangeArrowheads="1"/>
          </p:cNvSpPr>
          <p:nvPr>
            <p:ph type="body" sz="half" idx="1"/>
          </p:nvPr>
        </p:nvSpPr>
        <p:spPr>
          <a:xfrm>
            <a:off x="457200" y="1447800"/>
            <a:ext cx="8458200" cy="4724400"/>
          </a:xfrm>
        </p:spPr>
        <p:txBody>
          <a:bodyPr/>
          <a:lstStyle/>
          <a:p>
            <a:pPr eaLnBrk="1" hangingPunct="1"/>
            <a:r>
              <a:rPr lang="en-US" altLang="id-ID" sz="2200"/>
              <a:t>For the simple model studied in this chapter, the steady-state parameter, L, the time-average number of customers in the system is:</a:t>
            </a:r>
          </a:p>
          <a:p>
            <a:pPr eaLnBrk="1" hangingPunct="1"/>
            <a:endParaRPr lang="en-US" altLang="id-ID" sz="2200"/>
          </a:p>
          <a:p>
            <a:pPr lvl="1" eaLnBrk="1" hangingPunct="1"/>
            <a:endParaRPr lang="en-US" altLang="id-ID" sz="2000"/>
          </a:p>
          <a:p>
            <a:pPr lvl="1" eaLnBrk="1" hangingPunct="1"/>
            <a:r>
              <a:rPr lang="en-US" altLang="id-ID" sz="2000"/>
              <a:t>Apply Little’s equation to the whole system and to the queue alone:</a:t>
            </a:r>
          </a:p>
          <a:p>
            <a:pPr lvl="1" eaLnBrk="1" hangingPunct="1"/>
            <a:endParaRPr lang="en-US" altLang="id-ID" sz="2000"/>
          </a:p>
          <a:p>
            <a:pPr lvl="1" eaLnBrk="1" hangingPunct="1"/>
            <a:endParaRPr lang="en-US" altLang="id-ID" sz="2000"/>
          </a:p>
          <a:p>
            <a:pPr lvl="1" eaLnBrk="1" hangingPunct="1"/>
            <a:endParaRPr lang="en-US" altLang="id-ID" sz="2000"/>
          </a:p>
          <a:p>
            <a:pPr lvl="1" eaLnBrk="1" hangingPunct="1"/>
            <a:endParaRPr lang="en-US" altLang="id-ID" sz="2000"/>
          </a:p>
          <a:p>
            <a:pPr eaLnBrk="1" hangingPunct="1"/>
            <a:r>
              <a:rPr lang="en-US" altLang="id-ID" sz="2400" i="1"/>
              <a:t>G/G/c/∞/∞</a:t>
            </a:r>
            <a:r>
              <a:rPr lang="en-US" altLang="id-ID" sz="2400"/>
              <a:t> example</a:t>
            </a:r>
            <a:r>
              <a:rPr lang="en-US" altLang="id-ID" sz="2200"/>
              <a:t>: to have a statistical equilibrium, a necessary and sufficient condition is </a:t>
            </a:r>
            <a:r>
              <a:rPr lang="en-US" altLang="id-ID" sz="2200" i="1">
                <a:latin typeface="Symbol" panose="05050102010706020507" pitchFamily="18" charset="2"/>
              </a:rPr>
              <a:t>l</a:t>
            </a:r>
            <a:r>
              <a:rPr lang="en-US" altLang="id-ID" sz="2200" i="1"/>
              <a:t>/(c</a:t>
            </a:r>
            <a:r>
              <a:rPr lang="en-US" altLang="id-ID" sz="2200" i="1">
                <a:latin typeface="Symbol" panose="05050102010706020507" pitchFamily="18" charset="2"/>
              </a:rPr>
              <a:t>m</a:t>
            </a:r>
            <a:r>
              <a:rPr lang="en-US" altLang="id-ID" sz="2200" i="1"/>
              <a:t>) &lt; 1</a:t>
            </a:r>
            <a:r>
              <a:rPr lang="en-US" altLang="id-ID" sz="2200"/>
              <a:t>.</a:t>
            </a:r>
          </a:p>
        </p:txBody>
      </p:sp>
      <mc:AlternateContent xmlns:mc="http://schemas.openxmlformats.org/markup-compatibility/2006" xmlns:a14="http://schemas.microsoft.com/office/drawing/2010/main">
        <mc:Choice Requires="a14">
          <p:sp>
            <p:nvSpPr>
              <p:cNvPr id="32773" name="Object 4">
                <a:extLst>
                  <a:ext uri="{FF2B5EF4-FFF2-40B4-BE49-F238E27FC236}">
                    <a16:creationId xmlns:a16="http://schemas.microsoft.com/office/drawing/2014/main" id="{7836E8CF-9BAF-2C6F-68B9-1CA6817239C8}"/>
                  </a:ext>
                </a:extLst>
              </p:cNvPr>
              <p:cNvSpPr txBox="1">
                <a:spLocks noGrp="1"/>
              </p:cNvSpPr>
              <p:nvPr>
                <p:ph sz="quarter" idx="2"/>
              </p:nvPr>
            </p:nvSpPr>
            <p:spPr bwMode="auto">
              <a:xfrm>
                <a:off x="3581400" y="2133600"/>
                <a:ext cx="1295400" cy="925513"/>
              </a:xfrm>
              <a:prstGeom prst="rect">
                <a:avLst/>
              </a:prstGeom>
              <a:noFill/>
              <a:ln>
                <a:noFill/>
              </a:ln>
              <a:effectLst/>
            </p:spPr>
            <p:txBody>
              <a:bodyPr>
                <a:normAutofit fontScale="55000" lnSpcReduction="20000"/>
              </a:bodyPr>
              <a:lstStyle/>
              <a:p>
                <a:pPr>
                  <a:buNone/>
                </a:pPr>
                <a14:m>
                  <m:oMathPara xmlns:m="http://schemas.openxmlformats.org/officeDocument/2006/math">
                    <m:oMathParaPr>
                      <m:jc m:val="left"/>
                    </m:oMathParaPr>
                    <m:oMath xmlns:m="http://schemas.openxmlformats.org/officeDocument/2006/math">
                      <m:r>
                        <a:rPr lang="en-ID" i="1">
                          <a:solidFill>
                            <a:srgbClr val="000000"/>
                          </a:solidFill>
                          <a:latin typeface="Cambria Math" panose="02040503050406030204" pitchFamily="18" charset="0"/>
                        </a:rPr>
                        <m:t>𝐿</m:t>
                      </m:r>
                      <m:r>
                        <a:rPr lang="en-ID" i="1">
                          <a:solidFill>
                            <a:srgbClr val="000000"/>
                          </a:solidFill>
                          <a:latin typeface="Cambria Math" panose="02040503050406030204" pitchFamily="18" charset="0"/>
                        </a:rPr>
                        <m:t>=</m:t>
                      </m:r>
                      <m:nary>
                        <m:naryPr>
                          <m:chr m:val="∑"/>
                          <m:ctrlPr>
                            <a:rPr lang="en-ID" i="1">
                              <a:solidFill>
                                <a:srgbClr val="000000"/>
                              </a:solidFill>
                              <a:latin typeface="Cambria Math" panose="02040503050406030204" pitchFamily="18" charset="0"/>
                            </a:rPr>
                          </m:ctrlPr>
                        </m:naryPr>
                        <m:sub>
                          <m:r>
                            <a:rPr lang="en-ID" i="1">
                              <a:solidFill>
                                <a:srgbClr val="000000"/>
                              </a:solidFill>
                              <a:latin typeface="Cambria Math" panose="02040503050406030204" pitchFamily="18" charset="0"/>
                            </a:rPr>
                            <m:t>𝑛</m:t>
                          </m:r>
                          <m:r>
                            <a:rPr lang="en-ID" i="1">
                              <a:solidFill>
                                <a:srgbClr val="000000"/>
                              </a:solidFill>
                              <a:latin typeface="Cambria Math" panose="02040503050406030204" pitchFamily="18" charset="0"/>
                            </a:rPr>
                            <m:t>=0</m:t>
                          </m:r>
                        </m:sub>
                        <m:sup>
                          <m:r>
                            <a:rPr lang="en-ID" i="1">
                              <a:solidFill>
                                <a:srgbClr val="000000"/>
                              </a:solidFill>
                              <a:latin typeface="Cambria Math" panose="02040503050406030204" pitchFamily="18" charset="0"/>
                            </a:rPr>
                            <m:t>∞</m:t>
                          </m:r>
                        </m:sup>
                        <m:e>
                          <m:r>
                            <a:rPr lang="en-ID" i="1">
                              <a:solidFill>
                                <a:srgbClr val="000000"/>
                              </a:solidFill>
                              <a:latin typeface="Cambria Math" panose="02040503050406030204" pitchFamily="18" charset="0"/>
                            </a:rPr>
                            <m:t>𝑛</m:t>
                          </m:r>
                          <m:sSub>
                            <m:sSubPr>
                              <m:ctrlPr>
                                <a:rPr lang="en-ID" i="1">
                                  <a:solidFill>
                                    <a:srgbClr val="000000"/>
                                  </a:solidFill>
                                  <a:latin typeface="Cambria Math" panose="02040503050406030204" pitchFamily="18" charset="0"/>
                                </a:rPr>
                              </m:ctrlPr>
                            </m:sSubPr>
                            <m:e>
                              <m:r>
                                <a:rPr lang="en-ID" i="1">
                                  <a:solidFill>
                                    <a:srgbClr val="000000"/>
                                  </a:solidFill>
                                  <a:latin typeface="Cambria Math" panose="02040503050406030204" pitchFamily="18" charset="0"/>
                                </a:rPr>
                                <m:t>𝑃</m:t>
                              </m:r>
                            </m:e>
                            <m:sub>
                              <m:r>
                                <a:rPr lang="en-ID" i="1">
                                  <a:solidFill>
                                    <a:srgbClr val="000000"/>
                                  </a:solidFill>
                                  <a:latin typeface="Cambria Math" panose="02040503050406030204" pitchFamily="18" charset="0"/>
                                </a:rPr>
                                <m:t>𝑛</m:t>
                              </m:r>
                            </m:sub>
                          </m:sSub>
                        </m:e>
                      </m:nary>
                    </m:oMath>
                  </m:oMathPara>
                </a14:m>
                <a:endParaRPr lang="en-ID"/>
              </a:p>
            </p:txBody>
          </p:sp>
        </mc:Choice>
        <mc:Fallback xmlns="">
          <p:sp>
            <p:nvSpPr>
              <p:cNvPr id="32773" name="Object 4">
                <a:extLst>
                  <a:ext uri="{FF2B5EF4-FFF2-40B4-BE49-F238E27FC236}">
                    <a16:creationId xmlns:a16="http://schemas.microsoft.com/office/drawing/2014/main" id="{7836E8CF-9BAF-2C6F-68B9-1CA6817239C8}"/>
                  </a:ext>
                </a:extLst>
              </p:cNvPr>
              <p:cNvSpPr txBox="1">
                <a:spLocks noRot="1" noChangeAspect="1" noMove="1" noResize="1" noEditPoints="1" noAdjustHandles="1" noChangeArrowheads="1" noChangeShapeType="1" noTextEdit="1"/>
              </p:cNvSpPr>
              <p:nvPr>
                <p:ph sz="quarter" idx="2"/>
              </p:nvPr>
            </p:nvSpPr>
            <p:spPr bwMode="auto">
              <a:xfrm>
                <a:off x="3581400" y="2133600"/>
                <a:ext cx="1295400" cy="925513"/>
              </a:xfrm>
              <a:prstGeom prst="rect">
                <a:avLst/>
              </a:prstGeom>
              <a:blipFill>
                <a:blip r:embed="rId2"/>
                <a:stretch>
                  <a:fillRect/>
                </a:stretch>
              </a:blipFill>
              <a:ln>
                <a:noFill/>
              </a:ln>
              <a:effectLst/>
            </p:spPr>
            <p:txBody>
              <a:bodyPr/>
              <a:lstStyle/>
              <a:p>
                <a:r>
                  <a:rPr lang="en-ID">
                    <a:noFill/>
                  </a:rPr>
                  <a:t> </a:t>
                </a:r>
              </a:p>
            </p:txBody>
          </p:sp>
        </mc:Fallback>
      </mc:AlternateContent>
      <mc:AlternateContent xmlns:mc="http://schemas.openxmlformats.org/markup-compatibility/2006" xmlns:a14="http://schemas.microsoft.com/office/drawing/2010/main">
        <mc:Choice Requires="a14">
          <p:sp>
            <p:nvSpPr>
              <p:cNvPr id="32774" name="Object 6">
                <a:extLst>
                  <a:ext uri="{FF2B5EF4-FFF2-40B4-BE49-F238E27FC236}">
                    <a16:creationId xmlns:a16="http://schemas.microsoft.com/office/drawing/2014/main" id="{7DDB5E1B-E5E2-8EF8-D654-CDC49F725FB2}"/>
                  </a:ext>
                </a:extLst>
              </p:cNvPr>
              <p:cNvSpPr txBox="1">
                <a:spLocks noGrp="1"/>
              </p:cNvSpPr>
              <p:nvPr>
                <p:ph sz="quarter" idx="3"/>
              </p:nvPr>
            </p:nvSpPr>
            <p:spPr bwMode="auto">
              <a:xfrm>
                <a:off x="3200400" y="3810000"/>
                <a:ext cx="2514600" cy="1257300"/>
              </a:xfrm>
              <a:prstGeom prst="rect">
                <a:avLst/>
              </a:prstGeom>
              <a:noFill/>
              <a:ln>
                <a:noFill/>
              </a:ln>
              <a:effectLst/>
            </p:spPr>
            <p:txBody>
              <a:bodyPr>
                <a:normAutofit fontScale="55000" lnSpcReduction="20000"/>
              </a:bodyPr>
              <a:lstStyle/>
              <a:p>
                <a:pPr>
                  <a:buNone/>
                </a:pPr>
                <a14:m>
                  <m:oMathPara xmlns:m="http://schemas.openxmlformats.org/officeDocument/2006/math">
                    <m:oMathParaPr>
                      <m:jc m:val="left"/>
                    </m:oMathParaPr>
                    <m:oMath xmlns:m="http://schemas.openxmlformats.org/officeDocument/2006/math">
                      <m:r>
                        <a:rPr lang="en-ID" i="1">
                          <a:solidFill>
                            <a:srgbClr val="000000"/>
                          </a:solidFill>
                          <a:latin typeface="Cambria Math" panose="02040503050406030204" pitchFamily="18" charset="0"/>
                        </a:rPr>
                        <m:t>𝑤</m:t>
                      </m:r>
                      <m:r>
                        <a:rPr lang="en-ID" i="1">
                          <a:solidFill>
                            <a:srgbClr val="000000"/>
                          </a:solidFill>
                          <a:latin typeface="Cambria Math" panose="02040503050406030204" pitchFamily="18" charset="0"/>
                        </a:rPr>
                        <m:t>=</m:t>
                      </m:r>
                      <m:f>
                        <m:fPr>
                          <m:ctrlPr>
                            <a:rPr lang="en-ID" i="1">
                              <a:solidFill>
                                <a:srgbClr val="000000"/>
                              </a:solidFill>
                              <a:latin typeface="Cambria Math" panose="02040503050406030204" pitchFamily="18" charset="0"/>
                            </a:rPr>
                          </m:ctrlPr>
                        </m:fPr>
                        <m:num>
                          <m:r>
                            <a:rPr lang="en-ID" i="1">
                              <a:solidFill>
                                <a:srgbClr val="000000"/>
                              </a:solidFill>
                              <a:latin typeface="Cambria Math" panose="02040503050406030204" pitchFamily="18" charset="0"/>
                            </a:rPr>
                            <m:t>𝐿</m:t>
                          </m:r>
                        </m:num>
                        <m:den>
                          <m:r>
                            <a:rPr lang="en-ID" i="1">
                              <a:solidFill>
                                <a:srgbClr val="000000"/>
                              </a:solidFill>
                              <a:latin typeface="Cambria Math" panose="02040503050406030204" pitchFamily="18" charset="0"/>
                            </a:rPr>
                            <m:t>𝜆</m:t>
                          </m:r>
                        </m:den>
                      </m:f>
                      <m:r>
                        <a:rPr lang="en-ID" i="1">
                          <a:solidFill>
                            <a:srgbClr val="000000"/>
                          </a:solidFill>
                          <a:latin typeface="Cambria Math" panose="02040503050406030204" pitchFamily="18" charset="0"/>
                        </a:rPr>
                        <m:t>,</m:t>
                      </m:r>
                      <m:r>
                        <m:rPr>
                          <m:nor/>
                        </m:rPr>
                        <a:rPr lang="en-ID" i="0">
                          <a:solidFill>
                            <a:srgbClr val="000000"/>
                          </a:solidFill>
                          <a:latin typeface="Cambria Math" panose="02040503050406030204" pitchFamily="18" charset="0"/>
                        </a:rPr>
                        <m:t>    </m:t>
                      </m:r>
                      <m:sSub>
                        <m:sSubPr>
                          <m:ctrlPr>
                            <a:rPr lang="en-ID" i="1">
                              <a:solidFill>
                                <a:srgbClr val="000000"/>
                              </a:solidFill>
                              <a:latin typeface="Cambria Math" panose="02040503050406030204" pitchFamily="18" charset="0"/>
                            </a:rPr>
                          </m:ctrlPr>
                        </m:sSubPr>
                        <m:e>
                          <m:r>
                            <a:rPr lang="en-ID" i="1">
                              <a:solidFill>
                                <a:srgbClr val="000000"/>
                              </a:solidFill>
                              <a:latin typeface="Cambria Math" panose="02040503050406030204" pitchFamily="18" charset="0"/>
                            </a:rPr>
                            <m:t>𝑤</m:t>
                          </m:r>
                        </m:e>
                        <m:sub>
                          <m:r>
                            <a:rPr lang="en-ID" i="1">
                              <a:solidFill>
                                <a:srgbClr val="000000"/>
                              </a:solidFill>
                              <a:latin typeface="Cambria Math" panose="02040503050406030204" pitchFamily="18" charset="0"/>
                            </a:rPr>
                            <m:t>𝑄</m:t>
                          </m:r>
                        </m:sub>
                      </m:sSub>
                      <m:r>
                        <a:rPr lang="en-ID" i="1">
                          <a:solidFill>
                            <a:srgbClr val="000000"/>
                          </a:solidFill>
                          <a:latin typeface="Cambria Math" panose="02040503050406030204" pitchFamily="18" charset="0"/>
                        </a:rPr>
                        <m:t>=</m:t>
                      </m:r>
                      <m:r>
                        <a:rPr lang="en-ID" i="1">
                          <a:solidFill>
                            <a:srgbClr val="000000"/>
                          </a:solidFill>
                          <a:latin typeface="Cambria Math" panose="02040503050406030204" pitchFamily="18" charset="0"/>
                        </a:rPr>
                        <m:t>𝑤</m:t>
                      </m:r>
                      <m:r>
                        <a:rPr lang="en-ID" i="1">
                          <a:solidFill>
                            <a:srgbClr val="000000"/>
                          </a:solidFill>
                          <a:latin typeface="Cambria Math" panose="02040503050406030204" pitchFamily="18" charset="0"/>
                        </a:rPr>
                        <m:t>−</m:t>
                      </m:r>
                      <m:f>
                        <m:fPr>
                          <m:ctrlPr>
                            <a:rPr lang="en-ID" i="1">
                              <a:solidFill>
                                <a:srgbClr val="000000"/>
                              </a:solidFill>
                              <a:latin typeface="Cambria Math" panose="02040503050406030204" pitchFamily="18" charset="0"/>
                            </a:rPr>
                          </m:ctrlPr>
                        </m:fPr>
                        <m:num>
                          <m:r>
                            <a:rPr lang="en-ID" i="1">
                              <a:solidFill>
                                <a:srgbClr val="000000"/>
                              </a:solidFill>
                              <a:latin typeface="Cambria Math" panose="02040503050406030204" pitchFamily="18" charset="0"/>
                            </a:rPr>
                            <m:t>1</m:t>
                          </m:r>
                        </m:num>
                        <m:den>
                          <m:r>
                            <a:rPr lang="en-ID" i="1">
                              <a:solidFill>
                                <a:srgbClr val="000000"/>
                              </a:solidFill>
                              <a:latin typeface="Cambria Math" panose="02040503050406030204" pitchFamily="18" charset="0"/>
                            </a:rPr>
                            <m:t>𝜇</m:t>
                          </m:r>
                        </m:den>
                      </m:f>
                    </m:oMath>
                    <m:oMath xmlns:m="http://schemas.openxmlformats.org/officeDocument/2006/math">
                      <m:sSub>
                        <m:sSubPr>
                          <m:ctrlPr>
                            <a:rPr lang="en-ID" i="1">
                              <a:solidFill>
                                <a:srgbClr val="000000"/>
                              </a:solidFill>
                              <a:latin typeface="Cambria Math" panose="02040503050406030204" pitchFamily="18" charset="0"/>
                            </a:rPr>
                          </m:ctrlPr>
                        </m:sSubPr>
                        <m:e>
                          <m:r>
                            <a:rPr lang="en-ID" i="1">
                              <a:solidFill>
                                <a:srgbClr val="000000"/>
                              </a:solidFill>
                              <a:latin typeface="Cambria Math" panose="02040503050406030204" pitchFamily="18" charset="0"/>
                            </a:rPr>
                            <m:t>𝐿</m:t>
                          </m:r>
                        </m:e>
                        <m:sub>
                          <m:r>
                            <a:rPr lang="en-ID" i="1">
                              <a:solidFill>
                                <a:srgbClr val="000000"/>
                              </a:solidFill>
                              <a:latin typeface="Cambria Math" panose="02040503050406030204" pitchFamily="18" charset="0"/>
                            </a:rPr>
                            <m:t>𝑄</m:t>
                          </m:r>
                        </m:sub>
                      </m:sSub>
                      <m:r>
                        <a:rPr lang="en-ID" i="1">
                          <a:solidFill>
                            <a:srgbClr val="000000"/>
                          </a:solidFill>
                          <a:latin typeface="Cambria Math" panose="02040503050406030204" pitchFamily="18" charset="0"/>
                        </a:rPr>
                        <m:t>=</m:t>
                      </m:r>
                      <m:r>
                        <a:rPr lang="en-ID" i="1">
                          <a:solidFill>
                            <a:srgbClr val="000000"/>
                          </a:solidFill>
                          <a:latin typeface="Cambria Math" panose="02040503050406030204" pitchFamily="18" charset="0"/>
                        </a:rPr>
                        <m:t>𝜆</m:t>
                      </m:r>
                      <m:sSub>
                        <m:sSubPr>
                          <m:ctrlPr>
                            <a:rPr lang="en-ID" i="1">
                              <a:solidFill>
                                <a:srgbClr val="000000"/>
                              </a:solidFill>
                              <a:latin typeface="Cambria Math" panose="02040503050406030204" pitchFamily="18" charset="0"/>
                            </a:rPr>
                          </m:ctrlPr>
                        </m:sSubPr>
                        <m:e>
                          <m:r>
                            <a:rPr lang="en-ID" i="1">
                              <a:solidFill>
                                <a:srgbClr val="000000"/>
                              </a:solidFill>
                              <a:latin typeface="Cambria Math" panose="02040503050406030204" pitchFamily="18" charset="0"/>
                            </a:rPr>
                            <m:t>𝑤</m:t>
                          </m:r>
                        </m:e>
                        <m:sub>
                          <m:r>
                            <a:rPr lang="en-ID" i="1">
                              <a:solidFill>
                                <a:srgbClr val="000000"/>
                              </a:solidFill>
                              <a:latin typeface="Cambria Math" panose="02040503050406030204" pitchFamily="18" charset="0"/>
                            </a:rPr>
                            <m:t>𝑄</m:t>
                          </m:r>
                        </m:sub>
                      </m:sSub>
                    </m:oMath>
                  </m:oMathPara>
                </a14:m>
                <a:endParaRPr lang="en-ID"/>
              </a:p>
            </p:txBody>
          </p:sp>
        </mc:Choice>
        <mc:Fallback xmlns="">
          <p:sp>
            <p:nvSpPr>
              <p:cNvPr id="32774" name="Object 6">
                <a:extLst>
                  <a:ext uri="{FF2B5EF4-FFF2-40B4-BE49-F238E27FC236}">
                    <a16:creationId xmlns:a16="http://schemas.microsoft.com/office/drawing/2014/main" id="{7DDB5E1B-E5E2-8EF8-D654-CDC49F725FB2}"/>
                  </a:ext>
                </a:extLst>
              </p:cNvPr>
              <p:cNvSpPr txBox="1">
                <a:spLocks noRot="1" noChangeAspect="1" noMove="1" noResize="1" noEditPoints="1" noAdjustHandles="1" noChangeArrowheads="1" noChangeShapeType="1" noTextEdit="1"/>
              </p:cNvSpPr>
              <p:nvPr>
                <p:ph sz="quarter" idx="3"/>
              </p:nvPr>
            </p:nvSpPr>
            <p:spPr bwMode="auto">
              <a:xfrm>
                <a:off x="3200400" y="3810000"/>
                <a:ext cx="2514600" cy="1257300"/>
              </a:xfrm>
              <a:prstGeom prst="rect">
                <a:avLst/>
              </a:prstGeom>
              <a:blipFill>
                <a:blip r:embed="rId3"/>
                <a:stretch>
                  <a:fillRect/>
                </a:stretch>
              </a:blipFill>
              <a:ln>
                <a:noFill/>
              </a:ln>
              <a:effectLst/>
            </p:spPr>
            <p:txBody>
              <a:bodyPr/>
              <a:lstStyle/>
              <a:p>
                <a:r>
                  <a:rPr lang="en-ID">
                    <a:noFill/>
                  </a:rPr>
                  <a:t> </a:t>
                </a:r>
              </a:p>
            </p:txBody>
          </p:sp>
        </mc:Fallback>
      </mc:AlternateContent>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Number Placeholder 6">
            <a:extLst>
              <a:ext uri="{FF2B5EF4-FFF2-40B4-BE49-F238E27FC236}">
                <a16:creationId xmlns:a16="http://schemas.microsoft.com/office/drawing/2014/main" id="{B662AD74-2C34-2459-1BE2-F6B2E46BAB6F}"/>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5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4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9pPr>
          </a:lstStyle>
          <a:p>
            <a:pPr>
              <a:spcBef>
                <a:spcPct val="0"/>
              </a:spcBef>
              <a:buClrTx/>
              <a:buSzTx/>
              <a:buFontTx/>
              <a:buNone/>
            </a:pPr>
            <a:fld id="{2B150DDA-F969-4B79-981D-1526AC0470E5}" type="slidenum">
              <a:rPr lang="en-US" altLang="id-ID" sz="1200">
                <a:latin typeface="Arial Black" panose="020B0A04020102020204" pitchFamily="34" charset="0"/>
              </a:rPr>
              <a:pPr>
                <a:spcBef>
                  <a:spcPct val="0"/>
                </a:spcBef>
                <a:buClrTx/>
                <a:buSzTx/>
                <a:buFontTx/>
                <a:buNone/>
              </a:pPr>
              <a:t>28</a:t>
            </a:fld>
            <a:endParaRPr lang="en-US" altLang="id-ID" sz="1200">
              <a:latin typeface="Arial Black" panose="020B0A04020102020204" pitchFamily="34" charset="0"/>
            </a:endParaRPr>
          </a:p>
        </p:txBody>
      </p:sp>
      <p:sp>
        <p:nvSpPr>
          <p:cNvPr id="33795" name="Rectangle 2">
            <a:extLst>
              <a:ext uri="{FF2B5EF4-FFF2-40B4-BE49-F238E27FC236}">
                <a16:creationId xmlns:a16="http://schemas.microsoft.com/office/drawing/2014/main" id="{FBAE5F18-8AC0-FEC4-CEC1-CC13916E1321}"/>
              </a:ext>
            </a:extLst>
          </p:cNvPr>
          <p:cNvSpPr>
            <a:spLocks noGrp="1" noChangeArrowheads="1"/>
          </p:cNvSpPr>
          <p:nvPr>
            <p:ph type="title"/>
          </p:nvPr>
        </p:nvSpPr>
        <p:spPr/>
        <p:txBody>
          <a:bodyPr/>
          <a:lstStyle/>
          <a:p>
            <a:pPr eaLnBrk="1" hangingPunct="1"/>
            <a:r>
              <a:rPr lang="en-US" altLang="id-ID"/>
              <a:t>M/G/1 Queues		</a:t>
            </a:r>
            <a:r>
              <a:rPr lang="en-US" altLang="id-ID" sz="2200">
                <a:solidFill>
                  <a:schemeClr val="bg2"/>
                </a:solidFill>
              </a:rPr>
              <a:t>[Steady-State of Markovian Model]</a:t>
            </a:r>
          </a:p>
        </p:txBody>
      </p:sp>
      <p:sp>
        <p:nvSpPr>
          <p:cNvPr id="33796" name="Rectangle 3">
            <a:extLst>
              <a:ext uri="{FF2B5EF4-FFF2-40B4-BE49-F238E27FC236}">
                <a16:creationId xmlns:a16="http://schemas.microsoft.com/office/drawing/2014/main" id="{B20F64D4-40E5-C3F9-5B0D-140E57B2B1EB}"/>
              </a:ext>
            </a:extLst>
          </p:cNvPr>
          <p:cNvSpPr>
            <a:spLocks noGrp="1" noChangeArrowheads="1"/>
          </p:cNvSpPr>
          <p:nvPr>
            <p:ph type="body" sz="half" idx="1"/>
          </p:nvPr>
        </p:nvSpPr>
        <p:spPr>
          <a:xfrm>
            <a:off x="457200" y="1447800"/>
            <a:ext cx="8305800" cy="5029200"/>
          </a:xfrm>
        </p:spPr>
        <p:txBody>
          <a:bodyPr/>
          <a:lstStyle/>
          <a:p>
            <a:pPr eaLnBrk="1" hangingPunct="1"/>
            <a:r>
              <a:rPr lang="en-US" altLang="id-ID" sz="2000"/>
              <a:t>Single-server queues with Poisson arrivals &amp; unlimited capacity.</a:t>
            </a:r>
          </a:p>
          <a:p>
            <a:pPr eaLnBrk="1" hangingPunct="1"/>
            <a:r>
              <a:rPr lang="en-US" altLang="id-ID" sz="2000"/>
              <a:t>Suppose service times have mean </a:t>
            </a:r>
            <a:r>
              <a:rPr lang="en-US" altLang="id-ID" sz="2000" i="1"/>
              <a:t>1/</a:t>
            </a:r>
            <a:r>
              <a:rPr lang="en-US" altLang="id-ID" sz="2000" i="1">
                <a:latin typeface="Symbol" panose="05050102010706020507" pitchFamily="18" charset="2"/>
              </a:rPr>
              <a:t>m</a:t>
            </a:r>
            <a:r>
              <a:rPr lang="en-US" altLang="id-ID" sz="2000"/>
              <a:t>  and variance </a:t>
            </a:r>
            <a:r>
              <a:rPr lang="en-US" altLang="id-ID" sz="2000" i="1">
                <a:latin typeface="Symbol" panose="05050102010706020507" pitchFamily="18" charset="2"/>
              </a:rPr>
              <a:t>s</a:t>
            </a:r>
            <a:r>
              <a:rPr lang="en-US" altLang="id-ID" sz="2000" i="1" baseline="30000"/>
              <a:t>2</a:t>
            </a:r>
            <a:r>
              <a:rPr lang="en-US" altLang="id-ID" sz="2000"/>
              <a:t> and </a:t>
            </a:r>
            <a:r>
              <a:rPr lang="en-US" altLang="id-ID" sz="2000" i="1">
                <a:latin typeface="Symbol" panose="05050102010706020507" pitchFamily="18" charset="2"/>
              </a:rPr>
              <a:t>r</a:t>
            </a:r>
            <a:r>
              <a:rPr lang="en-US" altLang="id-ID" sz="2000" i="1"/>
              <a:t> = </a:t>
            </a:r>
            <a:r>
              <a:rPr lang="en-US" altLang="id-ID" sz="2000" i="1">
                <a:latin typeface="Symbol" panose="05050102010706020507" pitchFamily="18" charset="2"/>
              </a:rPr>
              <a:t>l/m</a:t>
            </a:r>
            <a:r>
              <a:rPr lang="en-US" altLang="id-ID" sz="2000" i="1"/>
              <a:t> &lt; 1, </a:t>
            </a:r>
            <a:r>
              <a:rPr lang="en-US" altLang="id-ID" sz="2000"/>
              <a:t>the steady-state parameters of </a:t>
            </a:r>
            <a:r>
              <a:rPr lang="en-US" altLang="id-ID" sz="2000" i="1"/>
              <a:t>M/G/1</a:t>
            </a:r>
            <a:r>
              <a:rPr lang="en-US" altLang="id-ID" sz="2000"/>
              <a:t> queue:</a:t>
            </a:r>
          </a:p>
          <a:p>
            <a:pPr eaLnBrk="1" hangingPunct="1"/>
            <a:endParaRPr lang="en-US" altLang="id-ID" sz="2000"/>
          </a:p>
          <a:p>
            <a:pPr eaLnBrk="1" hangingPunct="1"/>
            <a:endParaRPr lang="en-US" altLang="id-ID" sz="2000"/>
          </a:p>
          <a:p>
            <a:pPr eaLnBrk="1" hangingPunct="1"/>
            <a:endParaRPr lang="en-US" altLang="id-ID" sz="2000"/>
          </a:p>
          <a:p>
            <a:pPr eaLnBrk="1" hangingPunct="1"/>
            <a:endParaRPr lang="en-US" altLang="id-ID" sz="2000"/>
          </a:p>
          <a:p>
            <a:pPr eaLnBrk="1" hangingPunct="1"/>
            <a:endParaRPr lang="en-US" altLang="id-ID" sz="2000"/>
          </a:p>
          <a:p>
            <a:pPr eaLnBrk="1" hangingPunct="1"/>
            <a:endParaRPr lang="en-US" altLang="id-ID" sz="2000"/>
          </a:p>
        </p:txBody>
      </p:sp>
      <mc:AlternateContent xmlns:mc="http://schemas.openxmlformats.org/markup-compatibility/2006" xmlns:a14="http://schemas.microsoft.com/office/drawing/2010/main">
        <mc:Choice Requires="a14">
          <p:sp>
            <p:nvSpPr>
              <p:cNvPr id="33797" name="Object 7">
                <a:extLst>
                  <a:ext uri="{FF2B5EF4-FFF2-40B4-BE49-F238E27FC236}">
                    <a16:creationId xmlns:a16="http://schemas.microsoft.com/office/drawing/2014/main" id="{EE92854E-D324-A976-9D97-6D6D547184D4}"/>
                  </a:ext>
                </a:extLst>
              </p:cNvPr>
              <p:cNvSpPr txBox="1">
                <a:spLocks noGrp="1"/>
              </p:cNvSpPr>
              <p:nvPr>
                <p:ph sz="quarter" idx="2"/>
              </p:nvPr>
            </p:nvSpPr>
            <p:spPr bwMode="auto">
              <a:xfrm>
                <a:off x="2209800" y="2819400"/>
                <a:ext cx="4495800" cy="1874838"/>
              </a:xfrm>
              <a:prstGeom prst="rect">
                <a:avLst/>
              </a:prstGeom>
              <a:noFill/>
              <a:ln w="9525">
                <a:solidFill>
                  <a:schemeClr val="tx1"/>
                </a:solidFill>
                <a:miter lim="800000"/>
                <a:headEnd/>
                <a:tailEnd/>
              </a:ln>
              <a:effectLst/>
            </p:spPr>
            <p:txBody>
              <a:bodyPr>
                <a:normAutofit fontScale="47500" lnSpcReduction="20000"/>
              </a:bodyPr>
              <a:lstStyle/>
              <a:p>
                <a:pPr>
                  <a:buNone/>
                </a:pPr>
                <a14:m>
                  <m:oMathPara xmlns:m="http://schemas.openxmlformats.org/officeDocument/2006/math">
                    <m:oMathParaPr>
                      <m:jc m:val="left"/>
                    </m:oMathParaPr>
                    <m:oMath xmlns:m="http://schemas.openxmlformats.org/officeDocument/2006/math">
                      <m:r>
                        <a:rPr lang="en-ID" i="1">
                          <a:solidFill>
                            <a:srgbClr val="000000"/>
                          </a:solidFill>
                          <a:latin typeface="Cambria Math" panose="02040503050406030204" pitchFamily="18" charset="0"/>
                        </a:rPr>
                        <m:t>𝜌</m:t>
                      </m:r>
                      <m:r>
                        <a:rPr lang="en-ID" i="1">
                          <a:solidFill>
                            <a:srgbClr val="000000"/>
                          </a:solidFill>
                          <a:latin typeface="Cambria Math" panose="02040503050406030204" pitchFamily="18" charset="0"/>
                        </a:rPr>
                        <m:t>=</m:t>
                      </m:r>
                      <m:r>
                        <a:rPr lang="en-ID" i="1">
                          <a:solidFill>
                            <a:srgbClr val="000000"/>
                          </a:solidFill>
                          <a:latin typeface="Cambria Math" panose="02040503050406030204" pitchFamily="18" charset="0"/>
                        </a:rPr>
                        <m:t>𝜆</m:t>
                      </m:r>
                      <m:r>
                        <a:rPr lang="en-ID" i="1">
                          <a:solidFill>
                            <a:srgbClr val="000000"/>
                          </a:solidFill>
                          <a:latin typeface="Cambria Math" panose="02040503050406030204" pitchFamily="18" charset="0"/>
                        </a:rPr>
                        <m:t>/</m:t>
                      </m:r>
                      <m:r>
                        <a:rPr lang="en-ID" i="1">
                          <a:solidFill>
                            <a:srgbClr val="000000"/>
                          </a:solidFill>
                          <a:latin typeface="Cambria Math" panose="02040503050406030204" pitchFamily="18" charset="0"/>
                        </a:rPr>
                        <m:t>𝜇</m:t>
                      </m:r>
                      <m:r>
                        <a:rPr lang="en-ID" i="1">
                          <a:solidFill>
                            <a:srgbClr val="000000"/>
                          </a:solidFill>
                          <a:latin typeface="Cambria Math" panose="02040503050406030204" pitchFamily="18" charset="0"/>
                        </a:rPr>
                        <m:t>,</m:t>
                      </m:r>
                      <m:r>
                        <m:rPr>
                          <m:nor/>
                        </m:rPr>
                        <a:rPr lang="en-ID" i="0">
                          <a:solidFill>
                            <a:srgbClr val="000000"/>
                          </a:solidFill>
                          <a:latin typeface="Cambria Math" panose="02040503050406030204" pitchFamily="18" charset="0"/>
                        </a:rPr>
                        <m:t>    </m:t>
                      </m:r>
                      <m:sSub>
                        <m:sSubPr>
                          <m:ctrlPr>
                            <a:rPr lang="en-ID" i="1">
                              <a:solidFill>
                                <a:srgbClr val="000000"/>
                              </a:solidFill>
                              <a:latin typeface="Cambria Math" panose="02040503050406030204" pitchFamily="18" charset="0"/>
                            </a:rPr>
                          </m:ctrlPr>
                        </m:sSubPr>
                        <m:e>
                          <m:r>
                            <a:rPr lang="en-ID" i="1">
                              <a:solidFill>
                                <a:srgbClr val="000000"/>
                              </a:solidFill>
                              <a:latin typeface="Cambria Math" panose="02040503050406030204" pitchFamily="18" charset="0"/>
                            </a:rPr>
                            <m:t>𝑃</m:t>
                          </m:r>
                        </m:e>
                        <m:sub>
                          <m:r>
                            <a:rPr lang="en-ID" i="1">
                              <a:solidFill>
                                <a:srgbClr val="000000"/>
                              </a:solidFill>
                              <a:latin typeface="Cambria Math" panose="02040503050406030204" pitchFamily="18" charset="0"/>
                            </a:rPr>
                            <m:t>0</m:t>
                          </m:r>
                        </m:sub>
                      </m:sSub>
                      <m:r>
                        <a:rPr lang="en-ID" i="1">
                          <a:solidFill>
                            <a:srgbClr val="000000"/>
                          </a:solidFill>
                          <a:latin typeface="Cambria Math" panose="02040503050406030204" pitchFamily="18" charset="0"/>
                        </a:rPr>
                        <m:t>=1−</m:t>
                      </m:r>
                      <m:r>
                        <a:rPr lang="en-ID" i="1">
                          <a:solidFill>
                            <a:srgbClr val="000000"/>
                          </a:solidFill>
                          <a:latin typeface="Cambria Math" panose="02040503050406030204" pitchFamily="18" charset="0"/>
                        </a:rPr>
                        <m:t>𝜌</m:t>
                      </m:r>
                    </m:oMath>
                    <m:oMath xmlns:m="http://schemas.openxmlformats.org/officeDocument/2006/math">
                      <m:r>
                        <a:rPr lang="en-ID" i="1">
                          <a:solidFill>
                            <a:srgbClr val="000000"/>
                          </a:solidFill>
                          <a:latin typeface="Cambria Math" panose="02040503050406030204" pitchFamily="18" charset="0"/>
                        </a:rPr>
                        <m:t>𝐿</m:t>
                      </m:r>
                      <m:r>
                        <a:rPr lang="en-ID" i="1">
                          <a:solidFill>
                            <a:srgbClr val="000000"/>
                          </a:solidFill>
                          <a:latin typeface="Cambria Math" panose="02040503050406030204" pitchFamily="18" charset="0"/>
                        </a:rPr>
                        <m:t>=</m:t>
                      </m:r>
                      <m:r>
                        <a:rPr lang="en-ID" i="1">
                          <a:solidFill>
                            <a:srgbClr val="000000"/>
                          </a:solidFill>
                          <a:latin typeface="Cambria Math" panose="02040503050406030204" pitchFamily="18" charset="0"/>
                        </a:rPr>
                        <m:t>𝜌</m:t>
                      </m:r>
                      <m:r>
                        <a:rPr lang="en-ID" i="1">
                          <a:solidFill>
                            <a:srgbClr val="000000"/>
                          </a:solidFill>
                          <a:latin typeface="Cambria Math" panose="02040503050406030204" pitchFamily="18" charset="0"/>
                        </a:rPr>
                        <m:t>+</m:t>
                      </m:r>
                      <m:f>
                        <m:fPr>
                          <m:ctrlPr>
                            <a:rPr lang="en-ID" i="1">
                              <a:solidFill>
                                <a:srgbClr val="000000"/>
                              </a:solidFill>
                              <a:latin typeface="Cambria Math" panose="02040503050406030204" pitchFamily="18" charset="0"/>
                            </a:rPr>
                          </m:ctrlPr>
                        </m:fPr>
                        <m:num>
                          <m:sSup>
                            <m:sSupPr>
                              <m:ctrlPr>
                                <a:rPr lang="en-ID" i="1">
                                  <a:solidFill>
                                    <a:srgbClr val="000000"/>
                                  </a:solidFill>
                                  <a:latin typeface="Cambria Math" panose="02040503050406030204" pitchFamily="18" charset="0"/>
                                </a:rPr>
                              </m:ctrlPr>
                            </m:sSupPr>
                            <m:e>
                              <m:r>
                                <a:rPr lang="en-ID" i="1">
                                  <a:solidFill>
                                    <a:srgbClr val="000000"/>
                                  </a:solidFill>
                                  <a:latin typeface="Cambria Math" panose="02040503050406030204" pitchFamily="18" charset="0"/>
                                </a:rPr>
                                <m:t>𝜌</m:t>
                              </m:r>
                            </m:e>
                            <m:sup>
                              <m:r>
                                <a:rPr lang="en-ID" i="1">
                                  <a:solidFill>
                                    <a:srgbClr val="000000"/>
                                  </a:solidFill>
                                  <a:latin typeface="Cambria Math" panose="02040503050406030204" pitchFamily="18" charset="0"/>
                                </a:rPr>
                                <m:t>2</m:t>
                              </m:r>
                            </m:sup>
                          </m:sSup>
                          <m:r>
                            <a:rPr lang="en-ID" i="1">
                              <a:solidFill>
                                <a:srgbClr val="000000"/>
                              </a:solidFill>
                              <a:latin typeface="Cambria Math" panose="02040503050406030204" pitchFamily="18" charset="0"/>
                            </a:rPr>
                            <m:t>(1+</m:t>
                          </m:r>
                          <m:sSup>
                            <m:sSupPr>
                              <m:ctrlPr>
                                <a:rPr lang="en-ID" i="1">
                                  <a:solidFill>
                                    <a:srgbClr val="000000"/>
                                  </a:solidFill>
                                  <a:latin typeface="Cambria Math" panose="02040503050406030204" pitchFamily="18" charset="0"/>
                                </a:rPr>
                              </m:ctrlPr>
                            </m:sSupPr>
                            <m:e>
                              <m:r>
                                <a:rPr lang="en-ID" i="1">
                                  <a:solidFill>
                                    <a:srgbClr val="000000"/>
                                  </a:solidFill>
                                  <a:latin typeface="Cambria Math" panose="02040503050406030204" pitchFamily="18" charset="0"/>
                                </a:rPr>
                                <m:t>𝜎</m:t>
                              </m:r>
                            </m:e>
                            <m:sup>
                              <m:r>
                                <a:rPr lang="en-ID" i="1">
                                  <a:solidFill>
                                    <a:srgbClr val="000000"/>
                                  </a:solidFill>
                                  <a:latin typeface="Cambria Math" panose="02040503050406030204" pitchFamily="18" charset="0"/>
                                </a:rPr>
                                <m:t>2</m:t>
                              </m:r>
                            </m:sup>
                          </m:sSup>
                          <m:sSup>
                            <m:sSupPr>
                              <m:ctrlPr>
                                <a:rPr lang="en-ID" i="1">
                                  <a:solidFill>
                                    <a:srgbClr val="000000"/>
                                  </a:solidFill>
                                  <a:latin typeface="Cambria Math" panose="02040503050406030204" pitchFamily="18" charset="0"/>
                                </a:rPr>
                              </m:ctrlPr>
                            </m:sSupPr>
                            <m:e>
                              <m:r>
                                <a:rPr lang="en-ID" i="1">
                                  <a:solidFill>
                                    <a:srgbClr val="000000"/>
                                  </a:solidFill>
                                  <a:latin typeface="Cambria Math" panose="02040503050406030204" pitchFamily="18" charset="0"/>
                                </a:rPr>
                                <m:t>𝜇</m:t>
                              </m:r>
                            </m:e>
                            <m:sup>
                              <m:r>
                                <a:rPr lang="en-ID" i="1">
                                  <a:solidFill>
                                    <a:srgbClr val="000000"/>
                                  </a:solidFill>
                                  <a:latin typeface="Cambria Math" panose="02040503050406030204" pitchFamily="18" charset="0"/>
                                </a:rPr>
                                <m:t>2</m:t>
                              </m:r>
                            </m:sup>
                          </m:sSup>
                          <m:r>
                            <a:rPr lang="en-ID" i="1">
                              <a:solidFill>
                                <a:srgbClr val="000000"/>
                              </a:solidFill>
                              <a:latin typeface="Cambria Math" panose="02040503050406030204" pitchFamily="18" charset="0"/>
                            </a:rPr>
                            <m:t>)</m:t>
                          </m:r>
                        </m:num>
                        <m:den>
                          <m:r>
                            <a:rPr lang="en-ID" i="1">
                              <a:solidFill>
                                <a:srgbClr val="000000"/>
                              </a:solidFill>
                              <a:latin typeface="Cambria Math" panose="02040503050406030204" pitchFamily="18" charset="0"/>
                            </a:rPr>
                            <m:t>2(1−</m:t>
                          </m:r>
                          <m:r>
                            <a:rPr lang="en-ID" i="1">
                              <a:solidFill>
                                <a:srgbClr val="000000"/>
                              </a:solidFill>
                              <a:latin typeface="Cambria Math" panose="02040503050406030204" pitchFamily="18" charset="0"/>
                            </a:rPr>
                            <m:t>𝜌</m:t>
                          </m:r>
                          <m:r>
                            <a:rPr lang="en-ID" i="1">
                              <a:solidFill>
                                <a:srgbClr val="000000"/>
                              </a:solidFill>
                              <a:latin typeface="Cambria Math" panose="02040503050406030204" pitchFamily="18" charset="0"/>
                            </a:rPr>
                            <m:t>)</m:t>
                          </m:r>
                        </m:den>
                      </m:f>
                      <m:r>
                        <a:rPr lang="en-ID" i="1">
                          <a:solidFill>
                            <a:srgbClr val="000000"/>
                          </a:solidFill>
                          <a:latin typeface="Cambria Math" panose="02040503050406030204" pitchFamily="18" charset="0"/>
                        </a:rPr>
                        <m:t>,</m:t>
                      </m:r>
                      <m:r>
                        <m:rPr>
                          <m:nor/>
                        </m:rPr>
                        <a:rPr lang="en-ID" i="0">
                          <a:solidFill>
                            <a:srgbClr val="000000"/>
                          </a:solidFill>
                          <a:latin typeface="Cambria Math" panose="02040503050406030204" pitchFamily="18" charset="0"/>
                        </a:rPr>
                        <m:t>    </m:t>
                      </m:r>
                      <m:sSub>
                        <m:sSubPr>
                          <m:ctrlPr>
                            <a:rPr lang="en-ID" i="1">
                              <a:solidFill>
                                <a:srgbClr val="000000"/>
                              </a:solidFill>
                              <a:latin typeface="Cambria Math" panose="02040503050406030204" pitchFamily="18" charset="0"/>
                            </a:rPr>
                          </m:ctrlPr>
                        </m:sSubPr>
                        <m:e>
                          <m:r>
                            <a:rPr lang="en-ID" i="1">
                              <a:solidFill>
                                <a:srgbClr val="000000"/>
                              </a:solidFill>
                              <a:latin typeface="Cambria Math" panose="02040503050406030204" pitchFamily="18" charset="0"/>
                            </a:rPr>
                            <m:t>𝐿</m:t>
                          </m:r>
                        </m:e>
                        <m:sub>
                          <m:r>
                            <a:rPr lang="en-ID" i="1">
                              <a:solidFill>
                                <a:srgbClr val="000000"/>
                              </a:solidFill>
                              <a:latin typeface="Cambria Math" panose="02040503050406030204" pitchFamily="18" charset="0"/>
                            </a:rPr>
                            <m:t>𝑄</m:t>
                          </m:r>
                        </m:sub>
                      </m:sSub>
                      <m:r>
                        <a:rPr lang="en-ID" i="1">
                          <a:solidFill>
                            <a:srgbClr val="000000"/>
                          </a:solidFill>
                          <a:latin typeface="Cambria Math" panose="02040503050406030204" pitchFamily="18" charset="0"/>
                        </a:rPr>
                        <m:t>=</m:t>
                      </m:r>
                      <m:f>
                        <m:fPr>
                          <m:ctrlPr>
                            <a:rPr lang="en-ID" i="1">
                              <a:solidFill>
                                <a:srgbClr val="000000"/>
                              </a:solidFill>
                              <a:latin typeface="Cambria Math" panose="02040503050406030204" pitchFamily="18" charset="0"/>
                            </a:rPr>
                          </m:ctrlPr>
                        </m:fPr>
                        <m:num>
                          <m:sSup>
                            <m:sSupPr>
                              <m:ctrlPr>
                                <a:rPr lang="en-ID" i="1">
                                  <a:solidFill>
                                    <a:srgbClr val="000000"/>
                                  </a:solidFill>
                                  <a:latin typeface="Cambria Math" panose="02040503050406030204" pitchFamily="18" charset="0"/>
                                </a:rPr>
                              </m:ctrlPr>
                            </m:sSupPr>
                            <m:e>
                              <m:r>
                                <a:rPr lang="en-ID" i="1">
                                  <a:solidFill>
                                    <a:srgbClr val="000000"/>
                                  </a:solidFill>
                                  <a:latin typeface="Cambria Math" panose="02040503050406030204" pitchFamily="18" charset="0"/>
                                </a:rPr>
                                <m:t>𝜌</m:t>
                              </m:r>
                            </m:e>
                            <m:sup>
                              <m:r>
                                <a:rPr lang="en-ID" i="1">
                                  <a:solidFill>
                                    <a:srgbClr val="000000"/>
                                  </a:solidFill>
                                  <a:latin typeface="Cambria Math" panose="02040503050406030204" pitchFamily="18" charset="0"/>
                                </a:rPr>
                                <m:t>2</m:t>
                              </m:r>
                            </m:sup>
                          </m:sSup>
                          <m:r>
                            <a:rPr lang="en-ID" i="1">
                              <a:solidFill>
                                <a:srgbClr val="000000"/>
                              </a:solidFill>
                              <a:latin typeface="Cambria Math" panose="02040503050406030204" pitchFamily="18" charset="0"/>
                            </a:rPr>
                            <m:t>(1+</m:t>
                          </m:r>
                          <m:sSup>
                            <m:sSupPr>
                              <m:ctrlPr>
                                <a:rPr lang="en-ID" i="1">
                                  <a:solidFill>
                                    <a:srgbClr val="000000"/>
                                  </a:solidFill>
                                  <a:latin typeface="Cambria Math" panose="02040503050406030204" pitchFamily="18" charset="0"/>
                                </a:rPr>
                              </m:ctrlPr>
                            </m:sSupPr>
                            <m:e>
                              <m:r>
                                <a:rPr lang="en-ID" i="1">
                                  <a:solidFill>
                                    <a:srgbClr val="000000"/>
                                  </a:solidFill>
                                  <a:latin typeface="Cambria Math" panose="02040503050406030204" pitchFamily="18" charset="0"/>
                                </a:rPr>
                                <m:t>𝜎</m:t>
                              </m:r>
                            </m:e>
                            <m:sup>
                              <m:r>
                                <a:rPr lang="en-ID" i="1">
                                  <a:solidFill>
                                    <a:srgbClr val="000000"/>
                                  </a:solidFill>
                                  <a:latin typeface="Cambria Math" panose="02040503050406030204" pitchFamily="18" charset="0"/>
                                </a:rPr>
                                <m:t>2</m:t>
                              </m:r>
                            </m:sup>
                          </m:sSup>
                          <m:sSup>
                            <m:sSupPr>
                              <m:ctrlPr>
                                <a:rPr lang="en-ID" i="1">
                                  <a:solidFill>
                                    <a:srgbClr val="000000"/>
                                  </a:solidFill>
                                  <a:latin typeface="Cambria Math" panose="02040503050406030204" pitchFamily="18" charset="0"/>
                                </a:rPr>
                              </m:ctrlPr>
                            </m:sSupPr>
                            <m:e>
                              <m:r>
                                <a:rPr lang="en-ID" i="1">
                                  <a:solidFill>
                                    <a:srgbClr val="000000"/>
                                  </a:solidFill>
                                  <a:latin typeface="Cambria Math" panose="02040503050406030204" pitchFamily="18" charset="0"/>
                                </a:rPr>
                                <m:t>𝜇</m:t>
                              </m:r>
                            </m:e>
                            <m:sup>
                              <m:r>
                                <a:rPr lang="en-ID" i="1">
                                  <a:solidFill>
                                    <a:srgbClr val="000000"/>
                                  </a:solidFill>
                                  <a:latin typeface="Cambria Math" panose="02040503050406030204" pitchFamily="18" charset="0"/>
                                </a:rPr>
                                <m:t>2</m:t>
                              </m:r>
                            </m:sup>
                          </m:sSup>
                          <m:r>
                            <a:rPr lang="en-ID" i="1">
                              <a:solidFill>
                                <a:srgbClr val="000000"/>
                              </a:solidFill>
                              <a:latin typeface="Cambria Math" panose="02040503050406030204" pitchFamily="18" charset="0"/>
                            </a:rPr>
                            <m:t>)</m:t>
                          </m:r>
                        </m:num>
                        <m:den>
                          <m:r>
                            <a:rPr lang="en-ID" i="1">
                              <a:solidFill>
                                <a:srgbClr val="000000"/>
                              </a:solidFill>
                              <a:latin typeface="Cambria Math" panose="02040503050406030204" pitchFamily="18" charset="0"/>
                            </a:rPr>
                            <m:t>2(1−</m:t>
                          </m:r>
                          <m:r>
                            <a:rPr lang="en-ID" i="1">
                              <a:solidFill>
                                <a:srgbClr val="000000"/>
                              </a:solidFill>
                              <a:latin typeface="Cambria Math" panose="02040503050406030204" pitchFamily="18" charset="0"/>
                            </a:rPr>
                            <m:t>𝜌</m:t>
                          </m:r>
                          <m:r>
                            <a:rPr lang="en-ID" i="1">
                              <a:solidFill>
                                <a:srgbClr val="000000"/>
                              </a:solidFill>
                              <a:latin typeface="Cambria Math" panose="02040503050406030204" pitchFamily="18" charset="0"/>
                            </a:rPr>
                            <m:t>)</m:t>
                          </m:r>
                        </m:den>
                      </m:f>
                    </m:oMath>
                    <m:oMath xmlns:m="http://schemas.openxmlformats.org/officeDocument/2006/math">
                      <m:r>
                        <a:rPr lang="en-ID" i="1">
                          <a:solidFill>
                            <a:srgbClr val="000000"/>
                          </a:solidFill>
                          <a:latin typeface="Cambria Math" panose="02040503050406030204" pitchFamily="18" charset="0"/>
                        </a:rPr>
                        <m:t>𝑤</m:t>
                      </m:r>
                      <m:r>
                        <a:rPr lang="en-ID" i="1">
                          <a:solidFill>
                            <a:srgbClr val="000000"/>
                          </a:solidFill>
                          <a:latin typeface="Cambria Math" panose="02040503050406030204" pitchFamily="18" charset="0"/>
                        </a:rPr>
                        <m:t>=</m:t>
                      </m:r>
                      <m:f>
                        <m:fPr>
                          <m:ctrlPr>
                            <a:rPr lang="en-ID" i="1">
                              <a:solidFill>
                                <a:srgbClr val="000000"/>
                              </a:solidFill>
                              <a:latin typeface="Cambria Math" panose="02040503050406030204" pitchFamily="18" charset="0"/>
                            </a:rPr>
                          </m:ctrlPr>
                        </m:fPr>
                        <m:num>
                          <m:r>
                            <a:rPr lang="en-ID" i="1">
                              <a:solidFill>
                                <a:srgbClr val="000000"/>
                              </a:solidFill>
                              <a:latin typeface="Cambria Math" panose="02040503050406030204" pitchFamily="18" charset="0"/>
                            </a:rPr>
                            <m:t>1</m:t>
                          </m:r>
                        </m:num>
                        <m:den>
                          <m:r>
                            <a:rPr lang="en-ID" i="1">
                              <a:solidFill>
                                <a:srgbClr val="000000"/>
                              </a:solidFill>
                              <a:latin typeface="Cambria Math" panose="02040503050406030204" pitchFamily="18" charset="0"/>
                            </a:rPr>
                            <m:t>𝜇</m:t>
                          </m:r>
                        </m:den>
                      </m:f>
                      <m:r>
                        <a:rPr lang="en-ID" i="1">
                          <a:solidFill>
                            <a:srgbClr val="000000"/>
                          </a:solidFill>
                          <a:latin typeface="Cambria Math" panose="02040503050406030204" pitchFamily="18" charset="0"/>
                        </a:rPr>
                        <m:t>+</m:t>
                      </m:r>
                      <m:f>
                        <m:fPr>
                          <m:ctrlPr>
                            <a:rPr lang="en-ID" i="1">
                              <a:solidFill>
                                <a:srgbClr val="000000"/>
                              </a:solidFill>
                              <a:latin typeface="Cambria Math" panose="02040503050406030204" pitchFamily="18" charset="0"/>
                            </a:rPr>
                          </m:ctrlPr>
                        </m:fPr>
                        <m:num>
                          <m:r>
                            <a:rPr lang="en-ID" i="1">
                              <a:solidFill>
                                <a:srgbClr val="000000"/>
                              </a:solidFill>
                              <a:latin typeface="Cambria Math" panose="02040503050406030204" pitchFamily="18" charset="0"/>
                            </a:rPr>
                            <m:t>𝜆</m:t>
                          </m:r>
                          <m:r>
                            <a:rPr lang="en-ID" i="1">
                              <a:solidFill>
                                <a:srgbClr val="000000"/>
                              </a:solidFill>
                              <a:latin typeface="Cambria Math" panose="02040503050406030204" pitchFamily="18" charset="0"/>
                            </a:rPr>
                            <m:t>(1/</m:t>
                          </m:r>
                          <m:sSup>
                            <m:sSupPr>
                              <m:ctrlPr>
                                <a:rPr lang="en-ID" i="1">
                                  <a:solidFill>
                                    <a:srgbClr val="000000"/>
                                  </a:solidFill>
                                  <a:latin typeface="Cambria Math" panose="02040503050406030204" pitchFamily="18" charset="0"/>
                                </a:rPr>
                              </m:ctrlPr>
                            </m:sSupPr>
                            <m:e>
                              <m:r>
                                <a:rPr lang="en-ID" i="1">
                                  <a:solidFill>
                                    <a:srgbClr val="000000"/>
                                  </a:solidFill>
                                  <a:latin typeface="Cambria Math" panose="02040503050406030204" pitchFamily="18" charset="0"/>
                                </a:rPr>
                                <m:t>𝜇</m:t>
                              </m:r>
                            </m:e>
                            <m:sup>
                              <m:r>
                                <a:rPr lang="en-ID" i="1">
                                  <a:solidFill>
                                    <a:srgbClr val="000000"/>
                                  </a:solidFill>
                                  <a:latin typeface="Cambria Math" panose="02040503050406030204" pitchFamily="18" charset="0"/>
                                </a:rPr>
                                <m:t>2</m:t>
                              </m:r>
                            </m:sup>
                          </m:sSup>
                          <m:r>
                            <a:rPr lang="en-ID" i="1">
                              <a:solidFill>
                                <a:srgbClr val="000000"/>
                              </a:solidFill>
                              <a:latin typeface="Cambria Math" panose="02040503050406030204" pitchFamily="18" charset="0"/>
                            </a:rPr>
                            <m:t>+</m:t>
                          </m:r>
                          <m:sSup>
                            <m:sSupPr>
                              <m:ctrlPr>
                                <a:rPr lang="en-ID" i="1">
                                  <a:solidFill>
                                    <a:srgbClr val="000000"/>
                                  </a:solidFill>
                                  <a:latin typeface="Cambria Math" panose="02040503050406030204" pitchFamily="18" charset="0"/>
                                </a:rPr>
                              </m:ctrlPr>
                            </m:sSupPr>
                            <m:e>
                              <m:r>
                                <a:rPr lang="en-ID" i="1">
                                  <a:solidFill>
                                    <a:srgbClr val="000000"/>
                                  </a:solidFill>
                                  <a:latin typeface="Cambria Math" panose="02040503050406030204" pitchFamily="18" charset="0"/>
                                </a:rPr>
                                <m:t>𝜎</m:t>
                              </m:r>
                            </m:e>
                            <m:sup>
                              <m:r>
                                <a:rPr lang="en-ID" i="1">
                                  <a:solidFill>
                                    <a:srgbClr val="000000"/>
                                  </a:solidFill>
                                  <a:latin typeface="Cambria Math" panose="02040503050406030204" pitchFamily="18" charset="0"/>
                                </a:rPr>
                                <m:t>2</m:t>
                              </m:r>
                            </m:sup>
                          </m:sSup>
                          <m:r>
                            <a:rPr lang="en-ID" i="1">
                              <a:solidFill>
                                <a:srgbClr val="000000"/>
                              </a:solidFill>
                              <a:latin typeface="Cambria Math" panose="02040503050406030204" pitchFamily="18" charset="0"/>
                            </a:rPr>
                            <m:t>)</m:t>
                          </m:r>
                        </m:num>
                        <m:den>
                          <m:r>
                            <a:rPr lang="en-ID" i="1">
                              <a:solidFill>
                                <a:srgbClr val="000000"/>
                              </a:solidFill>
                              <a:latin typeface="Cambria Math" panose="02040503050406030204" pitchFamily="18" charset="0"/>
                            </a:rPr>
                            <m:t>2(1−</m:t>
                          </m:r>
                          <m:r>
                            <a:rPr lang="en-ID" i="1">
                              <a:solidFill>
                                <a:srgbClr val="000000"/>
                              </a:solidFill>
                              <a:latin typeface="Cambria Math" panose="02040503050406030204" pitchFamily="18" charset="0"/>
                            </a:rPr>
                            <m:t>𝜌</m:t>
                          </m:r>
                          <m:r>
                            <a:rPr lang="en-ID" i="1">
                              <a:solidFill>
                                <a:srgbClr val="000000"/>
                              </a:solidFill>
                              <a:latin typeface="Cambria Math" panose="02040503050406030204" pitchFamily="18" charset="0"/>
                            </a:rPr>
                            <m:t>)</m:t>
                          </m:r>
                        </m:den>
                      </m:f>
                      <m:r>
                        <a:rPr lang="en-ID" i="1">
                          <a:solidFill>
                            <a:srgbClr val="000000"/>
                          </a:solidFill>
                          <a:latin typeface="Cambria Math" panose="02040503050406030204" pitchFamily="18" charset="0"/>
                        </a:rPr>
                        <m:t>,</m:t>
                      </m:r>
                      <m:r>
                        <m:rPr>
                          <m:nor/>
                        </m:rPr>
                        <a:rPr lang="en-ID" i="0">
                          <a:solidFill>
                            <a:srgbClr val="000000"/>
                          </a:solidFill>
                          <a:latin typeface="Cambria Math" panose="02040503050406030204" pitchFamily="18" charset="0"/>
                        </a:rPr>
                        <m:t>   </m:t>
                      </m:r>
                      <m:sSub>
                        <m:sSubPr>
                          <m:ctrlPr>
                            <a:rPr lang="en-ID" i="1">
                              <a:solidFill>
                                <a:srgbClr val="000000"/>
                              </a:solidFill>
                              <a:latin typeface="Cambria Math" panose="02040503050406030204" pitchFamily="18" charset="0"/>
                            </a:rPr>
                          </m:ctrlPr>
                        </m:sSubPr>
                        <m:e>
                          <m:r>
                            <a:rPr lang="en-ID" i="1">
                              <a:solidFill>
                                <a:srgbClr val="000000"/>
                              </a:solidFill>
                              <a:latin typeface="Cambria Math" panose="02040503050406030204" pitchFamily="18" charset="0"/>
                            </a:rPr>
                            <m:t>𝑤</m:t>
                          </m:r>
                        </m:e>
                        <m:sub>
                          <m:r>
                            <a:rPr lang="en-ID" i="1">
                              <a:solidFill>
                                <a:srgbClr val="000000"/>
                              </a:solidFill>
                              <a:latin typeface="Cambria Math" panose="02040503050406030204" pitchFamily="18" charset="0"/>
                            </a:rPr>
                            <m:t>𝑄</m:t>
                          </m:r>
                        </m:sub>
                      </m:sSub>
                      <m:r>
                        <a:rPr lang="en-ID" i="1">
                          <a:solidFill>
                            <a:srgbClr val="000000"/>
                          </a:solidFill>
                          <a:latin typeface="Cambria Math" panose="02040503050406030204" pitchFamily="18" charset="0"/>
                        </a:rPr>
                        <m:t>=</m:t>
                      </m:r>
                      <m:f>
                        <m:fPr>
                          <m:ctrlPr>
                            <a:rPr lang="en-ID" i="1">
                              <a:solidFill>
                                <a:srgbClr val="000000"/>
                              </a:solidFill>
                              <a:latin typeface="Cambria Math" panose="02040503050406030204" pitchFamily="18" charset="0"/>
                            </a:rPr>
                          </m:ctrlPr>
                        </m:fPr>
                        <m:num>
                          <m:r>
                            <a:rPr lang="en-ID" i="1">
                              <a:solidFill>
                                <a:srgbClr val="000000"/>
                              </a:solidFill>
                              <a:latin typeface="Cambria Math" panose="02040503050406030204" pitchFamily="18" charset="0"/>
                            </a:rPr>
                            <m:t>𝜆</m:t>
                          </m:r>
                          <m:r>
                            <a:rPr lang="en-ID" i="1">
                              <a:solidFill>
                                <a:srgbClr val="000000"/>
                              </a:solidFill>
                              <a:latin typeface="Cambria Math" panose="02040503050406030204" pitchFamily="18" charset="0"/>
                            </a:rPr>
                            <m:t>(1/</m:t>
                          </m:r>
                          <m:sSup>
                            <m:sSupPr>
                              <m:ctrlPr>
                                <a:rPr lang="en-ID" i="1">
                                  <a:solidFill>
                                    <a:srgbClr val="000000"/>
                                  </a:solidFill>
                                  <a:latin typeface="Cambria Math" panose="02040503050406030204" pitchFamily="18" charset="0"/>
                                </a:rPr>
                              </m:ctrlPr>
                            </m:sSupPr>
                            <m:e>
                              <m:r>
                                <a:rPr lang="en-ID" i="1">
                                  <a:solidFill>
                                    <a:srgbClr val="000000"/>
                                  </a:solidFill>
                                  <a:latin typeface="Cambria Math" panose="02040503050406030204" pitchFamily="18" charset="0"/>
                                </a:rPr>
                                <m:t>𝜇</m:t>
                              </m:r>
                            </m:e>
                            <m:sup>
                              <m:r>
                                <a:rPr lang="en-ID" i="1">
                                  <a:solidFill>
                                    <a:srgbClr val="000000"/>
                                  </a:solidFill>
                                  <a:latin typeface="Cambria Math" panose="02040503050406030204" pitchFamily="18" charset="0"/>
                                </a:rPr>
                                <m:t>2</m:t>
                              </m:r>
                            </m:sup>
                          </m:sSup>
                          <m:r>
                            <a:rPr lang="en-ID" i="1">
                              <a:solidFill>
                                <a:srgbClr val="000000"/>
                              </a:solidFill>
                              <a:latin typeface="Cambria Math" panose="02040503050406030204" pitchFamily="18" charset="0"/>
                            </a:rPr>
                            <m:t>+</m:t>
                          </m:r>
                          <m:sSup>
                            <m:sSupPr>
                              <m:ctrlPr>
                                <a:rPr lang="en-ID" i="1">
                                  <a:solidFill>
                                    <a:srgbClr val="000000"/>
                                  </a:solidFill>
                                  <a:latin typeface="Cambria Math" panose="02040503050406030204" pitchFamily="18" charset="0"/>
                                </a:rPr>
                              </m:ctrlPr>
                            </m:sSupPr>
                            <m:e>
                              <m:r>
                                <a:rPr lang="en-ID" i="1">
                                  <a:solidFill>
                                    <a:srgbClr val="000000"/>
                                  </a:solidFill>
                                  <a:latin typeface="Cambria Math" panose="02040503050406030204" pitchFamily="18" charset="0"/>
                                </a:rPr>
                                <m:t>𝜎</m:t>
                              </m:r>
                            </m:e>
                            <m:sup>
                              <m:r>
                                <a:rPr lang="en-ID" i="1">
                                  <a:solidFill>
                                    <a:srgbClr val="000000"/>
                                  </a:solidFill>
                                  <a:latin typeface="Cambria Math" panose="02040503050406030204" pitchFamily="18" charset="0"/>
                                </a:rPr>
                                <m:t>2</m:t>
                              </m:r>
                            </m:sup>
                          </m:sSup>
                          <m:r>
                            <a:rPr lang="en-ID" i="1">
                              <a:solidFill>
                                <a:srgbClr val="000000"/>
                              </a:solidFill>
                              <a:latin typeface="Cambria Math" panose="02040503050406030204" pitchFamily="18" charset="0"/>
                            </a:rPr>
                            <m:t>)</m:t>
                          </m:r>
                        </m:num>
                        <m:den>
                          <m:r>
                            <a:rPr lang="en-ID" i="1">
                              <a:solidFill>
                                <a:srgbClr val="000000"/>
                              </a:solidFill>
                              <a:latin typeface="Cambria Math" panose="02040503050406030204" pitchFamily="18" charset="0"/>
                            </a:rPr>
                            <m:t>2(1−</m:t>
                          </m:r>
                          <m:r>
                            <a:rPr lang="en-ID" i="1">
                              <a:solidFill>
                                <a:srgbClr val="000000"/>
                              </a:solidFill>
                              <a:latin typeface="Cambria Math" panose="02040503050406030204" pitchFamily="18" charset="0"/>
                            </a:rPr>
                            <m:t>𝜌</m:t>
                          </m:r>
                          <m:r>
                            <a:rPr lang="en-ID" i="1">
                              <a:solidFill>
                                <a:srgbClr val="000000"/>
                              </a:solidFill>
                              <a:latin typeface="Cambria Math" panose="02040503050406030204" pitchFamily="18" charset="0"/>
                            </a:rPr>
                            <m:t>)</m:t>
                          </m:r>
                        </m:den>
                      </m:f>
                    </m:oMath>
                  </m:oMathPara>
                </a14:m>
                <a:endParaRPr lang="en-ID"/>
              </a:p>
            </p:txBody>
          </p:sp>
        </mc:Choice>
        <mc:Fallback xmlns="">
          <p:sp>
            <p:nvSpPr>
              <p:cNvPr id="33797" name="Object 7">
                <a:extLst>
                  <a:ext uri="{FF2B5EF4-FFF2-40B4-BE49-F238E27FC236}">
                    <a16:creationId xmlns:a16="http://schemas.microsoft.com/office/drawing/2014/main" id="{EE92854E-D324-A976-9D97-6D6D547184D4}"/>
                  </a:ext>
                </a:extLst>
              </p:cNvPr>
              <p:cNvSpPr txBox="1">
                <a:spLocks noRot="1" noChangeAspect="1" noMove="1" noResize="1" noEditPoints="1" noAdjustHandles="1" noChangeArrowheads="1" noChangeShapeType="1" noTextEdit="1"/>
              </p:cNvSpPr>
              <p:nvPr>
                <p:ph sz="quarter" idx="2"/>
              </p:nvPr>
            </p:nvSpPr>
            <p:spPr bwMode="auto">
              <a:xfrm>
                <a:off x="2209800" y="2819400"/>
                <a:ext cx="4495800" cy="1874838"/>
              </a:xfrm>
              <a:prstGeom prst="rect">
                <a:avLst/>
              </a:prstGeom>
              <a:blipFill>
                <a:blip r:embed="rId2"/>
                <a:stretch>
                  <a:fillRect/>
                </a:stretch>
              </a:blipFill>
              <a:ln w="9525">
                <a:solidFill>
                  <a:schemeClr val="tx1"/>
                </a:solidFill>
                <a:miter lim="800000"/>
                <a:headEnd/>
                <a:tailEnd/>
              </a:ln>
              <a:effectLst/>
            </p:spPr>
            <p:txBody>
              <a:bodyPr/>
              <a:lstStyle/>
              <a:p>
                <a:r>
                  <a:rPr lang="en-ID">
                    <a:noFill/>
                  </a:rPr>
                  <a:t> </a:t>
                </a:r>
              </a:p>
            </p:txBody>
          </p:sp>
        </mc:Fallback>
      </mc:AlternateContent>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Number Placeholder 6">
            <a:extLst>
              <a:ext uri="{FF2B5EF4-FFF2-40B4-BE49-F238E27FC236}">
                <a16:creationId xmlns:a16="http://schemas.microsoft.com/office/drawing/2014/main" id="{E11CEF8A-CE60-CBC4-A90D-D1730092E7EE}"/>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5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4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9pPr>
          </a:lstStyle>
          <a:p>
            <a:pPr>
              <a:spcBef>
                <a:spcPct val="0"/>
              </a:spcBef>
              <a:buClrTx/>
              <a:buSzTx/>
              <a:buFontTx/>
              <a:buNone/>
            </a:pPr>
            <a:fld id="{546396DD-3ADE-45CA-8A16-2704BE091863}" type="slidenum">
              <a:rPr lang="en-US" altLang="id-ID" sz="1200">
                <a:latin typeface="Arial Black" panose="020B0A04020102020204" pitchFamily="34" charset="0"/>
              </a:rPr>
              <a:pPr>
                <a:spcBef>
                  <a:spcPct val="0"/>
                </a:spcBef>
                <a:buClrTx/>
                <a:buSzTx/>
                <a:buFontTx/>
                <a:buNone/>
              </a:pPr>
              <a:t>29</a:t>
            </a:fld>
            <a:endParaRPr lang="en-US" altLang="id-ID" sz="1200">
              <a:latin typeface="Arial Black" panose="020B0A04020102020204" pitchFamily="34" charset="0"/>
            </a:endParaRPr>
          </a:p>
        </p:txBody>
      </p:sp>
      <p:sp>
        <p:nvSpPr>
          <p:cNvPr id="34819" name="Rectangle 2">
            <a:extLst>
              <a:ext uri="{FF2B5EF4-FFF2-40B4-BE49-F238E27FC236}">
                <a16:creationId xmlns:a16="http://schemas.microsoft.com/office/drawing/2014/main" id="{3BB714B0-4DC7-BA1F-4A95-16DCD2DA4645}"/>
              </a:ext>
            </a:extLst>
          </p:cNvPr>
          <p:cNvSpPr>
            <a:spLocks noGrp="1" noChangeArrowheads="1"/>
          </p:cNvSpPr>
          <p:nvPr>
            <p:ph type="title"/>
          </p:nvPr>
        </p:nvSpPr>
        <p:spPr/>
        <p:txBody>
          <a:bodyPr/>
          <a:lstStyle/>
          <a:p>
            <a:pPr eaLnBrk="1" hangingPunct="1"/>
            <a:r>
              <a:rPr lang="en-US" altLang="id-ID"/>
              <a:t>M/G/1 Queues		</a:t>
            </a:r>
            <a:r>
              <a:rPr lang="en-US" altLang="id-ID" sz="2200">
                <a:solidFill>
                  <a:schemeClr val="bg2"/>
                </a:solidFill>
              </a:rPr>
              <a:t>[Steady-State of Markovian Model]</a:t>
            </a:r>
          </a:p>
        </p:txBody>
      </p:sp>
      <p:sp>
        <p:nvSpPr>
          <p:cNvPr id="34820" name="Rectangle 3">
            <a:extLst>
              <a:ext uri="{FF2B5EF4-FFF2-40B4-BE49-F238E27FC236}">
                <a16:creationId xmlns:a16="http://schemas.microsoft.com/office/drawing/2014/main" id="{723D66F2-62A9-55F6-4E91-4115487C5666}"/>
              </a:ext>
            </a:extLst>
          </p:cNvPr>
          <p:cNvSpPr>
            <a:spLocks noGrp="1" noChangeArrowheads="1"/>
          </p:cNvSpPr>
          <p:nvPr>
            <p:ph type="body" sz="half" idx="1"/>
          </p:nvPr>
        </p:nvSpPr>
        <p:spPr>
          <a:xfrm>
            <a:off x="457200" y="1447800"/>
            <a:ext cx="8305800" cy="5029200"/>
          </a:xfrm>
        </p:spPr>
        <p:txBody>
          <a:bodyPr/>
          <a:lstStyle/>
          <a:p>
            <a:pPr lvl="1" eaLnBrk="1" hangingPunct="1"/>
            <a:r>
              <a:rPr lang="en-US" altLang="id-ID" sz="2000"/>
              <a:t>No simple expression for the steady-state probabilities </a:t>
            </a:r>
            <a:r>
              <a:rPr lang="en-US" altLang="id-ID" sz="2000" i="1"/>
              <a:t>P</a:t>
            </a:r>
            <a:r>
              <a:rPr lang="en-US" altLang="id-ID" sz="2000" i="1" baseline="-25000"/>
              <a:t>0</a:t>
            </a:r>
            <a:r>
              <a:rPr lang="en-US" altLang="id-ID" sz="2000" i="1"/>
              <a:t>, P</a:t>
            </a:r>
            <a:r>
              <a:rPr lang="en-US" altLang="id-ID" sz="2000" i="1" baseline="-25000"/>
              <a:t>1</a:t>
            </a:r>
            <a:r>
              <a:rPr lang="en-US" altLang="id-ID" sz="2000" i="1"/>
              <a:t>, </a:t>
            </a:r>
            <a:r>
              <a:rPr lang="en-US" altLang="id-ID" sz="2000"/>
              <a:t>… </a:t>
            </a:r>
          </a:p>
          <a:p>
            <a:pPr lvl="1" eaLnBrk="1" hangingPunct="1"/>
            <a:r>
              <a:rPr lang="en-US" altLang="id-ID" sz="2000" i="1"/>
              <a:t>L – L</a:t>
            </a:r>
            <a:r>
              <a:rPr lang="en-US" altLang="id-ID" sz="2000" i="1" baseline="-25000"/>
              <a:t>Q</a:t>
            </a:r>
            <a:r>
              <a:rPr lang="en-US" altLang="id-ID" sz="2000" i="1"/>
              <a:t> = </a:t>
            </a:r>
            <a:r>
              <a:rPr lang="en-US" altLang="id-ID" sz="2000" i="1">
                <a:latin typeface="Symbol" panose="05050102010706020507" pitchFamily="18" charset="2"/>
              </a:rPr>
              <a:t>r</a:t>
            </a:r>
            <a:r>
              <a:rPr lang="en-US" altLang="id-ID" sz="2000"/>
              <a:t> is the time-average number of customers being served.</a:t>
            </a:r>
          </a:p>
          <a:p>
            <a:pPr lvl="1" eaLnBrk="1" hangingPunct="1"/>
            <a:r>
              <a:rPr lang="en-US" altLang="id-ID" sz="2000"/>
              <a:t>Average length of queue, </a:t>
            </a:r>
            <a:r>
              <a:rPr lang="en-US" altLang="id-ID" sz="2000" i="1"/>
              <a:t>L</a:t>
            </a:r>
            <a:r>
              <a:rPr lang="en-US" altLang="id-ID" sz="2000" i="1" baseline="-25000"/>
              <a:t>Q</a:t>
            </a:r>
            <a:r>
              <a:rPr lang="en-US" altLang="id-ID" sz="2000" i="1"/>
              <a:t>, </a:t>
            </a:r>
            <a:r>
              <a:rPr lang="en-US" altLang="id-ID" sz="2000"/>
              <a:t>can be rewritten as:</a:t>
            </a:r>
          </a:p>
          <a:p>
            <a:pPr eaLnBrk="1" hangingPunct="1"/>
            <a:endParaRPr lang="en-US" altLang="id-ID" sz="2000"/>
          </a:p>
          <a:p>
            <a:pPr eaLnBrk="1" hangingPunct="1"/>
            <a:endParaRPr lang="en-US" altLang="id-ID" sz="2000"/>
          </a:p>
          <a:p>
            <a:pPr eaLnBrk="1" hangingPunct="1"/>
            <a:endParaRPr lang="en-US" altLang="id-ID" sz="2000"/>
          </a:p>
          <a:p>
            <a:pPr lvl="2" eaLnBrk="1" hangingPunct="1"/>
            <a:r>
              <a:rPr lang="en-US" altLang="id-ID" sz="1800"/>
              <a:t>If </a:t>
            </a:r>
            <a:r>
              <a:rPr lang="en-US" altLang="id-ID" sz="1800" i="1">
                <a:latin typeface="Symbol" panose="05050102010706020507" pitchFamily="18" charset="2"/>
              </a:rPr>
              <a:t>l</a:t>
            </a:r>
            <a:r>
              <a:rPr lang="en-US" altLang="id-ID" sz="1800"/>
              <a:t> and </a:t>
            </a:r>
            <a:r>
              <a:rPr lang="en-US" altLang="id-ID" sz="1800" i="1">
                <a:latin typeface="Symbol" panose="05050102010706020507" pitchFamily="18" charset="2"/>
              </a:rPr>
              <a:t>m</a:t>
            </a:r>
            <a:r>
              <a:rPr lang="en-US" altLang="id-ID" sz="1800"/>
              <a:t> are held constant, </a:t>
            </a:r>
            <a:r>
              <a:rPr lang="en-US" altLang="id-ID" sz="1800" i="1"/>
              <a:t>L</a:t>
            </a:r>
            <a:r>
              <a:rPr lang="en-US" altLang="id-ID" sz="1800" i="1" baseline="-25000"/>
              <a:t>Q</a:t>
            </a:r>
            <a:r>
              <a:rPr lang="en-US" altLang="id-ID" sz="1800"/>
              <a:t> depends on the variability, </a:t>
            </a:r>
            <a:r>
              <a:rPr lang="en-US" altLang="id-ID" sz="1800" i="1">
                <a:latin typeface="Symbol" panose="05050102010706020507" pitchFamily="18" charset="2"/>
              </a:rPr>
              <a:t>s</a:t>
            </a:r>
            <a:r>
              <a:rPr lang="en-US" altLang="id-ID" sz="1800" i="1" baseline="30000"/>
              <a:t>2</a:t>
            </a:r>
            <a:r>
              <a:rPr lang="en-US" altLang="id-ID" sz="1800"/>
              <a:t>, of the service times.</a:t>
            </a:r>
          </a:p>
        </p:txBody>
      </p:sp>
      <mc:AlternateContent xmlns:mc="http://schemas.openxmlformats.org/markup-compatibility/2006" xmlns:a14="http://schemas.microsoft.com/office/drawing/2010/main">
        <mc:Choice Requires="a14">
          <p:sp>
            <p:nvSpPr>
              <p:cNvPr id="34821" name="Object 5">
                <a:extLst>
                  <a:ext uri="{FF2B5EF4-FFF2-40B4-BE49-F238E27FC236}">
                    <a16:creationId xmlns:a16="http://schemas.microsoft.com/office/drawing/2014/main" id="{8D88E227-4FFE-B24D-0B03-63F4ADDC955F}"/>
                  </a:ext>
                </a:extLst>
              </p:cNvPr>
              <p:cNvSpPr txBox="1">
                <a:spLocks noGrp="1"/>
              </p:cNvSpPr>
              <p:nvPr>
                <p:ph sz="quarter" idx="3"/>
              </p:nvPr>
            </p:nvSpPr>
            <p:spPr bwMode="auto">
              <a:xfrm>
                <a:off x="3276600" y="2895600"/>
                <a:ext cx="2514600" cy="795338"/>
              </a:xfrm>
              <a:prstGeom prst="rect">
                <a:avLst/>
              </a:prstGeom>
              <a:noFill/>
              <a:ln>
                <a:noFill/>
              </a:ln>
              <a:effectLst/>
            </p:spPr>
            <p:txBody>
              <a:bodyPr>
                <a:normAutofit fontScale="55000" lnSpcReduction="20000"/>
              </a:bodyPr>
              <a:lstStyle/>
              <a:p>
                <a:pPr>
                  <a:buNone/>
                </a:pPr>
                <a14:m>
                  <m:oMathPara xmlns:m="http://schemas.openxmlformats.org/officeDocument/2006/math">
                    <m:oMathParaPr>
                      <m:jc m:val="left"/>
                    </m:oMathParaPr>
                    <m:oMath xmlns:m="http://schemas.openxmlformats.org/officeDocument/2006/math">
                      <m:sSub>
                        <m:sSubPr>
                          <m:ctrlPr>
                            <a:rPr lang="en-ID" i="1">
                              <a:solidFill>
                                <a:srgbClr val="000000"/>
                              </a:solidFill>
                              <a:latin typeface="Cambria Math" panose="02040503050406030204" pitchFamily="18" charset="0"/>
                            </a:rPr>
                          </m:ctrlPr>
                        </m:sSubPr>
                        <m:e>
                          <m:r>
                            <a:rPr lang="en-ID" i="1">
                              <a:solidFill>
                                <a:srgbClr val="000000"/>
                              </a:solidFill>
                              <a:latin typeface="Cambria Math" panose="02040503050406030204" pitchFamily="18" charset="0"/>
                            </a:rPr>
                            <m:t>𝐿</m:t>
                          </m:r>
                        </m:e>
                        <m:sub>
                          <m:r>
                            <a:rPr lang="en-ID" i="1">
                              <a:solidFill>
                                <a:srgbClr val="000000"/>
                              </a:solidFill>
                              <a:latin typeface="Cambria Math" panose="02040503050406030204" pitchFamily="18" charset="0"/>
                            </a:rPr>
                            <m:t>𝑄</m:t>
                          </m:r>
                        </m:sub>
                      </m:sSub>
                      <m:r>
                        <a:rPr lang="en-ID" i="1">
                          <a:solidFill>
                            <a:srgbClr val="000000"/>
                          </a:solidFill>
                          <a:latin typeface="Cambria Math" panose="02040503050406030204" pitchFamily="18" charset="0"/>
                        </a:rPr>
                        <m:t>=</m:t>
                      </m:r>
                      <m:f>
                        <m:fPr>
                          <m:ctrlPr>
                            <a:rPr lang="en-ID" i="1">
                              <a:solidFill>
                                <a:srgbClr val="000000"/>
                              </a:solidFill>
                              <a:latin typeface="Cambria Math" panose="02040503050406030204" pitchFamily="18" charset="0"/>
                            </a:rPr>
                          </m:ctrlPr>
                        </m:fPr>
                        <m:num>
                          <m:sSup>
                            <m:sSupPr>
                              <m:ctrlPr>
                                <a:rPr lang="en-ID" i="1">
                                  <a:solidFill>
                                    <a:srgbClr val="000000"/>
                                  </a:solidFill>
                                  <a:latin typeface="Cambria Math" panose="02040503050406030204" pitchFamily="18" charset="0"/>
                                </a:rPr>
                              </m:ctrlPr>
                            </m:sSupPr>
                            <m:e>
                              <m:r>
                                <a:rPr lang="en-ID" i="1">
                                  <a:solidFill>
                                    <a:srgbClr val="000000"/>
                                  </a:solidFill>
                                  <a:latin typeface="Cambria Math" panose="02040503050406030204" pitchFamily="18" charset="0"/>
                                </a:rPr>
                                <m:t>𝜌</m:t>
                              </m:r>
                            </m:e>
                            <m:sup>
                              <m:r>
                                <a:rPr lang="en-ID" i="1">
                                  <a:solidFill>
                                    <a:srgbClr val="000000"/>
                                  </a:solidFill>
                                  <a:latin typeface="Cambria Math" panose="02040503050406030204" pitchFamily="18" charset="0"/>
                                </a:rPr>
                                <m:t>2</m:t>
                              </m:r>
                            </m:sup>
                          </m:sSup>
                        </m:num>
                        <m:den>
                          <m:r>
                            <a:rPr lang="en-ID" i="1">
                              <a:solidFill>
                                <a:srgbClr val="000000"/>
                              </a:solidFill>
                              <a:latin typeface="Cambria Math" panose="02040503050406030204" pitchFamily="18" charset="0"/>
                            </a:rPr>
                            <m:t>2(1−</m:t>
                          </m:r>
                          <m:r>
                            <a:rPr lang="en-ID" i="1">
                              <a:solidFill>
                                <a:srgbClr val="000000"/>
                              </a:solidFill>
                              <a:latin typeface="Cambria Math" panose="02040503050406030204" pitchFamily="18" charset="0"/>
                            </a:rPr>
                            <m:t>𝜌</m:t>
                          </m:r>
                          <m:r>
                            <a:rPr lang="en-ID" i="1">
                              <a:solidFill>
                                <a:srgbClr val="000000"/>
                              </a:solidFill>
                              <a:latin typeface="Cambria Math" panose="02040503050406030204" pitchFamily="18" charset="0"/>
                            </a:rPr>
                            <m:t>)</m:t>
                          </m:r>
                        </m:den>
                      </m:f>
                      <m:r>
                        <a:rPr lang="en-ID" i="1">
                          <a:solidFill>
                            <a:srgbClr val="000000"/>
                          </a:solidFill>
                          <a:latin typeface="Cambria Math" panose="02040503050406030204" pitchFamily="18" charset="0"/>
                        </a:rPr>
                        <m:t>+</m:t>
                      </m:r>
                      <m:f>
                        <m:fPr>
                          <m:ctrlPr>
                            <a:rPr lang="en-ID" i="1">
                              <a:solidFill>
                                <a:srgbClr val="000000"/>
                              </a:solidFill>
                              <a:latin typeface="Cambria Math" panose="02040503050406030204" pitchFamily="18" charset="0"/>
                            </a:rPr>
                          </m:ctrlPr>
                        </m:fPr>
                        <m:num>
                          <m:sSup>
                            <m:sSupPr>
                              <m:ctrlPr>
                                <a:rPr lang="en-ID" i="1">
                                  <a:solidFill>
                                    <a:srgbClr val="000000"/>
                                  </a:solidFill>
                                  <a:latin typeface="Cambria Math" panose="02040503050406030204" pitchFamily="18" charset="0"/>
                                </a:rPr>
                              </m:ctrlPr>
                            </m:sSupPr>
                            <m:e>
                              <m:r>
                                <a:rPr lang="en-ID" i="1">
                                  <a:solidFill>
                                    <a:srgbClr val="000000"/>
                                  </a:solidFill>
                                  <a:latin typeface="Cambria Math" panose="02040503050406030204" pitchFamily="18" charset="0"/>
                                </a:rPr>
                                <m:t>𝜆</m:t>
                              </m:r>
                            </m:e>
                            <m:sup>
                              <m:r>
                                <a:rPr lang="en-ID" i="1">
                                  <a:solidFill>
                                    <a:srgbClr val="000000"/>
                                  </a:solidFill>
                                  <a:latin typeface="Cambria Math" panose="02040503050406030204" pitchFamily="18" charset="0"/>
                                </a:rPr>
                                <m:t>2</m:t>
                              </m:r>
                            </m:sup>
                          </m:sSup>
                          <m:sSup>
                            <m:sSupPr>
                              <m:ctrlPr>
                                <a:rPr lang="en-ID" i="1">
                                  <a:solidFill>
                                    <a:srgbClr val="000000"/>
                                  </a:solidFill>
                                  <a:latin typeface="Cambria Math" panose="02040503050406030204" pitchFamily="18" charset="0"/>
                                </a:rPr>
                              </m:ctrlPr>
                            </m:sSupPr>
                            <m:e>
                              <m:r>
                                <a:rPr lang="en-ID" i="1">
                                  <a:solidFill>
                                    <a:srgbClr val="000000"/>
                                  </a:solidFill>
                                  <a:latin typeface="Cambria Math" panose="02040503050406030204" pitchFamily="18" charset="0"/>
                                </a:rPr>
                                <m:t>𝜎</m:t>
                              </m:r>
                            </m:e>
                            <m:sup>
                              <m:r>
                                <a:rPr lang="en-ID" i="1">
                                  <a:solidFill>
                                    <a:srgbClr val="000000"/>
                                  </a:solidFill>
                                  <a:latin typeface="Cambria Math" panose="02040503050406030204" pitchFamily="18" charset="0"/>
                                </a:rPr>
                                <m:t>2</m:t>
                              </m:r>
                            </m:sup>
                          </m:sSup>
                        </m:num>
                        <m:den>
                          <m:r>
                            <a:rPr lang="en-ID" i="1">
                              <a:solidFill>
                                <a:srgbClr val="000000"/>
                              </a:solidFill>
                              <a:latin typeface="Cambria Math" panose="02040503050406030204" pitchFamily="18" charset="0"/>
                            </a:rPr>
                            <m:t>2(1−</m:t>
                          </m:r>
                          <m:r>
                            <a:rPr lang="en-ID" i="1">
                              <a:solidFill>
                                <a:srgbClr val="000000"/>
                              </a:solidFill>
                              <a:latin typeface="Cambria Math" panose="02040503050406030204" pitchFamily="18" charset="0"/>
                            </a:rPr>
                            <m:t>𝜌</m:t>
                          </m:r>
                          <m:r>
                            <a:rPr lang="en-ID" i="1">
                              <a:solidFill>
                                <a:srgbClr val="000000"/>
                              </a:solidFill>
                              <a:latin typeface="Cambria Math" panose="02040503050406030204" pitchFamily="18" charset="0"/>
                            </a:rPr>
                            <m:t>)</m:t>
                          </m:r>
                        </m:den>
                      </m:f>
                    </m:oMath>
                  </m:oMathPara>
                </a14:m>
                <a:endParaRPr lang="en-ID"/>
              </a:p>
            </p:txBody>
          </p:sp>
        </mc:Choice>
        <mc:Fallback xmlns="">
          <p:sp>
            <p:nvSpPr>
              <p:cNvPr id="34821" name="Object 5">
                <a:extLst>
                  <a:ext uri="{FF2B5EF4-FFF2-40B4-BE49-F238E27FC236}">
                    <a16:creationId xmlns:a16="http://schemas.microsoft.com/office/drawing/2014/main" id="{8D88E227-4FFE-B24D-0B03-63F4ADDC955F}"/>
                  </a:ext>
                </a:extLst>
              </p:cNvPr>
              <p:cNvSpPr txBox="1">
                <a:spLocks noRot="1" noChangeAspect="1" noMove="1" noResize="1" noEditPoints="1" noAdjustHandles="1" noChangeArrowheads="1" noChangeShapeType="1" noTextEdit="1"/>
              </p:cNvSpPr>
              <p:nvPr>
                <p:ph sz="quarter" idx="3"/>
              </p:nvPr>
            </p:nvSpPr>
            <p:spPr bwMode="auto">
              <a:xfrm>
                <a:off x="3276600" y="2895600"/>
                <a:ext cx="2514600" cy="795338"/>
              </a:xfrm>
              <a:prstGeom prst="rect">
                <a:avLst/>
              </a:prstGeom>
              <a:blipFill>
                <a:blip r:embed="rId2"/>
                <a:stretch>
                  <a:fillRect/>
                </a:stretch>
              </a:blipFill>
              <a:ln>
                <a:noFill/>
              </a:ln>
              <a:effectLst/>
            </p:spPr>
            <p:txBody>
              <a:bodyPr/>
              <a:lstStyle/>
              <a:p>
                <a:r>
                  <a:rPr lang="en-ID">
                    <a:noFill/>
                  </a:rPr>
                  <a:t> </a:t>
                </a:r>
              </a:p>
            </p:txBody>
          </p:sp>
        </mc:Fallback>
      </mc:AlternateContent>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Number Placeholder 6">
            <a:extLst>
              <a:ext uri="{FF2B5EF4-FFF2-40B4-BE49-F238E27FC236}">
                <a16:creationId xmlns:a16="http://schemas.microsoft.com/office/drawing/2014/main" id="{EFA04AE0-1914-AB5A-CDCE-AC97D45390E7}"/>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5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4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9pPr>
          </a:lstStyle>
          <a:p>
            <a:pPr>
              <a:spcBef>
                <a:spcPct val="0"/>
              </a:spcBef>
              <a:buClrTx/>
              <a:buSzTx/>
              <a:buFontTx/>
              <a:buNone/>
            </a:pPr>
            <a:fld id="{B64C2DDB-498F-45E3-B0E4-DA96021E9EA3}" type="slidenum">
              <a:rPr lang="en-US" altLang="id-ID" sz="1200">
                <a:latin typeface="Arial Black" panose="020B0A04020102020204" pitchFamily="34" charset="0"/>
              </a:rPr>
              <a:pPr>
                <a:spcBef>
                  <a:spcPct val="0"/>
                </a:spcBef>
                <a:buClrTx/>
                <a:buSzTx/>
                <a:buFontTx/>
                <a:buNone/>
              </a:pPr>
              <a:t>30</a:t>
            </a:fld>
            <a:endParaRPr lang="en-US" altLang="id-ID" sz="1200">
              <a:latin typeface="Arial Black" panose="020B0A04020102020204" pitchFamily="34" charset="0"/>
            </a:endParaRPr>
          </a:p>
        </p:txBody>
      </p:sp>
      <p:sp>
        <p:nvSpPr>
          <p:cNvPr id="35843" name="Rectangle 2">
            <a:extLst>
              <a:ext uri="{FF2B5EF4-FFF2-40B4-BE49-F238E27FC236}">
                <a16:creationId xmlns:a16="http://schemas.microsoft.com/office/drawing/2014/main" id="{A9723F6B-56B6-F1A2-B4C4-50FBD03947FF}"/>
              </a:ext>
            </a:extLst>
          </p:cNvPr>
          <p:cNvSpPr>
            <a:spLocks noGrp="1" noChangeArrowheads="1"/>
          </p:cNvSpPr>
          <p:nvPr>
            <p:ph type="title"/>
          </p:nvPr>
        </p:nvSpPr>
        <p:spPr/>
        <p:txBody>
          <a:bodyPr/>
          <a:lstStyle/>
          <a:p>
            <a:pPr eaLnBrk="1" hangingPunct="1"/>
            <a:r>
              <a:rPr lang="en-US" altLang="id-ID"/>
              <a:t>M/G/1 Queues		</a:t>
            </a:r>
            <a:r>
              <a:rPr lang="en-US" altLang="id-ID" sz="2200">
                <a:solidFill>
                  <a:schemeClr val="bg2"/>
                </a:solidFill>
              </a:rPr>
              <a:t>[Steady-State of Markovian Model]</a:t>
            </a:r>
          </a:p>
        </p:txBody>
      </p:sp>
      <p:sp>
        <p:nvSpPr>
          <p:cNvPr id="35844" name="Rectangle 3">
            <a:extLst>
              <a:ext uri="{FF2B5EF4-FFF2-40B4-BE49-F238E27FC236}">
                <a16:creationId xmlns:a16="http://schemas.microsoft.com/office/drawing/2014/main" id="{8D6FB6DD-BEFD-1B43-793A-F05555554CF2}"/>
              </a:ext>
            </a:extLst>
          </p:cNvPr>
          <p:cNvSpPr>
            <a:spLocks noGrp="1" noChangeArrowheads="1"/>
          </p:cNvSpPr>
          <p:nvPr>
            <p:ph type="body" sz="half" idx="1"/>
          </p:nvPr>
        </p:nvSpPr>
        <p:spPr>
          <a:xfrm>
            <a:off x="457200" y="1447800"/>
            <a:ext cx="8458200" cy="5105400"/>
          </a:xfrm>
        </p:spPr>
        <p:txBody>
          <a:bodyPr/>
          <a:lstStyle/>
          <a:p>
            <a:pPr eaLnBrk="1" hangingPunct="1">
              <a:lnSpc>
                <a:spcPct val="80000"/>
              </a:lnSpc>
            </a:pPr>
            <a:r>
              <a:rPr lang="en-US" altLang="id-ID" sz="2000"/>
              <a:t>Example: Two workers competing for a job, Able claims to be faster than Baker on average, but Baker claims to be more consistent, </a:t>
            </a:r>
          </a:p>
          <a:p>
            <a:pPr lvl="1" eaLnBrk="1" hangingPunct="1">
              <a:lnSpc>
                <a:spcPct val="80000"/>
              </a:lnSpc>
            </a:pPr>
            <a:r>
              <a:rPr lang="en-US" altLang="id-ID" sz="1800"/>
              <a:t>Poisson arrivals at rate </a:t>
            </a:r>
            <a:r>
              <a:rPr lang="en-US" altLang="id-ID" sz="1800" i="1">
                <a:latin typeface="Symbol" panose="05050102010706020507" pitchFamily="18" charset="2"/>
              </a:rPr>
              <a:t>l</a:t>
            </a:r>
            <a:r>
              <a:rPr lang="en-US" altLang="id-ID" sz="1800" i="1"/>
              <a:t> = 2</a:t>
            </a:r>
            <a:r>
              <a:rPr lang="en-US" altLang="id-ID" sz="1800"/>
              <a:t> per hour (</a:t>
            </a:r>
            <a:r>
              <a:rPr lang="en-US" altLang="id-ID" sz="1800" i="1"/>
              <a:t>1/30</a:t>
            </a:r>
            <a:r>
              <a:rPr lang="en-US" altLang="id-ID" sz="1800"/>
              <a:t> per minute).</a:t>
            </a:r>
          </a:p>
          <a:p>
            <a:pPr lvl="1" eaLnBrk="1" hangingPunct="1">
              <a:lnSpc>
                <a:spcPct val="80000"/>
              </a:lnSpc>
            </a:pPr>
            <a:r>
              <a:rPr lang="en-US" altLang="id-ID" sz="1800"/>
              <a:t>Able: </a:t>
            </a:r>
            <a:r>
              <a:rPr lang="en-US" altLang="id-ID" sz="1800" i="1"/>
              <a:t>1/</a:t>
            </a:r>
            <a:r>
              <a:rPr lang="en-US" altLang="id-ID" sz="1800" i="1">
                <a:latin typeface="Symbol" panose="05050102010706020507" pitchFamily="18" charset="2"/>
              </a:rPr>
              <a:t>m</a:t>
            </a:r>
            <a:r>
              <a:rPr lang="en-US" altLang="id-ID" sz="1800" i="1"/>
              <a:t> = 24</a:t>
            </a:r>
            <a:r>
              <a:rPr lang="en-US" altLang="id-ID" sz="1800"/>
              <a:t> minutes and </a:t>
            </a:r>
            <a:r>
              <a:rPr lang="en-US" altLang="id-ID" sz="1800" i="1">
                <a:latin typeface="Symbol" panose="05050102010706020507" pitchFamily="18" charset="2"/>
              </a:rPr>
              <a:t>s</a:t>
            </a:r>
            <a:r>
              <a:rPr lang="en-US" altLang="id-ID" sz="1800" i="1" baseline="30000"/>
              <a:t>2</a:t>
            </a:r>
            <a:r>
              <a:rPr lang="en-US" altLang="id-ID" sz="1800" i="1"/>
              <a:t> = 20</a:t>
            </a:r>
            <a:r>
              <a:rPr lang="en-US" altLang="id-ID" sz="1800" i="1" baseline="30000"/>
              <a:t>2</a:t>
            </a:r>
            <a:r>
              <a:rPr lang="en-US" altLang="id-ID" sz="1800" i="1"/>
              <a:t> = 400</a:t>
            </a:r>
            <a:r>
              <a:rPr lang="en-US" altLang="id-ID" sz="1800"/>
              <a:t> minutes</a:t>
            </a:r>
            <a:r>
              <a:rPr lang="en-US" altLang="id-ID" sz="1800" baseline="30000"/>
              <a:t>2</a:t>
            </a:r>
            <a:r>
              <a:rPr lang="en-US" altLang="id-ID" sz="1800"/>
              <a:t>:</a:t>
            </a:r>
          </a:p>
          <a:p>
            <a:pPr lvl="2" eaLnBrk="1" hangingPunct="1">
              <a:lnSpc>
                <a:spcPct val="80000"/>
              </a:lnSpc>
            </a:pPr>
            <a:endParaRPr lang="en-US" altLang="id-ID" sz="1600"/>
          </a:p>
          <a:p>
            <a:pPr lvl="2" eaLnBrk="1" hangingPunct="1">
              <a:lnSpc>
                <a:spcPct val="80000"/>
              </a:lnSpc>
            </a:pPr>
            <a:endParaRPr lang="en-US" altLang="id-ID" sz="1600"/>
          </a:p>
          <a:p>
            <a:pPr lvl="2" eaLnBrk="1" hangingPunct="1">
              <a:lnSpc>
                <a:spcPct val="80000"/>
              </a:lnSpc>
            </a:pPr>
            <a:endParaRPr lang="en-US" altLang="id-ID" sz="1600"/>
          </a:p>
          <a:p>
            <a:pPr lvl="2" eaLnBrk="1" hangingPunct="1">
              <a:lnSpc>
                <a:spcPct val="80000"/>
              </a:lnSpc>
            </a:pPr>
            <a:endParaRPr lang="en-US" altLang="id-ID" sz="1600"/>
          </a:p>
          <a:p>
            <a:pPr lvl="2" eaLnBrk="1" hangingPunct="1">
              <a:lnSpc>
                <a:spcPct val="80000"/>
              </a:lnSpc>
            </a:pPr>
            <a:r>
              <a:rPr lang="en-US" altLang="id-ID" sz="1600"/>
              <a:t>The proportion of arrivals who find Able idle and thus experience no delay is </a:t>
            </a:r>
            <a:r>
              <a:rPr lang="en-US" altLang="id-ID" sz="1600" i="1"/>
              <a:t>P</a:t>
            </a:r>
            <a:r>
              <a:rPr lang="en-US" altLang="id-ID" sz="1600" i="1" baseline="-25000"/>
              <a:t>0</a:t>
            </a:r>
            <a:r>
              <a:rPr lang="en-US" altLang="id-ID" sz="1600" i="1"/>
              <a:t> = 1-</a:t>
            </a:r>
            <a:r>
              <a:rPr lang="en-US" altLang="id-ID" sz="1600" i="1">
                <a:latin typeface="Symbol" panose="05050102010706020507" pitchFamily="18" charset="2"/>
              </a:rPr>
              <a:t>r</a:t>
            </a:r>
            <a:r>
              <a:rPr lang="en-US" altLang="id-ID" sz="1600" i="1"/>
              <a:t> = 1/5 = 20%.</a:t>
            </a:r>
          </a:p>
          <a:p>
            <a:pPr lvl="1" eaLnBrk="1" hangingPunct="1">
              <a:lnSpc>
                <a:spcPct val="80000"/>
              </a:lnSpc>
            </a:pPr>
            <a:r>
              <a:rPr lang="en-US" altLang="id-ID" sz="1800"/>
              <a:t>Baker: </a:t>
            </a:r>
            <a:r>
              <a:rPr lang="en-US" altLang="id-ID" sz="1800" i="1"/>
              <a:t>1/</a:t>
            </a:r>
            <a:r>
              <a:rPr lang="en-US" altLang="id-ID" sz="1800" i="1">
                <a:latin typeface="Symbol" panose="05050102010706020507" pitchFamily="18" charset="2"/>
              </a:rPr>
              <a:t>m</a:t>
            </a:r>
            <a:r>
              <a:rPr lang="en-US" altLang="id-ID" sz="1800" i="1"/>
              <a:t> = 25 minutes</a:t>
            </a:r>
            <a:r>
              <a:rPr lang="en-US" altLang="id-ID" sz="1800"/>
              <a:t> and </a:t>
            </a:r>
            <a:r>
              <a:rPr lang="en-US" altLang="id-ID" sz="1800" i="1">
                <a:latin typeface="Symbol" panose="05050102010706020507" pitchFamily="18" charset="2"/>
              </a:rPr>
              <a:t>s</a:t>
            </a:r>
            <a:r>
              <a:rPr lang="en-US" altLang="id-ID" sz="1800" i="1" baseline="30000"/>
              <a:t>2</a:t>
            </a:r>
            <a:r>
              <a:rPr lang="en-US" altLang="id-ID" sz="1800" i="1"/>
              <a:t> = 2</a:t>
            </a:r>
            <a:r>
              <a:rPr lang="en-US" altLang="id-ID" sz="1800" i="1" baseline="30000"/>
              <a:t>2</a:t>
            </a:r>
            <a:r>
              <a:rPr lang="en-US" altLang="id-ID" sz="1800" i="1"/>
              <a:t> = 4</a:t>
            </a:r>
            <a:r>
              <a:rPr lang="en-US" altLang="id-ID" sz="1800"/>
              <a:t> minutes</a:t>
            </a:r>
            <a:r>
              <a:rPr lang="en-US" altLang="id-ID" sz="1800" baseline="30000"/>
              <a:t>2</a:t>
            </a:r>
            <a:r>
              <a:rPr lang="en-US" altLang="id-ID" sz="1800"/>
              <a:t>:</a:t>
            </a:r>
          </a:p>
          <a:p>
            <a:pPr lvl="2" eaLnBrk="1" hangingPunct="1">
              <a:lnSpc>
                <a:spcPct val="80000"/>
              </a:lnSpc>
            </a:pPr>
            <a:endParaRPr lang="en-US" altLang="id-ID" sz="1600"/>
          </a:p>
          <a:p>
            <a:pPr lvl="2" eaLnBrk="1" hangingPunct="1">
              <a:lnSpc>
                <a:spcPct val="80000"/>
              </a:lnSpc>
            </a:pPr>
            <a:endParaRPr lang="en-US" altLang="id-ID" sz="1600"/>
          </a:p>
          <a:p>
            <a:pPr lvl="2" eaLnBrk="1" hangingPunct="1">
              <a:lnSpc>
                <a:spcPct val="80000"/>
              </a:lnSpc>
            </a:pPr>
            <a:endParaRPr lang="en-US" altLang="id-ID" sz="1600"/>
          </a:p>
          <a:p>
            <a:pPr lvl="2" eaLnBrk="1" hangingPunct="1">
              <a:lnSpc>
                <a:spcPct val="80000"/>
              </a:lnSpc>
            </a:pPr>
            <a:endParaRPr lang="en-US" altLang="id-ID" sz="1600"/>
          </a:p>
          <a:p>
            <a:pPr lvl="2" eaLnBrk="1" hangingPunct="1">
              <a:lnSpc>
                <a:spcPct val="80000"/>
              </a:lnSpc>
            </a:pPr>
            <a:r>
              <a:rPr lang="en-US" altLang="id-ID" sz="1600"/>
              <a:t>The proportion of arrivals who find Baker idle and thus experience no delay is </a:t>
            </a:r>
            <a:r>
              <a:rPr lang="en-US" altLang="id-ID" sz="1600" i="1"/>
              <a:t>P</a:t>
            </a:r>
            <a:r>
              <a:rPr lang="en-US" altLang="id-ID" sz="1600" i="1" baseline="-25000"/>
              <a:t>0</a:t>
            </a:r>
            <a:r>
              <a:rPr lang="en-US" altLang="id-ID" sz="1600" i="1"/>
              <a:t> = 1-</a:t>
            </a:r>
            <a:r>
              <a:rPr lang="en-US" altLang="id-ID" sz="1600" i="1">
                <a:latin typeface="Symbol" panose="05050102010706020507" pitchFamily="18" charset="2"/>
              </a:rPr>
              <a:t>r</a:t>
            </a:r>
            <a:r>
              <a:rPr lang="en-US" altLang="id-ID" sz="1600" i="1"/>
              <a:t> = 1/6 = 16.7%.</a:t>
            </a:r>
            <a:endParaRPr lang="en-US" altLang="id-ID" sz="1600"/>
          </a:p>
          <a:p>
            <a:pPr lvl="1" eaLnBrk="1" hangingPunct="1">
              <a:lnSpc>
                <a:spcPct val="80000"/>
              </a:lnSpc>
            </a:pPr>
            <a:r>
              <a:rPr lang="en-US" altLang="id-ID" sz="1800"/>
              <a:t>Although working faster on average, Able’s greater service variability results in an average queue length about </a:t>
            </a:r>
            <a:r>
              <a:rPr lang="en-US" altLang="id-ID" sz="1800" i="1"/>
              <a:t>30%</a:t>
            </a:r>
            <a:r>
              <a:rPr lang="en-US" altLang="id-ID" sz="1800"/>
              <a:t> greater than Baker’s.</a:t>
            </a:r>
          </a:p>
        </p:txBody>
      </p:sp>
      <mc:AlternateContent xmlns:mc="http://schemas.openxmlformats.org/markup-compatibility/2006" xmlns:a14="http://schemas.microsoft.com/office/drawing/2010/main">
        <mc:Choice Requires="a14">
          <p:sp>
            <p:nvSpPr>
              <p:cNvPr id="35845" name="Object 6">
                <a:extLst>
                  <a:ext uri="{FF2B5EF4-FFF2-40B4-BE49-F238E27FC236}">
                    <a16:creationId xmlns:a16="http://schemas.microsoft.com/office/drawing/2014/main" id="{775E62CA-6145-3B2C-4006-47BC8C5341FD}"/>
                  </a:ext>
                </a:extLst>
              </p:cNvPr>
              <p:cNvSpPr txBox="1">
                <a:spLocks noGrp="1"/>
              </p:cNvSpPr>
              <p:nvPr>
                <p:ph sz="quarter" idx="2"/>
              </p:nvPr>
            </p:nvSpPr>
            <p:spPr bwMode="auto">
              <a:xfrm>
                <a:off x="2362200" y="2667000"/>
                <a:ext cx="3810000" cy="679450"/>
              </a:xfrm>
              <a:prstGeom prst="rect">
                <a:avLst/>
              </a:prstGeom>
              <a:noFill/>
              <a:ln>
                <a:noFill/>
              </a:ln>
              <a:effectLst/>
            </p:spPr>
            <p:txBody>
              <a:bodyPr>
                <a:normAutofit fontScale="47500" lnSpcReduction="20000"/>
              </a:bodyPr>
              <a:lstStyle/>
              <a:p>
                <a:pPr>
                  <a:buNone/>
                </a:pPr>
                <a14:m>
                  <m:oMathPara xmlns:m="http://schemas.openxmlformats.org/officeDocument/2006/math">
                    <m:oMathParaPr>
                      <m:jc m:val="left"/>
                    </m:oMathParaPr>
                    <m:oMath xmlns:m="http://schemas.openxmlformats.org/officeDocument/2006/math">
                      <m:sSub>
                        <m:sSubPr>
                          <m:ctrlPr>
                            <a:rPr lang="en-ID" i="1">
                              <a:solidFill>
                                <a:srgbClr val="000000"/>
                              </a:solidFill>
                              <a:latin typeface="Cambria Math" panose="02040503050406030204" pitchFamily="18" charset="0"/>
                            </a:rPr>
                          </m:ctrlPr>
                        </m:sSubPr>
                        <m:e>
                          <m:r>
                            <a:rPr lang="en-ID" i="1">
                              <a:solidFill>
                                <a:srgbClr val="000000"/>
                              </a:solidFill>
                              <a:latin typeface="Cambria Math" panose="02040503050406030204" pitchFamily="18" charset="0"/>
                            </a:rPr>
                            <m:t>𝐿</m:t>
                          </m:r>
                        </m:e>
                        <m:sub>
                          <m:r>
                            <a:rPr lang="en-ID" i="1">
                              <a:solidFill>
                                <a:srgbClr val="000000"/>
                              </a:solidFill>
                              <a:latin typeface="Cambria Math" panose="02040503050406030204" pitchFamily="18" charset="0"/>
                            </a:rPr>
                            <m:t>𝑄</m:t>
                          </m:r>
                        </m:sub>
                      </m:sSub>
                      <m:r>
                        <a:rPr lang="en-ID" i="1">
                          <a:solidFill>
                            <a:srgbClr val="000000"/>
                          </a:solidFill>
                          <a:latin typeface="Cambria Math" panose="02040503050406030204" pitchFamily="18" charset="0"/>
                        </a:rPr>
                        <m:t>=</m:t>
                      </m:r>
                      <m:f>
                        <m:fPr>
                          <m:ctrlPr>
                            <a:rPr lang="en-ID" i="1">
                              <a:solidFill>
                                <a:srgbClr val="000000"/>
                              </a:solidFill>
                              <a:latin typeface="Cambria Math" panose="02040503050406030204" pitchFamily="18" charset="0"/>
                            </a:rPr>
                          </m:ctrlPr>
                        </m:fPr>
                        <m:num>
                          <m:r>
                            <a:rPr lang="en-ID" i="1">
                              <a:solidFill>
                                <a:srgbClr val="000000"/>
                              </a:solidFill>
                              <a:latin typeface="Cambria Math" panose="02040503050406030204" pitchFamily="18" charset="0"/>
                            </a:rPr>
                            <m:t>(1/30</m:t>
                          </m:r>
                          <m:sSup>
                            <m:sSupPr>
                              <m:ctrlPr>
                                <a:rPr lang="en-ID" i="1">
                                  <a:solidFill>
                                    <a:srgbClr val="000000"/>
                                  </a:solidFill>
                                  <a:latin typeface="Cambria Math" panose="02040503050406030204" pitchFamily="18" charset="0"/>
                                </a:rPr>
                              </m:ctrlPr>
                            </m:sSupPr>
                            <m:e>
                              <m:r>
                                <a:rPr lang="en-ID" i="1">
                                  <a:solidFill>
                                    <a:srgbClr val="000000"/>
                                  </a:solidFill>
                                  <a:latin typeface="Cambria Math" panose="02040503050406030204" pitchFamily="18" charset="0"/>
                                </a:rPr>
                                <m:t>)</m:t>
                              </m:r>
                            </m:e>
                            <m:sup>
                              <m:r>
                                <a:rPr lang="en-ID" i="1">
                                  <a:solidFill>
                                    <a:srgbClr val="000000"/>
                                  </a:solidFill>
                                  <a:latin typeface="Cambria Math" panose="02040503050406030204" pitchFamily="18" charset="0"/>
                                </a:rPr>
                                <m:t>2</m:t>
                              </m:r>
                            </m:sup>
                          </m:sSup>
                          <m:r>
                            <a:rPr lang="en-ID" i="1">
                              <a:solidFill>
                                <a:srgbClr val="000000"/>
                              </a:solidFill>
                              <a:latin typeface="Cambria Math" panose="02040503050406030204" pitchFamily="18" charset="0"/>
                            </a:rPr>
                            <m:t>[2</m:t>
                          </m:r>
                          <m:sSup>
                            <m:sSupPr>
                              <m:ctrlPr>
                                <a:rPr lang="en-ID" i="1">
                                  <a:solidFill>
                                    <a:srgbClr val="000000"/>
                                  </a:solidFill>
                                  <a:latin typeface="Cambria Math" panose="02040503050406030204" pitchFamily="18" charset="0"/>
                                </a:rPr>
                              </m:ctrlPr>
                            </m:sSupPr>
                            <m:e>
                              <m:r>
                                <a:rPr lang="en-ID" i="1">
                                  <a:solidFill>
                                    <a:srgbClr val="000000"/>
                                  </a:solidFill>
                                  <a:latin typeface="Cambria Math" panose="02040503050406030204" pitchFamily="18" charset="0"/>
                                </a:rPr>
                                <m:t>4</m:t>
                              </m:r>
                            </m:e>
                            <m:sup>
                              <m:r>
                                <a:rPr lang="en-ID" i="1">
                                  <a:solidFill>
                                    <a:srgbClr val="000000"/>
                                  </a:solidFill>
                                  <a:latin typeface="Cambria Math" panose="02040503050406030204" pitchFamily="18" charset="0"/>
                                </a:rPr>
                                <m:t>2</m:t>
                              </m:r>
                            </m:sup>
                          </m:sSup>
                          <m:r>
                            <a:rPr lang="en-ID" i="1">
                              <a:solidFill>
                                <a:srgbClr val="000000"/>
                              </a:solidFill>
                              <a:latin typeface="Cambria Math" panose="02040503050406030204" pitchFamily="18" charset="0"/>
                            </a:rPr>
                            <m:t>+400]</m:t>
                          </m:r>
                        </m:num>
                        <m:den>
                          <m:r>
                            <a:rPr lang="en-ID" i="1">
                              <a:solidFill>
                                <a:srgbClr val="000000"/>
                              </a:solidFill>
                              <a:latin typeface="Cambria Math" panose="02040503050406030204" pitchFamily="18" charset="0"/>
                            </a:rPr>
                            <m:t>2(1−4/5)</m:t>
                          </m:r>
                        </m:den>
                      </m:f>
                      <m:r>
                        <a:rPr lang="en-ID" i="1">
                          <a:solidFill>
                            <a:srgbClr val="000000"/>
                          </a:solidFill>
                          <a:latin typeface="Cambria Math" panose="02040503050406030204" pitchFamily="18" charset="0"/>
                        </a:rPr>
                        <m:t>=2.711</m:t>
                      </m:r>
                      <m:r>
                        <m:rPr>
                          <m:nor/>
                        </m:rPr>
                        <a:rPr lang="en-ID" i="0">
                          <a:solidFill>
                            <a:srgbClr val="000000"/>
                          </a:solidFill>
                          <a:latin typeface="Cambria Math" panose="02040503050406030204" pitchFamily="18" charset="0"/>
                        </a:rPr>
                        <m:t> </m:t>
                      </m:r>
                      <m:r>
                        <m:rPr>
                          <m:nor/>
                        </m:rPr>
                        <a:rPr lang="en-ID" i="0">
                          <a:solidFill>
                            <a:srgbClr val="000000"/>
                          </a:solidFill>
                          <a:latin typeface="Cambria Math" panose="02040503050406030204" pitchFamily="18" charset="0"/>
                        </a:rPr>
                        <m:t>customers</m:t>
                      </m:r>
                    </m:oMath>
                  </m:oMathPara>
                </a14:m>
                <a:endParaRPr lang="en-ID"/>
              </a:p>
            </p:txBody>
          </p:sp>
        </mc:Choice>
        <mc:Fallback xmlns="">
          <p:sp>
            <p:nvSpPr>
              <p:cNvPr id="35845" name="Object 6">
                <a:extLst>
                  <a:ext uri="{FF2B5EF4-FFF2-40B4-BE49-F238E27FC236}">
                    <a16:creationId xmlns:a16="http://schemas.microsoft.com/office/drawing/2014/main" id="{775E62CA-6145-3B2C-4006-47BC8C5341FD}"/>
                  </a:ext>
                </a:extLst>
              </p:cNvPr>
              <p:cNvSpPr txBox="1">
                <a:spLocks noRot="1" noChangeAspect="1" noMove="1" noResize="1" noEditPoints="1" noAdjustHandles="1" noChangeArrowheads="1" noChangeShapeType="1" noTextEdit="1"/>
              </p:cNvSpPr>
              <p:nvPr>
                <p:ph sz="quarter" idx="2"/>
              </p:nvPr>
            </p:nvSpPr>
            <p:spPr bwMode="auto">
              <a:xfrm>
                <a:off x="2362200" y="2667000"/>
                <a:ext cx="3810000" cy="679450"/>
              </a:xfrm>
              <a:prstGeom prst="rect">
                <a:avLst/>
              </a:prstGeom>
              <a:blipFill>
                <a:blip r:embed="rId2"/>
                <a:stretch>
                  <a:fillRect/>
                </a:stretch>
              </a:blipFill>
              <a:ln>
                <a:noFill/>
              </a:ln>
              <a:effectLst/>
            </p:spPr>
            <p:txBody>
              <a:bodyPr/>
              <a:lstStyle/>
              <a:p>
                <a:r>
                  <a:rPr lang="en-ID">
                    <a:noFill/>
                  </a:rPr>
                  <a:t> </a:t>
                </a:r>
              </a:p>
            </p:txBody>
          </p:sp>
        </mc:Fallback>
      </mc:AlternateContent>
      <mc:AlternateContent xmlns:mc="http://schemas.openxmlformats.org/markup-compatibility/2006" xmlns:a14="http://schemas.microsoft.com/office/drawing/2010/main">
        <mc:Choice Requires="a14">
          <p:sp>
            <p:nvSpPr>
              <p:cNvPr id="35846" name="Object 13">
                <a:extLst>
                  <a:ext uri="{FF2B5EF4-FFF2-40B4-BE49-F238E27FC236}">
                    <a16:creationId xmlns:a16="http://schemas.microsoft.com/office/drawing/2014/main" id="{DB0D4F57-EDB5-465C-15E9-DA0343F13EBF}"/>
                  </a:ext>
                </a:extLst>
              </p:cNvPr>
              <p:cNvSpPr txBox="1">
                <a:spLocks noGrp="1"/>
              </p:cNvSpPr>
              <p:nvPr>
                <p:ph sz="quarter" idx="3"/>
              </p:nvPr>
            </p:nvSpPr>
            <p:spPr bwMode="auto">
              <a:xfrm>
                <a:off x="2438400" y="4419600"/>
                <a:ext cx="3617913" cy="681038"/>
              </a:xfrm>
              <a:prstGeom prst="rect">
                <a:avLst/>
              </a:prstGeom>
              <a:noFill/>
              <a:ln>
                <a:noFill/>
              </a:ln>
              <a:effectLst/>
            </p:spPr>
            <p:txBody>
              <a:bodyPr>
                <a:normAutofit fontScale="47500" lnSpcReduction="20000"/>
              </a:bodyPr>
              <a:lstStyle/>
              <a:p>
                <a:pPr>
                  <a:buNone/>
                </a:pPr>
                <a14:m>
                  <m:oMathPara xmlns:m="http://schemas.openxmlformats.org/officeDocument/2006/math">
                    <m:oMathParaPr>
                      <m:jc m:val="left"/>
                    </m:oMathParaPr>
                    <m:oMath xmlns:m="http://schemas.openxmlformats.org/officeDocument/2006/math">
                      <m:sSub>
                        <m:sSubPr>
                          <m:ctrlPr>
                            <a:rPr lang="en-ID" i="1">
                              <a:solidFill>
                                <a:srgbClr val="000000"/>
                              </a:solidFill>
                              <a:latin typeface="Cambria Math" panose="02040503050406030204" pitchFamily="18" charset="0"/>
                            </a:rPr>
                          </m:ctrlPr>
                        </m:sSubPr>
                        <m:e>
                          <m:r>
                            <a:rPr lang="en-ID" i="1">
                              <a:solidFill>
                                <a:srgbClr val="000000"/>
                              </a:solidFill>
                              <a:latin typeface="Cambria Math" panose="02040503050406030204" pitchFamily="18" charset="0"/>
                            </a:rPr>
                            <m:t>𝐿</m:t>
                          </m:r>
                        </m:e>
                        <m:sub>
                          <m:r>
                            <a:rPr lang="en-ID" i="1">
                              <a:solidFill>
                                <a:srgbClr val="000000"/>
                              </a:solidFill>
                              <a:latin typeface="Cambria Math" panose="02040503050406030204" pitchFamily="18" charset="0"/>
                            </a:rPr>
                            <m:t>𝑄</m:t>
                          </m:r>
                        </m:sub>
                      </m:sSub>
                      <m:r>
                        <a:rPr lang="en-ID" i="1">
                          <a:solidFill>
                            <a:srgbClr val="000000"/>
                          </a:solidFill>
                          <a:latin typeface="Cambria Math" panose="02040503050406030204" pitchFamily="18" charset="0"/>
                        </a:rPr>
                        <m:t>=</m:t>
                      </m:r>
                      <m:f>
                        <m:fPr>
                          <m:ctrlPr>
                            <a:rPr lang="en-ID" i="1">
                              <a:solidFill>
                                <a:srgbClr val="000000"/>
                              </a:solidFill>
                              <a:latin typeface="Cambria Math" panose="02040503050406030204" pitchFamily="18" charset="0"/>
                            </a:rPr>
                          </m:ctrlPr>
                        </m:fPr>
                        <m:num>
                          <m:r>
                            <a:rPr lang="en-ID" i="1">
                              <a:solidFill>
                                <a:srgbClr val="000000"/>
                              </a:solidFill>
                              <a:latin typeface="Cambria Math" panose="02040503050406030204" pitchFamily="18" charset="0"/>
                            </a:rPr>
                            <m:t>(1/30</m:t>
                          </m:r>
                          <m:sSup>
                            <m:sSupPr>
                              <m:ctrlPr>
                                <a:rPr lang="en-ID" i="1">
                                  <a:solidFill>
                                    <a:srgbClr val="000000"/>
                                  </a:solidFill>
                                  <a:latin typeface="Cambria Math" panose="02040503050406030204" pitchFamily="18" charset="0"/>
                                </a:rPr>
                              </m:ctrlPr>
                            </m:sSupPr>
                            <m:e>
                              <m:r>
                                <a:rPr lang="en-ID" i="1">
                                  <a:solidFill>
                                    <a:srgbClr val="000000"/>
                                  </a:solidFill>
                                  <a:latin typeface="Cambria Math" panose="02040503050406030204" pitchFamily="18" charset="0"/>
                                </a:rPr>
                                <m:t>)</m:t>
                              </m:r>
                            </m:e>
                            <m:sup>
                              <m:r>
                                <a:rPr lang="en-ID" i="1">
                                  <a:solidFill>
                                    <a:srgbClr val="000000"/>
                                  </a:solidFill>
                                  <a:latin typeface="Cambria Math" panose="02040503050406030204" pitchFamily="18" charset="0"/>
                                </a:rPr>
                                <m:t>2</m:t>
                              </m:r>
                            </m:sup>
                          </m:sSup>
                          <m:r>
                            <a:rPr lang="en-ID" i="1">
                              <a:solidFill>
                                <a:srgbClr val="000000"/>
                              </a:solidFill>
                              <a:latin typeface="Cambria Math" panose="02040503050406030204" pitchFamily="18" charset="0"/>
                            </a:rPr>
                            <m:t>[2</m:t>
                          </m:r>
                          <m:sSup>
                            <m:sSupPr>
                              <m:ctrlPr>
                                <a:rPr lang="en-ID" i="1">
                                  <a:solidFill>
                                    <a:srgbClr val="000000"/>
                                  </a:solidFill>
                                  <a:latin typeface="Cambria Math" panose="02040503050406030204" pitchFamily="18" charset="0"/>
                                </a:rPr>
                              </m:ctrlPr>
                            </m:sSupPr>
                            <m:e>
                              <m:r>
                                <a:rPr lang="en-ID" i="1">
                                  <a:solidFill>
                                    <a:srgbClr val="000000"/>
                                  </a:solidFill>
                                  <a:latin typeface="Cambria Math" panose="02040503050406030204" pitchFamily="18" charset="0"/>
                                </a:rPr>
                                <m:t>5</m:t>
                              </m:r>
                            </m:e>
                            <m:sup>
                              <m:r>
                                <a:rPr lang="en-ID" i="1">
                                  <a:solidFill>
                                    <a:srgbClr val="000000"/>
                                  </a:solidFill>
                                  <a:latin typeface="Cambria Math" panose="02040503050406030204" pitchFamily="18" charset="0"/>
                                </a:rPr>
                                <m:t>2</m:t>
                              </m:r>
                            </m:sup>
                          </m:sSup>
                          <m:r>
                            <a:rPr lang="en-ID" i="1">
                              <a:solidFill>
                                <a:srgbClr val="000000"/>
                              </a:solidFill>
                              <a:latin typeface="Cambria Math" panose="02040503050406030204" pitchFamily="18" charset="0"/>
                            </a:rPr>
                            <m:t>+4]</m:t>
                          </m:r>
                        </m:num>
                        <m:den>
                          <m:r>
                            <a:rPr lang="en-ID" i="1">
                              <a:solidFill>
                                <a:srgbClr val="000000"/>
                              </a:solidFill>
                              <a:latin typeface="Cambria Math" panose="02040503050406030204" pitchFamily="18" charset="0"/>
                            </a:rPr>
                            <m:t>2(1−5/6)</m:t>
                          </m:r>
                        </m:den>
                      </m:f>
                      <m:r>
                        <a:rPr lang="en-ID" i="1">
                          <a:solidFill>
                            <a:srgbClr val="000000"/>
                          </a:solidFill>
                          <a:latin typeface="Cambria Math" panose="02040503050406030204" pitchFamily="18" charset="0"/>
                        </a:rPr>
                        <m:t>=2.097</m:t>
                      </m:r>
                      <m:r>
                        <m:rPr>
                          <m:nor/>
                        </m:rPr>
                        <a:rPr lang="en-ID" i="0">
                          <a:solidFill>
                            <a:srgbClr val="000000"/>
                          </a:solidFill>
                          <a:latin typeface="Cambria Math" panose="02040503050406030204" pitchFamily="18" charset="0"/>
                        </a:rPr>
                        <m:t> </m:t>
                      </m:r>
                      <m:r>
                        <m:rPr>
                          <m:nor/>
                        </m:rPr>
                        <a:rPr lang="en-ID" i="0">
                          <a:solidFill>
                            <a:srgbClr val="000000"/>
                          </a:solidFill>
                          <a:latin typeface="Cambria Math" panose="02040503050406030204" pitchFamily="18" charset="0"/>
                        </a:rPr>
                        <m:t>customers</m:t>
                      </m:r>
                    </m:oMath>
                  </m:oMathPara>
                </a14:m>
                <a:endParaRPr lang="en-ID"/>
              </a:p>
            </p:txBody>
          </p:sp>
        </mc:Choice>
        <mc:Fallback xmlns="">
          <p:sp>
            <p:nvSpPr>
              <p:cNvPr id="35846" name="Object 13">
                <a:extLst>
                  <a:ext uri="{FF2B5EF4-FFF2-40B4-BE49-F238E27FC236}">
                    <a16:creationId xmlns:a16="http://schemas.microsoft.com/office/drawing/2014/main" id="{DB0D4F57-EDB5-465C-15E9-DA0343F13EBF}"/>
                  </a:ext>
                </a:extLst>
              </p:cNvPr>
              <p:cNvSpPr txBox="1">
                <a:spLocks noRot="1" noChangeAspect="1" noMove="1" noResize="1" noEditPoints="1" noAdjustHandles="1" noChangeArrowheads="1" noChangeShapeType="1" noTextEdit="1"/>
              </p:cNvSpPr>
              <p:nvPr>
                <p:ph sz="quarter" idx="3"/>
              </p:nvPr>
            </p:nvSpPr>
            <p:spPr bwMode="auto">
              <a:xfrm>
                <a:off x="2438400" y="4419600"/>
                <a:ext cx="3617913" cy="681038"/>
              </a:xfrm>
              <a:prstGeom prst="rect">
                <a:avLst/>
              </a:prstGeom>
              <a:blipFill>
                <a:blip r:embed="rId3"/>
                <a:stretch>
                  <a:fillRect/>
                </a:stretch>
              </a:blipFill>
              <a:ln>
                <a:noFill/>
              </a:ln>
              <a:effectLst/>
            </p:spPr>
            <p:txBody>
              <a:bodyPr/>
              <a:lstStyle/>
              <a:p>
                <a:r>
                  <a:rPr lang="en-ID">
                    <a:noFill/>
                  </a:rPr>
                  <a:t> </a:t>
                </a:r>
              </a:p>
            </p:txBody>
          </p:sp>
        </mc:Fallback>
      </mc:AlternateContent>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Number Placeholder 6">
            <a:extLst>
              <a:ext uri="{FF2B5EF4-FFF2-40B4-BE49-F238E27FC236}">
                <a16:creationId xmlns:a16="http://schemas.microsoft.com/office/drawing/2014/main" id="{2A88469C-D957-F3C5-7882-8A8CFBC9AE6C}"/>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5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4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9pPr>
          </a:lstStyle>
          <a:p>
            <a:pPr>
              <a:spcBef>
                <a:spcPct val="0"/>
              </a:spcBef>
              <a:buClrTx/>
              <a:buSzTx/>
              <a:buFontTx/>
              <a:buNone/>
            </a:pPr>
            <a:fld id="{3DF66599-BB45-456C-82EF-DDF144F7910E}" type="slidenum">
              <a:rPr lang="en-US" altLang="id-ID" sz="1200">
                <a:latin typeface="Arial Black" panose="020B0A04020102020204" pitchFamily="34" charset="0"/>
              </a:rPr>
              <a:pPr>
                <a:spcBef>
                  <a:spcPct val="0"/>
                </a:spcBef>
                <a:buClrTx/>
                <a:buSzTx/>
                <a:buFontTx/>
                <a:buNone/>
              </a:pPr>
              <a:t>31</a:t>
            </a:fld>
            <a:endParaRPr lang="en-US" altLang="id-ID" sz="1200">
              <a:latin typeface="Arial Black" panose="020B0A04020102020204" pitchFamily="34" charset="0"/>
            </a:endParaRPr>
          </a:p>
        </p:txBody>
      </p:sp>
      <p:sp>
        <p:nvSpPr>
          <p:cNvPr id="36867" name="Rectangle 2">
            <a:extLst>
              <a:ext uri="{FF2B5EF4-FFF2-40B4-BE49-F238E27FC236}">
                <a16:creationId xmlns:a16="http://schemas.microsoft.com/office/drawing/2014/main" id="{75DF357F-A4EE-DD8E-806C-9702A681D3FE}"/>
              </a:ext>
            </a:extLst>
          </p:cNvPr>
          <p:cNvSpPr>
            <a:spLocks noGrp="1" noChangeArrowheads="1"/>
          </p:cNvSpPr>
          <p:nvPr>
            <p:ph type="title"/>
          </p:nvPr>
        </p:nvSpPr>
        <p:spPr/>
        <p:txBody>
          <a:bodyPr/>
          <a:lstStyle/>
          <a:p>
            <a:pPr eaLnBrk="1" hangingPunct="1"/>
            <a:r>
              <a:rPr lang="en-US" altLang="id-ID"/>
              <a:t>M/M/1 Queues	</a:t>
            </a:r>
            <a:r>
              <a:rPr lang="en-US" altLang="id-ID" sz="2200"/>
              <a:t>	</a:t>
            </a:r>
            <a:r>
              <a:rPr lang="en-US" altLang="id-ID" sz="2200">
                <a:solidFill>
                  <a:schemeClr val="bg2"/>
                </a:solidFill>
              </a:rPr>
              <a:t>[Steady-State of Markovian Model]</a:t>
            </a:r>
          </a:p>
        </p:txBody>
      </p:sp>
      <p:sp>
        <p:nvSpPr>
          <p:cNvPr id="36868" name="Rectangle 3">
            <a:extLst>
              <a:ext uri="{FF2B5EF4-FFF2-40B4-BE49-F238E27FC236}">
                <a16:creationId xmlns:a16="http://schemas.microsoft.com/office/drawing/2014/main" id="{15593F8F-D0EE-33C0-6470-10314A6F7983}"/>
              </a:ext>
            </a:extLst>
          </p:cNvPr>
          <p:cNvSpPr>
            <a:spLocks noGrp="1" noChangeArrowheads="1"/>
          </p:cNvSpPr>
          <p:nvPr>
            <p:ph type="body" sz="half" idx="1"/>
          </p:nvPr>
        </p:nvSpPr>
        <p:spPr>
          <a:xfrm>
            <a:off x="457200" y="1447800"/>
            <a:ext cx="8305800" cy="5029200"/>
          </a:xfrm>
        </p:spPr>
        <p:txBody>
          <a:bodyPr/>
          <a:lstStyle/>
          <a:p>
            <a:pPr eaLnBrk="1" hangingPunct="1"/>
            <a:r>
              <a:rPr lang="en-US" altLang="id-ID" sz="2400"/>
              <a:t>Suppose the service times in an </a:t>
            </a:r>
            <a:r>
              <a:rPr lang="en-US" altLang="id-ID" sz="2400" i="1"/>
              <a:t>M/G/1</a:t>
            </a:r>
            <a:r>
              <a:rPr lang="en-US" altLang="id-ID" sz="2400"/>
              <a:t> queue are exponentially distributed with mean </a:t>
            </a:r>
            <a:r>
              <a:rPr lang="en-US" altLang="id-ID" sz="2400" i="1"/>
              <a:t>1/</a:t>
            </a:r>
            <a:r>
              <a:rPr lang="en-US" altLang="id-ID" sz="2400" i="1">
                <a:latin typeface="Symbol" panose="05050102010706020507" pitchFamily="18" charset="2"/>
              </a:rPr>
              <a:t>m</a:t>
            </a:r>
            <a:r>
              <a:rPr lang="en-US" altLang="id-ID" sz="2400"/>
              <a:t>, then the variance is </a:t>
            </a:r>
            <a:r>
              <a:rPr lang="en-US" altLang="id-ID" sz="2400" i="1">
                <a:latin typeface="Symbol" panose="05050102010706020507" pitchFamily="18" charset="2"/>
              </a:rPr>
              <a:t>s</a:t>
            </a:r>
            <a:r>
              <a:rPr lang="en-US" altLang="id-ID" sz="2400" i="1" baseline="30000"/>
              <a:t>2</a:t>
            </a:r>
            <a:r>
              <a:rPr lang="en-US" altLang="id-ID" sz="2400" i="1"/>
              <a:t> = 1/</a:t>
            </a:r>
            <a:r>
              <a:rPr lang="en-US" altLang="id-ID" sz="2400" i="1">
                <a:latin typeface="Symbol" panose="05050102010706020507" pitchFamily="18" charset="2"/>
              </a:rPr>
              <a:t>m</a:t>
            </a:r>
            <a:r>
              <a:rPr lang="en-US" altLang="id-ID" sz="2400" i="1" baseline="30000"/>
              <a:t>2</a:t>
            </a:r>
            <a:r>
              <a:rPr lang="en-US" altLang="id-ID" sz="2400"/>
              <a:t>. </a:t>
            </a:r>
          </a:p>
          <a:p>
            <a:pPr lvl="1" eaLnBrk="1" hangingPunct="1"/>
            <a:r>
              <a:rPr lang="en-US" altLang="id-ID" sz="2200" i="1"/>
              <a:t>M/M/1 </a:t>
            </a:r>
            <a:r>
              <a:rPr lang="en-US" altLang="id-ID" sz="2200"/>
              <a:t>queue is a useful approximate model when service times have standard deviation approximately equal to their means.</a:t>
            </a:r>
          </a:p>
          <a:p>
            <a:pPr lvl="1" eaLnBrk="1" hangingPunct="1"/>
            <a:r>
              <a:rPr lang="en-US" altLang="id-ID" sz="2200"/>
              <a:t>The steady-state parameters:</a:t>
            </a:r>
          </a:p>
        </p:txBody>
      </p:sp>
      <mc:AlternateContent xmlns:mc="http://schemas.openxmlformats.org/markup-compatibility/2006" xmlns:a14="http://schemas.microsoft.com/office/drawing/2010/main">
        <mc:Choice Requires="a14">
          <p:sp>
            <p:nvSpPr>
              <p:cNvPr id="36869" name="Object 8">
                <a:extLst>
                  <a:ext uri="{FF2B5EF4-FFF2-40B4-BE49-F238E27FC236}">
                    <a16:creationId xmlns:a16="http://schemas.microsoft.com/office/drawing/2014/main" id="{CBFAA043-56A2-0A0E-9615-B48A36818CD4}"/>
                  </a:ext>
                </a:extLst>
              </p:cNvPr>
              <p:cNvSpPr txBox="1">
                <a:spLocks noGrp="1"/>
              </p:cNvSpPr>
              <p:nvPr>
                <p:ph sz="quarter" idx="2"/>
              </p:nvPr>
            </p:nvSpPr>
            <p:spPr bwMode="auto">
              <a:xfrm>
                <a:off x="2133600" y="4181475"/>
                <a:ext cx="4724400" cy="1782763"/>
              </a:xfrm>
              <a:prstGeom prst="rect">
                <a:avLst/>
              </a:prstGeom>
              <a:noFill/>
              <a:ln>
                <a:noFill/>
              </a:ln>
              <a:effectLst/>
            </p:spPr>
            <p:txBody>
              <a:bodyPr>
                <a:normAutofit fontScale="55000" lnSpcReduction="20000"/>
              </a:bodyPr>
              <a:lstStyle/>
              <a:p>
                <a:pPr>
                  <a:buNone/>
                </a:pPr>
                <a14:m>
                  <m:oMathPara xmlns:m="http://schemas.openxmlformats.org/officeDocument/2006/math">
                    <m:oMathParaPr>
                      <m:jc m:val="left"/>
                    </m:oMathParaPr>
                    <m:oMath xmlns:m="http://schemas.openxmlformats.org/officeDocument/2006/math">
                      <m:r>
                        <a:rPr lang="en-ID" i="1">
                          <a:solidFill>
                            <a:srgbClr val="000000"/>
                          </a:solidFill>
                          <a:latin typeface="Cambria Math" panose="02040503050406030204" pitchFamily="18" charset="0"/>
                        </a:rPr>
                        <m:t>𝜌</m:t>
                      </m:r>
                      <m:r>
                        <a:rPr lang="en-ID" i="1">
                          <a:solidFill>
                            <a:srgbClr val="000000"/>
                          </a:solidFill>
                          <a:latin typeface="Cambria Math" panose="02040503050406030204" pitchFamily="18" charset="0"/>
                        </a:rPr>
                        <m:t>=</m:t>
                      </m:r>
                      <m:r>
                        <a:rPr lang="en-ID" i="1">
                          <a:solidFill>
                            <a:srgbClr val="000000"/>
                          </a:solidFill>
                          <a:latin typeface="Cambria Math" panose="02040503050406030204" pitchFamily="18" charset="0"/>
                        </a:rPr>
                        <m:t>𝜆</m:t>
                      </m:r>
                      <m:r>
                        <a:rPr lang="en-ID" i="1">
                          <a:solidFill>
                            <a:srgbClr val="000000"/>
                          </a:solidFill>
                          <a:latin typeface="Cambria Math" panose="02040503050406030204" pitchFamily="18" charset="0"/>
                        </a:rPr>
                        <m:t>/</m:t>
                      </m:r>
                      <m:r>
                        <a:rPr lang="en-ID" i="1">
                          <a:solidFill>
                            <a:srgbClr val="000000"/>
                          </a:solidFill>
                          <a:latin typeface="Cambria Math" panose="02040503050406030204" pitchFamily="18" charset="0"/>
                        </a:rPr>
                        <m:t>𝜇</m:t>
                      </m:r>
                      <m:r>
                        <a:rPr lang="en-ID" i="1">
                          <a:solidFill>
                            <a:srgbClr val="000000"/>
                          </a:solidFill>
                          <a:latin typeface="Cambria Math" panose="02040503050406030204" pitchFamily="18" charset="0"/>
                        </a:rPr>
                        <m:t>,</m:t>
                      </m:r>
                      <m:r>
                        <m:rPr>
                          <m:nor/>
                        </m:rPr>
                        <a:rPr lang="en-ID" i="0">
                          <a:solidFill>
                            <a:srgbClr val="000000"/>
                          </a:solidFill>
                          <a:latin typeface="Cambria Math" panose="02040503050406030204" pitchFamily="18" charset="0"/>
                        </a:rPr>
                        <m:t>     </m:t>
                      </m:r>
                      <m:sSub>
                        <m:sSubPr>
                          <m:ctrlPr>
                            <a:rPr lang="en-ID" i="1">
                              <a:solidFill>
                                <a:srgbClr val="000000"/>
                              </a:solidFill>
                              <a:latin typeface="Cambria Math" panose="02040503050406030204" pitchFamily="18" charset="0"/>
                            </a:rPr>
                          </m:ctrlPr>
                        </m:sSubPr>
                        <m:e>
                          <m:r>
                            <a:rPr lang="en-ID" i="1">
                              <a:solidFill>
                                <a:srgbClr val="000000"/>
                              </a:solidFill>
                              <a:latin typeface="Cambria Math" panose="02040503050406030204" pitchFamily="18" charset="0"/>
                            </a:rPr>
                            <m:t>𝑃</m:t>
                          </m:r>
                        </m:e>
                        <m:sub>
                          <m:r>
                            <a:rPr lang="en-ID" i="1">
                              <a:solidFill>
                                <a:srgbClr val="000000"/>
                              </a:solidFill>
                              <a:latin typeface="Cambria Math" panose="02040503050406030204" pitchFamily="18" charset="0"/>
                            </a:rPr>
                            <m:t>𝑛</m:t>
                          </m:r>
                        </m:sub>
                      </m:sSub>
                      <m:r>
                        <a:rPr lang="en-ID" i="1">
                          <a:solidFill>
                            <a:srgbClr val="000000"/>
                          </a:solidFill>
                          <a:latin typeface="Cambria Math" panose="02040503050406030204" pitchFamily="18" charset="0"/>
                        </a:rPr>
                        <m:t>=</m:t>
                      </m:r>
                      <m:d>
                        <m:dPr>
                          <m:ctrlPr>
                            <a:rPr lang="en-ID" i="1">
                              <a:solidFill>
                                <a:srgbClr val="000000"/>
                              </a:solidFill>
                              <a:latin typeface="Cambria Math" panose="02040503050406030204" pitchFamily="18" charset="0"/>
                            </a:rPr>
                          </m:ctrlPr>
                        </m:dPr>
                        <m:e>
                          <m:r>
                            <a:rPr lang="en-ID" i="1">
                              <a:solidFill>
                                <a:srgbClr val="000000"/>
                              </a:solidFill>
                              <a:latin typeface="Cambria Math" panose="02040503050406030204" pitchFamily="18" charset="0"/>
                            </a:rPr>
                            <m:t>1−</m:t>
                          </m:r>
                          <m:r>
                            <a:rPr lang="en-ID" i="1">
                              <a:solidFill>
                                <a:srgbClr val="000000"/>
                              </a:solidFill>
                              <a:latin typeface="Cambria Math" panose="02040503050406030204" pitchFamily="18" charset="0"/>
                            </a:rPr>
                            <m:t>𝜌</m:t>
                          </m:r>
                        </m:e>
                      </m:d>
                      <m:sSup>
                        <m:sSupPr>
                          <m:ctrlPr>
                            <a:rPr lang="en-ID" i="1">
                              <a:solidFill>
                                <a:srgbClr val="000000"/>
                              </a:solidFill>
                              <a:latin typeface="Cambria Math" panose="02040503050406030204" pitchFamily="18" charset="0"/>
                            </a:rPr>
                          </m:ctrlPr>
                        </m:sSupPr>
                        <m:e>
                          <m:r>
                            <a:rPr lang="en-ID" i="1">
                              <a:solidFill>
                                <a:srgbClr val="000000"/>
                              </a:solidFill>
                              <a:latin typeface="Cambria Math" panose="02040503050406030204" pitchFamily="18" charset="0"/>
                            </a:rPr>
                            <m:t>𝜌</m:t>
                          </m:r>
                        </m:e>
                        <m:sup>
                          <m:r>
                            <a:rPr lang="en-ID" i="1">
                              <a:solidFill>
                                <a:srgbClr val="000000"/>
                              </a:solidFill>
                              <a:latin typeface="Cambria Math" panose="02040503050406030204" pitchFamily="18" charset="0"/>
                            </a:rPr>
                            <m:t>𝑛</m:t>
                          </m:r>
                        </m:sup>
                      </m:sSup>
                    </m:oMath>
                    <m:oMath xmlns:m="http://schemas.openxmlformats.org/officeDocument/2006/math">
                      <m:r>
                        <a:rPr lang="en-ID" i="1">
                          <a:solidFill>
                            <a:srgbClr val="000000"/>
                          </a:solidFill>
                          <a:latin typeface="Cambria Math" panose="02040503050406030204" pitchFamily="18" charset="0"/>
                        </a:rPr>
                        <m:t>𝐿</m:t>
                      </m:r>
                      <m:r>
                        <a:rPr lang="en-ID" i="1">
                          <a:solidFill>
                            <a:srgbClr val="000000"/>
                          </a:solidFill>
                          <a:latin typeface="Cambria Math" panose="02040503050406030204" pitchFamily="18" charset="0"/>
                        </a:rPr>
                        <m:t>=</m:t>
                      </m:r>
                      <m:f>
                        <m:fPr>
                          <m:ctrlPr>
                            <a:rPr lang="en-ID" i="1">
                              <a:solidFill>
                                <a:srgbClr val="000000"/>
                              </a:solidFill>
                              <a:latin typeface="Cambria Math" panose="02040503050406030204" pitchFamily="18" charset="0"/>
                            </a:rPr>
                          </m:ctrlPr>
                        </m:fPr>
                        <m:num>
                          <m:r>
                            <a:rPr lang="en-ID" i="1">
                              <a:solidFill>
                                <a:srgbClr val="000000"/>
                              </a:solidFill>
                              <a:latin typeface="Cambria Math" panose="02040503050406030204" pitchFamily="18" charset="0"/>
                            </a:rPr>
                            <m:t>𝜆</m:t>
                          </m:r>
                        </m:num>
                        <m:den>
                          <m:r>
                            <a:rPr lang="en-ID" i="1">
                              <a:solidFill>
                                <a:srgbClr val="000000"/>
                              </a:solidFill>
                              <a:latin typeface="Cambria Math" panose="02040503050406030204" pitchFamily="18" charset="0"/>
                            </a:rPr>
                            <m:t>𝜇</m:t>
                          </m:r>
                          <m:r>
                            <a:rPr lang="en-ID" i="1">
                              <a:solidFill>
                                <a:srgbClr val="000000"/>
                              </a:solidFill>
                              <a:latin typeface="Cambria Math" panose="02040503050406030204" pitchFamily="18" charset="0"/>
                            </a:rPr>
                            <m:t>−</m:t>
                          </m:r>
                          <m:r>
                            <a:rPr lang="en-ID" i="1">
                              <a:solidFill>
                                <a:srgbClr val="000000"/>
                              </a:solidFill>
                              <a:latin typeface="Cambria Math" panose="02040503050406030204" pitchFamily="18" charset="0"/>
                            </a:rPr>
                            <m:t>𝜆</m:t>
                          </m:r>
                        </m:den>
                      </m:f>
                      <m:r>
                        <a:rPr lang="en-ID" i="1">
                          <a:solidFill>
                            <a:srgbClr val="000000"/>
                          </a:solidFill>
                          <a:latin typeface="Cambria Math" panose="02040503050406030204" pitchFamily="18" charset="0"/>
                        </a:rPr>
                        <m:t>=</m:t>
                      </m:r>
                      <m:f>
                        <m:fPr>
                          <m:ctrlPr>
                            <a:rPr lang="en-ID" i="1">
                              <a:solidFill>
                                <a:srgbClr val="000000"/>
                              </a:solidFill>
                              <a:latin typeface="Cambria Math" panose="02040503050406030204" pitchFamily="18" charset="0"/>
                            </a:rPr>
                          </m:ctrlPr>
                        </m:fPr>
                        <m:num>
                          <m:r>
                            <a:rPr lang="en-ID" i="1">
                              <a:solidFill>
                                <a:srgbClr val="000000"/>
                              </a:solidFill>
                              <a:latin typeface="Cambria Math" panose="02040503050406030204" pitchFamily="18" charset="0"/>
                            </a:rPr>
                            <m:t>𝜌</m:t>
                          </m:r>
                        </m:num>
                        <m:den>
                          <m:r>
                            <a:rPr lang="en-ID" i="1">
                              <a:solidFill>
                                <a:srgbClr val="000000"/>
                              </a:solidFill>
                              <a:latin typeface="Cambria Math" panose="02040503050406030204" pitchFamily="18" charset="0"/>
                            </a:rPr>
                            <m:t>1−</m:t>
                          </m:r>
                          <m:r>
                            <a:rPr lang="en-ID" i="1">
                              <a:solidFill>
                                <a:srgbClr val="000000"/>
                              </a:solidFill>
                              <a:latin typeface="Cambria Math" panose="02040503050406030204" pitchFamily="18" charset="0"/>
                            </a:rPr>
                            <m:t>𝜌</m:t>
                          </m:r>
                        </m:den>
                      </m:f>
                      <m:r>
                        <a:rPr lang="en-ID" i="1">
                          <a:solidFill>
                            <a:srgbClr val="000000"/>
                          </a:solidFill>
                          <a:latin typeface="Cambria Math" panose="02040503050406030204" pitchFamily="18" charset="0"/>
                        </a:rPr>
                        <m:t>,</m:t>
                      </m:r>
                      <m:r>
                        <m:rPr>
                          <m:nor/>
                        </m:rPr>
                        <a:rPr lang="en-ID" i="0">
                          <a:solidFill>
                            <a:srgbClr val="000000"/>
                          </a:solidFill>
                          <a:latin typeface="Cambria Math" panose="02040503050406030204" pitchFamily="18" charset="0"/>
                        </a:rPr>
                        <m:t>    </m:t>
                      </m:r>
                      <m:sSub>
                        <m:sSubPr>
                          <m:ctrlPr>
                            <a:rPr lang="en-ID" i="1">
                              <a:solidFill>
                                <a:srgbClr val="000000"/>
                              </a:solidFill>
                              <a:latin typeface="Cambria Math" panose="02040503050406030204" pitchFamily="18" charset="0"/>
                            </a:rPr>
                          </m:ctrlPr>
                        </m:sSubPr>
                        <m:e>
                          <m:r>
                            <a:rPr lang="en-ID" i="1">
                              <a:solidFill>
                                <a:srgbClr val="000000"/>
                              </a:solidFill>
                              <a:latin typeface="Cambria Math" panose="02040503050406030204" pitchFamily="18" charset="0"/>
                            </a:rPr>
                            <m:t>𝐿</m:t>
                          </m:r>
                        </m:e>
                        <m:sub>
                          <m:r>
                            <a:rPr lang="en-ID" i="1">
                              <a:solidFill>
                                <a:srgbClr val="000000"/>
                              </a:solidFill>
                              <a:latin typeface="Cambria Math" panose="02040503050406030204" pitchFamily="18" charset="0"/>
                            </a:rPr>
                            <m:t>𝑄</m:t>
                          </m:r>
                        </m:sub>
                      </m:sSub>
                      <m:r>
                        <a:rPr lang="en-ID" i="1">
                          <a:solidFill>
                            <a:srgbClr val="000000"/>
                          </a:solidFill>
                          <a:latin typeface="Cambria Math" panose="02040503050406030204" pitchFamily="18" charset="0"/>
                        </a:rPr>
                        <m:t>=</m:t>
                      </m:r>
                      <m:f>
                        <m:fPr>
                          <m:ctrlPr>
                            <a:rPr lang="en-ID" i="1">
                              <a:solidFill>
                                <a:srgbClr val="000000"/>
                              </a:solidFill>
                              <a:latin typeface="Cambria Math" panose="02040503050406030204" pitchFamily="18" charset="0"/>
                            </a:rPr>
                          </m:ctrlPr>
                        </m:fPr>
                        <m:num>
                          <m:sSup>
                            <m:sSupPr>
                              <m:ctrlPr>
                                <a:rPr lang="en-ID" i="1">
                                  <a:solidFill>
                                    <a:srgbClr val="000000"/>
                                  </a:solidFill>
                                  <a:latin typeface="Cambria Math" panose="02040503050406030204" pitchFamily="18" charset="0"/>
                                </a:rPr>
                              </m:ctrlPr>
                            </m:sSupPr>
                            <m:e>
                              <m:r>
                                <a:rPr lang="en-ID" i="1">
                                  <a:solidFill>
                                    <a:srgbClr val="000000"/>
                                  </a:solidFill>
                                  <a:latin typeface="Cambria Math" panose="02040503050406030204" pitchFamily="18" charset="0"/>
                                </a:rPr>
                                <m:t>𝜆</m:t>
                              </m:r>
                            </m:e>
                            <m:sup>
                              <m:r>
                                <a:rPr lang="en-ID" i="1">
                                  <a:solidFill>
                                    <a:srgbClr val="000000"/>
                                  </a:solidFill>
                                  <a:latin typeface="Cambria Math" panose="02040503050406030204" pitchFamily="18" charset="0"/>
                                </a:rPr>
                                <m:t>2</m:t>
                              </m:r>
                            </m:sup>
                          </m:sSup>
                        </m:num>
                        <m:den>
                          <m:r>
                            <a:rPr lang="en-ID" i="1">
                              <a:solidFill>
                                <a:srgbClr val="000000"/>
                              </a:solidFill>
                              <a:latin typeface="Cambria Math" panose="02040503050406030204" pitchFamily="18" charset="0"/>
                            </a:rPr>
                            <m:t>𝜇</m:t>
                          </m:r>
                          <m:d>
                            <m:dPr>
                              <m:ctrlPr>
                                <a:rPr lang="en-ID" i="1">
                                  <a:solidFill>
                                    <a:srgbClr val="000000"/>
                                  </a:solidFill>
                                  <a:latin typeface="Cambria Math" panose="02040503050406030204" pitchFamily="18" charset="0"/>
                                </a:rPr>
                              </m:ctrlPr>
                            </m:dPr>
                            <m:e>
                              <m:r>
                                <a:rPr lang="en-ID" i="1">
                                  <a:solidFill>
                                    <a:srgbClr val="000000"/>
                                  </a:solidFill>
                                  <a:latin typeface="Cambria Math" panose="02040503050406030204" pitchFamily="18" charset="0"/>
                                </a:rPr>
                                <m:t>𝜇</m:t>
                              </m:r>
                              <m:r>
                                <a:rPr lang="en-ID" i="1">
                                  <a:solidFill>
                                    <a:srgbClr val="000000"/>
                                  </a:solidFill>
                                  <a:latin typeface="Cambria Math" panose="02040503050406030204" pitchFamily="18" charset="0"/>
                                </a:rPr>
                                <m:t>−</m:t>
                              </m:r>
                              <m:r>
                                <a:rPr lang="en-ID" i="1">
                                  <a:solidFill>
                                    <a:srgbClr val="000000"/>
                                  </a:solidFill>
                                  <a:latin typeface="Cambria Math" panose="02040503050406030204" pitchFamily="18" charset="0"/>
                                </a:rPr>
                                <m:t>𝜆</m:t>
                              </m:r>
                            </m:e>
                          </m:d>
                        </m:den>
                      </m:f>
                      <m:r>
                        <a:rPr lang="en-ID" i="1">
                          <a:solidFill>
                            <a:srgbClr val="000000"/>
                          </a:solidFill>
                          <a:latin typeface="Cambria Math" panose="02040503050406030204" pitchFamily="18" charset="0"/>
                        </a:rPr>
                        <m:t>=</m:t>
                      </m:r>
                      <m:f>
                        <m:fPr>
                          <m:ctrlPr>
                            <a:rPr lang="en-ID" i="1">
                              <a:solidFill>
                                <a:srgbClr val="000000"/>
                              </a:solidFill>
                              <a:latin typeface="Cambria Math" panose="02040503050406030204" pitchFamily="18" charset="0"/>
                            </a:rPr>
                          </m:ctrlPr>
                        </m:fPr>
                        <m:num>
                          <m:sSup>
                            <m:sSupPr>
                              <m:ctrlPr>
                                <a:rPr lang="en-ID" i="1">
                                  <a:solidFill>
                                    <a:srgbClr val="000000"/>
                                  </a:solidFill>
                                  <a:latin typeface="Cambria Math" panose="02040503050406030204" pitchFamily="18" charset="0"/>
                                </a:rPr>
                              </m:ctrlPr>
                            </m:sSupPr>
                            <m:e>
                              <m:r>
                                <a:rPr lang="en-ID" i="1">
                                  <a:solidFill>
                                    <a:srgbClr val="000000"/>
                                  </a:solidFill>
                                  <a:latin typeface="Cambria Math" panose="02040503050406030204" pitchFamily="18" charset="0"/>
                                </a:rPr>
                                <m:t>𝜌</m:t>
                              </m:r>
                            </m:e>
                            <m:sup>
                              <m:r>
                                <a:rPr lang="en-ID" i="1">
                                  <a:solidFill>
                                    <a:srgbClr val="000000"/>
                                  </a:solidFill>
                                  <a:latin typeface="Cambria Math" panose="02040503050406030204" pitchFamily="18" charset="0"/>
                                </a:rPr>
                                <m:t>2</m:t>
                              </m:r>
                            </m:sup>
                          </m:sSup>
                        </m:num>
                        <m:den>
                          <m:r>
                            <a:rPr lang="en-ID" i="1">
                              <a:solidFill>
                                <a:srgbClr val="000000"/>
                              </a:solidFill>
                              <a:latin typeface="Cambria Math" panose="02040503050406030204" pitchFamily="18" charset="0"/>
                            </a:rPr>
                            <m:t>1−</m:t>
                          </m:r>
                          <m:r>
                            <a:rPr lang="en-ID" i="1">
                              <a:solidFill>
                                <a:srgbClr val="000000"/>
                              </a:solidFill>
                              <a:latin typeface="Cambria Math" panose="02040503050406030204" pitchFamily="18" charset="0"/>
                            </a:rPr>
                            <m:t>𝜌</m:t>
                          </m:r>
                        </m:den>
                      </m:f>
                    </m:oMath>
                    <m:oMath xmlns:m="http://schemas.openxmlformats.org/officeDocument/2006/math">
                      <m:r>
                        <a:rPr lang="en-ID" i="1">
                          <a:solidFill>
                            <a:srgbClr val="000000"/>
                          </a:solidFill>
                          <a:latin typeface="Cambria Math" panose="02040503050406030204" pitchFamily="18" charset="0"/>
                        </a:rPr>
                        <m:t>𝑤</m:t>
                      </m:r>
                      <m:r>
                        <a:rPr lang="en-ID" i="1">
                          <a:solidFill>
                            <a:srgbClr val="000000"/>
                          </a:solidFill>
                          <a:latin typeface="Cambria Math" panose="02040503050406030204" pitchFamily="18" charset="0"/>
                        </a:rPr>
                        <m:t>=</m:t>
                      </m:r>
                      <m:f>
                        <m:fPr>
                          <m:ctrlPr>
                            <a:rPr lang="en-ID" i="1">
                              <a:solidFill>
                                <a:srgbClr val="000000"/>
                              </a:solidFill>
                              <a:latin typeface="Cambria Math" panose="02040503050406030204" pitchFamily="18" charset="0"/>
                            </a:rPr>
                          </m:ctrlPr>
                        </m:fPr>
                        <m:num>
                          <m:r>
                            <a:rPr lang="en-ID" i="1">
                              <a:solidFill>
                                <a:srgbClr val="000000"/>
                              </a:solidFill>
                              <a:latin typeface="Cambria Math" panose="02040503050406030204" pitchFamily="18" charset="0"/>
                            </a:rPr>
                            <m:t>1</m:t>
                          </m:r>
                        </m:num>
                        <m:den>
                          <m:r>
                            <a:rPr lang="en-ID" i="1">
                              <a:solidFill>
                                <a:srgbClr val="000000"/>
                              </a:solidFill>
                              <a:latin typeface="Cambria Math" panose="02040503050406030204" pitchFamily="18" charset="0"/>
                            </a:rPr>
                            <m:t>𝜇</m:t>
                          </m:r>
                          <m:r>
                            <a:rPr lang="en-ID" i="1">
                              <a:solidFill>
                                <a:srgbClr val="000000"/>
                              </a:solidFill>
                              <a:latin typeface="Cambria Math" panose="02040503050406030204" pitchFamily="18" charset="0"/>
                            </a:rPr>
                            <m:t>−</m:t>
                          </m:r>
                          <m:r>
                            <a:rPr lang="en-ID" i="1">
                              <a:solidFill>
                                <a:srgbClr val="000000"/>
                              </a:solidFill>
                              <a:latin typeface="Cambria Math" panose="02040503050406030204" pitchFamily="18" charset="0"/>
                            </a:rPr>
                            <m:t>𝜆</m:t>
                          </m:r>
                        </m:den>
                      </m:f>
                      <m:r>
                        <a:rPr lang="en-ID" i="1">
                          <a:solidFill>
                            <a:srgbClr val="000000"/>
                          </a:solidFill>
                          <a:latin typeface="Cambria Math" panose="02040503050406030204" pitchFamily="18" charset="0"/>
                        </a:rPr>
                        <m:t>=</m:t>
                      </m:r>
                      <m:f>
                        <m:fPr>
                          <m:ctrlPr>
                            <a:rPr lang="en-ID" i="1">
                              <a:solidFill>
                                <a:srgbClr val="000000"/>
                              </a:solidFill>
                              <a:latin typeface="Cambria Math" panose="02040503050406030204" pitchFamily="18" charset="0"/>
                            </a:rPr>
                          </m:ctrlPr>
                        </m:fPr>
                        <m:num>
                          <m:r>
                            <a:rPr lang="en-ID" i="1">
                              <a:solidFill>
                                <a:srgbClr val="000000"/>
                              </a:solidFill>
                              <a:latin typeface="Cambria Math" panose="02040503050406030204" pitchFamily="18" charset="0"/>
                            </a:rPr>
                            <m:t>1</m:t>
                          </m:r>
                        </m:num>
                        <m:den>
                          <m:r>
                            <a:rPr lang="en-ID" i="1">
                              <a:solidFill>
                                <a:srgbClr val="000000"/>
                              </a:solidFill>
                              <a:latin typeface="Cambria Math" panose="02040503050406030204" pitchFamily="18" charset="0"/>
                            </a:rPr>
                            <m:t>𝜇</m:t>
                          </m:r>
                          <m:r>
                            <a:rPr lang="en-ID" i="1">
                              <a:solidFill>
                                <a:srgbClr val="000000"/>
                              </a:solidFill>
                              <a:latin typeface="Cambria Math" panose="02040503050406030204" pitchFamily="18" charset="0"/>
                            </a:rPr>
                            <m:t>(1−</m:t>
                          </m:r>
                          <m:r>
                            <a:rPr lang="en-ID" i="1">
                              <a:solidFill>
                                <a:srgbClr val="000000"/>
                              </a:solidFill>
                              <a:latin typeface="Cambria Math" panose="02040503050406030204" pitchFamily="18" charset="0"/>
                            </a:rPr>
                            <m:t>𝜌</m:t>
                          </m:r>
                          <m:r>
                            <a:rPr lang="en-ID" i="1">
                              <a:solidFill>
                                <a:srgbClr val="000000"/>
                              </a:solidFill>
                              <a:latin typeface="Cambria Math" panose="02040503050406030204" pitchFamily="18" charset="0"/>
                            </a:rPr>
                            <m:t>)</m:t>
                          </m:r>
                        </m:den>
                      </m:f>
                      <m:r>
                        <a:rPr lang="en-ID" i="1">
                          <a:solidFill>
                            <a:srgbClr val="000000"/>
                          </a:solidFill>
                          <a:latin typeface="Cambria Math" panose="02040503050406030204" pitchFamily="18" charset="0"/>
                        </a:rPr>
                        <m:t>,</m:t>
                      </m:r>
                      <m:r>
                        <m:rPr>
                          <m:nor/>
                        </m:rPr>
                        <a:rPr lang="en-ID" i="0">
                          <a:solidFill>
                            <a:srgbClr val="000000"/>
                          </a:solidFill>
                          <a:latin typeface="Cambria Math" panose="02040503050406030204" pitchFamily="18" charset="0"/>
                        </a:rPr>
                        <m:t>   </m:t>
                      </m:r>
                      <m:sSub>
                        <m:sSubPr>
                          <m:ctrlPr>
                            <a:rPr lang="en-ID" i="1">
                              <a:solidFill>
                                <a:srgbClr val="000000"/>
                              </a:solidFill>
                              <a:latin typeface="Cambria Math" panose="02040503050406030204" pitchFamily="18" charset="0"/>
                            </a:rPr>
                          </m:ctrlPr>
                        </m:sSubPr>
                        <m:e>
                          <m:r>
                            <a:rPr lang="en-ID" i="1">
                              <a:solidFill>
                                <a:srgbClr val="000000"/>
                              </a:solidFill>
                              <a:latin typeface="Cambria Math" panose="02040503050406030204" pitchFamily="18" charset="0"/>
                            </a:rPr>
                            <m:t>𝑤</m:t>
                          </m:r>
                        </m:e>
                        <m:sub>
                          <m:r>
                            <a:rPr lang="en-ID" i="1">
                              <a:solidFill>
                                <a:srgbClr val="000000"/>
                              </a:solidFill>
                              <a:latin typeface="Cambria Math" panose="02040503050406030204" pitchFamily="18" charset="0"/>
                            </a:rPr>
                            <m:t>𝑄</m:t>
                          </m:r>
                        </m:sub>
                      </m:sSub>
                      <m:r>
                        <a:rPr lang="en-ID" i="1">
                          <a:solidFill>
                            <a:srgbClr val="000000"/>
                          </a:solidFill>
                          <a:latin typeface="Cambria Math" panose="02040503050406030204" pitchFamily="18" charset="0"/>
                        </a:rPr>
                        <m:t>=</m:t>
                      </m:r>
                      <m:f>
                        <m:fPr>
                          <m:ctrlPr>
                            <a:rPr lang="en-ID" i="1">
                              <a:solidFill>
                                <a:srgbClr val="000000"/>
                              </a:solidFill>
                              <a:latin typeface="Cambria Math" panose="02040503050406030204" pitchFamily="18" charset="0"/>
                            </a:rPr>
                          </m:ctrlPr>
                        </m:fPr>
                        <m:num>
                          <m:r>
                            <a:rPr lang="en-ID" i="1">
                              <a:solidFill>
                                <a:srgbClr val="000000"/>
                              </a:solidFill>
                              <a:latin typeface="Cambria Math" panose="02040503050406030204" pitchFamily="18" charset="0"/>
                            </a:rPr>
                            <m:t>𝜆</m:t>
                          </m:r>
                        </m:num>
                        <m:den>
                          <m:r>
                            <a:rPr lang="en-ID" i="1">
                              <a:solidFill>
                                <a:srgbClr val="000000"/>
                              </a:solidFill>
                              <a:latin typeface="Cambria Math" panose="02040503050406030204" pitchFamily="18" charset="0"/>
                            </a:rPr>
                            <m:t>𝜇</m:t>
                          </m:r>
                          <m:d>
                            <m:dPr>
                              <m:ctrlPr>
                                <a:rPr lang="en-ID" i="1">
                                  <a:solidFill>
                                    <a:srgbClr val="000000"/>
                                  </a:solidFill>
                                  <a:latin typeface="Cambria Math" panose="02040503050406030204" pitchFamily="18" charset="0"/>
                                </a:rPr>
                              </m:ctrlPr>
                            </m:dPr>
                            <m:e>
                              <m:r>
                                <a:rPr lang="en-ID" i="1">
                                  <a:solidFill>
                                    <a:srgbClr val="000000"/>
                                  </a:solidFill>
                                  <a:latin typeface="Cambria Math" panose="02040503050406030204" pitchFamily="18" charset="0"/>
                                </a:rPr>
                                <m:t>𝜇</m:t>
                              </m:r>
                              <m:r>
                                <a:rPr lang="en-ID" i="1">
                                  <a:solidFill>
                                    <a:srgbClr val="000000"/>
                                  </a:solidFill>
                                  <a:latin typeface="Cambria Math" panose="02040503050406030204" pitchFamily="18" charset="0"/>
                                </a:rPr>
                                <m:t>−</m:t>
                              </m:r>
                              <m:r>
                                <a:rPr lang="en-ID" i="1">
                                  <a:solidFill>
                                    <a:srgbClr val="000000"/>
                                  </a:solidFill>
                                  <a:latin typeface="Cambria Math" panose="02040503050406030204" pitchFamily="18" charset="0"/>
                                </a:rPr>
                                <m:t>𝜆</m:t>
                              </m:r>
                            </m:e>
                          </m:d>
                        </m:den>
                      </m:f>
                      <m:r>
                        <a:rPr lang="en-ID" i="1">
                          <a:solidFill>
                            <a:srgbClr val="000000"/>
                          </a:solidFill>
                          <a:latin typeface="Cambria Math" panose="02040503050406030204" pitchFamily="18" charset="0"/>
                        </a:rPr>
                        <m:t>=</m:t>
                      </m:r>
                      <m:f>
                        <m:fPr>
                          <m:ctrlPr>
                            <a:rPr lang="en-ID" i="1">
                              <a:solidFill>
                                <a:srgbClr val="000000"/>
                              </a:solidFill>
                              <a:latin typeface="Cambria Math" panose="02040503050406030204" pitchFamily="18" charset="0"/>
                            </a:rPr>
                          </m:ctrlPr>
                        </m:fPr>
                        <m:num>
                          <m:r>
                            <a:rPr lang="en-ID" i="1">
                              <a:solidFill>
                                <a:srgbClr val="000000"/>
                              </a:solidFill>
                              <a:latin typeface="Cambria Math" panose="02040503050406030204" pitchFamily="18" charset="0"/>
                            </a:rPr>
                            <m:t>𝜌</m:t>
                          </m:r>
                        </m:num>
                        <m:den>
                          <m:r>
                            <a:rPr lang="en-ID" i="1">
                              <a:solidFill>
                                <a:srgbClr val="000000"/>
                              </a:solidFill>
                              <a:latin typeface="Cambria Math" panose="02040503050406030204" pitchFamily="18" charset="0"/>
                            </a:rPr>
                            <m:t>𝜇</m:t>
                          </m:r>
                          <m:r>
                            <a:rPr lang="en-ID" i="1">
                              <a:solidFill>
                                <a:srgbClr val="000000"/>
                              </a:solidFill>
                              <a:latin typeface="Cambria Math" panose="02040503050406030204" pitchFamily="18" charset="0"/>
                            </a:rPr>
                            <m:t>(1−</m:t>
                          </m:r>
                          <m:r>
                            <a:rPr lang="en-ID" i="1">
                              <a:solidFill>
                                <a:srgbClr val="000000"/>
                              </a:solidFill>
                              <a:latin typeface="Cambria Math" panose="02040503050406030204" pitchFamily="18" charset="0"/>
                            </a:rPr>
                            <m:t>𝜌</m:t>
                          </m:r>
                          <m:r>
                            <a:rPr lang="en-ID" i="1">
                              <a:solidFill>
                                <a:srgbClr val="000000"/>
                              </a:solidFill>
                              <a:latin typeface="Cambria Math" panose="02040503050406030204" pitchFamily="18" charset="0"/>
                            </a:rPr>
                            <m:t>)</m:t>
                          </m:r>
                        </m:den>
                      </m:f>
                    </m:oMath>
                  </m:oMathPara>
                </a14:m>
                <a:endParaRPr lang="en-ID"/>
              </a:p>
            </p:txBody>
          </p:sp>
        </mc:Choice>
        <mc:Fallback xmlns="">
          <p:sp>
            <p:nvSpPr>
              <p:cNvPr id="36869" name="Object 8">
                <a:extLst>
                  <a:ext uri="{FF2B5EF4-FFF2-40B4-BE49-F238E27FC236}">
                    <a16:creationId xmlns:a16="http://schemas.microsoft.com/office/drawing/2014/main" id="{CBFAA043-56A2-0A0E-9615-B48A36818CD4}"/>
                  </a:ext>
                </a:extLst>
              </p:cNvPr>
              <p:cNvSpPr txBox="1">
                <a:spLocks noRot="1" noChangeAspect="1" noMove="1" noResize="1" noEditPoints="1" noAdjustHandles="1" noChangeArrowheads="1" noChangeShapeType="1" noTextEdit="1"/>
              </p:cNvSpPr>
              <p:nvPr>
                <p:ph sz="quarter" idx="2"/>
              </p:nvPr>
            </p:nvSpPr>
            <p:spPr bwMode="auto">
              <a:xfrm>
                <a:off x="2133600" y="4181475"/>
                <a:ext cx="4724400" cy="1782763"/>
              </a:xfrm>
              <a:prstGeom prst="rect">
                <a:avLst/>
              </a:prstGeom>
              <a:blipFill>
                <a:blip r:embed="rId2"/>
                <a:stretch>
                  <a:fillRect/>
                </a:stretch>
              </a:blipFill>
              <a:ln>
                <a:noFill/>
              </a:ln>
              <a:effectLst/>
            </p:spPr>
            <p:txBody>
              <a:bodyPr/>
              <a:lstStyle/>
              <a:p>
                <a:r>
                  <a:rPr lang="en-ID">
                    <a:noFill/>
                  </a:rPr>
                  <a:t> </a:t>
                </a:r>
              </a:p>
            </p:txBody>
          </p:sp>
        </mc:Fallback>
      </mc:AlternateContent>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Number Placeholder 5">
            <a:extLst>
              <a:ext uri="{FF2B5EF4-FFF2-40B4-BE49-F238E27FC236}">
                <a16:creationId xmlns:a16="http://schemas.microsoft.com/office/drawing/2014/main" id="{CF7A5C80-4BDC-DC04-F933-CC330B542D01}"/>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5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4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9pPr>
          </a:lstStyle>
          <a:p>
            <a:pPr>
              <a:spcBef>
                <a:spcPct val="0"/>
              </a:spcBef>
              <a:buClrTx/>
              <a:buSzTx/>
              <a:buFontTx/>
              <a:buNone/>
            </a:pPr>
            <a:fld id="{FEA82011-E3FC-424D-BF22-EB61DDB2A381}" type="slidenum">
              <a:rPr lang="en-US" altLang="id-ID" sz="1200">
                <a:latin typeface="Arial Black" panose="020B0A04020102020204" pitchFamily="34" charset="0"/>
              </a:rPr>
              <a:pPr>
                <a:spcBef>
                  <a:spcPct val="0"/>
                </a:spcBef>
                <a:buClrTx/>
                <a:buSzTx/>
                <a:buFontTx/>
                <a:buNone/>
              </a:pPr>
              <a:t>32</a:t>
            </a:fld>
            <a:endParaRPr lang="en-US" altLang="id-ID" sz="1200">
              <a:latin typeface="Arial Black" panose="020B0A04020102020204" pitchFamily="34" charset="0"/>
            </a:endParaRPr>
          </a:p>
        </p:txBody>
      </p:sp>
      <p:sp>
        <p:nvSpPr>
          <p:cNvPr id="37891" name="Rectangle 2">
            <a:extLst>
              <a:ext uri="{FF2B5EF4-FFF2-40B4-BE49-F238E27FC236}">
                <a16:creationId xmlns:a16="http://schemas.microsoft.com/office/drawing/2014/main" id="{4C617F2B-0D56-2032-E42D-495F64F60D40}"/>
              </a:ext>
            </a:extLst>
          </p:cNvPr>
          <p:cNvSpPr>
            <a:spLocks noGrp="1" noChangeArrowheads="1"/>
          </p:cNvSpPr>
          <p:nvPr>
            <p:ph type="title"/>
          </p:nvPr>
        </p:nvSpPr>
        <p:spPr/>
        <p:txBody>
          <a:bodyPr/>
          <a:lstStyle/>
          <a:p>
            <a:pPr eaLnBrk="1" hangingPunct="1"/>
            <a:r>
              <a:rPr lang="en-US" altLang="id-ID"/>
              <a:t>M/M/1 Queues	</a:t>
            </a:r>
            <a:r>
              <a:rPr lang="en-US" altLang="id-ID" sz="2200"/>
              <a:t>	</a:t>
            </a:r>
            <a:r>
              <a:rPr lang="en-US" altLang="id-ID" sz="2200">
                <a:solidFill>
                  <a:schemeClr val="bg2"/>
                </a:solidFill>
              </a:rPr>
              <a:t>[Steady-State of Markovian Model]</a:t>
            </a:r>
          </a:p>
        </p:txBody>
      </p:sp>
      <p:sp>
        <p:nvSpPr>
          <p:cNvPr id="37892" name="Rectangle 3">
            <a:extLst>
              <a:ext uri="{FF2B5EF4-FFF2-40B4-BE49-F238E27FC236}">
                <a16:creationId xmlns:a16="http://schemas.microsoft.com/office/drawing/2014/main" id="{EDCDF3F7-C22A-6D4A-6E0F-FE234A223A0A}"/>
              </a:ext>
            </a:extLst>
          </p:cNvPr>
          <p:cNvSpPr>
            <a:spLocks noGrp="1" noChangeArrowheads="1"/>
          </p:cNvSpPr>
          <p:nvPr>
            <p:ph type="body" sz="half" idx="1"/>
          </p:nvPr>
        </p:nvSpPr>
        <p:spPr>
          <a:xfrm>
            <a:off x="457200" y="1447800"/>
            <a:ext cx="8458200" cy="5029200"/>
          </a:xfrm>
        </p:spPr>
        <p:txBody>
          <a:bodyPr/>
          <a:lstStyle/>
          <a:p>
            <a:pPr eaLnBrk="1" hangingPunct="1"/>
            <a:r>
              <a:rPr lang="en-US" altLang="id-ID" sz="2400"/>
              <a:t>Contoh: Antrean </a:t>
            </a:r>
            <a:r>
              <a:rPr lang="en-US" altLang="id-ID" sz="2400" i="1"/>
              <a:t>M/M/1</a:t>
            </a:r>
            <a:r>
              <a:rPr lang="en-US" altLang="id-ID" sz="2400"/>
              <a:t> dg laju layanan </a:t>
            </a:r>
            <a:r>
              <a:rPr lang="en-US" altLang="id-ID" sz="2400" i="1">
                <a:latin typeface="Symbol" panose="05050102010706020507" pitchFamily="18" charset="2"/>
              </a:rPr>
              <a:t>m=10</a:t>
            </a:r>
            <a:r>
              <a:rPr lang="en-US" altLang="id-ID" sz="2400"/>
              <a:t> customer per jam.</a:t>
            </a:r>
          </a:p>
          <a:p>
            <a:pPr lvl="1" eaLnBrk="1" hangingPunct="1"/>
            <a:r>
              <a:rPr lang="en-US"/>
              <a:t>Pertimbangkan bagaimana L dan w meningkat ketika tingkat kedatangan, </a:t>
            </a:r>
            <a:r>
              <a:rPr lang="en-US" altLang="id-ID" i="1">
                <a:latin typeface="Symbol" panose="05050102010706020507" pitchFamily="18" charset="2"/>
              </a:rPr>
              <a:t>l</a:t>
            </a:r>
            <a:r>
              <a:rPr lang="en-US"/>
              <a:t>, meningkat dari 5 menjadi 8,64 dengan kelipatan 20</a:t>
            </a:r>
            <a:r>
              <a:rPr lang="en-US" altLang="id-ID" sz="2000"/>
              <a:t>%:</a:t>
            </a:r>
          </a:p>
          <a:p>
            <a:pPr eaLnBrk="1" hangingPunct="1"/>
            <a:endParaRPr lang="en-US" altLang="id-ID" sz="2400"/>
          </a:p>
          <a:p>
            <a:pPr eaLnBrk="1" hangingPunct="1"/>
            <a:endParaRPr lang="en-US" altLang="id-ID" sz="2400"/>
          </a:p>
          <a:p>
            <a:pPr eaLnBrk="1" hangingPunct="1"/>
            <a:endParaRPr lang="en-US" altLang="id-ID" sz="2400"/>
          </a:p>
          <a:p>
            <a:pPr eaLnBrk="1" hangingPunct="1"/>
            <a:endParaRPr lang="en-US" altLang="id-ID" sz="2400"/>
          </a:p>
          <a:p>
            <a:pPr lvl="1" eaLnBrk="1" hangingPunct="1"/>
            <a:r>
              <a:rPr lang="en-US" altLang="id-ID" sz="2000"/>
              <a:t>Jika </a:t>
            </a:r>
            <a:r>
              <a:rPr lang="en-US" altLang="id-ID" sz="2000" i="1">
                <a:latin typeface="Symbol" panose="05050102010706020507" pitchFamily="18" charset="2"/>
              </a:rPr>
              <a:t>l/m</a:t>
            </a:r>
            <a:r>
              <a:rPr lang="en-US" altLang="id-ID" sz="2000" i="1"/>
              <a:t> </a:t>
            </a:r>
            <a:r>
              <a:rPr lang="en-US" altLang="id-ID" sz="2000">
                <a:latin typeface="Symbol" panose="05050102010706020507" pitchFamily="18" charset="2"/>
              </a:rPr>
              <a:t>³</a:t>
            </a:r>
            <a:r>
              <a:rPr lang="en-US" altLang="id-ID" sz="2000" i="1"/>
              <a:t> 1</a:t>
            </a:r>
            <a:r>
              <a:rPr lang="en-US" altLang="id-ID" sz="2000"/>
              <a:t>, antrean tunggu cenderung terus bertambah panjang.</a:t>
            </a:r>
          </a:p>
          <a:p>
            <a:pPr lvl="1" eaLnBrk="1" hangingPunct="1"/>
            <a:r>
              <a:rPr lang="en-US" altLang="id-ID" sz="2000"/>
              <a:t>Peningkatan waktu rata-rata sistem (w) dan jumlah rata-rata dalam sistem (L) sangat nonlinier sebagai fungsi </a:t>
            </a:r>
            <a:r>
              <a:rPr lang="en-US" altLang="id-ID" sz="2000" i="1">
                <a:latin typeface="Symbol" panose="05050102010706020507" pitchFamily="18" charset="2"/>
              </a:rPr>
              <a:t>r</a:t>
            </a:r>
            <a:r>
              <a:rPr lang="en-US" altLang="id-ID" sz="2000"/>
              <a:t>.</a:t>
            </a:r>
          </a:p>
        </p:txBody>
      </p:sp>
      <p:graphicFrame>
        <p:nvGraphicFramePr>
          <p:cNvPr id="37893" name="Object 6">
            <a:extLst>
              <a:ext uri="{FF2B5EF4-FFF2-40B4-BE49-F238E27FC236}">
                <a16:creationId xmlns:a16="http://schemas.microsoft.com/office/drawing/2014/main" id="{4CC6C802-15F5-F0A3-2533-F3AACF78DB33}"/>
              </a:ext>
            </a:extLst>
          </p:cNvPr>
          <p:cNvGraphicFramePr>
            <a:graphicFrameLocks noGrp="1" noChangeAspect="1"/>
          </p:cNvGraphicFramePr>
          <p:nvPr>
            <p:ph sz="half" idx="2"/>
            <p:extLst>
              <p:ext uri="{D42A27DB-BD31-4B8C-83A1-F6EECF244321}">
                <p14:modId xmlns:p14="http://schemas.microsoft.com/office/powerpoint/2010/main" val="1636616886"/>
              </p:ext>
            </p:extLst>
          </p:nvPr>
        </p:nvGraphicFramePr>
        <p:xfrm>
          <a:off x="1981200" y="3429000"/>
          <a:ext cx="5824538" cy="1225550"/>
        </p:xfrm>
        <a:graphic>
          <a:graphicData uri="http://schemas.openxmlformats.org/presentationml/2006/ole">
            <mc:AlternateContent xmlns:mc="http://schemas.openxmlformats.org/markup-compatibility/2006">
              <mc:Choice xmlns:v="urn:schemas-microsoft-com:vml" Requires="v">
                <p:oleObj name="Worksheet" r:id="rId2" imgW="3666992" imgH="771519" progId="Excel.Sheet.8">
                  <p:embed/>
                </p:oleObj>
              </mc:Choice>
              <mc:Fallback>
                <p:oleObj name="Worksheet" r:id="rId2" imgW="3666992" imgH="771519" progId="Excel.Sheet.8">
                  <p:embed/>
                  <p:pic>
                    <p:nvPicPr>
                      <p:cNvPr id="0"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1200" y="3429000"/>
                        <a:ext cx="5824538" cy="1225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Number Placeholder 5">
            <a:extLst>
              <a:ext uri="{FF2B5EF4-FFF2-40B4-BE49-F238E27FC236}">
                <a16:creationId xmlns:a16="http://schemas.microsoft.com/office/drawing/2014/main" id="{F3CF6043-F044-0AF3-2F9A-5287079F30E0}"/>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5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4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9pPr>
          </a:lstStyle>
          <a:p>
            <a:pPr>
              <a:spcBef>
                <a:spcPct val="0"/>
              </a:spcBef>
              <a:buClrTx/>
              <a:buSzTx/>
              <a:buFontTx/>
              <a:buNone/>
            </a:pPr>
            <a:fld id="{A84FFD5C-05FA-4E9E-B050-120C184A9DFD}" type="slidenum">
              <a:rPr lang="en-US" altLang="id-ID" sz="1200">
                <a:latin typeface="Arial Black" panose="020B0A04020102020204" pitchFamily="34" charset="0"/>
              </a:rPr>
              <a:pPr>
                <a:spcBef>
                  <a:spcPct val="0"/>
                </a:spcBef>
                <a:buClrTx/>
                <a:buSzTx/>
                <a:buFontTx/>
                <a:buNone/>
              </a:pPr>
              <a:t>33</a:t>
            </a:fld>
            <a:endParaRPr lang="en-US" altLang="id-ID" sz="1200">
              <a:latin typeface="Arial Black" panose="020B0A04020102020204" pitchFamily="34" charset="0"/>
            </a:endParaRPr>
          </a:p>
        </p:txBody>
      </p:sp>
      <p:sp>
        <p:nvSpPr>
          <p:cNvPr id="38915" name="Rectangle 2">
            <a:extLst>
              <a:ext uri="{FF2B5EF4-FFF2-40B4-BE49-F238E27FC236}">
                <a16:creationId xmlns:a16="http://schemas.microsoft.com/office/drawing/2014/main" id="{32B92871-FF4C-3746-F445-164786F00A86}"/>
              </a:ext>
            </a:extLst>
          </p:cNvPr>
          <p:cNvSpPr>
            <a:spLocks noGrp="1" noChangeArrowheads="1"/>
          </p:cNvSpPr>
          <p:nvPr>
            <p:ph type="title"/>
          </p:nvPr>
        </p:nvSpPr>
        <p:spPr/>
        <p:txBody>
          <a:bodyPr/>
          <a:lstStyle/>
          <a:p>
            <a:pPr eaLnBrk="1" hangingPunct="1"/>
            <a:r>
              <a:rPr lang="en-US" altLang="id-ID" dirty="0" err="1"/>
              <a:t>Efek</a:t>
            </a:r>
            <a:r>
              <a:rPr lang="en-US" altLang="id-ID" dirty="0"/>
              <a:t> </a:t>
            </a:r>
            <a:r>
              <a:rPr lang="en-US" altLang="id-ID" dirty="0" err="1"/>
              <a:t>Utilisasi</a:t>
            </a:r>
            <a:r>
              <a:rPr lang="en-US" altLang="id-ID" dirty="0"/>
              <a:t> dan </a:t>
            </a:r>
            <a:r>
              <a:rPr lang="en-US" altLang="id-ID" dirty="0" err="1"/>
              <a:t>Variabilitas</a:t>
            </a:r>
            <a:r>
              <a:rPr lang="en-US" altLang="id-ID" dirty="0"/>
              <a:t> </a:t>
            </a:r>
            <a:r>
              <a:rPr lang="en-US" altLang="id-ID" dirty="0" err="1"/>
              <a:t>Layanan</a:t>
            </a:r>
            <a:r>
              <a:rPr lang="en-US" altLang="id-ID" sz="2200" dirty="0"/>
              <a:t>				</a:t>
            </a:r>
            <a:r>
              <a:rPr lang="en-US" altLang="id-ID" sz="2200" dirty="0">
                <a:solidFill>
                  <a:schemeClr val="bg2"/>
                </a:solidFill>
              </a:rPr>
              <a:t>[Steady-State of Markovian Model]</a:t>
            </a:r>
          </a:p>
        </p:txBody>
      </p:sp>
      <p:sp>
        <p:nvSpPr>
          <p:cNvPr id="38916" name="Rectangle 3">
            <a:extLst>
              <a:ext uri="{FF2B5EF4-FFF2-40B4-BE49-F238E27FC236}">
                <a16:creationId xmlns:a16="http://schemas.microsoft.com/office/drawing/2014/main" id="{4FB0729D-35B6-78F9-DA92-FE8FEFC0234A}"/>
              </a:ext>
            </a:extLst>
          </p:cNvPr>
          <p:cNvSpPr>
            <a:spLocks noGrp="1" noChangeArrowheads="1"/>
          </p:cNvSpPr>
          <p:nvPr>
            <p:ph type="body" sz="half" idx="1"/>
          </p:nvPr>
        </p:nvSpPr>
        <p:spPr>
          <a:xfrm>
            <a:off x="457200" y="1447800"/>
            <a:ext cx="8458200" cy="5029200"/>
          </a:xfrm>
        </p:spPr>
        <p:txBody>
          <a:bodyPr/>
          <a:lstStyle/>
          <a:p>
            <a:pPr eaLnBrk="1" hangingPunct="1"/>
            <a:r>
              <a:rPr lang="en-US" altLang="id-ID" sz="2200"/>
              <a:t>Untuk hampir semua antrean, jika antrean terlalu panjang, antrean tersebut dapat dikurangi dengan mengurangi pemanfaatan server (</a:t>
            </a:r>
            <a:r>
              <a:rPr lang="en-US" altLang="id-ID" sz="2200" i="1">
                <a:latin typeface="Symbol" panose="05050102010706020507" pitchFamily="18" charset="2"/>
              </a:rPr>
              <a:t>r</a:t>
            </a:r>
            <a:r>
              <a:rPr lang="en-US" altLang="id-ID" sz="2200"/>
              <a:t>) atau dengan mengurangi variabilitas waktu layanan (</a:t>
            </a:r>
            <a:r>
              <a:rPr lang="en-US" altLang="id-ID" sz="2200" i="1">
                <a:latin typeface="Symbol" panose="05050102010706020507" pitchFamily="18" charset="2"/>
              </a:rPr>
              <a:t>s</a:t>
            </a:r>
            <a:r>
              <a:rPr lang="en-US" altLang="id-ID" sz="2200" i="1" baseline="30000"/>
              <a:t>2</a:t>
            </a:r>
            <a:r>
              <a:rPr lang="en-US" altLang="id-ID" sz="2200"/>
              <a:t>).</a:t>
            </a:r>
          </a:p>
          <a:p>
            <a:pPr eaLnBrk="1" hangingPunct="1"/>
            <a:r>
              <a:rPr lang="en-US" altLang="id-ID" sz="2200"/>
              <a:t>Ukuran variabilitas suatu distribusi, koefisien variasi (cv):</a:t>
            </a:r>
          </a:p>
          <a:p>
            <a:pPr eaLnBrk="1" hangingPunct="1"/>
            <a:endParaRPr lang="en-US" altLang="id-ID" sz="2200"/>
          </a:p>
          <a:p>
            <a:pPr eaLnBrk="1" hangingPunct="1"/>
            <a:endParaRPr lang="en-US" altLang="id-ID" sz="2200"/>
          </a:p>
          <a:p>
            <a:pPr lvl="1" eaLnBrk="1" hangingPunct="1"/>
            <a:r>
              <a:rPr lang="en-US" altLang="id-ID" sz="2000"/>
              <a:t>Semakin besar cv, semakin banyak variabel distribusinya dibandingkan dengan nilai yang diharapkan</a:t>
            </a:r>
            <a:endParaRPr lang="en-US" altLang="id-ID" sz="2200"/>
          </a:p>
        </p:txBody>
      </p:sp>
      <mc:AlternateContent xmlns:mc="http://schemas.openxmlformats.org/markup-compatibility/2006" xmlns:a14="http://schemas.microsoft.com/office/drawing/2010/main">
        <mc:Choice Requires="a14">
          <p:sp>
            <p:nvSpPr>
              <p:cNvPr id="38917" name="Object 7">
                <a:extLst>
                  <a:ext uri="{FF2B5EF4-FFF2-40B4-BE49-F238E27FC236}">
                    <a16:creationId xmlns:a16="http://schemas.microsoft.com/office/drawing/2014/main" id="{B3D09EF0-1F96-22FB-CF23-65A374EA43F3}"/>
                  </a:ext>
                </a:extLst>
              </p:cNvPr>
              <p:cNvSpPr txBox="1">
                <a:spLocks noGrp="1"/>
              </p:cNvSpPr>
              <p:nvPr>
                <p:ph sz="quarter" idx="2"/>
              </p:nvPr>
            </p:nvSpPr>
            <p:spPr bwMode="auto">
              <a:xfrm>
                <a:off x="3759993" y="3352800"/>
                <a:ext cx="1852613" cy="820738"/>
              </a:xfrm>
              <a:prstGeom prst="rect">
                <a:avLst/>
              </a:prstGeom>
              <a:noFill/>
              <a:ln>
                <a:noFill/>
              </a:ln>
              <a:effectLst/>
            </p:spPr>
            <p:txBody>
              <a:bodyPr>
                <a:normAutofit fontScale="62500" lnSpcReduction="20000"/>
              </a:bodyPr>
              <a:lstStyle/>
              <a:p>
                <a:pPr>
                  <a:buNone/>
                </a:pPr>
                <a14:m>
                  <m:oMathPara xmlns:m="http://schemas.openxmlformats.org/officeDocument/2006/math">
                    <m:oMathParaPr>
                      <m:jc m:val="left"/>
                    </m:oMathParaPr>
                    <m:oMath xmlns:m="http://schemas.openxmlformats.org/officeDocument/2006/math">
                      <m:r>
                        <a:rPr lang="en-ID" i="1">
                          <a:solidFill>
                            <a:srgbClr val="000000"/>
                          </a:solidFill>
                          <a:latin typeface="Cambria Math" panose="02040503050406030204" pitchFamily="18" charset="0"/>
                        </a:rPr>
                        <m:t>(</m:t>
                      </m:r>
                      <m:r>
                        <a:rPr lang="en-ID" i="1">
                          <a:solidFill>
                            <a:srgbClr val="000000"/>
                          </a:solidFill>
                          <a:latin typeface="Cambria Math" panose="02040503050406030204" pitchFamily="18" charset="0"/>
                        </a:rPr>
                        <m:t>𝑐𝑣</m:t>
                      </m:r>
                      <m:sSup>
                        <m:sSupPr>
                          <m:ctrlPr>
                            <a:rPr lang="en-ID" i="1">
                              <a:solidFill>
                                <a:srgbClr val="000000"/>
                              </a:solidFill>
                              <a:latin typeface="Cambria Math" panose="02040503050406030204" pitchFamily="18" charset="0"/>
                            </a:rPr>
                          </m:ctrlPr>
                        </m:sSupPr>
                        <m:e>
                          <m:r>
                            <a:rPr lang="en-ID" i="1">
                              <a:solidFill>
                                <a:srgbClr val="000000"/>
                              </a:solidFill>
                              <a:latin typeface="Cambria Math" panose="02040503050406030204" pitchFamily="18" charset="0"/>
                            </a:rPr>
                            <m:t>)</m:t>
                          </m:r>
                        </m:e>
                        <m:sup>
                          <m:r>
                            <a:rPr lang="en-ID" i="1">
                              <a:solidFill>
                                <a:srgbClr val="000000"/>
                              </a:solidFill>
                              <a:latin typeface="Cambria Math" panose="02040503050406030204" pitchFamily="18" charset="0"/>
                            </a:rPr>
                            <m:t>2</m:t>
                          </m:r>
                        </m:sup>
                      </m:sSup>
                      <m:r>
                        <a:rPr lang="en-ID" i="1">
                          <a:solidFill>
                            <a:srgbClr val="000000"/>
                          </a:solidFill>
                          <a:latin typeface="Cambria Math" panose="02040503050406030204" pitchFamily="18" charset="0"/>
                        </a:rPr>
                        <m:t>=</m:t>
                      </m:r>
                      <m:f>
                        <m:fPr>
                          <m:ctrlPr>
                            <a:rPr lang="en-ID" i="1">
                              <a:solidFill>
                                <a:srgbClr val="000000"/>
                              </a:solidFill>
                              <a:latin typeface="Cambria Math" panose="02040503050406030204" pitchFamily="18" charset="0"/>
                            </a:rPr>
                          </m:ctrlPr>
                        </m:fPr>
                        <m:num>
                          <m:r>
                            <a:rPr lang="en-ID" i="1">
                              <a:solidFill>
                                <a:srgbClr val="000000"/>
                              </a:solidFill>
                              <a:latin typeface="Cambria Math" panose="02040503050406030204" pitchFamily="18" charset="0"/>
                            </a:rPr>
                            <m:t>𝑉</m:t>
                          </m:r>
                          <m:r>
                            <a:rPr lang="en-ID" i="1">
                              <a:solidFill>
                                <a:srgbClr val="000000"/>
                              </a:solidFill>
                              <a:latin typeface="Cambria Math" panose="02040503050406030204" pitchFamily="18" charset="0"/>
                            </a:rPr>
                            <m:t>(</m:t>
                          </m:r>
                          <m:r>
                            <a:rPr lang="en-ID" i="1">
                              <a:solidFill>
                                <a:srgbClr val="000000"/>
                              </a:solidFill>
                              <a:latin typeface="Cambria Math" panose="02040503050406030204" pitchFamily="18" charset="0"/>
                            </a:rPr>
                            <m:t>𝑋</m:t>
                          </m:r>
                          <m:r>
                            <a:rPr lang="en-ID" i="1">
                              <a:solidFill>
                                <a:srgbClr val="000000"/>
                              </a:solidFill>
                              <a:latin typeface="Cambria Math" panose="02040503050406030204" pitchFamily="18" charset="0"/>
                            </a:rPr>
                            <m:t>)</m:t>
                          </m:r>
                        </m:num>
                        <m:den>
                          <m:sSup>
                            <m:sSupPr>
                              <m:ctrlPr>
                                <a:rPr lang="en-ID" i="1">
                                  <a:solidFill>
                                    <a:srgbClr val="000000"/>
                                  </a:solidFill>
                                  <a:latin typeface="Cambria Math" panose="02040503050406030204" pitchFamily="18" charset="0"/>
                                </a:rPr>
                              </m:ctrlPr>
                            </m:sSupPr>
                            <m:e>
                              <m:d>
                                <m:dPr>
                                  <m:begChr m:val="["/>
                                  <m:endChr m:val="]"/>
                                  <m:ctrlPr>
                                    <a:rPr lang="en-ID" i="1">
                                      <a:solidFill>
                                        <a:srgbClr val="000000"/>
                                      </a:solidFill>
                                      <a:latin typeface="Cambria Math" panose="02040503050406030204" pitchFamily="18" charset="0"/>
                                    </a:rPr>
                                  </m:ctrlPr>
                                </m:dPr>
                                <m:e>
                                  <m:r>
                                    <a:rPr lang="en-ID" i="1">
                                      <a:solidFill>
                                        <a:srgbClr val="000000"/>
                                      </a:solidFill>
                                      <a:latin typeface="Cambria Math" panose="02040503050406030204" pitchFamily="18" charset="0"/>
                                    </a:rPr>
                                    <m:t>𝐸</m:t>
                                  </m:r>
                                  <m:r>
                                    <a:rPr lang="en-ID" i="1">
                                      <a:solidFill>
                                        <a:srgbClr val="000000"/>
                                      </a:solidFill>
                                      <a:latin typeface="Cambria Math" panose="02040503050406030204" pitchFamily="18" charset="0"/>
                                    </a:rPr>
                                    <m:t>(</m:t>
                                  </m:r>
                                  <m:r>
                                    <a:rPr lang="en-ID" i="1">
                                      <a:solidFill>
                                        <a:srgbClr val="000000"/>
                                      </a:solidFill>
                                      <a:latin typeface="Cambria Math" panose="02040503050406030204" pitchFamily="18" charset="0"/>
                                    </a:rPr>
                                    <m:t>𝑋</m:t>
                                  </m:r>
                                  <m:r>
                                    <a:rPr lang="en-ID" i="1">
                                      <a:solidFill>
                                        <a:srgbClr val="000000"/>
                                      </a:solidFill>
                                      <a:latin typeface="Cambria Math" panose="02040503050406030204" pitchFamily="18" charset="0"/>
                                    </a:rPr>
                                    <m:t>)</m:t>
                                  </m:r>
                                </m:e>
                              </m:d>
                            </m:e>
                            <m:sup>
                              <m:r>
                                <a:rPr lang="en-ID" i="1">
                                  <a:solidFill>
                                    <a:srgbClr val="000000"/>
                                  </a:solidFill>
                                  <a:latin typeface="Cambria Math" panose="02040503050406030204" pitchFamily="18" charset="0"/>
                                </a:rPr>
                                <m:t>2</m:t>
                              </m:r>
                            </m:sup>
                          </m:sSup>
                        </m:den>
                      </m:f>
                    </m:oMath>
                  </m:oMathPara>
                </a14:m>
                <a:endParaRPr lang="en-ID"/>
              </a:p>
            </p:txBody>
          </p:sp>
        </mc:Choice>
        <mc:Fallback xmlns="">
          <p:sp>
            <p:nvSpPr>
              <p:cNvPr id="38917" name="Object 7">
                <a:extLst>
                  <a:ext uri="{FF2B5EF4-FFF2-40B4-BE49-F238E27FC236}">
                    <a16:creationId xmlns:a16="http://schemas.microsoft.com/office/drawing/2014/main" id="{B3D09EF0-1F96-22FB-CF23-65A374EA43F3}"/>
                  </a:ext>
                </a:extLst>
              </p:cNvPr>
              <p:cNvSpPr txBox="1">
                <a:spLocks noGrp="1" noRot="1" noChangeAspect="1" noMove="1" noResize="1" noEditPoints="1" noAdjustHandles="1" noChangeArrowheads="1" noChangeShapeType="1" noTextEdit="1"/>
              </p:cNvSpPr>
              <p:nvPr>
                <p:ph sz="quarter" idx="2"/>
              </p:nvPr>
            </p:nvSpPr>
            <p:spPr bwMode="auto">
              <a:xfrm>
                <a:off x="3759993" y="3352800"/>
                <a:ext cx="1852613" cy="820738"/>
              </a:xfrm>
              <a:prstGeom prst="rect">
                <a:avLst/>
              </a:prstGeom>
              <a:blipFill>
                <a:blip r:embed="rId2"/>
                <a:stretch>
                  <a:fillRect/>
                </a:stretch>
              </a:blipFill>
              <a:ln>
                <a:noFill/>
              </a:ln>
              <a:effectLst/>
            </p:spPr>
            <p:txBody>
              <a:bodyPr/>
              <a:lstStyle/>
              <a:p>
                <a:r>
                  <a:rPr lang="en-US">
                    <a:noFill/>
                  </a:rPr>
                  <a:t> </a:t>
                </a:r>
              </a:p>
            </p:txBody>
          </p:sp>
        </mc:Fallback>
      </mc:AlternateContent>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Number Placeholder 6">
            <a:extLst>
              <a:ext uri="{FF2B5EF4-FFF2-40B4-BE49-F238E27FC236}">
                <a16:creationId xmlns:a16="http://schemas.microsoft.com/office/drawing/2014/main" id="{B1026024-3DC7-AA24-AFD9-9427929A287D}"/>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5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4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9pPr>
          </a:lstStyle>
          <a:p>
            <a:pPr>
              <a:spcBef>
                <a:spcPct val="0"/>
              </a:spcBef>
              <a:buClrTx/>
              <a:buSzTx/>
              <a:buFontTx/>
              <a:buNone/>
            </a:pPr>
            <a:fld id="{35416BA7-A873-4307-8DA4-9256D019C30B}" type="slidenum">
              <a:rPr lang="en-US" altLang="id-ID" sz="1200">
                <a:latin typeface="Arial Black" panose="020B0A04020102020204" pitchFamily="34" charset="0"/>
              </a:rPr>
              <a:pPr>
                <a:spcBef>
                  <a:spcPct val="0"/>
                </a:spcBef>
                <a:buClrTx/>
                <a:buSzTx/>
                <a:buFontTx/>
                <a:buNone/>
              </a:pPr>
              <a:t>34</a:t>
            </a:fld>
            <a:endParaRPr lang="en-US" altLang="id-ID" sz="1200">
              <a:latin typeface="Arial Black" panose="020B0A04020102020204" pitchFamily="34" charset="0"/>
            </a:endParaRPr>
          </a:p>
        </p:txBody>
      </p:sp>
      <p:sp>
        <p:nvSpPr>
          <p:cNvPr id="39939" name="Rectangle 2">
            <a:extLst>
              <a:ext uri="{FF2B5EF4-FFF2-40B4-BE49-F238E27FC236}">
                <a16:creationId xmlns:a16="http://schemas.microsoft.com/office/drawing/2014/main" id="{4229F2AE-E708-DB61-B95B-34B295FAAD3A}"/>
              </a:ext>
            </a:extLst>
          </p:cNvPr>
          <p:cNvSpPr>
            <a:spLocks noGrp="1" noChangeArrowheads="1"/>
          </p:cNvSpPr>
          <p:nvPr>
            <p:ph type="title"/>
          </p:nvPr>
        </p:nvSpPr>
        <p:spPr/>
        <p:txBody>
          <a:bodyPr/>
          <a:lstStyle/>
          <a:p>
            <a:pPr eaLnBrk="1" hangingPunct="1"/>
            <a:r>
              <a:rPr lang="en-US" altLang="id-ID" dirty="0" err="1"/>
              <a:t>Efek</a:t>
            </a:r>
            <a:r>
              <a:rPr lang="en-US" altLang="id-ID" dirty="0"/>
              <a:t> </a:t>
            </a:r>
            <a:r>
              <a:rPr lang="en-US" altLang="id-ID" dirty="0" err="1"/>
              <a:t>Utilisasi</a:t>
            </a:r>
            <a:r>
              <a:rPr lang="en-US" altLang="id-ID" dirty="0"/>
              <a:t> dan </a:t>
            </a:r>
            <a:r>
              <a:rPr lang="en-US" altLang="id-ID" dirty="0" err="1"/>
              <a:t>Variabilitas</a:t>
            </a:r>
            <a:r>
              <a:rPr lang="en-US" altLang="id-ID" dirty="0"/>
              <a:t> </a:t>
            </a:r>
            <a:r>
              <a:rPr lang="en-US" altLang="id-ID" dirty="0" err="1"/>
              <a:t>Layanan</a:t>
            </a:r>
            <a:r>
              <a:rPr lang="en-US" altLang="id-ID" dirty="0"/>
              <a:t> </a:t>
            </a:r>
            <a:r>
              <a:rPr lang="en-US" altLang="id-ID" sz="2200" dirty="0"/>
              <a:t>				</a:t>
            </a:r>
            <a:r>
              <a:rPr lang="en-US" altLang="id-ID" sz="2200" dirty="0">
                <a:solidFill>
                  <a:schemeClr val="bg2"/>
                </a:solidFill>
              </a:rPr>
              <a:t>[Steady-State of Markovian Model]</a:t>
            </a:r>
          </a:p>
        </p:txBody>
      </p:sp>
      <p:sp>
        <p:nvSpPr>
          <p:cNvPr id="39940" name="Rectangle 3">
            <a:extLst>
              <a:ext uri="{FF2B5EF4-FFF2-40B4-BE49-F238E27FC236}">
                <a16:creationId xmlns:a16="http://schemas.microsoft.com/office/drawing/2014/main" id="{1B33509D-4739-A981-090B-B59000064F51}"/>
              </a:ext>
            </a:extLst>
          </p:cNvPr>
          <p:cNvSpPr>
            <a:spLocks noGrp="1" noChangeArrowheads="1"/>
          </p:cNvSpPr>
          <p:nvPr>
            <p:ph type="body" sz="half" idx="1"/>
          </p:nvPr>
        </p:nvSpPr>
        <p:spPr/>
        <p:txBody>
          <a:bodyPr/>
          <a:lstStyle/>
          <a:p>
            <a:pPr eaLnBrk="1" hangingPunct="1"/>
            <a:r>
              <a:rPr lang="en-US" altLang="id-ID" sz="2200" dirty="0" err="1"/>
              <a:t>perhatikan</a:t>
            </a:r>
            <a:r>
              <a:rPr lang="en-US" altLang="id-ID" sz="2200" dirty="0"/>
              <a:t> </a:t>
            </a:r>
            <a:r>
              <a:rPr lang="en-US" altLang="id-ID" sz="2200" i="1" dirty="0"/>
              <a:t>L</a:t>
            </a:r>
            <a:r>
              <a:rPr lang="en-US" altLang="id-ID" sz="2200" i="1" baseline="-25000" dirty="0"/>
              <a:t>Q</a:t>
            </a:r>
            <a:r>
              <a:rPr lang="en-US" altLang="id-ID" sz="2200" dirty="0"/>
              <a:t> </a:t>
            </a:r>
            <a:r>
              <a:rPr lang="en-US" altLang="id-ID" sz="2200" dirty="0" err="1"/>
              <a:t>untuk</a:t>
            </a:r>
            <a:r>
              <a:rPr lang="en-US" altLang="id-ID" sz="2200" dirty="0"/>
              <a:t> </a:t>
            </a:r>
            <a:r>
              <a:rPr lang="en-US" altLang="id-ID" sz="2200" dirty="0" err="1"/>
              <a:t>sebarang</a:t>
            </a:r>
            <a:r>
              <a:rPr lang="en-US" altLang="id-ID" sz="2200" dirty="0"/>
              <a:t> </a:t>
            </a:r>
            <a:r>
              <a:rPr lang="en-US" altLang="id-ID" sz="2200" dirty="0" err="1"/>
              <a:t>antrean</a:t>
            </a:r>
            <a:r>
              <a:rPr lang="en-US" altLang="id-ID" sz="2200" dirty="0"/>
              <a:t> </a:t>
            </a:r>
            <a:r>
              <a:rPr lang="en-US" altLang="id-ID" sz="2200" i="1" dirty="0"/>
              <a:t>M/G/1</a:t>
            </a:r>
            <a:r>
              <a:rPr lang="en-US" altLang="id-ID" sz="2200" dirty="0"/>
              <a:t>:</a:t>
            </a:r>
          </a:p>
          <a:p>
            <a:pPr eaLnBrk="1" hangingPunct="1">
              <a:buFont typeface="Wingdings" panose="05000000000000000000" pitchFamily="2" charset="2"/>
              <a:buNone/>
            </a:pPr>
            <a:endParaRPr lang="en-US" altLang="id-ID" sz="2200" dirty="0"/>
          </a:p>
        </p:txBody>
      </p:sp>
      <mc:AlternateContent xmlns:mc="http://schemas.openxmlformats.org/markup-compatibility/2006">
        <mc:Choice xmlns:a14="http://schemas.microsoft.com/office/drawing/2010/main" Requires="a14">
          <p:sp>
            <p:nvSpPr>
              <p:cNvPr id="39941" name="Object 5">
                <a:extLst>
                  <a:ext uri="{FF2B5EF4-FFF2-40B4-BE49-F238E27FC236}">
                    <a16:creationId xmlns:a16="http://schemas.microsoft.com/office/drawing/2014/main" id="{5A809CCF-F464-9C08-406A-8E100D9B34ED}"/>
                  </a:ext>
                </a:extLst>
              </p:cNvPr>
              <p:cNvSpPr txBox="1">
                <a:spLocks noGrp="1"/>
              </p:cNvSpPr>
              <p:nvPr>
                <p:ph sz="quarter" idx="2"/>
              </p:nvPr>
            </p:nvSpPr>
            <p:spPr bwMode="auto">
              <a:xfrm>
                <a:off x="1409700" y="2667000"/>
                <a:ext cx="2438400" cy="1524000"/>
              </a:xfrm>
              <a:prstGeom prst="rect">
                <a:avLst/>
              </a:prstGeom>
              <a:noFill/>
              <a:ln>
                <a:noFill/>
              </a:ln>
              <a:effectLst/>
            </p:spPr>
            <p:txBody>
              <a:bodyPr>
                <a:normAutofit fontScale="55000" lnSpcReduction="20000"/>
              </a:bodyPr>
              <a:lstStyle/>
              <a:p>
                <a:pPr>
                  <a:buNone/>
                </a:pPr>
                <a14:m>
                  <m:oMathPara xmlns:m="http://schemas.openxmlformats.org/officeDocument/2006/math">
                    <m:oMathParaPr>
                      <m:jc m:val="left"/>
                    </m:oMathParaPr>
                    <m:oMath xmlns:m="http://schemas.openxmlformats.org/officeDocument/2006/math">
                      <m:r>
                        <m:rPr>
                          <m:aln/>
                        </m:rPr>
                        <a:rPr lang="en-ID" i="1">
                          <a:solidFill>
                            <a:srgbClr val="000000"/>
                          </a:solidFill>
                          <a:latin typeface="Cambria Math" panose="02040503050406030204" pitchFamily="18" charset="0"/>
                        </a:rPr>
                        <m:t>=</m:t>
                      </m:r>
                      <m:f>
                        <m:fPr>
                          <m:ctrlPr>
                            <a:rPr lang="en-ID" i="1">
                              <a:solidFill>
                                <a:srgbClr val="000000"/>
                              </a:solidFill>
                              <a:latin typeface="Cambria Math" panose="02040503050406030204" pitchFamily="18" charset="0"/>
                            </a:rPr>
                          </m:ctrlPr>
                        </m:fPr>
                        <m:num>
                          <m:sSup>
                            <m:sSupPr>
                              <m:ctrlPr>
                                <a:rPr lang="en-ID" i="1">
                                  <a:solidFill>
                                    <a:srgbClr val="000000"/>
                                  </a:solidFill>
                                  <a:latin typeface="Cambria Math" panose="02040503050406030204" pitchFamily="18" charset="0"/>
                                </a:rPr>
                              </m:ctrlPr>
                            </m:sSupPr>
                            <m:e>
                              <m:r>
                                <a:rPr lang="en-ID" i="1">
                                  <a:solidFill>
                                    <a:srgbClr val="000000"/>
                                  </a:solidFill>
                                  <a:latin typeface="Cambria Math" panose="02040503050406030204" pitchFamily="18" charset="0"/>
                                </a:rPr>
                                <m:t>𝜌</m:t>
                              </m:r>
                            </m:e>
                            <m:sup>
                              <m:r>
                                <a:rPr lang="en-ID" i="1">
                                  <a:solidFill>
                                    <a:srgbClr val="000000"/>
                                  </a:solidFill>
                                  <a:latin typeface="Cambria Math" panose="02040503050406030204" pitchFamily="18" charset="0"/>
                                </a:rPr>
                                <m:t>2</m:t>
                              </m:r>
                            </m:sup>
                          </m:sSup>
                          <m:r>
                            <a:rPr lang="en-ID" i="1">
                              <a:solidFill>
                                <a:srgbClr val="000000"/>
                              </a:solidFill>
                              <a:latin typeface="Cambria Math" panose="02040503050406030204" pitchFamily="18" charset="0"/>
                            </a:rPr>
                            <m:t>(1+</m:t>
                          </m:r>
                          <m:sSup>
                            <m:sSupPr>
                              <m:ctrlPr>
                                <a:rPr lang="en-ID" i="1">
                                  <a:solidFill>
                                    <a:srgbClr val="000000"/>
                                  </a:solidFill>
                                  <a:latin typeface="Cambria Math" panose="02040503050406030204" pitchFamily="18" charset="0"/>
                                </a:rPr>
                              </m:ctrlPr>
                            </m:sSupPr>
                            <m:e>
                              <m:r>
                                <a:rPr lang="en-ID" i="1">
                                  <a:solidFill>
                                    <a:srgbClr val="000000"/>
                                  </a:solidFill>
                                  <a:latin typeface="Cambria Math" panose="02040503050406030204" pitchFamily="18" charset="0"/>
                                </a:rPr>
                                <m:t>𝜎</m:t>
                              </m:r>
                            </m:e>
                            <m:sup>
                              <m:r>
                                <a:rPr lang="en-ID" i="1">
                                  <a:solidFill>
                                    <a:srgbClr val="000000"/>
                                  </a:solidFill>
                                  <a:latin typeface="Cambria Math" panose="02040503050406030204" pitchFamily="18" charset="0"/>
                                </a:rPr>
                                <m:t>2</m:t>
                              </m:r>
                            </m:sup>
                          </m:sSup>
                          <m:sSup>
                            <m:sSupPr>
                              <m:ctrlPr>
                                <a:rPr lang="en-ID" i="1">
                                  <a:solidFill>
                                    <a:srgbClr val="000000"/>
                                  </a:solidFill>
                                  <a:latin typeface="Cambria Math" panose="02040503050406030204" pitchFamily="18" charset="0"/>
                                </a:rPr>
                              </m:ctrlPr>
                            </m:sSupPr>
                            <m:e>
                              <m:r>
                                <a:rPr lang="en-ID" i="1">
                                  <a:solidFill>
                                    <a:srgbClr val="000000"/>
                                  </a:solidFill>
                                  <a:latin typeface="Cambria Math" panose="02040503050406030204" pitchFamily="18" charset="0"/>
                                </a:rPr>
                                <m:t>𝜇</m:t>
                              </m:r>
                            </m:e>
                            <m:sup>
                              <m:r>
                                <a:rPr lang="en-ID" i="1">
                                  <a:solidFill>
                                    <a:srgbClr val="000000"/>
                                  </a:solidFill>
                                  <a:latin typeface="Cambria Math" panose="02040503050406030204" pitchFamily="18" charset="0"/>
                                </a:rPr>
                                <m:t>2</m:t>
                              </m:r>
                            </m:sup>
                          </m:sSup>
                          <m:r>
                            <a:rPr lang="en-ID" i="1">
                              <a:solidFill>
                                <a:srgbClr val="000000"/>
                              </a:solidFill>
                              <a:latin typeface="Cambria Math" panose="02040503050406030204" pitchFamily="18" charset="0"/>
                            </a:rPr>
                            <m:t>)</m:t>
                          </m:r>
                        </m:num>
                        <m:den>
                          <m:r>
                            <a:rPr lang="en-ID" i="1">
                              <a:solidFill>
                                <a:srgbClr val="000000"/>
                              </a:solidFill>
                              <a:latin typeface="Cambria Math" panose="02040503050406030204" pitchFamily="18" charset="0"/>
                            </a:rPr>
                            <m:t>2(1−</m:t>
                          </m:r>
                          <m:r>
                            <a:rPr lang="en-ID" i="1">
                              <a:solidFill>
                                <a:srgbClr val="000000"/>
                              </a:solidFill>
                              <a:latin typeface="Cambria Math" panose="02040503050406030204" pitchFamily="18" charset="0"/>
                            </a:rPr>
                            <m:t>𝜌</m:t>
                          </m:r>
                          <m:r>
                            <a:rPr lang="en-ID" i="1">
                              <a:solidFill>
                                <a:srgbClr val="000000"/>
                              </a:solidFill>
                              <a:latin typeface="Cambria Math" panose="02040503050406030204" pitchFamily="18" charset="0"/>
                            </a:rPr>
                            <m:t>)</m:t>
                          </m:r>
                        </m:den>
                      </m:f>
                    </m:oMath>
                    <m:oMath xmlns:m="http://schemas.openxmlformats.org/officeDocument/2006/math">
                      <m:r>
                        <m:rPr>
                          <m:aln/>
                        </m:rPr>
                        <a:rPr lang="en-ID" i="1">
                          <a:solidFill>
                            <a:srgbClr val="000000"/>
                          </a:solidFill>
                          <a:latin typeface="Cambria Math" panose="02040503050406030204" pitchFamily="18" charset="0"/>
                        </a:rPr>
                        <m:t>=</m:t>
                      </m:r>
                      <m:d>
                        <m:dPr>
                          <m:ctrlPr>
                            <a:rPr lang="en-ID" i="1">
                              <a:solidFill>
                                <a:srgbClr val="000000"/>
                              </a:solidFill>
                              <a:latin typeface="Cambria Math" panose="02040503050406030204" pitchFamily="18" charset="0"/>
                            </a:rPr>
                          </m:ctrlPr>
                        </m:dPr>
                        <m:e>
                          <m:f>
                            <m:fPr>
                              <m:ctrlPr>
                                <a:rPr lang="en-ID" i="1">
                                  <a:solidFill>
                                    <a:srgbClr val="000000"/>
                                  </a:solidFill>
                                  <a:latin typeface="Cambria Math" panose="02040503050406030204" pitchFamily="18" charset="0"/>
                                </a:rPr>
                              </m:ctrlPr>
                            </m:fPr>
                            <m:num>
                              <m:sSup>
                                <m:sSupPr>
                                  <m:ctrlPr>
                                    <a:rPr lang="en-ID" i="1">
                                      <a:solidFill>
                                        <a:srgbClr val="000000"/>
                                      </a:solidFill>
                                      <a:latin typeface="Cambria Math" panose="02040503050406030204" pitchFamily="18" charset="0"/>
                                    </a:rPr>
                                  </m:ctrlPr>
                                </m:sSupPr>
                                <m:e>
                                  <m:r>
                                    <a:rPr lang="en-ID" i="1">
                                      <a:solidFill>
                                        <a:srgbClr val="000000"/>
                                      </a:solidFill>
                                      <a:latin typeface="Cambria Math" panose="02040503050406030204" pitchFamily="18" charset="0"/>
                                    </a:rPr>
                                    <m:t>𝜌</m:t>
                                  </m:r>
                                </m:e>
                                <m:sup>
                                  <m:r>
                                    <a:rPr lang="en-ID" i="1">
                                      <a:solidFill>
                                        <a:srgbClr val="000000"/>
                                      </a:solidFill>
                                      <a:latin typeface="Cambria Math" panose="02040503050406030204" pitchFamily="18" charset="0"/>
                                    </a:rPr>
                                    <m:t>2</m:t>
                                  </m:r>
                                </m:sup>
                              </m:sSup>
                            </m:num>
                            <m:den>
                              <m:r>
                                <a:rPr lang="en-ID" i="1">
                                  <a:solidFill>
                                    <a:srgbClr val="000000"/>
                                  </a:solidFill>
                                  <a:latin typeface="Cambria Math" panose="02040503050406030204" pitchFamily="18" charset="0"/>
                                </a:rPr>
                                <m:t>1−</m:t>
                              </m:r>
                              <m:r>
                                <a:rPr lang="en-ID" i="1">
                                  <a:solidFill>
                                    <a:srgbClr val="000000"/>
                                  </a:solidFill>
                                  <a:latin typeface="Cambria Math" panose="02040503050406030204" pitchFamily="18" charset="0"/>
                                </a:rPr>
                                <m:t>𝜌</m:t>
                              </m:r>
                            </m:den>
                          </m:f>
                        </m:e>
                      </m:d>
                      <m:d>
                        <m:dPr>
                          <m:ctrlPr>
                            <a:rPr lang="en-ID" i="1">
                              <a:solidFill>
                                <a:srgbClr val="000000"/>
                              </a:solidFill>
                              <a:latin typeface="Cambria Math" panose="02040503050406030204" pitchFamily="18" charset="0"/>
                            </a:rPr>
                          </m:ctrlPr>
                        </m:dPr>
                        <m:e>
                          <m:f>
                            <m:fPr>
                              <m:ctrlPr>
                                <a:rPr lang="en-ID" i="1">
                                  <a:solidFill>
                                    <a:srgbClr val="000000"/>
                                  </a:solidFill>
                                  <a:latin typeface="Cambria Math" panose="02040503050406030204" pitchFamily="18" charset="0"/>
                                </a:rPr>
                              </m:ctrlPr>
                            </m:fPr>
                            <m:num>
                              <m:r>
                                <a:rPr lang="en-ID" i="1">
                                  <a:solidFill>
                                    <a:srgbClr val="000000"/>
                                  </a:solidFill>
                                  <a:latin typeface="Cambria Math" panose="02040503050406030204" pitchFamily="18" charset="0"/>
                                </a:rPr>
                                <m:t>1+(</m:t>
                              </m:r>
                              <m:r>
                                <a:rPr lang="en-ID" i="1">
                                  <a:solidFill>
                                    <a:srgbClr val="000000"/>
                                  </a:solidFill>
                                  <a:latin typeface="Cambria Math" panose="02040503050406030204" pitchFamily="18" charset="0"/>
                                </a:rPr>
                                <m:t>𝑐𝑣</m:t>
                              </m:r>
                              <m:sSup>
                                <m:sSupPr>
                                  <m:ctrlPr>
                                    <a:rPr lang="en-ID" i="1">
                                      <a:solidFill>
                                        <a:srgbClr val="000000"/>
                                      </a:solidFill>
                                      <a:latin typeface="Cambria Math" panose="02040503050406030204" pitchFamily="18" charset="0"/>
                                    </a:rPr>
                                  </m:ctrlPr>
                                </m:sSupPr>
                                <m:e>
                                  <m:r>
                                    <a:rPr lang="en-ID" i="1">
                                      <a:solidFill>
                                        <a:srgbClr val="000000"/>
                                      </a:solidFill>
                                      <a:latin typeface="Cambria Math" panose="02040503050406030204" pitchFamily="18" charset="0"/>
                                    </a:rPr>
                                    <m:t>)</m:t>
                                  </m:r>
                                </m:e>
                                <m:sup>
                                  <m:r>
                                    <a:rPr lang="en-ID" i="1">
                                      <a:solidFill>
                                        <a:srgbClr val="000000"/>
                                      </a:solidFill>
                                      <a:latin typeface="Cambria Math" panose="02040503050406030204" pitchFamily="18" charset="0"/>
                                    </a:rPr>
                                    <m:t>2</m:t>
                                  </m:r>
                                </m:sup>
                              </m:sSup>
                            </m:num>
                            <m:den>
                              <m:r>
                                <a:rPr lang="en-ID" i="1">
                                  <a:solidFill>
                                    <a:srgbClr val="000000"/>
                                  </a:solidFill>
                                  <a:latin typeface="Cambria Math" panose="02040503050406030204" pitchFamily="18" charset="0"/>
                                </a:rPr>
                                <m:t>2</m:t>
                              </m:r>
                            </m:den>
                          </m:f>
                        </m:e>
                      </m:d>
                    </m:oMath>
                  </m:oMathPara>
                </a14:m>
                <a:endParaRPr lang="en-ID" dirty="0"/>
              </a:p>
            </p:txBody>
          </p:sp>
        </mc:Choice>
        <mc:Fallback>
          <p:sp>
            <p:nvSpPr>
              <p:cNvPr id="39941" name="Object 5">
                <a:extLst>
                  <a:ext uri="{FF2B5EF4-FFF2-40B4-BE49-F238E27FC236}">
                    <a16:creationId xmlns:a16="http://schemas.microsoft.com/office/drawing/2014/main" id="{5A809CCF-F464-9C08-406A-8E100D9B34ED}"/>
                  </a:ext>
                </a:extLst>
              </p:cNvPr>
              <p:cNvSpPr txBox="1">
                <a:spLocks noGrp="1" noRot="1" noChangeAspect="1" noMove="1" noResize="1" noEditPoints="1" noAdjustHandles="1" noChangeArrowheads="1" noChangeShapeType="1" noTextEdit="1"/>
              </p:cNvSpPr>
              <p:nvPr>
                <p:ph sz="quarter" idx="2"/>
              </p:nvPr>
            </p:nvSpPr>
            <p:spPr bwMode="auto">
              <a:xfrm>
                <a:off x="1409700" y="2667000"/>
                <a:ext cx="2438400" cy="1524000"/>
              </a:xfrm>
              <a:prstGeom prst="rect">
                <a:avLst/>
              </a:prstGeom>
              <a:blipFill>
                <a:blip r:embed="rId2"/>
                <a:stretch>
                  <a:fillRect/>
                </a:stretch>
              </a:blipFill>
              <a:ln>
                <a:noFill/>
              </a:ln>
              <a:effectLst/>
            </p:spPr>
            <p:txBody>
              <a:bodyPr/>
              <a:lstStyle/>
              <a:p>
                <a:r>
                  <a:rPr lang="en-ID">
                    <a:noFill/>
                  </a:rPr>
                  <a:t> </a:t>
                </a:r>
              </a:p>
            </p:txBody>
          </p:sp>
        </mc:Fallback>
      </mc:AlternateContent>
      <p:sp>
        <p:nvSpPr>
          <p:cNvPr id="39942" name="AutoShape 6">
            <a:extLst>
              <a:ext uri="{FF2B5EF4-FFF2-40B4-BE49-F238E27FC236}">
                <a16:creationId xmlns:a16="http://schemas.microsoft.com/office/drawing/2014/main" id="{49D70AB2-03B9-0CFF-8A32-6333315344C2}"/>
              </a:ext>
            </a:extLst>
          </p:cNvPr>
          <p:cNvSpPr>
            <a:spLocks noChangeArrowheads="1"/>
          </p:cNvSpPr>
          <p:nvPr/>
        </p:nvSpPr>
        <p:spPr bwMode="auto">
          <a:xfrm rot="-5400000">
            <a:off x="1181100" y="3695700"/>
            <a:ext cx="762000" cy="1447800"/>
          </a:xfrm>
          <a:prstGeom prst="wedgeRoundRectCallout">
            <a:avLst>
              <a:gd name="adj1" fmla="val 95829"/>
              <a:gd name="adj2" fmla="val 41333"/>
              <a:gd name="adj3" fmla="val 16667"/>
            </a:avLst>
          </a:prstGeom>
          <a:noFill/>
          <a:ln w="9525" algn="ctr">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nchor="ctr"/>
          <a:lstStyle>
            <a:lvl1pPr>
              <a:spcBef>
                <a:spcPct val="20000"/>
              </a:spcBef>
              <a:buClr>
                <a:schemeClr val="bg2"/>
              </a:buClr>
              <a:buSzPct val="75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4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9pPr>
          </a:lstStyle>
          <a:p>
            <a:pPr algn="ctr">
              <a:spcBef>
                <a:spcPct val="0"/>
              </a:spcBef>
              <a:buClrTx/>
              <a:buSzTx/>
              <a:buFontTx/>
              <a:buNone/>
            </a:pPr>
            <a:r>
              <a:rPr lang="en-US" altLang="id-ID" sz="1600" i="1" dirty="0"/>
              <a:t>L</a:t>
            </a:r>
            <a:r>
              <a:rPr lang="en-US" altLang="id-ID" sz="1600" i="1" baseline="-25000" dirty="0"/>
              <a:t>Q</a:t>
            </a:r>
            <a:r>
              <a:rPr lang="en-US" altLang="id-ID" sz="1600" dirty="0"/>
              <a:t> </a:t>
            </a:r>
            <a:r>
              <a:rPr lang="en-US" altLang="id-ID" sz="1600" dirty="0" err="1"/>
              <a:t>untuk</a:t>
            </a:r>
            <a:r>
              <a:rPr lang="en-US" altLang="id-ID" sz="1600" dirty="0"/>
              <a:t> </a:t>
            </a:r>
            <a:r>
              <a:rPr lang="en-US" altLang="id-ID" sz="1600" dirty="0" err="1"/>
              <a:t>antrean</a:t>
            </a:r>
            <a:r>
              <a:rPr lang="en-US" altLang="id-ID" sz="1600" dirty="0"/>
              <a:t> </a:t>
            </a:r>
            <a:r>
              <a:rPr lang="en-US" altLang="id-ID" sz="1600" i="1" dirty="0"/>
              <a:t>M/M/1</a:t>
            </a:r>
            <a:r>
              <a:rPr lang="en-US" altLang="id-ID" sz="1600" dirty="0"/>
              <a:t> </a:t>
            </a:r>
          </a:p>
        </p:txBody>
      </p:sp>
      <p:sp>
        <p:nvSpPr>
          <p:cNvPr id="39943" name="AutoShape 7">
            <a:extLst>
              <a:ext uri="{FF2B5EF4-FFF2-40B4-BE49-F238E27FC236}">
                <a16:creationId xmlns:a16="http://schemas.microsoft.com/office/drawing/2014/main" id="{AC06FFAC-87CC-F8A3-1050-FD26580392FA}"/>
              </a:ext>
            </a:extLst>
          </p:cNvPr>
          <p:cNvSpPr>
            <a:spLocks noChangeArrowheads="1"/>
          </p:cNvSpPr>
          <p:nvPr/>
        </p:nvSpPr>
        <p:spPr bwMode="auto">
          <a:xfrm rot="-5400000">
            <a:off x="3352800" y="3581400"/>
            <a:ext cx="1143000" cy="1905000"/>
          </a:xfrm>
          <a:prstGeom prst="wedgeRoundRectCallout">
            <a:avLst>
              <a:gd name="adj1" fmla="val 77639"/>
              <a:gd name="adj2" fmla="val -40083"/>
              <a:gd name="adj3" fmla="val 16667"/>
            </a:avLst>
          </a:prstGeom>
          <a:noFill/>
          <a:ln w="9525" algn="ctr">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nchor="ctr"/>
          <a:lstStyle>
            <a:lvl1pPr>
              <a:spcBef>
                <a:spcPct val="20000"/>
              </a:spcBef>
              <a:buClr>
                <a:schemeClr val="bg2"/>
              </a:buClr>
              <a:buSzPct val="75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4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9pPr>
          </a:lstStyle>
          <a:p>
            <a:pPr algn="ctr">
              <a:spcBef>
                <a:spcPct val="0"/>
              </a:spcBef>
              <a:buClrTx/>
              <a:buSzTx/>
              <a:buFontTx/>
              <a:buNone/>
            </a:pPr>
            <a:r>
              <a:rPr lang="en-US" altLang="id-ID" sz="1400" dirty="0"/>
              <a:t>Corrects the </a:t>
            </a:r>
            <a:r>
              <a:rPr lang="en-US" altLang="id-ID" sz="1400" i="1" dirty="0"/>
              <a:t>M/M/1</a:t>
            </a:r>
            <a:r>
              <a:rPr lang="en-US" altLang="id-ID" sz="1400" dirty="0"/>
              <a:t> formula to account for a non-exponential service time </a:t>
            </a:r>
            <a:r>
              <a:rPr lang="en-US" altLang="id-ID" sz="1400" dirty="0" err="1"/>
              <a:t>dist’n</a:t>
            </a:r>
            <a:endParaRPr lang="en-US" altLang="id-ID" sz="1400" dirty="0"/>
          </a:p>
        </p:txBody>
      </p:sp>
      <p:pic>
        <p:nvPicPr>
          <p:cNvPr id="39944" name="Picture 15" descr="06-12">
            <a:extLst>
              <a:ext uri="{FF2B5EF4-FFF2-40B4-BE49-F238E27FC236}">
                <a16:creationId xmlns:a16="http://schemas.microsoft.com/office/drawing/2014/main" id="{0EF0BF40-4A20-F372-3FE0-EFABD59B482C}"/>
              </a:ext>
            </a:extLst>
          </p:cNvPr>
          <p:cNvPicPr>
            <a:picLocks noGrp="1" noChangeAspect="1" noChangeArrowheads="1"/>
          </p:cNvPicPr>
          <p:nvPr>
            <p:ph sz="quarter" idx="3"/>
          </p:nvPr>
        </p:nvPicPr>
        <p:blipFill>
          <a:blip r:embed="rId3">
            <a:extLst>
              <a:ext uri="{28A0092B-C50C-407E-A947-70E740481C1C}">
                <a14:useLocalDpi xmlns:a14="http://schemas.microsoft.com/office/drawing/2010/main" val="0"/>
              </a:ext>
            </a:extLst>
          </a:blip>
          <a:srcRect/>
          <a:stretch>
            <a:fillRect/>
          </a:stretch>
        </p:blipFill>
        <p:spPr>
          <a:xfrm>
            <a:off x="5105400" y="2063750"/>
            <a:ext cx="3581400" cy="29654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Number Placeholder 5">
            <a:extLst>
              <a:ext uri="{FF2B5EF4-FFF2-40B4-BE49-F238E27FC236}">
                <a16:creationId xmlns:a16="http://schemas.microsoft.com/office/drawing/2014/main" id="{430706AE-C8A0-C0DA-6C70-1FFA6643EA70}"/>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5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4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9pPr>
          </a:lstStyle>
          <a:p>
            <a:pPr>
              <a:spcBef>
                <a:spcPct val="0"/>
              </a:spcBef>
              <a:buClrTx/>
              <a:buSzTx/>
              <a:buFontTx/>
              <a:buNone/>
            </a:pPr>
            <a:fld id="{A1C52B7E-04B5-42EB-9388-AC39014C4427}" type="slidenum">
              <a:rPr lang="en-US" altLang="id-ID" sz="1200">
                <a:latin typeface="Arial Black" panose="020B0A04020102020204" pitchFamily="34" charset="0"/>
              </a:rPr>
              <a:pPr>
                <a:spcBef>
                  <a:spcPct val="0"/>
                </a:spcBef>
                <a:buClrTx/>
                <a:buSzTx/>
                <a:buFontTx/>
                <a:buNone/>
              </a:pPr>
              <a:t>35</a:t>
            </a:fld>
            <a:endParaRPr lang="en-US" altLang="id-ID" sz="1200">
              <a:latin typeface="Arial Black" panose="020B0A04020102020204" pitchFamily="34" charset="0"/>
            </a:endParaRPr>
          </a:p>
        </p:txBody>
      </p:sp>
      <p:sp>
        <p:nvSpPr>
          <p:cNvPr id="40963" name="Rectangle 2">
            <a:extLst>
              <a:ext uri="{FF2B5EF4-FFF2-40B4-BE49-F238E27FC236}">
                <a16:creationId xmlns:a16="http://schemas.microsoft.com/office/drawing/2014/main" id="{69345055-424A-B554-E498-99F5C9A1683D}"/>
              </a:ext>
            </a:extLst>
          </p:cNvPr>
          <p:cNvSpPr>
            <a:spLocks noGrp="1" noChangeArrowheads="1"/>
          </p:cNvSpPr>
          <p:nvPr>
            <p:ph type="title"/>
          </p:nvPr>
        </p:nvSpPr>
        <p:spPr/>
        <p:txBody>
          <a:bodyPr/>
          <a:lstStyle/>
          <a:p>
            <a:pPr eaLnBrk="1" hangingPunct="1"/>
            <a:r>
              <a:rPr lang="en-US" altLang="id-ID"/>
              <a:t>Antrean Multiserver </a:t>
            </a:r>
            <a:r>
              <a:rPr lang="en-US" altLang="id-ID" sz="2200"/>
              <a:t>	</a:t>
            </a:r>
            <a:r>
              <a:rPr lang="en-US" altLang="id-ID" sz="2200">
                <a:solidFill>
                  <a:schemeClr val="bg2"/>
                </a:solidFill>
              </a:rPr>
              <a:t>[Steady-State of Markovian Model]</a:t>
            </a:r>
          </a:p>
        </p:txBody>
      </p:sp>
      <p:sp>
        <p:nvSpPr>
          <p:cNvPr id="40964" name="Rectangle 3">
            <a:extLst>
              <a:ext uri="{FF2B5EF4-FFF2-40B4-BE49-F238E27FC236}">
                <a16:creationId xmlns:a16="http://schemas.microsoft.com/office/drawing/2014/main" id="{F4731D55-5039-FF2F-E79E-5F1FE31EA579}"/>
              </a:ext>
            </a:extLst>
          </p:cNvPr>
          <p:cNvSpPr>
            <a:spLocks noGrp="1" noChangeArrowheads="1"/>
          </p:cNvSpPr>
          <p:nvPr>
            <p:ph type="body" sz="half" idx="1"/>
          </p:nvPr>
        </p:nvSpPr>
        <p:spPr>
          <a:xfrm>
            <a:off x="457200" y="1447800"/>
            <a:ext cx="8458200" cy="5029200"/>
          </a:xfrm>
        </p:spPr>
        <p:txBody>
          <a:bodyPr/>
          <a:lstStyle/>
          <a:p>
            <a:pPr eaLnBrk="1" hangingPunct="1"/>
            <a:r>
              <a:rPr lang="en-US" altLang="id-ID" sz="2200" i="1" dirty="0"/>
              <a:t>M/M/c</a:t>
            </a:r>
            <a:r>
              <a:rPr lang="en-US" altLang="id-ID" sz="2400" i="1" dirty="0"/>
              <a:t>/∞/∞</a:t>
            </a:r>
            <a:r>
              <a:rPr lang="en-US" altLang="id-ID" sz="2200" dirty="0"/>
              <a:t> queue: </a:t>
            </a:r>
            <a:r>
              <a:rPr lang="it-IT" altLang="id-ID" sz="2200" i="1" dirty="0"/>
              <a:t>c channel beroperasi secara paralel</a:t>
            </a:r>
            <a:r>
              <a:rPr lang="en-US" altLang="id-ID" sz="2200" dirty="0"/>
              <a:t>.</a:t>
            </a:r>
          </a:p>
          <a:p>
            <a:pPr lvl="1" eaLnBrk="1" hangingPunct="1"/>
            <a:r>
              <a:rPr lang="en-US" altLang="id-ID" sz="2000" dirty="0" err="1"/>
              <a:t>Setiap</a:t>
            </a:r>
            <a:r>
              <a:rPr lang="en-US" altLang="id-ID" sz="2000" dirty="0"/>
              <a:t> </a:t>
            </a:r>
            <a:r>
              <a:rPr lang="en-US" altLang="id-ID" sz="2000" dirty="0" err="1"/>
              <a:t>saluran</a:t>
            </a:r>
            <a:r>
              <a:rPr lang="en-US" altLang="id-ID" sz="2000" dirty="0"/>
              <a:t> </a:t>
            </a:r>
            <a:r>
              <a:rPr lang="en-US" altLang="id-ID" sz="2000" dirty="0" err="1"/>
              <a:t>mempunyai</a:t>
            </a:r>
            <a:r>
              <a:rPr lang="en-US" altLang="id-ID" sz="2000" dirty="0"/>
              <a:t> </a:t>
            </a:r>
            <a:r>
              <a:rPr lang="en-US" altLang="id-ID" sz="2000" dirty="0" err="1"/>
              <a:t>distribusi</a:t>
            </a:r>
            <a:r>
              <a:rPr lang="en-US" altLang="id-ID" sz="2000" dirty="0"/>
              <a:t> </a:t>
            </a:r>
            <a:r>
              <a:rPr lang="en-US" altLang="id-ID" sz="2000" dirty="0" err="1"/>
              <a:t>waktu</a:t>
            </a:r>
            <a:r>
              <a:rPr lang="en-US" altLang="id-ID" sz="2000" dirty="0"/>
              <a:t> </a:t>
            </a:r>
            <a:r>
              <a:rPr lang="en-US" altLang="id-ID" sz="2000" dirty="0" err="1"/>
              <a:t>layanan</a:t>
            </a:r>
            <a:r>
              <a:rPr lang="en-US" altLang="id-ID" sz="2000" dirty="0"/>
              <a:t> </a:t>
            </a:r>
            <a:r>
              <a:rPr lang="en-US" altLang="id-ID" sz="2000" dirty="0" err="1"/>
              <a:t>eksponensial</a:t>
            </a:r>
            <a:r>
              <a:rPr lang="en-US" altLang="id-ID" sz="2000" dirty="0"/>
              <a:t> yang </a:t>
            </a:r>
            <a:r>
              <a:rPr lang="en-US" altLang="id-ID" sz="2000" dirty="0" err="1"/>
              <a:t>independen</a:t>
            </a:r>
            <a:r>
              <a:rPr lang="en-US" altLang="id-ID" sz="2000" dirty="0"/>
              <a:t> dan </a:t>
            </a:r>
            <a:r>
              <a:rPr lang="en-US" altLang="id-ID" sz="2000" dirty="0" err="1"/>
              <a:t>identik</a:t>
            </a:r>
            <a:r>
              <a:rPr lang="en-US" altLang="id-ID" sz="2000" dirty="0"/>
              <a:t>, </a:t>
            </a:r>
            <a:r>
              <a:rPr lang="en-US" altLang="id-ID" sz="2000" dirty="0" err="1"/>
              <a:t>dengan</a:t>
            </a:r>
            <a:r>
              <a:rPr lang="en-US" altLang="id-ID" sz="2000" dirty="0"/>
              <a:t> mean </a:t>
            </a:r>
            <a:r>
              <a:rPr lang="en-US" altLang="id-ID" sz="2000" i="1" dirty="0"/>
              <a:t>1/</a:t>
            </a:r>
            <a:r>
              <a:rPr lang="en-US" altLang="id-ID" sz="2000" i="1" dirty="0">
                <a:latin typeface="Symbol" panose="05050102010706020507" pitchFamily="18" charset="2"/>
              </a:rPr>
              <a:t>m</a:t>
            </a:r>
            <a:r>
              <a:rPr lang="en-US" altLang="id-ID" sz="2000" dirty="0"/>
              <a:t>.</a:t>
            </a:r>
          </a:p>
          <a:p>
            <a:pPr lvl="1" eaLnBrk="1" hangingPunct="1"/>
            <a:r>
              <a:rPr lang="en-US" altLang="id-ID" sz="2000" dirty="0" err="1"/>
              <a:t>Untuk</a:t>
            </a:r>
            <a:r>
              <a:rPr lang="en-US" altLang="id-ID" sz="2000" dirty="0"/>
              <a:t> </a:t>
            </a:r>
            <a:r>
              <a:rPr lang="en-US" altLang="id-ID" sz="2000" dirty="0" err="1"/>
              <a:t>mencapai</a:t>
            </a:r>
            <a:r>
              <a:rPr lang="en-US" altLang="id-ID" sz="2000" dirty="0"/>
              <a:t> </a:t>
            </a:r>
            <a:r>
              <a:rPr lang="en-US" altLang="id-ID" sz="2000" dirty="0" err="1"/>
              <a:t>keseimbangan</a:t>
            </a:r>
            <a:r>
              <a:rPr lang="en-US" altLang="id-ID" sz="2000" dirty="0"/>
              <a:t> </a:t>
            </a:r>
            <a:r>
              <a:rPr lang="en-US" altLang="id-ID" sz="2000" dirty="0" err="1"/>
              <a:t>statistik</a:t>
            </a:r>
            <a:r>
              <a:rPr lang="en-US" altLang="id-ID" sz="2000" dirty="0"/>
              <a:t>, </a:t>
            </a:r>
            <a:r>
              <a:rPr lang="en-US" altLang="id-ID" sz="2000" dirty="0" err="1"/>
              <a:t>beban</a:t>
            </a:r>
            <a:r>
              <a:rPr lang="en-US" altLang="id-ID" sz="2000" dirty="0"/>
              <a:t> yang </a:t>
            </a:r>
            <a:r>
              <a:rPr lang="en-US" altLang="id-ID" sz="2000" dirty="0" err="1"/>
              <a:t>ditawarkan</a:t>
            </a:r>
            <a:r>
              <a:rPr lang="en-US" altLang="id-ID" sz="2000" dirty="0"/>
              <a:t> (</a:t>
            </a:r>
            <a:r>
              <a:rPr lang="en-US" altLang="id-ID" sz="2000" i="1" dirty="0">
                <a:latin typeface="Symbol" panose="05050102010706020507" pitchFamily="18" charset="2"/>
              </a:rPr>
              <a:t>l/m</a:t>
            </a:r>
            <a:r>
              <a:rPr lang="en-US" altLang="id-ID" sz="2000" dirty="0"/>
              <a:t>) </a:t>
            </a:r>
            <a:r>
              <a:rPr lang="en-US" altLang="id-ID" sz="2000" dirty="0" err="1"/>
              <a:t>harus</a:t>
            </a:r>
            <a:r>
              <a:rPr lang="en-US" altLang="id-ID" sz="2000" dirty="0"/>
              <a:t> </a:t>
            </a:r>
            <a:r>
              <a:rPr lang="en-US" altLang="id-ID" sz="2000" dirty="0" err="1"/>
              <a:t>memenuhi</a:t>
            </a:r>
            <a:r>
              <a:rPr lang="en-US" altLang="id-ID" sz="2000" dirty="0"/>
              <a:t> </a:t>
            </a:r>
            <a:r>
              <a:rPr lang="en-US" altLang="id-ID" sz="2000" i="1" dirty="0">
                <a:latin typeface="Symbol" panose="05050102010706020507" pitchFamily="18" charset="2"/>
              </a:rPr>
              <a:t>l/m</a:t>
            </a:r>
            <a:r>
              <a:rPr lang="en-US" altLang="id-ID" sz="2000" i="1" dirty="0"/>
              <a:t> &lt; c</a:t>
            </a:r>
            <a:r>
              <a:rPr lang="en-US" altLang="id-ID" sz="2000" dirty="0"/>
              <a:t>, </a:t>
            </a:r>
            <a:r>
              <a:rPr lang="en-US" altLang="id-ID" sz="2000" dirty="0" err="1"/>
              <a:t>dimana</a:t>
            </a:r>
            <a:r>
              <a:rPr lang="en-US" altLang="id-ID" sz="2000" dirty="0"/>
              <a:t> </a:t>
            </a:r>
            <a:r>
              <a:rPr lang="en-US" altLang="id-ID" sz="2000" i="1" dirty="0">
                <a:latin typeface="Symbol" panose="05050102010706020507" pitchFamily="18" charset="2"/>
              </a:rPr>
              <a:t>l</a:t>
            </a:r>
            <a:r>
              <a:rPr lang="en-US" altLang="id-ID" sz="2000" i="1" dirty="0"/>
              <a:t>/(c</a:t>
            </a:r>
            <a:r>
              <a:rPr lang="en-US" altLang="id-ID" sz="2000" i="1" dirty="0">
                <a:latin typeface="Symbol" panose="05050102010706020507" pitchFamily="18" charset="2"/>
              </a:rPr>
              <a:t>m</a:t>
            </a:r>
            <a:r>
              <a:rPr lang="en-US" altLang="id-ID" sz="2000" i="1" dirty="0"/>
              <a:t>) = </a:t>
            </a:r>
            <a:r>
              <a:rPr lang="en-US" altLang="id-ID" sz="2000" i="1" dirty="0">
                <a:latin typeface="Symbol" panose="05050102010706020507" pitchFamily="18" charset="2"/>
              </a:rPr>
              <a:t>r</a:t>
            </a:r>
            <a:r>
              <a:rPr lang="en-US" altLang="id-ID" sz="2000" dirty="0"/>
              <a:t> </a:t>
            </a:r>
            <a:r>
              <a:rPr lang="en-US" altLang="id-ID" sz="2000" dirty="0" err="1"/>
              <a:t>adalah</a:t>
            </a:r>
            <a:r>
              <a:rPr lang="en-US" altLang="id-ID" sz="2000" dirty="0"/>
              <a:t> </a:t>
            </a:r>
            <a:r>
              <a:rPr lang="en-US" altLang="id-ID" sz="2000" dirty="0" err="1"/>
              <a:t>pemanfaatan</a:t>
            </a:r>
            <a:r>
              <a:rPr lang="en-US" altLang="id-ID" sz="2000" dirty="0"/>
              <a:t> server.</a:t>
            </a:r>
          </a:p>
          <a:p>
            <a:pPr lvl="1" eaLnBrk="1" hangingPunct="1"/>
            <a:r>
              <a:rPr lang="en-US" altLang="id-ID" sz="2000" dirty="0" err="1"/>
              <a:t>Beberapa</a:t>
            </a:r>
            <a:r>
              <a:rPr lang="en-US" altLang="id-ID" sz="2000" dirty="0"/>
              <a:t> </a:t>
            </a:r>
            <a:r>
              <a:rPr lang="en-US" altLang="id-ID" sz="2000" dirty="0" err="1"/>
              <a:t>probabilitas</a:t>
            </a:r>
            <a:r>
              <a:rPr lang="en-US" altLang="id-ID" sz="2000" dirty="0"/>
              <a:t> </a:t>
            </a:r>
            <a:r>
              <a:rPr lang="en-US" altLang="id-ID" sz="2000" dirty="0" err="1"/>
              <a:t>keadaan</a:t>
            </a:r>
            <a:r>
              <a:rPr lang="en-US" altLang="id-ID" sz="2000" dirty="0"/>
              <a:t> </a:t>
            </a:r>
            <a:r>
              <a:rPr lang="en-US" altLang="id-ID" sz="2000" dirty="0" err="1"/>
              <a:t>tunak</a:t>
            </a:r>
            <a:r>
              <a:rPr lang="en-US" altLang="id-ID" sz="2000" dirty="0"/>
              <a:t> :</a:t>
            </a:r>
          </a:p>
          <a:p>
            <a:pPr eaLnBrk="1" hangingPunct="1">
              <a:buFont typeface="Wingdings" panose="05000000000000000000" pitchFamily="2" charset="2"/>
              <a:buNone/>
            </a:pPr>
            <a:endParaRPr lang="en-US" altLang="id-ID" sz="2200" dirty="0"/>
          </a:p>
        </p:txBody>
      </p:sp>
      <mc:AlternateContent xmlns:mc="http://schemas.openxmlformats.org/markup-compatibility/2006">
        <mc:Choice xmlns:a14="http://schemas.microsoft.com/office/drawing/2010/main" Requires="a14">
          <p:sp>
            <p:nvSpPr>
              <p:cNvPr id="40965" name="Object 9">
                <a:extLst>
                  <a:ext uri="{FF2B5EF4-FFF2-40B4-BE49-F238E27FC236}">
                    <a16:creationId xmlns:a16="http://schemas.microsoft.com/office/drawing/2014/main" id="{7DBED185-5001-2498-FEF7-6DE4C2FB16A7}"/>
                  </a:ext>
                </a:extLst>
              </p:cNvPr>
              <p:cNvSpPr txBox="1">
                <a:spLocks noGrp="1"/>
              </p:cNvSpPr>
              <p:nvPr>
                <p:ph sz="quarter" idx="2"/>
              </p:nvPr>
            </p:nvSpPr>
            <p:spPr bwMode="auto">
              <a:xfrm>
                <a:off x="3200400" y="3917950"/>
                <a:ext cx="4953000" cy="2984500"/>
              </a:xfrm>
              <a:prstGeom prst="rect">
                <a:avLst/>
              </a:prstGeom>
              <a:noFill/>
              <a:ln>
                <a:noFill/>
              </a:ln>
              <a:effectLst/>
            </p:spPr>
            <p:txBody>
              <a:bodyPr>
                <a:normAutofit fontScale="55000" lnSpcReduction="20000"/>
              </a:bodyPr>
              <a:lstStyle/>
              <a:p>
                <a:pPr>
                  <a:buNone/>
                </a:pPr>
                <a14:m>
                  <m:oMathPara xmlns:m="http://schemas.openxmlformats.org/officeDocument/2006/math">
                    <m:oMathParaPr>
                      <m:jc m:val="left"/>
                    </m:oMathParaPr>
                    <m:oMath xmlns:m="http://schemas.openxmlformats.org/officeDocument/2006/math">
                      <m:r>
                        <a:rPr lang="en-ID" i="1">
                          <a:solidFill>
                            <a:srgbClr val="000000"/>
                          </a:solidFill>
                          <a:latin typeface="Cambria Math" panose="02040503050406030204" pitchFamily="18" charset="0"/>
                        </a:rPr>
                        <m:t>𝜌</m:t>
                      </m:r>
                      <m:r>
                        <a:rPr lang="en-ID" i="1">
                          <a:solidFill>
                            <a:srgbClr val="000000"/>
                          </a:solidFill>
                          <a:latin typeface="Cambria Math" panose="02040503050406030204" pitchFamily="18" charset="0"/>
                        </a:rPr>
                        <m:t>=</m:t>
                      </m:r>
                      <m:r>
                        <a:rPr lang="en-ID" i="1">
                          <a:solidFill>
                            <a:srgbClr val="000000"/>
                          </a:solidFill>
                          <a:latin typeface="Cambria Math" panose="02040503050406030204" pitchFamily="18" charset="0"/>
                        </a:rPr>
                        <m:t>𝜆</m:t>
                      </m:r>
                      <m:r>
                        <a:rPr lang="en-ID" i="1">
                          <a:solidFill>
                            <a:srgbClr val="000000"/>
                          </a:solidFill>
                          <a:latin typeface="Cambria Math" panose="02040503050406030204" pitchFamily="18" charset="0"/>
                        </a:rPr>
                        <m:t>/</m:t>
                      </m:r>
                      <m:r>
                        <a:rPr lang="en-ID" i="1">
                          <a:solidFill>
                            <a:srgbClr val="000000"/>
                          </a:solidFill>
                          <a:latin typeface="Cambria Math" panose="02040503050406030204" pitchFamily="18" charset="0"/>
                        </a:rPr>
                        <m:t>𝑐</m:t>
                      </m:r>
                      <m:r>
                        <a:rPr lang="en-ID" i="1">
                          <a:solidFill>
                            <a:srgbClr val="000000"/>
                          </a:solidFill>
                          <a:latin typeface="Cambria Math" panose="02040503050406030204" pitchFamily="18" charset="0"/>
                        </a:rPr>
                        <m:t>𝜇</m:t>
                      </m:r>
                    </m:oMath>
                    <m:oMath xmlns:m="http://schemas.openxmlformats.org/officeDocument/2006/math">
                      <m:sSub>
                        <m:sSubPr>
                          <m:ctrlPr>
                            <a:rPr lang="en-ID" i="1">
                              <a:solidFill>
                                <a:srgbClr val="000000"/>
                              </a:solidFill>
                              <a:latin typeface="Cambria Math" panose="02040503050406030204" pitchFamily="18" charset="0"/>
                            </a:rPr>
                          </m:ctrlPr>
                        </m:sSubPr>
                        <m:e>
                          <m:r>
                            <a:rPr lang="en-ID" i="1">
                              <a:solidFill>
                                <a:srgbClr val="000000"/>
                              </a:solidFill>
                              <a:latin typeface="Cambria Math" panose="02040503050406030204" pitchFamily="18" charset="0"/>
                            </a:rPr>
                            <m:t>𝑃</m:t>
                          </m:r>
                        </m:e>
                        <m:sub>
                          <m:r>
                            <a:rPr lang="en-ID" i="1">
                              <a:solidFill>
                                <a:srgbClr val="000000"/>
                              </a:solidFill>
                              <a:latin typeface="Cambria Math" panose="02040503050406030204" pitchFamily="18" charset="0"/>
                            </a:rPr>
                            <m:t>0</m:t>
                          </m:r>
                        </m:sub>
                      </m:sSub>
                      <m:r>
                        <a:rPr lang="en-ID" i="1">
                          <a:solidFill>
                            <a:srgbClr val="000000"/>
                          </a:solidFill>
                          <a:latin typeface="Cambria Math" panose="02040503050406030204" pitchFamily="18" charset="0"/>
                        </a:rPr>
                        <m:t>=</m:t>
                      </m:r>
                      <m:sSup>
                        <m:sSupPr>
                          <m:ctrlPr>
                            <a:rPr lang="en-ID" i="1">
                              <a:solidFill>
                                <a:srgbClr val="000000"/>
                              </a:solidFill>
                              <a:latin typeface="Cambria Math" panose="02040503050406030204" pitchFamily="18" charset="0"/>
                            </a:rPr>
                          </m:ctrlPr>
                        </m:sSupPr>
                        <m:e>
                          <m:d>
                            <m:dPr>
                              <m:begChr m:val="{"/>
                              <m:endChr m:val="}"/>
                              <m:ctrlPr>
                                <a:rPr lang="en-ID" i="1">
                                  <a:solidFill>
                                    <a:srgbClr val="000000"/>
                                  </a:solidFill>
                                  <a:latin typeface="Cambria Math" panose="02040503050406030204" pitchFamily="18" charset="0"/>
                                </a:rPr>
                              </m:ctrlPr>
                            </m:dPr>
                            <m:e>
                              <m:d>
                                <m:dPr>
                                  <m:begChr m:val="["/>
                                  <m:endChr m:val="]"/>
                                  <m:ctrlPr>
                                    <a:rPr lang="en-ID" i="1">
                                      <a:solidFill>
                                        <a:srgbClr val="000000"/>
                                      </a:solidFill>
                                      <a:latin typeface="Cambria Math" panose="02040503050406030204" pitchFamily="18" charset="0"/>
                                    </a:rPr>
                                  </m:ctrlPr>
                                </m:dPr>
                                <m:e>
                                  <m:nary>
                                    <m:naryPr>
                                      <m:chr m:val="∑"/>
                                      <m:ctrlPr>
                                        <a:rPr lang="en-ID" i="1">
                                          <a:solidFill>
                                            <a:srgbClr val="000000"/>
                                          </a:solidFill>
                                          <a:latin typeface="Cambria Math" panose="02040503050406030204" pitchFamily="18" charset="0"/>
                                        </a:rPr>
                                      </m:ctrlPr>
                                    </m:naryPr>
                                    <m:sub>
                                      <m:r>
                                        <a:rPr lang="en-ID" i="1">
                                          <a:solidFill>
                                            <a:srgbClr val="000000"/>
                                          </a:solidFill>
                                          <a:latin typeface="Cambria Math" panose="02040503050406030204" pitchFamily="18" charset="0"/>
                                        </a:rPr>
                                        <m:t>𝑛</m:t>
                                      </m:r>
                                      <m:r>
                                        <a:rPr lang="en-ID" i="1">
                                          <a:solidFill>
                                            <a:srgbClr val="000000"/>
                                          </a:solidFill>
                                          <a:latin typeface="Cambria Math" panose="02040503050406030204" pitchFamily="18" charset="0"/>
                                        </a:rPr>
                                        <m:t>=0</m:t>
                                      </m:r>
                                    </m:sub>
                                    <m:sup>
                                      <m:r>
                                        <a:rPr lang="en-ID" i="1">
                                          <a:solidFill>
                                            <a:srgbClr val="000000"/>
                                          </a:solidFill>
                                          <a:latin typeface="Cambria Math" panose="02040503050406030204" pitchFamily="18" charset="0"/>
                                        </a:rPr>
                                        <m:t>𝑐</m:t>
                                      </m:r>
                                      <m:r>
                                        <a:rPr lang="en-ID" i="1">
                                          <a:solidFill>
                                            <a:srgbClr val="000000"/>
                                          </a:solidFill>
                                          <a:latin typeface="Cambria Math" panose="02040503050406030204" pitchFamily="18" charset="0"/>
                                        </a:rPr>
                                        <m:t>−1</m:t>
                                      </m:r>
                                    </m:sup>
                                    <m:e>
                                      <m:f>
                                        <m:fPr>
                                          <m:ctrlPr>
                                            <a:rPr lang="en-ID" i="1">
                                              <a:solidFill>
                                                <a:srgbClr val="000000"/>
                                              </a:solidFill>
                                              <a:latin typeface="Cambria Math" panose="02040503050406030204" pitchFamily="18" charset="0"/>
                                            </a:rPr>
                                          </m:ctrlPr>
                                        </m:fPr>
                                        <m:num>
                                          <m:r>
                                            <a:rPr lang="en-ID" i="1">
                                              <a:solidFill>
                                                <a:srgbClr val="000000"/>
                                              </a:solidFill>
                                              <a:latin typeface="Cambria Math" panose="02040503050406030204" pitchFamily="18" charset="0"/>
                                            </a:rPr>
                                            <m:t>(</m:t>
                                          </m:r>
                                          <m:r>
                                            <a:rPr lang="en-ID" i="1">
                                              <a:solidFill>
                                                <a:srgbClr val="000000"/>
                                              </a:solidFill>
                                              <a:latin typeface="Cambria Math" panose="02040503050406030204" pitchFamily="18" charset="0"/>
                                            </a:rPr>
                                            <m:t>𝜆</m:t>
                                          </m:r>
                                          <m:r>
                                            <a:rPr lang="en-ID" i="1">
                                              <a:solidFill>
                                                <a:srgbClr val="000000"/>
                                              </a:solidFill>
                                              <a:latin typeface="Cambria Math" panose="02040503050406030204" pitchFamily="18" charset="0"/>
                                            </a:rPr>
                                            <m:t>/</m:t>
                                          </m:r>
                                          <m:r>
                                            <a:rPr lang="en-ID" i="1">
                                              <a:solidFill>
                                                <a:srgbClr val="000000"/>
                                              </a:solidFill>
                                              <a:latin typeface="Cambria Math" panose="02040503050406030204" pitchFamily="18" charset="0"/>
                                            </a:rPr>
                                            <m:t>𝜇</m:t>
                                          </m:r>
                                          <m:sSup>
                                            <m:sSupPr>
                                              <m:ctrlPr>
                                                <a:rPr lang="en-ID" i="1">
                                                  <a:solidFill>
                                                    <a:srgbClr val="000000"/>
                                                  </a:solidFill>
                                                  <a:latin typeface="Cambria Math" panose="02040503050406030204" pitchFamily="18" charset="0"/>
                                                </a:rPr>
                                              </m:ctrlPr>
                                            </m:sSupPr>
                                            <m:e>
                                              <m:r>
                                                <a:rPr lang="en-ID" i="1">
                                                  <a:solidFill>
                                                    <a:srgbClr val="000000"/>
                                                  </a:solidFill>
                                                  <a:latin typeface="Cambria Math" panose="02040503050406030204" pitchFamily="18" charset="0"/>
                                                </a:rPr>
                                                <m:t>)</m:t>
                                              </m:r>
                                            </m:e>
                                            <m:sup>
                                              <m:r>
                                                <a:rPr lang="en-ID" i="1">
                                                  <a:solidFill>
                                                    <a:srgbClr val="000000"/>
                                                  </a:solidFill>
                                                  <a:latin typeface="Cambria Math" panose="02040503050406030204" pitchFamily="18" charset="0"/>
                                                </a:rPr>
                                                <m:t>𝑛</m:t>
                                              </m:r>
                                            </m:sup>
                                          </m:sSup>
                                        </m:num>
                                        <m:den>
                                          <m:r>
                                            <a:rPr lang="en-ID" i="1">
                                              <a:solidFill>
                                                <a:srgbClr val="000000"/>
                                              </a:solidFill>
                                              <a:latin typeface="Cambria Math" panose="02040503050406030204" pitchFamily="18" charset="0"/>
                                            </a:rPr>
                                            <m:t>𝑛</m:t>
                                          </m:r>
                                          <m:r>
                                            <a:rPr lang="en-ID" i="1">
                                              <a:solidFill>
                                                <a:srgbClr val="000000"/>
                                              </a:solidFill>
                                              <a:latin typeface="Cambria Math" panose="02040503050406030204" pitchFamily="18" charset="0"/>
                                            </a:rPr>
                                            <m:t>!</m:t>
                                          </m:r>
                                        </m:den>
                                      </m:f>
                                    </m:e>
                                  </m:nary>
                                </m:e>
                              </m:d>
                              <m:r>
                                <a:rPr lang="en-ID" i="1">
                                  <a:solidFill>
                                    <a:srgbClr val="000000"/>
                                  </a:solidFill>
                                  <a:latin typeface="Cambria Math" panose="02040503050406030204" pitchFamily="18" charset="0"/>
                                </a:rPr>
                                <m:t>+</m:t>
                              </m:r>
                              <m:d>
                                <m:dPr>
                                  <m:begChr m:val="["/>
                                  <m:endChr m:val="]"/>
                                  <m:ctrlPr>
                                    <a:rPr lang="en-ID" i="1">
                                      <a:solidFill>
                                        <a:srgbClr val="000000"/>
                                      </a:solidFill>
                                      <a:latin typeface="Cambria Math" panose="02040503050406030204" pitchFamily="18" charset="0"/>
                                    </a:rPr>
                                  </m:ctrlPr>
                                </m:dPr>
                                <m:e>
                                  <m:sSup>
                                    <m:sSupPr>
                                      <m:ctrlPr>
                                        <a:rPr lang="en-ID" i="1">
                                          <a:solidFill>
                                            <a:srgbClr val="000000"/>
                                          </a:solidFill>
                                          <a:latin typeface="Cambria Math" panose="02040503050406030204" pitchFamily="18" charset="0"/>
                                        </a:rPr>
                                      </m:ctrlPr>
                                    </m:sSupPr>
                                    <m:e>
                                      <m:d>
                                        <m:dPr>
                                          <m:ctrlPr>
                                            <a:rPr lang="en-ID" i="1">
                                              <a:solidFill>
                                                <a:srgbClr val="000000"/>
                                              </a:solidFill>
                                              <a:latin typeface="Cambria Math" panose="02040503050406030204" pitchFamily="18" charset="0"/>
                                            </a:rPr>
                                          </m:ctrlPr>
                                        </m:dPr>
                                        <m:e>
                                          <m:f>
                                            <m:fPr>
                                              <m:ctrlPr>
                                                <a:rPr lang="en-ID" i="1">
                                                  <a:solidFill>
                                                    <a:srgbClr val="000000"/>
                                                  </a:solidFill>
                                                  <a:latin typeface="Cambria Math" panose="02040503050406030204" pitchFamily="18" charset="0"/>
                                                </a:rPr>
                                              </m:ctrlPr>
                                            </m:fPr>
                                            <m:num>
                                              <m:r>
                                                <a:rPr lang="en-ID" i="1">
                                                  <a:solidFill>
                                                    <a:srgbClr val="000000"/>
                                                  </a:solidFill>
                                                  <a:latin typeface="Cambria Math" panose="02040503050406030204" pitchFamily="18" charset="0"/>
                                                </a:rPr>
                                                <m:t>𝜆</m:t>
                                              </m:r>
                                            </m:num>
                                            <m:den>
                                              <m:r>
                                                <a:rPr lang="en-ID" i="1">
                                                  <a:solidFill>
                                                    <a:srgbClr val="000000"/>
                                                  </a:solidFill>
                                                  <a:latin typeface="Cambria Math" panose="02040503050406030204" pitchFamily="18" charset="0"/>
                                                </a:rPr>
                                                <m:t>𝜇</m:t>
                                              </m:r>
                                            </m:den>
                                          </m:f>
                                        </m:e>
                                      </m:d>
                                    </m:e>
                                    <m:sup>
                                      <m:r>
                                        <a:rPr lang="en-ID" i="1">
                                          <a:solidFill>
                                            <a:srgbClr val="000000"/>
                                          </a:solidFill>
                                          <a:latin typeface="Cambria Math" panose="02040503050406030204" pitchFamily="18" charset="0"/>
                                        </a:rPr>
                                        <m:t>𝑐</m:t>
                                      </m:r>
                                    </m:sup>
                                  </m:sSup>
                                  <m:d>
                                    <m:dPr>
                                      <m:ctrlPr>
                                        <a:rPr lang="en-ID" i="1">
                                          <a:solidFill>
                                            <a:srgbClr val="000000"/>
                                          </a:solidFill>
                                          <a:latin typeface="Cambria Math" panose="02040503050406030204" pitchFamily="18" charset="0"/>
                                        </a:rPr>
                                      </m:ctrlPr>
                                    </m:dPr>
                                    <m:e>
                                      <m:f>
                                        <m:fPr>
                                          <m:ctrlPr>
                                            <a:rPr lang="en-ID" i="1">
                                              <a:solidFill>
                                                <a:srgbClr val="000000"/>
                                              </a:solidFill>
                                              <a:latin typeface="Cambria Math" panose="02040503050406030204" pitchFamily="18" charset="0"/>
                                            </a:rPr>
                                          </m:ctrlPr>
                                        </m:fPr>
                                        <m:num>
                                          <m:r>
                                            <a:rPr lang="en-ID" i="1">
                                              <a:solidFill>
                                                <a:srgbClr val="000000"/>
                                              </a:solidFill>
                                              <a:latin typeface="Cambria Math" panose="02040503050406030204" pitchFamily="18" charset="0"/>
                                            </a:rPr>
                                            <m:t>1</m:t>
                                          </m:r>
                                        </m:num>
                                        <m:den>
                                          <m:r>
                                            <a:rPr lang="en-ID" i="1">
                                              <a:solidFill>
                                                <a:srgbClr val="000000"/>
                                              </a:solidFill>
                                              <a:latin typeface="Cambria Math" panose="02040503050406030204" pitchFamily="18" charset="0"/>
                                            </a:rPr>
                                            <m:t>𝑐</m:t>
                                          </m:r>
                                          <m:r>
                                            <a:rPr lang="en-ID" i="1">
                                              <a:solidFill>
                                                <a:srgbClr val="000000"/>
                                              </a:solidFill>
                                              <a:latin typeface="Cambria Math" panose="02040503050406030204" pitchFamily="18" charset="0"/>
                                            </a:rPr>
                                            <m:t>!</m:t>
                                          </m:r>
                                        </m:den>
                                      </m:f>
                                    </m:e>
                                  </m:d>
                                  <m:d>
                                    <m:dPr>
                                      <m:ctrlPr>
                                        <a:rPr lang="en-ID" i="1">
                                          <a:solidFill>
                                            <a:srgbClr val="000000"/>
                                          </a:solidFill>
                                          <a:latin typeface="Cambria Math" panose="02040503050406030204" pitchFamily="18" charset="0"/>
                                        </a:rPr>
                                      </m:ctrlPr>
                                    </m:dPr>
                                    <m:e>
                                      <m:f>
                                        <m:fPr>
                                          <m:ctrlPr>
                                            <a:rPr lang="en-ID" i="1">
                                              <a:solidFill>
                                                <a:srgbClr val="000000"/>
                                              </a:solidFill>
                                              <a:latin typeface="Cambria Math" panose="02040503050406030204" pitchFamily="18" charset="0"/>
                                            </a:rPr>
                                          </m:ctrlPr>
                                        </m:fPr>
                                        <m:num>
                                          <m:r>
                                            <a:rPr lang="en-ID" i="1">
                                              <a:solidFill>
                                                <a:srgbClr val="000000"/>
                                              </a:solidFill>
                                              <a:latin typeface="Cambria Math" panose="02040503050406030204" pitchFamily="18" charset="0"/>
                                            </a:rPr>
                                            <m:t>𝑐</m:t>
                                          </m:r>
                                          <m:r>
                                            <a:rPr lang="en-ID" i="1">
                                              <a:solidFill>
                                                <a:srgbClr val="000000"/>
                                              </a:solidFill>
                                              <a:latin typeface="Cambria Math" panose="02040503050406030204" pitchFamily="18" charset="0"/>
                                            </a:rPr>
                                            <m:t>𝜇</m:t>
                                          </m:r>
                                        </m:num>
                                        <m:den>
                                          <m:r>
                                            <a:rPr lang="en-ID" i="1">
                                              <a:solidFill>
                                                <a:srgbClr val="000000"/>
                                              </a:solidFill>
                                              <a:latin typeface="Cambria Math" panose="02040503050406030204" pitchFamily="18" charset="0"/>
                                            </a:rPr>
                                            <m:t>𝑐</m:t>
                                          </m:r>
                                          <m:r>
                                            <a:rPr lang="en-ID" i="1">
                                              <a:solidFill>
                                                <a:srgbClr val="000000"/>
                                              </a:solidFill>
                                              <a:latin typeface="Cambria Math" panose="02040503050406030204" pitchFamily="18" charset="0"/>
                                            </a:rPr>
                                            <m:t>𝜇</m:t>
                                          </m:r>
                                          <m:r>
                                            <a:rPr lang="en-ID" i="1">
                                              <a:solidFill>
                                                <a:srgbClr val="000000"/>
                                              </a:solidFill>
                                              <a:latin typeface="Cambria Math" panose="02040503050406030204" pitchFamily="18" charset="0"/>
                                            </a:rPr>
                                            <m:t>−</m:t>
                                          </m:r>
                                          <m:r>
                                            <a:rPr lang="en-ID" i="1">
                                              <a:solidFill>
                                                <a:srgbClr val="000000"/>
                                              </a:solidFill>
                                              <a:latin typeface="Cambria Math" panose="02040503050406030204" pitchFamily="18" charset="0"/>
                                            </a:rPr>
                                            <m:t>𝜆</m:t>
                                          </m:r>
                                        </m:den>
                                      </m:f>
                                    </m:e>
                                  </m:d>
                                </m:e>
                              </m:d>
                            </m:e>
                          </m:d>
                        </m:e>
                        <m:sup>
                          <m:r>
                            <a:rPr lang="en-ID" i="1">
                              <a:solidFill>
                                <a:srgbClr val="000000"/>
                              </a:solidFill>
                              <a:latin typeface="Cambria Math" panose="02040503050406030204" pitchFamily="18" charset="0"/>
                            </a:rPr>
                            <m:t>−1</m:t>
                          </m:r>
                        </m:sup>
                      </m:sSup>
                    </m:oMath>
                    <m:oMath xmlns:m="http://schemas.openxmlformats.org/officeDocument/2006/math">
                      <m:r>
                        <a:rPr lang="en-ID" i="1">
                          <a:solidFill>
                            <a:srgbClr val="000000"/>
                          </a:solidFill>
                          <a:latin typeface="Cambria Math" panose="02040503050406030204" pitchFamily="18" charset="0"/>
                        </a:rPr>
                        <m:t>𝐿</m:t>
                      </m:r>
                      <m:r>
                        <a:rPr lang="en-ID" i="1">
                          <a:solidFill>
                            <a:srgbClr val="000000"/>
                          </a:solidFill>
                          <a:latin typeface="Cambria Math" panose="02040503050406030204" pitchFamily="18" charset="0"/>
                        </a:rPr>
                        <m:t>=</m:t>
                      </m:r>
                      <m:r>
                        <a:rPr lang="en-ID" i="1">
                          <a:solidFill>
                            <a:srgbClr val="000000"/>
                          </a:solidFill>
                          <a:latin typeface="Cambria Math" panose="02040503050406030204" pitchFamily="18" charset="0"/>
                        </a:rPr>
                        <m:t>𝑐</m:t>
                      </m:r>
                      <m:r>
                        <a:rPr lang="en-ID" i="1">
                          <a:solidFill>
                            <a:srgbClr val="000000"/>
                          </a:solidFill>
                          <a:latin typeface="Cambria Math" panose="02040503050406030204" pitchFamily="18" charset="0"/>
                        </a:rPr>
                        <m:t>𝜌</m:t>
                      </m:r>
                      <m:r>
                        <a:rPr lang="en-ID" i="1">
                          <a:solidFill>
                            <a:srgbClr val="000000"/>
                          </a:solidFill>
                          <a:latin typeface="Cambria Math" panose="02040503050406030204" pitchFamily="18" charset="0"/>
                        </a:rPr>
                        <m:t>+</m:t>
                      </m:r>
                      <m:f>
                        <m:fPr>
                          <m:ctrlPr>
                            <a:rPr lang="en-ID" i="1">
                              <a:solidFill>
                                <a:srgbClr val="000000"/>
                              </a:solidFill>
                              <a:latin typeface="Cambria Math" panose="02040503050406030204" pitchFamily="18" charset="0"/>
                            </a:rPr>
                          </m:ctrlPr>
                        </m:fPr>
                        <m:num>
                          <m:r>
                            <a:rPr lang="en-ID" i="1">
                              <a:solidFill>
                                <a:srgbClr val="000000"/>
                              </a:solidFill>
                              <a:latin typeface="Cambria Math" panose="02040503050406030204" pitchFamily="18" charset="0"/>
                            </a:rPr>
                            <m:t>(</m:t>
                          </m:r>
                          <m:r>
                            <a:rPr lang="en-ID" i="1">
                              <a:solidFill>
                                <a:srgbClr val="000000"/>
                              </a:solidFill>
                              <a:latin typeface="Cambria Math" panose="02040503050406030204" pitchFamily="18" charset="0"/>
                            </a:rPr>
                            <m:t>𝑐</m:t>
                          </m:r>
                          <m:r>
                            <a:rPr lang="en-ID" i="1">
                              <a:solidFill>
                                <a:srgbClr val="000000"/>
                              </a:solidFill>
                              <a:latin typeface="Cambria Math" panose="02040503050406030204" pitchFamily="18" charset="0"/>
                            </a:rPr>
                            <m:t>𝜌</m:t>
                          </m:r>
                          <m:sSup>
                            <m:sSupPr>
                              <m:ctrlPr>
                                <a:rPr lang="en-ID" i="1">
                                  <a:solidFill>
                                    <a:srgbClr val="000000"/>
                                  </a:solidFill>
                                  <a:latin typeface="Cambria Math" panose="02040503050406030204" pitchFamily="18" charset="0"/>
                                </a:rPr>
                              </m:ctrlPr>
                            </m:sSupPr>
                            <m:e>
                              <m:r>
                                <a:rPr lang="en-ID" i="1">
                                  <a:solidFill>
                                    <a:srgbClr val="000000"/>
                                  </a:solidFill>
                                  <a:latin typeface="Cambria Math" panose="02040503050406030204" pitchFamily="18" charset="0"/>
                                </a:rPr>
                                <m:t>)</m:t>
                              </m:r>
                            </m:e>
                            <m:sup>
                              <m:r>
                                <a:rPr lang="en-ID" i="1">
                                  <a:solidFill>
                                    <a:srgbClr val="000000"/>
                                  </a:solidFill>
                                  <a:latin typeface="Cambria Math" panose="02040503050406030204" pitchFamily="18" charset="0"/>
                                </a:rPr>
                                <m:t>𝑐</m:t>
                              </m:r>
                              <m:r>
                                <a:rPr lang="en-ID" i="1">
                                  <a:solidFill>
                                    <a:srgbClr val="000000"/>
                                  </a:solidFill>
                                  <a:latin typeface="Cambria Math" panose="02040503050406030204" pitchFamily="18" charset="0"/>
                                </a:rPr>
                                <m:t>+1</m:t>
                              </m:r>
                            </m:sup>
                          </m:sSup>
                          <m:sSub>
                            <m:sSubPr>
                              <m:ctrlPr>
                                <a:rPr lang="en-ID" i="1">
                                  <a:solidFill>
                                    <a:srgbClr val="000000"/>
                                  </a:solidFill>
                                  <a:latin typeface="Cambria Math" panose="02040503050406030204" pitchFamily="18" charset="0"/>
                                </a:rPr>
                              </m:ctrlPr>
                            </m:sSubPr>
                            <m:e>
                              <m:r>
                                <a:rPr lang="en-ID" i="1">
                                  <a:solidFill>
                                    <a:srgbClr val="000000"/>
                                  </a:solidFill>
                                  <a:latin typeface="Cambria Math" panose="02040503050406030204" pitchFamily="18" charset="0"/>
                                </a:rPr>
                                <m:t>𝑃</m:t>
                              </m:r>
                            </m:e>
                            <m:sub>
                              <m:r>
                                <a:rPr lang="en-ID" i="1">
                                  <a:solidFill>
                                    <a:srgbClr val="000000"/>
                                  </a:solidFill>
                                  <a:latin typeface="Cambria Math" panose="02040503050406030204" pitchFamily="18" charset="0"/>
                                </a:rPr>
                                <m:t>0</m:t>
                              </m:r>
                            </m:sub>
                          </m:sSub>
                        </m:num>
                        <m:den>
                          <m:r>
                            <a:rPr lang="en-ID" i="1">
                              <a:solidFill>
                                <a:srgbClr val="000000"/>
                              </a:solidFill>
                              <a:latin typeface="Cambria Math" panose="02040503050406030204" pitchFamily="18" charset="0"/>
                            </a:rPr>
                            <m:t>𝑐</m:t>
                          </m:r>
                          <m:r>
                            <a:rPr lang="en-ID" i="1">
                              <a:solidFill>
                                <a:srgbClr val="000000"/>
                              </a:solidFill>
                              <a:latin typeface="Cambria Math" panose="02040503050406030204" pitchFamily="18" charset="0"/>
                            </a:rPr>
                            <m:t>(</m:t>
                          </m:r>
                          <m:r>
                            <a:rPr lang="en-ID" i="1">
                              <a:solidFill>
                                <a:srgbClr val="000000"/>
                              </a:solidFill>
                              <a:latin typeface="Cambria Math" panose="02040503050406030204" pitchFamily="18" charset="0"/>
                            </a:rPr>
                            <m:t>𝑐</m:t>
                          </m:r>
                          <m:r>
                            <a:rPr lang="en-ID" i="1">
                              <a:solidFill>
                                <a:srgbClr val="000000"/>
                              </a:solidFill>
                              <a:latin typeface="Cambria Math" panose="02040503050406030204" pitchFamily="18" charset="0"/>
                            </a:rPr>
                            <m:t>!)(1−</m:t>
                          </m:r>
                          <m:r>
                            <a:rPr lang="en-ID" i="1">
                              <a:solidFill>
                                <a:srgbClr val="000000"/>
                              </a:solidFill>
                              <a:latin typeface="Cambria Math" panose="02040503050406030204" pitchFamily="18" charset="0"/>
                            </a:rPr>
                            <m:t>𝜌</m:t>
                          </m:r>
                          <m:sSup>
                            <m:sSupPr>
                              <m:ctrlPr>
                                <a:rPr lang="en-ID" i="1">
                                  <a:solidFill>
                                    <a:srgbClr val="000000"/>
                                  </a:solidFill>
                                  <a:latin typeface="Cambria Math" panose="02040503050406030204" pitchFamily="18" charset="0"/>
                                </a:rPr>
                              </m:ctrlPr>
                            </m:sSupPr>
                            <m:e>
                              <m:r>
                                <a:rPr lang="en-ID" i="1">
                                  <a:solidFill>
                                    <a:srgbClr val="000000"/>
                                  </a:solidFill>
                                  <a:latin typeface="Cambria Math" panose="02040503050406030204" pitchFamily="18" charset="0"/>
                                </a:rPr>
                                <m:t>)</m:t>
                              </m:r>
                            </m:e>
                            <m:sup>
                              <m:r>
                                <a:rPr lang="en-ID" i="1">
                                  <a:solidFill>
                                    <a:srgbClr val="000000"/>
                                  </a:solidFill>
                                  <a:latin typeface="Cambria Math" panose="02040503050406030204" pitchFamily="18" charset="0"/>
                                </a:rPr>
                                <m:t>2</m:t>
                              </m:r>
                            </m:sup>
                          </m:sSup>
                        </m:den>
                      </m:f>
                      <m:r>
                        <a:rPr lang="en-ID" i="1">
                          <a:solidFill>
                            <a:srgbClr val="000000"/>
                          </a:solidFill>
                          <a:latin typeface="Cambria Math" panose="02040503050406030204" pitchFamily="18" charset="0"/>
                        </a:rPr>
                        <m:t>=</m:t>
                      </m:r>
                      <m:r>
                        <a:rPr lang="en-ID" i="1">
                          <a:solidFill>
                            <a:srgbClr val="000000"/>
                          </a:solidFill>
                          <a:latin typeface="Cambria Math" panose="02040503050406030204" pitchFamily="18" charset="0"/>
                        </a:rPr>
                        <m:t>𝑐</m:t>
                      </m:r>
                      <m:r>
                        <a:rPr lang="en-ID" i="1">
                          <a:solidFill>
                            <a:srgbClr val="000000"/>
                          </a:solidFill>
                          <a:latin typeface="Cambria Math" panose="02040503050406030204" pitchFamily="18" charset="0"/>
                        </a:rPr>
                        <m:t>𝜌</m:t>
                      </m:r>
                      <m:r>
                        <a:rPr lang="en-ID" i="1">
                          <a:solidFill>
                            <a:srgbClr val="000000"/>
                          </a:solidFill>
                          <a:latin typeface="Cambria Math" panose="02040503050406030204" pitchFamily="18" charset="0"/>
                        </a:rPr>
                        <m:t>+</m:t>
                      </m:r>
                      <m:f>
                        <m:fPr>
                          <m:ctrlPr>
                            <a:rPr lang="en-ID" i="1">
                              <a:solidFill>
                                <a:srgbClr val="000000"/>
                              </a:solidFill>
                              <a:latin typeface="Cambria Math" panose="02040503050406030204" pitchFamily="18" charset="0"/>
                            </a:rPr>
                          </m:ctrlPr>
                        </m:fPr>
                        <m:num>
                          <m:r>
                            <a:rPr lang="en-ID" i="1">
                              <a:solidFill>
                                <a:srgbClr val="000000"/>
                              </a:solidFill>
                              <a:latin typeface="Cambria Math" panose="02040503050406030204" pitchFamily="18" charset="0"/>
                            </a:rPr>
                            <m:t>𝜌</m:t>
                          </m:r>
                          <m:r>
                            <a:rPr lang="en-ID" i="0">
                              <a:solidFill>
                                <a:srgbClr val="000000"/>
                              </a:solidFill>
                              <a:latin typeface="Cambria Math" panose="02040503050406030204" pitchFamily="18" charset="0"/>
                            </a:rPr>
                            <m:t> </m:t>
                          </m:r>
                          <m:r>
                            <a:rPr lang="en-ID" i="1">
                              <a:solidFill>
                                <a:srgbClr val="000000"/>
                              </a:solidFill>
                              <a:latin typeface="Cambria Math" panose="02040503050406030204" pitchFamily="18" charset="0"/>
                            </a:rPr>
                            <m:t>𝑃</m:t>
                          </m:r>
                          <m:d>
                            <m:dPr>
                              <m:ctrlPr>
                                <a:rPr lang="en-ID" i="1">
                                  <a:solidFill>
                                    <a:srgbClr val="000000"/>
                                  </a:solidFill>
                                  <a:latin typeface="Cambria Math" panose="02040503050406030204" pitchFamily="18" charset="0"/>
                                </a:rPr>
                              </m:ctrlPr>
                            </m:dPr>
                            <m:e>
                              <m:r>
                                <a:rPr lang="en-ID" i="1">
                                  <a:solidFill>
                                    <a:srgbClr val="000000"/>
                                  </a:solidFill>
                                  <a:latin typeface="Cambria Math" panose="02040503050406030204" pitchFamily="18" charset="0"/>
                                </a:rPr>
                                <m:t>𝐿</m:t>
                              </m:r>
                              <m:r>
                                <a:rPr lang="en-ID" i="1">
                                  <a:solidFill>
                                    <a:srgbClr val="000000"/>
                                  </a:solidFill>
                                  <a:latin typeface="Cambria Math" panose="02040503050406030204" pitchFamily="18" charset="0"/>
                                </a:rPr>
                                <m:t>(∞)≥</m:t>
                              </m:r>
                              <m:r>
                                <a:rPr lang="en-ID" i="1">
                                  <a:solidFill>
                                    <a:srgbClr val="000000"/>
                                  </a:solidFill>
                                  <a:latin typeface="Cambria Math" panose="02040503050406030204" pitchFamily="18" charset="0"/>
                                </a:rPr>
                                <m:t>𝑐</m:t>
                              </m:r>
                            </m:e>
                          </m:d>
                        </m:num>
                        <m:den>
                          <m:r>
                            <a:rPr lang="en-ID" i="1">
                              <a:solidFill>
                                <a:srgbClr val="000000"/>
                              </a:solidFill>
                              <a:latin typeface="Cambria Math" panose="02040503050406030204" pitchFamily="18" charset="0"/>
                            </a:rPr>
                            <m:t>1−</m:t>
                          </m:r>
                          <m:r>
                            <a:rPr lang="en-ID" i="1">
                              <a:solidFill>
                                <a:srgbClr val="000000"/>
                              </a:solidFill>
                              <a:latin typeface="Cambria Math" panose="02040503050406030204" pitchFamily="18" charset="0"/>
                            </a:rPr>
                            <m:t>𝜌</m:t>
                          </m:r>
                        </m:den>
                      </m:f>
                    </m:oMath>
                    <m:oMath xmlns:m="http://schemas.openxmlformats.org/officeDocument/2006/math">
                      <m:r>
                        <a:rPr lang="en-ID" i="1">
                          <a:solidFill>
                            <a:srgbClr val="000000"/>
                          </a:solidFill>
                          <a:latin typeface="Cambria Math" panose="02040503050406030204" pitchFamily="18" charset="0"/>
                        </a:rPr>
                        <m:t>𝑤</m:t>
                      </m:r>
                      <m:r>
                        <a:rPr lang="en-ID" i="1">
                          <a:solidFill>
                            <a:srgbClr val="000000"/>
                          </a:solidFill>
                          <a:latin typeface="Cambria Math" panose="02040503050406030204" pitchFamily="18" charset="0"/>
                        </a:rPr>
                        <m:t>=</m:t>
                      </m:r>
                      <m:f>
                        <m:fPr>
                          <m:ctrlPr>
                            <a:rPr lang="en-ID" i="1">
                              <a:solidFill>
                                <a:srgbClr val="000000"/>
                              </a:solidFill>
                              <a:latin typeface="Cambria Math" panose="02040503050406030204" pitchFamily="18" charset="0"/>
                            </a:rPr>
                          </m:ctrlPr>
                        </m:fPr>
                        <m:num>
                          <m:r>
                            <a:rPr lang="en-ID" i="1">
                              <a:solidFill>
                                <a:srgbClr val="000000"/>
                              </a:solidFill>
                              <a:latin typeface="Cambria Math" panose="02040503050406030204" pitchFamily="18" charset="0"/>
                            </a:rPr>
                            <m:t>𝐿</m:t>
                          </m:r>
                        </m:num>
                        <m:den>
                          <m:r>
                            <a:rPr lang="en-ID" i="1">
                              <a:solidFill>
                                <a:srgbClr val="000000"/>
                              </a:solidFill>
                              <a:latin typeface="Cambria Math" panose="02040503050406030204" pitchFamily="18" charset="0"/>
                            </a:rPr>
                            <m:t>𝜆</m:t>
                          </m:r>
                        </m:den>
                      </m:f>
                    </m:oMath>
                  </m:oMathPara>
                </a14:m>
                <a:endParaRPr lang="en-ID" dirty="0"/>
              </a:p>
            </p:txBody>
          </p:sp>
        </mc:Choice>
        <mc:Fallback>
          <p:sp>
            <p:nvSpPr>
              <p:cNvPr id="40965" name="Object 9">
                <a:extLst>
                  <a:ext uri="{FF2B5EF4-FFF2-40B4-BE49-F238E27FC236}">
                    <a16:creationId xmlns:a16="http://schemas.microsoft.com/office/drawing/2014/main" id="{7DBED185-5001-2498-FEF7-6DE4C2FB16A7}"/>
                  </a:ext>
                </a:extLst>
              </p:cNvPr>
              <p:cNvSpPr txBox="1">
                <a:spLocks noGrp="1" noRot="1" noChangeAspect="1" noMove="1" noResize="1" noEditPoints="1" noAdjustHandles="1" noChangeArrowheads="1" noChangeShapeType="1" noTextEdit="1"/>
              </p:cNvSpPr>
              <p:nvPr>
                <p:ph sz="quarter" idx="2"/>
              </p:nvPr>
            </p:nvSpPr>
            <p:spPr bwMode="auto">
              <a:xfrm>
                <a:off x="3200400" y="3917950"/>
                <a:ext cx="4953000" cy="2984500"/>
              </a:xfrm>
              <a:prstGeom prst="rect">
                <a:avLst/>
              </a:prstGeom>
              <a:blipFill>
                <a:blip r:embed="rId2"/>
                <a:stretch>
                  <a:fillRect/>
                </a:stretch>
              </a:blipFill>
              <a:ln>
                <a:noFill/>
              </a:ln>
              <a:effectLst/>
            </p:spPr>
            <p:txBody>
              <a:bodyPr/>
              <a:lstStyle/>
              <a:p>
                <a:r>
                  <a:rPr lang="en-ID">
                    <a:noFill/>
                  </a:rPr>
                  <a:t> </a:t>
                </a:r>
              </a:p>
            </p:txBody>
          </p:sp>
        </mc:Fallback>
      </mc:AlternateContent>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5">
            <a:extLst>
              <a:ext uri="{FF2B5EF4-FFF2-40B4-BE49-F238E27FC236}">
                <a16:creationId xmlns:a16="http://schemas.microsoft.com/office/drawing/2014/main" id="{338984AE-2B7D-39E7-DD04-68F0D664C6F5}"/>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5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4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9pPr>
          </a:lstStyle>
          <a:p>
            <a:pPr>
              <a:spcBef>
                <a:spcPct val="0"/>
              </a:spcBef>
              <a:buClrTx/>
              <a:buSzTx/>
              <a:buFontTx/>
              <a:buNone/>
            </a:pPr>
            <a:fld id="{0BBD28EF-AEAE-4A9C-92A5-1452D5C0FDD1}" type="slidenum">
              <a:rPr lang="en-US" altLang="id-ID" sz="1200">
                <a:latin typeface="Arial Black" panose="020B0A04020102020204" pitchFamily="34" charset="0"/>
              </a:rPr>
              <a:pPr>
                <a:spcBef>
                  <a:spcPct val="0"/>
                </a:spcBef>
                <a:buClrTx/>
                <a:buSzTx/>
                <a:buFontTx/>
                <a:buNone/>
              </a:pPr>
              <a:t>36</a:t>
            </a:fld>
            <a:endParaRPr lang="en-US" altLang="id-ID" sz="1200">
              <a:latin typeface="Arial Black" panose="020B0A04020102020204" pitchFamily="34" charset="0"/>
            </a:endParaRPr>
          </a:p>
        </p:txBody>
      </p:sp>
      <p:sp>
        <p:nvSpPr>
          <p:cNvPr id="41987" name="Rectangle 2">
            <a:extLst>
              <a:ext uri="{FF2B5EF4-FFF2-40B4-BE49-F238E27FC236}">
                <a16:creationId xmlns:a16="http://schemas.microsoft.com/office/drawing/2014/main" id="{54744BD0-96D9-7443-106C-F1E15F39B305}"/>
              </a:ext>
            </a:extLst>
          </p:cNvPr>
          <p:cNvSpPr>
            <a:spLocks noGrp="1" noChangeArrowheads="1"/>
          </p:cNvSpPr>
          <p:nvPr>
            <p:ph type="title"/>
          </p:nvPr>
        </p:nvSpPr>
        <p:spPr/>
        <p:txBody>
          <a:bodyPr/>
          <a:lstStyle/>
          <a:p>
            <a:pPr eaLnBrk="1" hangingPunct="1"/>
            <a:r>
              <a:rPr lang="en-US" altLang="id-ID"/>
              <a:t>Antrean Multiserver </a:t>
            </a:r>
            <a:r>
              <a:rPr lang="en-US" altLang="id-ID" sz="2200"/>
              <a:t>	</a:t>
            </a:r>
            <a:r>
              <a:rPr lang="en-US" altLang="id-ID" sz="2200">
                <a:solidFill>
                  <a:schemeClr val="bg2"/>
                </a:solidFill>
              </a:rPr>
              <a:t>[Model Markov KeadaanTunak]</a:t>
            </a:r>
          </a:p>
        </p:txBody>
      </p:sp>
      <p:sp>
        <p:nvSpPr>
          <p:cNvPr id="41988" name="Rectangle 3">
            <a:extLst>
              <a:ext uri="{FF2B5EF4-FFF2-40B4-BE49-F238E27FC236}">
                <a16:creationId xmlns:a16="http://schemas.microsoft.com/office/drawing/2014/main" id="{3C9C8C90-3FA4-E5C0-243A-A662A1257E18}"/>
              </a:ext>
            </a:extLst>
          </p:cNvPr>
          <p:cNvSpPr>
            <a:spLocks noGrp="1" noChangeArrowheads="1"/>
          </p:cNvSpPr>
          <p:nvPr>
            <p:ph type="body" sz="half" idx="1"/>
          </p:nvPr>
        </p:nvSpPr>
        <p:spPr>
          <a:xfrm>
            <a:off x="457200" y="1447800"/>
            <a:ext cx="8458200" cy="5029200"/>
          </a:xfrm>
        </p:spPr>
        <p:txBody>
          <a:bodyPr/>
          <a:lstStyle/>
          <a:p>
            <a:pPr eaLnBrk="1" hangingPunct="1"/>
            <a:r>
              <a:rPr lang="sv-SE" altLang="id-ID" sz="2200"/>
              <a:t>Model antrian multiserver umum lainnya</a:t>
            </a:r>
            <a:r>
              <a:rPr lang="en-US" altLang="id-ID" sz="2200"/>
              <a:t>:</a:t>
            </a:r>
          </a:p>
          <a:p>
            <a:pPr lvl="1" eaLnBrk="1" hangingPunct="1"/>
            <a:r>
              <a:rPr lang="en-US" altLang="id-ID" sz="2000"/>
              <a:t>M/G/c/∞: waktu layanan umum dan server paralel c. Parameternya dapat diperkirakan dari model M/M/c/∞/∞.</a:t>
            </a:r>
          </a:p>
          <a:p>
            <a:pPr lvl="1" eaLnBrk="1" hangingPunct="1"/>
            <a:r>
              <a:rPr lang="en-US" altLang="id-ID" sz="2000"/>
              <a:t>M/G/c/∞: waktu layanan umum dan server paralel c. Parameternya dapat diperkirakan dari model M/M/c/∞/∞.</a:t>
            </a:r>
            <a:endParaRPr lang="en-US" altLang="id-ID" sz="1800"/>
          </a:p>
          <a:p>
            <a:pPr lvl="1" eaLnBrk="1" hangingPunct="1"/>
            <a:r>
              <a:rPr lang="en-US" altLang="id-ID" sz="2000"/>
              <a:t>M/M/C/N/∞: waktu layanan didistribusikan secara eksponensial pada server rate m dan c dimana total kapasitas sistem adalah N ³ c pelanggan (ketika terjadi kedatangan dan sistem penuh, kedatangan tersebut ditolak</a:t>
            </a:r>
            <a:r>
              <a:rPr lang="en-US" altLang="id-ID" sz="2000" i="1"/>
              <a:t>)</a:t>
            </a:r>
            <a:r>
              <a:rPr lang="en-US" altLang="id-ID" sz="2000"/>
              <a:t>.</a:t>
            </a:r>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Number Placeholder 5">
            <a:extLst>
              <a:ext uri="{FF2B5EF4-FFF2-40B4-BE49-F238E27FC236}">
                <a16:creationId xmlns:a16="http://schemas.microsoft.com/office/drawing/2014/main" id="{B680BF50-55E9-373E-D2B0-E459B0E0A638}"/>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5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4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9pPr>
          </a:lstStyle>
          <a:p>
            <a:pPr>
              <a:spcBef>
                <a:spcPct val="0"/>
              </a:spcBef>
              <a:buClrTx/>
              <a:buSzTx/>
              <a:buFontTx/>
              <a:buNone/>
            </a:pPr>
            <a:fld id="{2B077452-050B-43FE-A5E6-206416EB5BBE}" type="slidenum">
              <a:rPr lang="en-US" altLang="id-ID" sz="1200">
                <a:latin typeface="Arial Black" panose="020B0A04020102020204" pitchFamily="34" charset="0"/>
              </a:rPr>
              <a:pPr>
                <a:spcBef>
                  <a:spcPct val="0"/>
                </a:spcBef>
                <a:buClrTx/>
                <a:buSzTx/>
                <a:buFontTx/>
                <a:buNone/>
              </a:pPr>
              <a:t>37</a:t>
            </a:fld>
            <a:endParaRPr lang="en-US" altLang="id-ID" sz="1200">
              <a:latin typeface="Arial Black" panose="020B0A04020102020204" pitchFamily="34" charset="0"/>
            </a:endParaRPr>
          </a:p>
        </p:txBody>
      </p:sp>
      <p:sp>
        <p:nvSpPr>
          <p:cNvPr id="43011" name="Rectangle 2">
            <a:extLst>
              <a:ext uri="{FF2B5EF4-FFF2-40B4-BE49-F238E27FC236}">
                <a16:creationId xmlns:a16="http://schemas.microsoft.com/office/drawing/2014/main" id="{99600687-8A64-4146-F3E2-D96A08E8E7A5}"/>
              </a:ext>
            </a:extLst>
          </p:cNvPr>
          <p:cNvSpPr>
            <a:spLocks noGrp="1" noChangeArrowheads="1"/>
          </p:cNvSpPr>
          <p:nvPr>
            <p:ph type="title"/>
          </p:nvPr>
        </p:nvSpPr>
        <p:spPr>
          <a:xfrm>
            <a:off x="457200" y="381000"/>
            <a:ext cx="8229600" cy="762000"/>
          </a:xfrm>
        </p:spPr>
        <p:txBody>
          <a:bodyPr/>
          <a:lstStyle/>
          <a:p>
            <a:pPr eaLnBrk="1" hangingPunct="1"/>
            <a:r>
              <a:rPr lang="en-US" altLang="id-ID"/>
              <a:t>Perilaku tunak Model Populasi Berhingga</a:t>
            </a:r>
            <a:r>
              <a:rPr lang="en-US" altLang="id-ID" sz="2200"/>
              <a:t>	</a:t>
            </a:r>
            <a:endParaRPr lang="en-US" altLang="id-ID" sz="2200">
              <a:solidFill>
                <a:schemeClr val="bg2"/>
              </a:solidFill>
            </a:endParaRPr>
          </a:p>
        </p:txBody>
      </p:sp>
      <p:sp>
        <p:nvSpPr>
          <p:cNvPr id="43012" name="Rectangle 3">
            <a:extLst>
              <a:ext uri="{FF2B5EF4-FFF2-40B4-BE49-F238E27FC236}">
                <a16:creationId xmlns:a16="http://schemas.microsoft.com/office/drawing/2014/main" id="{2D3CD649-5844-8910-B3B0-C82CC2CC31C7}"/>
              </a:ext>
            </a:extLst>
          </p:cNvPr>
          <p:cNvSpPr>
            <a:spLocks noGrp="1" noChangeArrowheads="1"/>
          </p:cNvSpPr>
          <p:nvPr>
            <p:ph type="body" sz="half" idx="1"/>
          </p:nvPr>
        </p:nvSpPr>
        <p:spPr>
          <a:xfrm>
            <a:off x="457200" y="1447800"/>
            <a:ext cx="8458200" cy="5029200"/>
          </a:xfrm>
        </p:spPr>
        <p:txBody>
          <a:bodyPr/>
          <a:lstStyle/>
          <a:p>
            <a:pPr eaLnBrk="1" hangingPunct="1"/>
            <a:r>
              <a:rPr lang="en-US" altLang="id-ID" sz="2200" dirty="0"/>
              <a:t>Ketika </a:t>
            </a:r>
            <a:r>
              <a:rPr lang="en-US" altLang="id-ID" sz="2200" dirty="0" err="1"/>
              <a:t>populasi</a:t>
            </a:r>
            <a:r>
              <a:rPr lang="en-US" altLang="id-ID" sz="2200" dirty="0"/>
              <a:t> </a:t>
            </a:r>
            <a:r>
              <a:rPr lang="en-US" altLang="id-ID" sz="2200" dirty="0" err="1"/>
              <a:t>penelepon</a:t>
            </a:r>
            <a:r>
              <a:rPr lang="en-US" altLang="id-ID" sz="2200" dirty="0"/>
              <a:t> </a:t>
            </a:r>
            <a:r>
              <a:rPr lang="en-US" altLang="id-ID" sz="2200" dirty="0" err="1"/>
              <a:t>kecil</a:t>
            </a:r>
            <a:r>
              <a:rPr lang="en-US" altLang="id-ID" sz="2200" dirty="0"/>
              <a:t>, </a:t>
            </a:r>
            <a:r>
              <a:rPr lang="en-US" altLang="id-ID" sz="2200" dirty="0" err="1"/>
              <a:t>kehadiran</a:t>
            </a:r>
            <a:r>
              <a:rPr lang="en-US" altLang="id-ID" sz="2200" dirty="0"/>
              <a:t> </a:t>
            </a:r>
            <a:r>
              <a:rPr lang="en-US" altLang="id-ID" sz="2200" dirty="0" err="1"/>
              <a:t>satu</a:t>
            </a:r>
            <a:r>
              <a:rPr lang="en-US" altLang="id-ID" sz="2200" dirty="0"/>
              <a:t> </a:t>
            </a:r>
            <a:r>
              <a:rPr lang="en-US" altLang="id-ID" sz="2200" dirty="0" err="1"/>
              <a:t>atau</a:t>
            </a:r>
            <a:r>
              <a:rPr lang="en-US" altLang="id-ID" sz="2200" dirty="0"/>
              <a:t> </a:t>
            </a:r>
            <a:r>
              <a:rPr lang="en-US" altLang="id-ID" sz="2200" dirty="0" err="1"/>
              <a:t>lebih</a:t>
            </a:r>
            <a:r>
              <a:rPr lang="en-US" altLang="id-ID" sz="2200" dirty="0"/>
              <a:t> customer </a:t>
            </a:r>
            <a:r>
              <a:rPr lang="en-US" altLang="id-ID" sz="2200" dirty="0" err="1"/>
              <a:t>dalam</a:t>
            </a:r>
            <a:r>
              <a:rPr lang="en-US" altLang="id-ID" sz="2200" dirty="0"/>
              <a:t> </a:t>
            </a:r>
            <a:r>
              <a:rPr lang="en-US" altLang="id-ID" sz="2200" dirty="0" err="1"/>
              <a:t>sistem</a:t>
            </a:r>
            <a:r>
              <a:rPr lang="en-US" altLang="id-ID" sz="2200" dirty="0"/>
              <a:t> </a:t>
            </a:r>
            <a:r>
              <a:rPr lang="en-US" altLang="id-ID" sz="2200" dirty="0" err="1"/>
              <a:t>mempunyai</a:t>
            </a:r>
            <a:r>
              <a:rPr lang="en-US" altLang="id-ID" sz="2200" dirty="0"/>
              <a:t> </a:t>
            </a:r>
            <a:r>
              <a:rPr lang="en-US" altLang="id-ID" sz="2200" dirty="0" err="1"/>
              <a:t>pengaruh</a:t>
            </a:r>
            <a:r>
              <a:rPr lang="en-US" altLang="id-ID" sz="2200" dirty="0"/>
              <a:t> yang </a:t>
            </a:r>
            <a:r>
              <a:rPr lang="en-US" altLang="id-ID" sz="2200" dirty="0" err="1"/>
              <a:t>kuat</a:t>
            </a:r>
            <a:r>
              <a:rPr lang="en-US" altLang="id-ID" sz="2200" dirty="0"/>
              <a:t> </a:t>
            </a:r>
            <a:r>
              <a:rPr lang="en-US" altLang="id-ID" sz="2200" dirty="0" err="1"/>
              <a:t>terhadap</a:t>
            </a:r>
            <a:r>
              <a:rPr lang="en-US" altLang="id-ID" sz="2200" dirty="0"/>
              <a:t> </a:t>
            </a:r>
            <a:r>
              <a:rPr lang="en-US" altLang="id-ID" sz="2200" dirty="0" err="1"/>
              <a:t>distribusi</a:t>
            </a:r>
            <a:r>
              <a:rPr lang="en-US" altLang="id-ID" sz="2200" dirty="0"/>
              <a:t> </a:t>
            </a:r>
            <a:r>
              <a:rPr lang="en-US" altLang="id-ID" sz="2200" dirty="0" err="1"/>
              <a:t>kedatangan</a:t>
            </a:r>
            <a:r>
              <a:rPr lang="en-US" altLang="id-ID" sz="2200" dirty="0"/>
              <a:t> di masa </a:t>
            </a:r>
            <a:r>
              <a:rPr lang="en-US" altLang="id-ID" sz="2200" dirty="0" err="1"/>
              <a:t>depan</a:t>
            </a:r>
            <a:r>
              <a:rPr lang="en-US" altLang="id-ID" sz="2200" dirty="0"/>
              <a:t>..</a:t>
            </a:r>
          </a:p>
          <a:p>
            <a:pPr eaLnBrk="1" hangingPunct="1"/>
            <a:r>
              <a:rPr lang="en-US" altLang="id-ID" sz="2200" dirty="0" err="1"/>
              <a:t>Pertimbangkan</a:t>
            </a:r>
            <a:r>
              <a:rPr lang="en-US" altLang="id-ID" sz="2200" dirty="0"/>
              <a:t> model </a:t>
            </a:r>
            <a:r>
              <a:rPr lang="en-US" altLang="id-ID" sz="2200" dirty="0" err="1"/>
              <a:t>populasi</a:t>
            </a:r>
            <a:r>
              <a:rPr lang="en-US" altLang="id-ID" sz="2200" dirty="0"/>
              <a:t> </a:t>
            </a:r>
            <a:r>
              <a:rPr lang="en-US" altLang="id-ID" sz="2200" dirty="0" err="1"/>
              <a:t>panggilan</a:t>
            </a:r>
            <a:r>
              <a:rPr lang="en-US" altLang="id-ID" sz="2200" dirty="0"/>
              <a:t> </a:t>
            </a:r>
            <a:r>
              <a:rPr lang="en-US" altLang="id-ID" sz="2200" dirty="0" err="1"/>
              <a:t>terbatas</a:t>
            </a:r>
            <a:r>
              <a:rPr lang="en-US" altLang="id-ID" sz="2200" dirty="0"/>
              <a:t> </a:t>
            </a:r>
            <a:r>
              <a:rPr lang="en-US" altLang="id-ID" sz="2200" dirty="0" err="1"/>
              <a:t>dengan</a:t>
            </a:r>
            <a:r>
              <a:rPr lang="en-US" altLang="id-ID" sz="2200" dirty="0"/>
              <a:t> K customer (M/M/c/K/K):</a:t>
            </a:r>
          </a:p>
          <a:p>
            <a:pPr lvl="1" eaLnBrk="1" hangingPunct="1"/>
            <a:r>
              <a:rPr lang="en-US" altLang="id-ID" sz="2000" dirty="0"/>
              <a:t>Waktu </a:t>
            </a:r>
            <a:r>
              <a:rPr lang="en-US" altLang="id-ID" sz="2000" dirty="0" err="1"/>
              <a:t>antara</a:t>
            </a:r>
            <a:r>
              <a:rPr lang="en-US" altLang="id-ID" sz="2000" dirty="0"/>
              <a:t> </a:t>
            </a:r>
            <a:r>
              <a:rPr lang="en-US" altLang="id-ID" sz="2000" dirty="0" err="1"/>
              <a:t>akhir</a:t>
            </a:r>
            <a:r>
              <a:rPr lang="en-US" altLang="id-ID" sz="2000" dirty="0"/>
              <a:t> </a:t>
            </a:r>
            <a:r>
              <a:rPr lang="en-US" altLang="id-ID" sz="2000" dirty="0" err="1"/>
              <a:t>suatu</a:t>
            </a:r>
            <a:r>
              <a:rPr lang="en-US" altLang="id-ID" sz="2000" dirty="0"/>
              <a:t> </a:t>
            </a:r>
            <a:r>
              <a:rPr lang="en-US" altLang="id-ID" sz="2000" dirty="0" err="1"/>
              <a:t>kunjungan</a:t>
            </a:r>
            <a:r>
              <a:rPr lang="en-US" altLang="id-ID" sz="2000" dirty="0"/>
              <a:t> </a:t>
            </a:r>
            <a:r>
              <a:rPr lang="en-US" altLang="id-ID" sz="2000" dirty="0" err="1"/>
              <a:t>pelayanan</a:t>
            </a:r>
            <a:r>
              <a:rPr lang="en-US" altLang="id-ID" sz="2000" dirty="0"/>
              <a:t> dan </a:t>
            </a:r>
            <a:r>
              <a:rPr lang="en-US" altLang="id-ID" sz="2000" dirty="0" err="1"/>
              <a:t>panggilan</a:t>
            </a:r>
            <a:r>
              <a:rPr lang="en-US" altLang="id-ID" sz="2000" dirty="0"/>
              <a:t> </a:t>
            </a:r>
            <a:r>
              <a:rPr lang="en-US" altLang="id-ID" sz="2000" dirty="0" err="1"/>
              <a:t>pelayanan</a:t>
            </a:r>
            <a:r>
              <a:rPr lang="en-US" altLang="id-ID" sz="2000" dirty="0"/>
              <a:t> </a:t>
            </a:r>
            <a:r>
              <a:rPr lang="en-US" altLang="id-ID" sz="2000" dirty="0" err="1"/>
              <a:t>berikutnya</a:t>
            </a:r>
            <a:r>
              <a:rPr lang="en-US" altLang="id-ID" sz="2000" dirty="0"/>
              <a:t> </a:t>
            </a:r>
            <a:r>
              <a:rPr lang="en-US" altLang="id-ID" sz="2000" dirty="0" err="1"/>
              <a:t>berdistribusi</a:t>
            </a:r>
            <a:r>
              <a:rPr lang="en-US" altLang="id-ID" sz="2000" dirty="0"/>
              <a:t> </a:t>
            </a:r>
            <a:r>
              <a:rPr lang="en-US" altLang="id-ID" sz="2000" dirty="0" err="1"/>
              <a:t>secara</a:t>
            </a:r>
            <a:r>
              <a:rPr lang="en-US" altLang="id-ID" sz="2000" dirty="0"/>
              <a:t> </a:t>
            </a:r>
            <a:r>
              <a:rPr lang="en-US" altLang="id-ID" sz="2000" dirty="0" err="1"/>
              <a:t>eksponensial</a:t>
            </a:r>
            <a:r>
              <a:rPr lang="en-US" altLang="id-ID" sz="2000" dirty="0"/>
              <a:t>, (mean = </a:t>
            </a:r>
            <a:r>
              <a:rPr lang="en-US" altLang="id-ID" sz="2000" i="1" dirty="0"/>
              <a:t>1/</a:t>
            </a:r>
            <a:r>
              <a:rPr lang="en-US" altLang="id-ID" sz="2000" i="1" dirty="0">
                <a:latin typeface="Symbol" panose="05050102010706020507" pitchFamily="18" charset="2"/>
              </a:rPr>
              <a:t>l</a:t>
            </a:r>
            <a:r>
              <a:rPr lang="en-US" altLang="id-ID" sz="2000" dirty="0"/>
              <a:t>).</a:t>
            </a:r>
          </a:p>
          <a:p>
            <a:pPr lvl="1" eaLnBrk="1" hangingPunct="1"/>
            <a:r>
              <a:rPr lang="en-US" altLang="id-ID" sz="2000" dirty="0"/>
              <a:t>Waktu </a:t>
            </a:r>
            <a:r>
              <a:rPr lang="en-US" altLang="id-ID" sz="2000" dirty="0" err="1"/>
              <a:t>layanan</a:t>
            </a:r>
            <a:r>
              <a:rPr lang="en-US" altLang="id-ID" sz="2000" dirty="0"/>
              <a:t> juga </a:t>
            </a:r>
            <a:r>
              <a:rPr lang="en-US" altLang="id-ID" sz="2000" dirty="0" err="1"/>
              <a:t>didistribusikan</a:t>
            </a:r>
            <a:r>
              <a:rPr lang="en-US" altLang="id-ID" sz="2000" dirty="0"/>
              <a:t> </a:t>
            </a:r>
            <a:r>
              <a:rPr lang="en-US" altLang="id-ID" sz="2000" dirty="0" err="1"/>
              <a:t>secara</a:t>
            </a:r>
            <a:r>
              <a:rPr lang="en-US" altLang="id-ID" sz="2000" dirty="0"/>
              <a:t> </a:t>
            </a:r>
            <a:r>
              <a:rPr lang="en-US" altLang="id-ID" sz="2000" dirty="0" err="1"/>
              <a:t>eksponensial</a:t>
            </a:r>
            <a:r>
              <a:rPr lang="en-US" altLang="id-ID" sz="2000" dirty="0"/>
              <a:t>.</a:t>
            </a:r>
          </a:p>
          <a:p>
            <a:pPr lvl="1" eaLnBrk="1" hangingPunct="1"/>
            <a:r>
              <a:rPr lang="en-US" altLang="id-ID" sz="2000" dirty="0"/>
              <a:t>c server </a:t>
            </a:r>
            <a:r>
              <a:rPr lang="en-US" altLang="id-ID" sz="2000" dirty="0" err="1"/>
              <a:t>paralel</a:t>
            </a:r>
            <a:r>
              <a:rPr lang="en-US" altLang="id-ID" sz="2000" dirty="0"/>
              <a:t> dan </a:t>
            </a:r>
            <a:r>
              <a:rPr lang="en-US" altLang="id-ID" sz="2000" dirty="0" err="1"/>
              <a:t>kapasitas</a:t>
            </a:r>
            <a:r>
              <a:rPr lang="en-US" altLang="id-ID" sz="2000" dirty="0"/>
              <a:t> </a:t>
            </a:r>
            <a:r>
              <a:rPr lang="en-US" altLang="id-ID" sz="2000" dirty="0" err="1"/>
              <a:t>sistem</a:t>
            </a:r>
            <a:r>
              <a:rPr lang="en-US" altLang="id-ID" sz="2000" dirty="0"/>
              <a:t> </a:t>
            </a:r>
            <a:r>
              <a:rPr lang="en-US" altLang="id-ID" sz="2000" dirty="0" err="1"/>
              <a:t>adalah</a:t>
            </a:r>
            <a:r>
              <a:rPr lang="en-US" altLang="id-ID" sz="2000" dirty="0"/>
              <a:t> K.</a:t>
            </a:r>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Number Placeholder 6">
            <a:extLst>
              <a:ext uri="{FF2B5EF4-FFF2-40B4-BE49-F238E27FC236}">
                <a16:creationId xmlns:a16="http://schemas.microsoft.com/office/drawing/2014/main" id="{C90D7752-7743-DA59-BE2E-C6068ED7C856}"/>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5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4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9pPr>
          </a:lstStyle>
          <a:p>
            <a:pPr>
              <a:spcBef>
                <a:spcPct val="0"/>
              </a:spcBef>
              <a:buClrTx/>
              <a:buSzTx/>
              <a:buFontTx/>
              <a:buNone/>
            </a:pPr>
            <a:fld id="{FCB2ABF1-7BAD-435E-A7D1-568B476ECC98}" type="slidenum">
              <a:rPr lang="en-US" altLang="id-ID" sz="1200">
                <a:latin typeface="Arial Black" panose="020B0A04020102020204" pitchFamily="34" charset="0"/>
              </a:rPr>
              <a:pPr>
                <a:spcBef>
                  <a:spcPct val="0"/>
                </a:spcBef>
                <a:buClrTx/>
                <a:buSzTx/>
                <a:buFontTx/>
                <a:buNone/>
              </a:pPr>
              <a:t>38</a:t>
            </a:fld>
            <a:endParaRPr lang="en-US" altLang="id-ID" sz="1200">
              <a:latin typeface="Arial Black" panose="020B0A04020102020204" pitchFamily="34" charset="0"/>
            </a:endParaRPr>
          </a:p>
        </p:txBody>
      </p:sp>
      <p:sp>
        <p:nvSpPr>
          <p:cNvPr id="44035" name="Rectangle 2">
            <a:extLst>
              <a:ext uri="{FF2B5EF4-FFF2-40B4-BE49-F238E27FC236}">
                <a16:creationId xmlns:a16="http://schemas.microsoft.com/office/drawing/2014/main" id="{A3C03796-2A68-B956-0CA1-862D164DD5B9}"/>
              </a:ext>
            </a:extLst>
          </p:cNvPr>
          <p:cNvSpPr>
            <a:spLocks noGrp="1" noChangeArrowheads="1"/>
          </p:cNvSpPr>
          <p:nvPr>
            <p:ph type="title"/>
          </p:nvPr>
        </p:nvSpPr>
        <p:spPr>
          <a:xfrm>
            <a:off x="0" y="457200"/>
            <a:ext cx="9144000" cy="762000"/>
          </a:xfrm>
        </p:spPr>
        <p:txBody>
          <a:bodyPr/>
          <a:lstStyle/>
          <a:p>
            <a:pPr eaLnBrk="1" hangingPunct="1"/>
            <a:r>
              <a:rPr lang="en-US" altLang="id-ID" sz="2800" dirty="0" err="1"/>
              <a:t>Perilaku</a:t>
            </a:r>
            <a:r>
              <a:rPr lang="en-US" altLang="id-ID" sz="2800" dirty="0"/>
              <a:t> </a:t>
            </a:r>
            <a:r>
              <a:rPr lang="en-US" altLang="id-ID" sz="2800" dirty="0" err="1"/>
              <a:t>Keadaan-tunak</a:t>
            </a:r>
            <a:r>
              <a:rPr lang="en-US" altLang="id-ID" sz="2800" dirty="0"/>
              <a:t> Model </a:t>
            </a:r>
            <a:r>
              <a:rPr lang="en-US" altLang="id-ID" sz="2800" dirty="0" err="1"/>
              <a:t>Populasi</a:t>
            </a:r>
            <a:r>
              <a:rPr lang="en-US" altLang="id-ID" sz="2800" dirty="0"/>
              <a:t> </a:t>
            </a:r>
            <a:r>
              <a:rPr lang="en-US" altLang="id-ID" sz="2800" dirty="0" err="1"/>
              <a:t>berhingga</a:t>
            </a:r>
            <a:endParaRPr lang="en-US" altLang="id-ID" sz="2800" dirty="0"/>
          </a:p>
        </p:txBody>
      </p:sp>
      <p:sp>
        <p:nvSpPr>
          <p:cNvPr id="44036" name="Rectangle 3">
            <a:extLst>
              <a:ext uri="{FF2B5EF4-FFF2-40B4-BE49-F238E27FC236}">
                <a16:creationId xmlns:a16="http://schemas.microsoft.com/office/drawing/2014/main" id="{5D429F01-F6E3-212D-65EC-62FC893FC562}"/>
              </a:ext>
            </a:extLst>
          </p:cNvPr>
          <p:cNvSpPr>
            <a:spLocks noGrp="1" noChangeArrowheads="1"/>
          </p:cNvSpPr>
          <p:nvPr>
            <p:ph type="body" sz="half" idx="1"/>
          </p:nvPr>
        </p:nvSpPr>
        <p:spPr>
          <a:xfrm>
            <a:off x="457200" y="1447800"/>
            <a:ext cx="8305800" cy="4953000"/>
          </a:xfrm>
        </p:spPr>
        <p:txBody>
          <a:bodyPr/>
          <a:lstStyle/>
          <a:p>
            <a:pPr lvl="1" eaLnBrk="1" hangingPunct="1"/>
            <a:r>
              <a:rPr lang="en-US" altLang="id-ID" sz="2000" dirty="0" err="1"/>
              <a:t>Beberapa</a:t>
            </a:r>
            <a:r>
              <a:rPr lang="en-US" altLang="id-ID" sz="2000" dirty="0"/>
              <a:t> </a:t>
            </a:r>
            <a:r>
              <a:rPr lang="en-US" altLang="id-ID" sz="2000" dirty="0" err="1"/>
              <a:t>probabilitas</a:t>
            </a:r>
            <a:r>
              <a:rPr lang="en-US" altLang="id-ID" sz="2000" dirty="0"/>
              <a:t> </a:t>
            </a:r>
            <a:r>
              <a:rPr lang="en-US" altLang="id-ID" sz="2000" dirty="0" err="1"/>
              <a:t>keadaan</a:t>
            </a:r>
            <a:r>
              <a:rPr lang="en-US" altLang="id-ID" sz="2000" dirty="0"/>
              <a:t> </a:t>
            </a:r>
            <a:r>
              <a:rPr lang="en-US" altLang="id-ID" sz="2000" dirty="0" err="1"/>
              <a:t>tunak</a:t>
            </a:r>
            <a:r>
              <a:rPr lang="en-US" altLang="id-ID" sz="2000" dirty="0"/>
              <a:t> :</a:t>
            </a:r>
          </a:p>
          <a:p>
            <a:pPr eaLnBrk="1" hangingPunct="1">
              <a:buFont typeface="Wingdings" panose="05000000000000000000" pitchFamily="2" charset="2"/>
              <a:buNone/>
            </a:pPr>
            <a:endParaRPr lang="en-US" altLang="id-ID" sz="2200" dirty="0"/>
          </a:p>
        </p:txBody>
      </p:sp>
      <mc:AlternateContent xmlns:mc="http://schemas.openxmlformats.org/markup-compatibility/2006" xmlns:a14="http://schemas.microsoft.com/office/drawing/2010/main">
        <mc:Choice Requires="a14">
          <p:sp>
            <p:nvSpPr>
              <p:cNvPr id="44037" name="Object 4">
                <a:extLst>
                  <a:ext uri="{FF2B5EF4-FFF2-40B4-BE49-F238E27FC236}">
                    <a16:creationId xmlns:a16="http://schemas.microsoft.com/office/drawing/2014/main" id="{814ED0EA-C343-A2DF-2888-B80BB14C1E84}"/>
                  </a:ext>
                </a:extLst>
              </p:cNvPr>
              <p:cNvSpPr txBox="1">
                <a:spLocks noGrp="1"/>
              </p:cNvSpPr>
              <p:nvPr>
                <p:ph sz="quarter" idx="2"/>
              </p:nvPr>
            </p:nvSpPr>
            <p:spPr bwMode="auto">
              <a:xfrm>
                <a:off x="1600200" y="1828800"/>
                <a:ext cx="4267200" cy="2990850"/>
              </a:xfrm>
              <a:prstGeom prst="rect">
                <a:avLst/>
              </a:prstGeom>
              <a:noFill/>
              <a:ln>
                <a:noFill/>
              </a:ln>
              <a:effectLst/>
            </p:spPr>
            <p:txBody>
              <a:bodyPr>
                <a:normAutofit fontScale="47500" lnSpcReduction="20000"/>
              </a:bodyPr>
              <a:lstStyle/>
              <a:p>
                <a:pPr>
                  <a:buNone/>
                </a:pPr>
                <a14:m>
                  <m:oMathPara xmlns:m="http://schemas.openxmlformats.org/officeDocument/2006/math">
                    <m:oMathParaPr>
                      <m:jc m:val="left"/>
                    </m:oMathParaPr>
                    <m:oMath xmlns:m="http://schemas.openxmlformats.org/officeDocument/2006/math">
                      <m:sSub>
                        <m:sSubPr>
                          <m:ctrlPr>
                            <a:rPr lang="en-ID" i="1">
                              <a:solidFill>
                                <a:srgbClr val="000000"/>
                              </a:solidFill>
                              <a:latin typeface="Cambria Math" panose="02040503050406030204" pitchFamily="18" charset="0"/>
                            </a:rPr>
                          </m:ctrlPr>
                        </m:sSubPr>
                        <m:e>
                          <m:r>
                            <a:rPr lang="en-ID" i="1">
                              <a:solidFill>
                                <a:srgbClr val="000000"/>
                              </a:solidFill>
                              <a:latin typeface="Cambria Math" panose="02040503050406030204" pitchFamily="18" charset="0"/>
                            </a:rPr>
                            <m:t>𝑃</m:t>
                          </m:r>
                        </m:e>
                        <m:sub>
                          <m:r>
                            <a:rPr lang="en-ID" i="1">
                              <a:solidFill>
                                <a:srgbClr val="000000"/>
                              </a:solidFill>
                              <a:latin typeface="Cambria Math" panose="02040503050406030204" pitchFamily="18" charset="0"/>
                            </a:rPr>
                            <m:t>0</m:t>
                          </m:r>
                        </m:sub>
                      </m:sSub>
                      <m:r>
                        <a:rPr lang="en-ID" i="1">
                          <a:solidFill>
                            <a:srgbClr val="000000"/>
                          </a:solidFill>
                          <a:latin typeface="Cambria Math" panose="02040503050406030204" pitchFamily="18" charset="0"/>
                        </a:rPr>
                        <m:t>=</m:t>
                      </m:r>
                      <m:sSup>
                        <m:sSupPr>
                          <m:ctrlPr>
                            <a:rPr lang="en-ID" i="1">
                              <a:solidFill>
                                <a:srgbClr val="000000"/>
                              </a:solidFill>
                              <a:latin typeface="Cambria Math" panose="02040503050406030204" pitchFamily="18" charset="0"/>
                            </a:rPr>
                          </m:ctrlPr>
                        </m:sSupPr>
                        <m:e>
                          <m:d>
                            <m:dPr>
                              <m:begChr m:val="{"/>
                              <m:endChr m:val="}"/>
                              <m:ctrlPr>
                                <a:rPr lang="en-ID" i="1">
                                  <a:solidFill>
                                    <a:srgbClr val="000000"/>
                                  </a:solidFill>
                                  <a:latin typeface="Cambria Math" panose="02040503050406030204" pitchFamily="18" charset="0"/>
                                </a:rPr>
                              </m:ctrlPr>
                            </m:dPr>
                            <m:e>
                              <m:nary>
                                <m:naryPr>
                                  <m:chr m:val="∑"/>
                                  <m:ctrlPr>
                                    <a:rPr lang="en-ID" i="1">
                                      <a:solidFill>
                                        <a:srgbClr val="000000"/>
                                      </a:solidFill>
                                      <a:latin typeface="Cambria Math" panose="02040503050406030204" pitchFamily="18" charset="0"/>
                                    </a:rPr>
                                  </m:ctrlPr>
                                </m:naryPr>
                                <m:sub>
                                  <m:r>
                                    <a:rPr lang="en-ID" i="1">
                                      <a:solidFill>
                                        <a:srgbClr val="000000"/>
                                      </a:solidFill>
                                      <a:latin typeface="Cambria Math" panose="02040503050406030204" pitchFamily="18" charset="0"/>
                                    </a:rPr>
                                    <m:t>𝑛</m:t>
                                  </m:r>
                                  <m:r>
                                    <a:rPr lang="en-ID" i="1">
                                      <a:solidFill>
                                        <a:srgbClr val="000000"/>
                                      </a:solidFill>
                                      <a:latin typeface="Cambria Math" panose="02040503050406030204" pitchFamily="18" charset="0"/>
                                    </a:rPr>
                                    <m:t>=0</m:t>
                                  </m:r>
                                </m:sub>
                                <m:sup>
                                  <m:r>
                                    <a:rPr lang="en-ID" i="1">
                                      <a:solidFill>
                                        <a:srgbClr val="000000"/>
                                      </a:solidFill>
                                      <a:latin typeface="Cambria Math" panose="02040503050406030204" pitchFamily="18" charset="0"/>
                                    </a:rPr>
                                    <m:t>𝑐</m:t>
                                  </m:r>
                                  <m:r>
                                    <a:rPr lang="en-ID" i="1">
                                      <a:solidFill>
                                        <a:srgbClr val="000000"/>
                                      </a:solidFill>
                                      <a:latin typeface="Cambria Math" panose="02040503050406030204" pitchFamily="18" charset="0"/>
                                    </a:rPr>
                                    <m:t>−1</m:t>
                                  </m:r>
                                </m:sup>
                                <m:e>
                                  <m:d>
                                    <m:dPr>
                                      <m:ctrlPr>
                                        <a:rPr lang="en-ID" i="1">
                                          <a:solidFill>
                                            <a:srgbClr val="000000"/>
                                          </a:solidFill>
                                          <a:latin typeface="Cambria Math" panose="02040503050406030204" pitchFamily="18" charset="0"/>
                                        </a:rPr>
                                      </m:ctrlPr>
                                    </m:dPr>
                                    <m:e>
                                      <m:m>
                                        <m:mPr>
                                          <m:plcHide m:val="on"/>
                                          <m:mcs>
                                            <m:mc>
                                              <m:mcPr>
                                                <m:count m:val="1"/>
                                                <m:mcJc m:val="center"/>
                                              </m:mcPr>
                                            </m:mc>
                                          </m:mcs>
                                          <m:ctrlPr>
                                            <a:rPr lang="en-ID" i="1">
                                              <a:solidFill>
                                                <a:srgbClr val="000000"/>
                                              </a:solidFill>
                                              <a:latin typeface="Cambria Math" panose="02040503050406030204" pitchFamily="18" charset="0"/>
                                            </a:rPr>
                                          </m:ctrlPr>
                                        </m:mPr>
                                        <m:mr>
                                          <m:e>
                                            <m:r>
                                              <a:rPr lang="en-ID" i="1">
                                                <a:solidFill>
                                                  <a:srgbClr val="000000"/>
                                                </a:solidFill>
                                                <a:latin typeface="Cambria Math" panose="02040503050406030204" pitchFamily="18" charset="0"/>
                                              </a:rPr>
                                              <m:t>𝐾</m:t>
                                            </m:r>
                                          </m:e>
                                        </m:mr>
                                        <m:mr>
                                          <m:e>
                                            <m:r>
                                              <a:rPr lang="en-ID" i="1">
                                                <a:solidFill>
                                                  <a:srgbClr val="000000"/>
                                                </a:solidFill>
                                                <a:latin typeface="Cambria Math" panose="02040503050406030204" pitchFamily="18" charset="0"/>
                                              </a:rPr>
                                              <m:t>𝑛</m:t>
                                            </m:r>
                                          </m:e>
                                        </m:mr>
                                      </m:m>
                                    </m:e>
                                  </m:d>
                                  <m:sSup>
                                    <m:sSupPr>
                                      <m:ctrlPr>
                                        <a:rPr lang="en-ID" i="1">
                                          <a:solidFill>
                                            <a:srgbClr val="000000"/>
                                          </a:solidFill>
                                          <a:latin typeface="Cambria Math" panose="02040503050406030204" pitchFamily="18" charset="0"/>
                                        </a:rPr>
                                      </m:ctrlPr>
                                    </m:sSupPr>
                                    <m:e>
                                      <m:d>
                                        <m:dPr>
                                          <m:ctrlPr>
                                            <a:rPr lang="en-ID" i="1">
                                              <a:solidFill>
                                                <a:srgbClr val="000000"/>
                                              </a:solidFill>
                                              <a:latin typeface="Cambria Math" panose="02040503050406030204" pitchFamily="18" charset="0"/>
                                            </a:rPr>
                                          </m:ctrlPr>
                                        </m:dPr>
                                        <m:e>
                                          <m:f>
                                            <m:fPr>
                                              <m:ctrlPr>
                                                <a:rPr lang="en-ID" i="1">
                                                  <a:solidFill>
                                                    <a:srgbClr val="000000"/>
                                                  </a:solidFill>
                                                  <a:latin typeface="Cambria Math" panose="02040503050406030204" pitchFamily="18" charset="0"/>
                                                </a:rPr>
                                              </m:ctrlPr>
                                            </m:fPr>
                                            <m:num>
                                              <m:r>
                                                <a:rPr lang="en-ID" i="1">
                                                  <a:solidFill>
                                                    <a:srgbClr val="000000"/>
                                                  </a:solidFill>
                                                  <a:latin typeface="Cambria Math" panose="02040503050406030204" pitchFamily="18" charset="0"/>
                                                </a:rPr>
                                                <m:t>𝜆</m:t>
                                              </m:r>
                                            </m:num>
                                            <m:den>
                                              <m:r>
                                                <a:rPr lang="en-ID" i="1">
                                                  <a:solidFill>
                                                    <a:srgbClr val="000000"/>
                                                  </a:solidFill>
                                                  <a:latin typeface="Cambria Math" panose="02040503050406030204" pitchFamily="18" charset="0"/>
                                                </a:rPr>
                                                <m:t>𝜇</m:t>
                                              </m:r>
                                            </m:den>
                                          </m:f>
                                        </m:e>
                                      </m:d>
                                    </m:e>
                                    <m:sup>
                                      <m:r>
                                        <a:rPr lang="en-ID" i="1">
                                          <a:solidFill>
                                            <a:srgbClr val="000000"/>
                                          </a:solidFill>
                                          <a:latin typeface="Cambria Math" panose="02040503050406030204" pitchFamily="18" charset="0"/>
                                        </a:rPr>
                                        <m:t>𝑛</m:t>
                                      </m:r>
                                    </m:sup>
                                  </m:sSup>
                                </m:e>
                              </m:nary>
                              <m:r>
                                <a:rPr lang="en-ID" i="1">
                                  <a:solidFill>
                                    <a:srgbClr val="000000"/>
                                  </a:solidFill>
                                  <a:latin typeface="Cambria Math" panose="02040503050406030204" pitchFamily="18" charset="0"/>
                                </a:rPr>
                                <m:t>+</m:t>
                              </m:r>
                              <m:nary>
                                <m:naryPr>
                                  <m:chr m:val="∑"/>
                                  <m:ctrlPr>
                                    <a:rPr lang="en-ID" i="1">
                                      <a:solidFill>
                                        <a:srgbClr val="000000"/>
                                      </a:solidFill>
                                      <a:latin typeface="Cambria Math" panose="02040503050406030204" pitchFamily="18" charset="0"/>
                                    </a:rPr>
                                  </m:ctrlPr>
                                </m:naryPr>
                                <m:sub>
                                  <m:r>
                                    <a:rPr lang="en-ID" i="1">
                                      <a:solidFill>
                                        <a:srgbClr val="000000"/>
                                      </a:solidFill>
                                      <a:latin typeface="Cambria Math" panose="02040503050406030204" pitchFamily="18" charset="0"/>
                                    </a:rPr>
                                    <m:t>𝑛</m:t>
                                  </m:r>
                                  <m:r>
                                    <a:rPr lang="en-ID" i="1">
                                      <a:solidFill>
                                        <a:srgbClr val="000000"/>
                                      </a:solidFill>
                                      <a:latin typeface="Cambria Math" panose="02040503050406030204" pitchFamily="18" charset="0"/>
                                    </a:rPr>
                                    <m:t>=</m:t>
                                  </m:r>
                                  <m:r>
                                    <a:rPr lang="en-ID" i="1">
                                      <a:solidFill>
                                        <a:srgbClr val="000000"/>
                                      </a:solidFill>
                                      <a:latin typeface="Cambria Math" panose="02040503050406030204" pitchFamily="18" charset="0"/>
                                    </a:rPr>
                                    <m:t>𝑐</m:t>
                                  </m:r>
                                </m:sub>
                                <m:sup>
                                  <m:r>
                                    <a:rPr lang="en-ID" i="1">
                                      <a:solidFill>
                                        <a:srgbClr val="000000"/>
                                      </a:solidFill>
                                      <a:latin typeface="Cambria Math" panose="02040503050406030204" pitchFamily="18" charset="0"/>
                                    </a:rPr>
                                    <m:t>𝐾</m:t>
                                  </m:r>
                                </m:sup>
                                <m:e>
                                  <m:f>
                                    <m:fPr>
                                      <m:ctrlPr>
                                        <a:rPr lang="en-ID" i="1">
                                          <a:solidFill>
                                            <a:srgbClr val="000000"/>
                                          </a:solidFill>
                                          <a:latin typeface="Cambria Math" panose="02040503050406030204" pitchFamily="18" charset="0"/>
                                        </a:rPr>
                                      </m:ctrlPr>
                                    </m:fPr>
                                    <m:num>
                                      <m:r>
                                        <a:rPr lang="en-ID" i="1">
                                          <a:solidFill>
                                            <a:srgbClr val="000000"/>
                                          </a:solidFill>
                                          <a:latin typeface="Cambria Math" panose="02040503050406030204" pitchFamily="18" charset="0"/>
                                        </a:rPr>
                                        <m:t>𝐾</m:t>
                                      </m:r>
                                      <m:r>
                                        <a:rPr lang="en-ID" i="1">
                                          <a:solidFill>
                                            <a:srgbClr val="000000"/>
                                          </a:solidFill>
                                          <a:latin typeface="Cambria Math" panose="02040503050406030204" pitchFamily="18" charset="0"/>
                                        </a:rPr>
                                        <m:t>!</m:t>
                                      </m:r>
                                    </m:num>
                                    <m:den>
                                      <m:r>
                                        <a:rPr lang="en-ID" i="1">
                                          <a:solidFill>
                                            <a:srgbClr val="000000"/>
                                          </a:solidFill>
                                          <a:latin typeface="Cambria Math" panose="02040503050406030204" pitchFamily="18" charset="0"/>
                                        </a:rPr>
                                        <m:t>(</m:t>
                                      </m:r>
                                      <m:r>
                                        <a:rPr lang="en-ID" i="1">
                                          <a:solidFill>
                                            <a:srgbClr val="000000"/>
                                          </a:solidFill>
                                          <a:latin typeface="Cambria Math" panose="02040503050406030204" pitchFamily="18" charset="0"/>
                                        </a:rPr>
                                        <m:t>𝐾</m:t>
                                      </m:r>
                                      <m:r>
                                        <a:rPr lang="en-ID" i="1">
                                          <a:solidFill>
                                            <a:srgbClr val="000000"/>
                                          </a:solidFill>
                                          <a:latin typeface="Cambria Math" panose="02040503050406030204" pitchFamily="18" charset="0"/>
                                        </a:rPr>
                                        <m:t>−</m:t>
                                      </m:r>
                                      <m:r>
                                        <a:rPr lang="en-ID" i="1">
                                          <a:solidFill>
                                            <a:srgbClr val="000000"/>
                                          </a:solidFill>
                                          <a:latin typeface="Cambria Math" panose="02040503050406030204" pitchFamily="18" charset="0"/>
                                        </a:rPr>
                                        <m:t>𝑛</m:t>
                                      </m:r>
                                      <m:r>
                                        <a:rPr lang="en-ID" i="1">
                                          <a:solidFill>
                                            <a:srgbClr val="000000"/>
                                          </a:solidFill>
                                          <a:latin typeface="Cambria Math" panose="02040503050406030204" pitchFamily="18" charset="0"/>
                                        </a:rPr>
                                        <m:t>)!</m:t>
                                      </m:r>
                                      <m:r>
                                        <a:rPr lang="en-ID" i="1">
                                          <a:solidFill>
                                            <a:srgbClr val="000000"/>
                                          </a:solidFill>
                                          <a:latin typeface="Cambria Math" panose="02040503050406030204" pitchFamily="18" charset="0"/>
                                        </a:rPr>
                                        <m:t>𝑐</m:t>
                                      </m:r>
                                      <m:r>
                                        <a:rPr lang="en-ID" i="1">
                                          <a:solidFill>
                                            <a:srgbClr val="000000"/>
                                          </a:solidFill>
                                          <a:latin typeface="Cambria Math" panose="02040503050406030204" pitchFamily="18" charset="0"/>
                                        </a:rPr>
                                        <m:t>!</m:t>
                                      </m:r>
                                      <m:sSup>
                                        <m:sSupPr>
                                          <m:ctrlPr>
                                            <a:rPr lang="en-ID" i="1">
                                              <a:solidFill>
                                                <a:srgbClr val="000000"/>
                                              </a:solidFill>
                                              <a:latin typeface="Cambria Math" panose="02040503050406030204" pitchFamily="18" charset="0"/>
                                            </a:rPr>
                                          </m:ctrlPr>
                                        </m:sSupPr>
                                        <m:e>
                                          <m:r>
                                            <a:rPr lang="en-ID" i="1">
                                              <a:solidFill>
                                                <a:srgbClr val="000000"/>
                                              </a:solidFill>
                                              <a:latin typeface="Cambria Math" panose="02040503050406030204" pitchFamily="18" charset="0"/>
                                            </a:rPr>
                                            <m:t>𝑐</m:t>
                                          </m:r>
                                        </m:e>
                                        <m:sup>
                                          <m:r>
                                            <a:rPr lang="en-ID" i="1">
                                              <a:solidFill>
                                                <a:srgbClr val="000000"/>
                                              </a:solidFill>
                                              <a:latin typeface="Cambria Math" panose="02040503050406030204" pitchFamily="18" charset="0"/>
                                            </a:rPr>
                                            <m:t>𝑛</m:t>
                                          </m:r>
                                          <m:r>
                                            <a:rPr lang="en-ID" i="1">
                                              <a:solidFill>
                                                <a:srgbClr val="000000"/>
                                              </a:solidFill>
                                              <a:latin typeface="Cambria Math" panose="02040503050406030204" pitchFamily="18" charset="0"/>
                                            </a:rPr>
                                            <m:t>−</m:t>
                                          </m:r>
                                          <m:r>
                                            <a:rPr lang="en-ID" i="1">
                                              <a:solidFill>
                                                <a:srgbClr val="000000"/>
                                              </a:solidFill>
                                              <a:latin typeface="Cambria Math" panose="02040503050406030204" pitchFamily="18" charset="0"/>
                                            </a:rPr>
                                            <m:t>𝑐</m:t>
                                          </m:r>
                                        </m:sup>
                                      </m:sSup>
                                    </m:den>
                                  </m:f>
                                  <m:sSup>
                                    <m:sSupPr>
                                      <m:ctrlPr>
                                        <a:rPr lang="en-ID" i="1">
                                          <a:solidFill>
                                            <a:srgbClr val="000000"/>
                                          </a:solidFill>
                                          <a:latin typeface="Cambria Math" panose="02040503050406030204" pitchFamily="18" charset="0"/>
                                        </a:rPr>
                                      </m:ctrlPr>
                                    </m:sSupPr>
                                    <m:e>
                                      <m:d>
                                        <m:dPr>
                                          <m:ctrlPr>
                                            <a:rPr lang="en-ID" i="1">
                                              <a:solidFill>
                                                <a:srgbClr val="000000"/>
                                              </a:solidFill>
                                              <a:latin typeface="Cambria Math" panose="02040503050406030204" pitchFamily="18" charset="0"/>
                                            </a:rPr>
                                          </m:ctrlPr>
                                        </m:dPr>
                                        <m:e>
                                          <m:f>
                                            <m:fPr>
                                              <m:ctrlPr>
                                                <a:rPr lang="en-ID" i="1">
                                                  <a:solidFill>
                                                    <a:srgbClr val="000000"/>
                                                  </a:solidFill>
                                                  <a:latin typeface="Cambria Math" panose="02040503050406030204" pitchFamily="18" charset="0"/>
                                                </a:rPr>
                                              </m:ctrlPr>
                                            </m:fPr>
                                            <m:num>
                                              <m:r>
                                                <a:rPr lang="en-ID" i="1">
                                                  <a:solidFill>
                                                    <a:srgbClr val="000000"/>
                                                  </a:solidFill>
                                                  <a:latin typeface="Cambria Math" panose="02040503050406030204" pitchFamily="18" charset="0"/>
                                                </a:rPr>
                                                <m:t>𝜆</m:t>
                                              </m:r>
                                            </m:num>
                                            <m:den>
                                              <m:r>
                                                <a:rPr lang="en-ID" i="1">
                                                  <a:solidFill>
                                                    <a:srgbClr val="000000"/>
                                                  </a:solidFill>
                                                  <a:latin typeface="Cambria Math" panose="02040503050406030204" pitchFamily="18" charset="0"/>
                                                </a:rPr>
                                                <m:t>𝜇</m:t>
                                              </m:r>
                                            </m:den>
                                          </m:f>
                                        </m:e>
                                      </m:d>
                                    </m:e>
                                    <m:sup>
                                      <m:r>
                                        <a:rPr lang="en-ID" i="1">
                                          <a:solidFill>
                                            <a:srgbClr val="000000"/>
                                          </a:solidFill>
                                          <a:latin typeface="Cambria Math" panose="02040503050406030204" pitchFamily="18" charset="0"/>
                                        </a:rPr>
                                        <m:t>𝑛</m:t>
                                      </m:r>
                                    </m:sup>
                                  </m:sSup>
                                </m:e>
                              </m:nary>
                            </m:e>
                          </m:d>
                        </m:e>
                        <m:sup>
                          <m:r>
                            <a:rPr lang="en-ID" i="1">
                              <a:solidFill>
                                <a:srgbClr val="000000"/>
                              </a:solidFill>
                              <a:latin typeface="Cambria Math" panose="02040503050406030204" pitchFamily="18" charset="0"/>
                            </a:rPr>
                            <m:t>−1</m:t>
                          </m:r>
                        </m:sup>
                      </m:sSup>
                    </m:oMath>
                    <m:oMath xmlns:m="http://schemas.openxmlformats.org/officeDocument/2006/math">
                      <m:sSub>
                        <m:sSubPr>
                          <m:ctrlPr>
                            <a:rPr lang="en-ID" i="1">
                              <a:solidFill>
                                <a:srgbClr val="000000"/>
                              </a:solidFill>
                              <a:latin typeface="Cambria Math" panose="02040503050406030204" pitchFamily="18" charset="0"/>
                            </a:rPr>
                          </m:ctrlPr>
                        </m:sSubPr>
                        <m:e>
                          <m:r>
                            <a:rPr lang="en-ID" i="1">
                              <a:solidFill>
                                <a:srgbClr val="000000"/>
                              </a:solidFill>
                              <a:latin typeface="Cambria Math" panose="02040503050406030204" pitchFamily="18" charset="0"/>
                            </a:rPr>
                            <m:t>𝑃</m:t>
                          </m:r>
                        </m:e>
                        <m:sub>
                          <m:r>
                            <a:rPr lang="en-ID" i="1">
                              <a:solidFill>
                                <a:srgbClr val="000000"/>
                              </a:solidFill>
                              <a:latin typeface="Cambria Math" panose="02040503050406030204" pitchFamily="18" charset="0"/>
                            </a:rPr>
                            <m:t>𝑛</m:t>
                          </m:r>
                        </m:sub>
                      </m:sSub>
                      <m:r>
                        <a:rPr lang="en-ID" i="1">
                          <a:solidFill>
                            <a:srgbClr val="000000"/>
                          </a:solidFill>
                          <a:latin typeface="Cambria Math" panose="02040503050406030204" pitchFamily="18" charset="0"/>
                        </a:rPr>
                        <m:t>=</m:t>
                      </m:r>
                      <m:d>
                        <m:dPr>
                          <m:begChr m:val="{"/>
                          <m:endChr m:val=""/>
                          <m:ctrlPr>
                            <a:rPr lang="en-ID" i="1">
                              <a:solidFill>
                                <a:srgbClr val="000000"/>
                              </a:solidFill>
                              <a:latin typeface="Cambria Math" panose="02040503050406030204" pitchFamily="18" charset="0"/>
                            </a:rPr>
                          </m:ctrlPr>
                        </m:dPr>
                        <m:e>
                          <m:m>
                            <m:mPr>
                              <m:plcHide m:val="on"/>
                              <m:mcs>
                                <m:mc>
                                  <m:mcPr>
                                    <m:count m:val="1"/>
                                    <m:mcJc m:val="center"/>
                                  </m:mcPr>
                                </m:mc>
                              </m:mcs>
                              <m:ctrlPr>
                                <a:rPr lang="en-ID" i="1">
                                  <a:solidFill>
                                    <a:srgbClr val="000000"/>
                                  </a:solidFill>
                                  <a:latin typeface="Cambria Math" panose="02040503050406030204" pitchFamily="18" charset="0"/>
                                </a:rPr>
                              </m:ctrlPr>
                            </m:mPr>
                            <m:mr>
                              <m:e>
                                <m:d>
                                  <m:dPr>
                                    <m:ctrlPr>
                                      <a:rPr lang="en-ID" i="1">
                                        <a:solidFill>
                                          <a:srgbClr val="000000"/>
                                        </a:solidFill>
                                        <a:latin typeface="Cambria Math" panose="02040503050406030204" pitchFamily="18" charset="0"/>
                                      </a:rPr>
                                    </m:ctrlPr>
                                  </m:dPr>
                                  <m:e>
                                    <m:m>
                                      <m:mPr>
                                        <m:plcHide m:val="on"/>
                                        <m:mcs>
                                          <m:mc>
                                            <m:mcPr>
                                              <m:count m:val="1"/>
                                              <m:mcJc m:val="center"/>
                                            </m:mcPr>
                                          </m:mc>
                                        </m:mcs>
                                        <m:ctrlPr>
                                          <a:rPr lang="en-ID" i="1">
                                            <a:solidFill>
                                              <a:srgbClr val="000000"/>
                                            </a:solidFill>
                                            <a:latin typeface="Cambria Math" panose="02040503050406030204" pitchFamily="18" charset="0"/>
                                          </a:rPr>
                                        </m:ctrlPr>
                                      </m:mPr>
                                      <m:mr>
                                        <m:e>
                                          <m:r>
                                            <a:rPr lang="en-ID" i="1">
                                              <a:solidFill>
                                                <a:srgbClr val="000000"/>
                                              </a:solidFill>
                                              <a:latin typeface="Cambria Math" panose="02040503050406030204" pitchFamily="18" charset="0"/>
                                            </a:rPr>
                                            <m:t>𝐾</m:t>
                                          </m:r>
                                        </m:e>
                                      </m:mr>
                                      <m:mr>
                                        <m:e>
                                          <m:r>
                                            <a:rPr lang="en-ID" i="1">
                                              <a:solidFill>
                                                <a:srgbClr val="000000"/>
                                              </a:solidFill>
                                              <a:latin typeface="Cambria Math" panose="02040503050406030204" pitchFamily="18" charset="0"/>
                                            </a:rPr>
                                            <m:t>𝑛</m:t>
                                          </m:r>
                                        </m:e>
                                      </m:mr>
                                    </m:m>
                                  </m:e>
                                </m:d>
                                <m:sSup>
                                  <m:sSupPr>
                                    <m:ctrlPr>
                                      <a:rPr lang="en-ID" i="1">
                                        <a:solidFill>
                                          <a:srgbClr val="000000"/>
                                        </a:solidFill>
                                        <a:latin typeface="Cambria Math" panose="02040503050406030204" pitchFamily="18" charset="0"/>
                                      </a:rPr>
                                    </m:ctrlPr>
                                  </m:sSupPr>
                                  <m:e>
                                    <m:d>
                                      <m:dPr>
                                        <m:ctrlPr>
                                          <a:rPr lang="en-ID" i="1">
                                            <a:solidFill>
                                              <a:srgbClr val="000000"/>
                                            </a:solidFill>
                                            <a:latin typeface="Cambria Math" panose="02040503050406030204" pitchFamily="18" charset="0"/>
                                          </a:rPr>
                                        </m:ctrlPr>
                                      </m:dPr>
                                      <m:e>
                                        <m:f>
                                          <m:fPr>
                                            <m:ctrlPr>
                                              <a:rPr lang="en-ID" i="1">
                                                <a:solidFill>
                                                  <a:srgbClr val="000000"/>
                                                </a:solidFill>
                                                <a:latin typeface="Cambria Math" panose="02040503050406030204" pitchFamily="18" charset="0"/>
                                              </a:rPr>
                                            </m:ctrlPr>
                                          </m:fPr>
                                          <m:num>
                                            <m:r>
                                              <a:rPr lang="en-ID" i="1">
                                                <a:solidFill>
                                                  <a:srgbClr val="000000"/>
                                                </a:solidFill>
                                                <a:latin typeface="Cambria Math" panose="02040503050406030204" pitchFamily="18" charset="0"/>
                                              </a:rPr>
                                              <m:t>𝜆</m:t>
                                            </m:r>
                                          </m:num>
                                          <m:den>
                                            <m:r>
                                              <a:rPr lang="en-ID" i="1">
                                                <a:solidFill>
                                                  <a:srgbClr val="000000"/>
                                                </a:solidFill>
                                                <a:latin typeface="Cambria Math" panose="02040503050406030204" pitchFamily="18" charset="0"/>
                                              </a:rPr>
                                              <m:t>𝜇</m:t>
                                            </m:r>
                                          </m:den>
                                        </m:f>
                                      </m:e>
                                    </m:d>
                                  </m:e>
                                  <m:sup>
                                    <m:r>
                                      <a:rPr lang="en-ID" i="1">
                                        <a:solidFill>
                                          <a:srgbClr val="000000"/>
                                        </a:solidFill>
                                        <a:latin typeface="Cambria Math" panose="02040503050406030204" pitchFamily="18" charset="0"/>
                                      </a:rPr>
                                      <m:t>𝑛</m:t>
                                    </m:r>
                                  </m:sup>
                                </m:sSup>
                                <m:sSub>
                                  <m:sSubPr>
                                    <m:ctrlPr>
                                      <a:rPr lang="en-ID" i="1">
                                        <a:solidFill>
                                          <a:srgbClr val="000000"/>
                                        </a:solidFill>
                                        <a:latin typeface="Cambria Math" panose="02040503050406030204" pitchFamily="18" charset="0"/>
                                      </a:rPr>
                                    </m:ctrlPr>
                                  </m:sSubPr>
                                  <m:e>
                                    <m:r>
                                      <a:rPr lang="en-ID" i="1">
                                        <a:solidFill>
                                          <a:srgbClr val="000000"/>
                                        </a:solidFill>
                                        <a:latin typeface="Cambria Math" panose="02040503050406030204" pitchFamily="18" charset="0"/>
                                      </a:rPr>
                                      <m:t>𝑃</m:t>
                                    </m:r>
                                  </m:e>
                                  <m:sub>
                                    <m:r>
                                      <a:rPr lang="en-ID" i="1">
                                        <a:solidFill>
                                          <a:srgbClr val="000000"/>
                                        </a:solidFill>
                                        <a:latin typeface="Cambria Math" panose="02040503050406030204" pitchFamily="18" charset="0"/>
                                      </a:rPr>
                                      <m:t>0</m:t>
                                    </m:r>
                                  </m:sub>
                                </m:sSub>
                                <m:r>
                                  <m:rPr>
                                    <m:nor/>
                                  </m:rPr>
                                  <a:rPr lang="en-ID" i="0">
                                    <a:solidFill>
                                      <a:srgbClr val="000000"/>
                                    </a:solidFill>
                                    <a:latin typeface="Cambria Math" panose="02040503050406030204" pitchFamily="18" charset="0"/>
                                  </a:rPr>
                                  <m:t>,                </m:t>
                                </m:r>
                                <m:r>
                                  <a:rPr lang="en-ID" i="1">
                                    <a:solidFill>
                                      <a:srgbClr val="000000"/>
                                    </a:solidFill>
                                    <a:latin typeface="Cambria Math" panose="02040503050406030204" pitchFamily="18" charset="0"/>
                                  </a:rPr>
                                  <m:t>𝑛</m:t>
                                </m:r>
                                <m:r>
                                  <a:rPr lang="en-ID" i="1">
                                    <a:solidFill>
                                      <a:srgbClr val="000000"/>
                                    </a:solidFill>
                                    <a:latin typeface="Cambria Math" panose="02040503050406030204" pitchFamily="18" charset="0"/>
                                  </a:rPr>
                                  <m:t>=0,1,...,</m:t>
                                </m:r>
                                <m:r>
                                  <a:rPr lang="en-ID" i="1">
                                    <a:solidFill>
                                      <a:srgbClr val="000000"/>
                                    </a:solidFill>
                                    <a:latin typeface="Cambria Math" panose="02040503050406030204" pitchFamily="18" charset="0"/>
                                  </a:rPr>
                                  <m:t>𝑐</m:t>
                                </m:r>
                                <m:r>
                                  <a:rPr lang="en-ID" i="1">
                                    <a:solidFill>
                                      <a:srgbClr val="000000"/>
                                    </a:solidFill>
                                    <a:latin typeface="Cambria Math" panose="02040503050406030204" pitchFamily="18" charset="0"/>
                                  </a:rPr>
                                  <m:t>−1</m:t>
                                </m:r>
                              </m:e>
                            </m:mr>
                            <m:mr>
                              <m:e>
                                <m:f>
                                  <m:fPr>
                                    <m:ctrlPr>
                                      <a:rPr lang="en-ID" i="1">
                                        <a:solidFill>
                                          <a:srgbClr val="000000"/>
                                        </a:solidFill>
                                        <a:latin typeface="Cambria Math" panose="02040503050406030204" pitchFamily="18" charset="0"/>
                                      </a:rPr>
                                    </m:ctrlPr>
                                  </m:fPr>
                                  <m:num>
                                    <m:r>
                                      <a:rPr lang="en-ID" i="1">
                                        <a:solidFill>
                                          <a:srgbClr val="000000"/>
                                        </a:solidFill>
                                        <a:latin typeface="Cambria Math" panose="02040503050406030204" pitchFamily="18" charset="0"/>
                                      </a:rPr>
                                      <m:t>𝐾</m:t>
                                    </m:r>
                                    <m:r>
                                      <a:rPr lang="en-ID" i="1">
                                        <a:solidFill>
                                          <a:srgbClr val="000000"/>
                                        </a:solidFill>
                                        <a:latin typeface="Cambria Math" panose="02040503050406030204" pitchFamily="18" charset="0"/>
                                      </a:rPr>
                                      <m:t>!</m:t>
                                    </m:r>
                                  </m:num>
                                  <m:den>
                                    <m:r>
                                      <a:rPr lang="en-ID" i="1">
                                        <a:solidFill>
                                          <a:srgbClr val="000000"/>
                                        </a:solidFill>
                                        <a:latin typeface="Cambria Math" panose="02040503050406030204" pitchFamily="18" charset="0"/>
                                      </a:rPr>
                                      <m:t>(</m:t>
                                    </m:r>
                                    <m:r>
                                      <a:rPr lang="en-ID" i="1">
                                        <a:solidFill>
                                          <a:srgbClr val="000000"/>
                                        </a:solidFill>
                                        <a:latin typeface="Cambria Math" panose="02040503050406030204" pitchFamily="18" charset="0"/>
                                      </a:rPr>
                                      <m:t>𝐾</m:t>
                                    </m:r>
                                    <m:r>
                                      <a:rPr lang="en-ID" i="1">
                                        <a:solidFill>
                                          <a:srgbClr val="000000"/>
                                        </a:solidFill>
                                        <a:latin typeface="Cambria Math" panose="02040503050406030204" pitchFamily="18" charset="0"/>
                                      </a:rPr>
                                      <m:t>−</m:t>
                                    </m:r>
                                    <m:r>
                                      <a:rPr lang="en-ID" i="1">
                                        <a:solidFill>
                                          <a:srgbClr val="000000"/>
                                        </a:solidFill>
                                        <a:latin typeface="Cambria Math" panose="02040503050406030204" pitchFamily="18" charset="0"/>
                                      </a:rPr>
                                      <m:t>𝑛</m:t>
                                    </m:r>
                                    <m:r>
                                      <a:rPr lang="en-ID" i="1">
                                        <a:solidFill>
                                          <a:srgbClr val="000000"/>
                                        </a:solidFill>
                                        <a:latin typeface="Cambria Math" panose="02040503050406030204" pitchFamily="18" charset="0"/>
                                      </a:rPr>
                                      <m:t>)!</m:t>
                                    </m:r>
                                    <m:r>
                                      <a:rPr lang="en-ID" i="1">
                                        <a:solidFill>
                                          <a:srgbClr val="000000"/>
                                        </a:solidFill>
                                        <a:latin typeface="Cambria Math" panose="02040503050406030204" pitchFamily="18" charset="0"/>
                                      </a:rPr>
                                      <m:t>𝑐</m:t>
                                    </m:r>
                                    <m:r>
                                      <a:rPr lang="en-ID" i="1">
                                        <a:solidFill>
                                          <a:srgbClr val="000000"/>
                                        </a:solidFill>
                                        <a:latin typeface="Cambria Math" panose="02040503050406030204" pitchFamily="18" charset="0"/>
                                      </a:rPr>
                                      <m:t>!</m:t>
                                    </m:r>
                                    <m:sSup>
                                      <m:sSupPr>
                                        <m:ctrlPr>
                                          <a:rPr lang="en-ID" i="1">
                                            <a:solidFill>
                                              <a:srgbClr val="000000"/>
                                            </a:solidFill>
                                            <a:latin typeface="Cambria Math" panose="02040503050406030204" pitchFamily="18" charset="0"/>
                                          </a:rPr>
                                        </m:ctrlPr>
                                      </m:sSupPr>
                                      <m:e>
                                        <m:r>
                                          <a:rPr lang="en-ID" i="1">
                                            <a:solidFill>
                                              <a:srgbClr val="000000"/>
                                            </a:solidFill>
                                            <a:latin typeface="Cambria Math" panose="02040503050406030204" pitchFamily="18" charset="0"/>
                                          </a:rPr>
                                          <m:t>𝑐</m:t>
                                        </m:r>
                                      </m:e>
                                      <m:sup>
                                        <m:r>
                                          <a:rPr lang="en-ID" i="1">
                                            <a:solidFill>
                                              <a:srgbClr val="000000"/>
                                            </a:solidFill>
                                            <a:latin typeface="Cambria Math" panose="02040503050406030204" pitchFamily="18" charset="0"/>
                                          </a:rPr>
                                          <m:t>𝑛</m:t>
                                        </m:r>
                                        <m:r>
                                          <a:rPr lang="en-ID" i="1">
                                            <a:solidFill>
                                              <a:srgbClr val="000000"/>
                                            </a:solidFill>
                                            <a:latin typeface="Cambria Math" panose="02040503050406030204" pitchFamily="18" charset="0"/>
                                          </a:rPr>
                                          <m:t>−</m:t>
                                        </m:r>
                                        <m:r>
                                          <a:rPr lang="en-ID" i="1">
                                            <a:solidFill>
                                              <a:srgbClr val="000000"/>
                                            </a:solidFill>
                                            <a:latin typeface="Cambria Math" panose="02040503050406030204" pitchFamily="18" charset="0"/>
                                          </a:rPr>
                                          <m:t>𝑐</m:t>
                                        </m:r>
                                      </m:sup>
                                    </m:sSup>
                                  </m:den>
                                </m:f>
                                <m:sSup>
                                  <m:sSupPr>
                                    <m:ctrlPr>
                                      <a:rPr lang="en-ID" i="1">
                                        <a:solidFill>
                                          <a:srgbClr val="000000"/>
                                        </a:solidFill>
                                        <a:latin typeface="Cambria Math" panose="02040503050406030204" pitchFamily="18" charset="0"/>
                                      </a:rPr>
                                    </m:ctrlPr>
                                  </m:sSupPr>
                                  <m:e>
                                    <m:d>
                                      <m:dPr>
                                        <m:ctrlPr>
                                          <a:rPr lang="en-ID" i="1">
                                            <a:solidFill>
                                              <a:srgbClr val="000000"/>
                                            </a:solidFill>
                                            <a:latin typeface="Cambria Math" panose="02040503050406030204" pitchFamily="18" charset="0"/>
                                          </a:rPr>
                                        </m:ctrlPr>
                                      </m:dPr>
                                      <m:e>
                                        <m:f>
                                          <m:fPr>
                                            <m:ctrlPr>
                                              <a:rPr lang="en-ID" i="1">
                                                <a:solidFill>
                                                  <a:srgbClr val="000000"/>
                                                </a:solidFill>
                                                <a:latin typeface="Cambria Math" panose="02040503050406030204" pitchFamily="18" charset="0"/>
                                              </a:rPr>
                                            </m:ctrlPr>
                                          </m:fPr>
                                          <m:num>
                                            <m:r>
                                              <a:rPr lang="en-ID" i="1">
                                                <a:solidFill>
                                                  <a:srgbClr val="000000"/>
                                                </a:solidFill>
                                                <a:latin typeface="Cambria Math" panose="02040503050406030204" pitchFamily="18" charset="0"/>
                                              </a:rPr>
                                              <m:t>𝜆</m:t>
                                            </m:r>
                                          </m:num>
                                          <m:den>
                                            <m:r>
                                              <a:rPr lang="en-ID" i="1">
                                                <a:solidFill>
                                                  <a:srgbClr val="000000"/>
                                                </a:solidFill>
                                                <a:latin typeface="Cambria Math" panose="02040503050406030204" pitchFamily="18" charset="0"/>
                                              </a:rPr>
                                              <m:t>𝜇</m:t>
                                            </m:r>
                                          </m:den>
                                        </m:f>
                                      </m:e>
                                    </m:d>
                                  </m:e>
                                  <m:sup>
                                    <m:r>
                                      <a:rPr lang="en-ID" i="1">
                                        <a:solidFill>
                                          <a:srgbClr val="000000"/>
                                        </a:solidFill>
                                        <a:latin typeface="Cambria Math" panose="02040503050406030204" pitchFamily="18" charset="0"/>
                                      </a:rPr>
                                      <m:t>𝑛</m:t>
                                    </m:r>
                                  </m:sup>
                                </m:sSup>
                                <m:r>
                                  <m:rPr>
                                    <m:nor/>
                                  </m:rPr>
                                  <a:rPr lang="en-ID" i="0">
                                    <a:solidFill>
                                      <a:srgbClr val="000000"/>
                                    </a:solidFill>
                                    <a:latin typeface="Cambria Math" panose="02040503050406030204" pitchFamily="18" charset="0"/>
                                  </a:rPr>
                                  <m:t>,     </m:t>
                                </m:r>
                                <m:r>
                                  <a:rPr lang="en-ID" i="1">
                                    <a:solidFill>
                                      <a:srgbClr val="000000"/>
                                    </a:solidFill>
                                    <a:latin typeface="Cambria Math" panose="02040503050406030204" pitchFamily="18" charset="0"/>
                                  </a:rPr>
                                  <m:t>𝑛</m:t>
                                </m:r>
                                <m:r>
                                  <a:rPr lang="en-ID" i="1">
                                    <a:solidFill>
                                      <a:srgbClr val="000000"/>
                                    </a:solidFill>
                                    <a:latin typeface="Cambria Math" panose="02040503050406030204" pitchFamily="18" charset="0"/>
                                  </a:rPr>
                                  <m:t>=</m:t>
                                </m:r>
                                <m:r>
                                  <a:rPr lang="en-ID" i="1">
                                    <a:solidFill>
                                      <a:srgbClr val="000000"/>
                                    </a:solidFill>
                                    <a:latin typeface="Cambria Math" panose="02040503050406030204" pitchFamily="18" charset="0"/>
                                  </a:rPr>
                                  <m:t>𝑐</m:t>
                                </m:r>
                                <m:r>
                                  <a:rPr lang="en-ID" i="1">
                                    <a:solidFill>
                                      <a:srgbClr val="000000"/>
                                    </a:solidFill>
                                    <a:latin typeface="Cambria Math" panose="02040503050406030204" pitchFamily="18" charset="0"/>
                                  </a:rPr>
                                  <m:t>,</m:t>
                                </m:r>
                                <m:r>
                                  <a:rPr lang="en-ID" i="1">
                                    <a:solidFill>
                                      <a:srgbClr val="000000"/>
                                    </a:solidFill>
                                    <a:latin typeface="Cambria Math" panose="02040503050406030204" pitchFamily="18" charset="0"/>
                                  </a:rPr>
                                  <m:t>𝑐</m:t>
                                </m:r>
                                <m:r>
                                  <a:rPr lang="en-ID" i="1">
                                    <a:solidFill>
                                      <a:srgbClr val="000000"/>
                                    </a:solidFill>
                                    <a:latin typeface="Cambria Math" panose="02040503050406030204" pitchFamily="18" charset="0"/>
                                  </a:rPr>
                                  <m:t>+1,...</m:t>
                                </m:r>
                                <m:r>
                                  <a:rPr lang="en-ID" i="1">
                                    <a:solidFill>
                                      <a:srgbClr val="000000"/>
                                    </a:solidFill>
                                    <a:latin typeface="Cambria Math" panose="02040503050406030204" pitchFamily="18" charset="0"/>
                                  </a:rPr>
                                  <m:t>𝐾</m:t>
                                </m:r>
                              </m:e>
                            </m:mr>
                          </m:m>
                        </m:e>
                      </m:d>
                    </m:oMath>
                    <m:oMath xmlns:m="http://schemas.openxmlformats.org/officeDocument/2006/math">
                      <m:r>
                        <a:rPr lang="en-ID" i="1">
                          <a:solidFill>
                            <a:srgbClr val="000000"/>
                          </a:solidFill>
                          <a:latin typeface="Cambria Math" panose="02040503050406030204" pitchFamily="18" charset="0"/>
                        </a:rPr>
                        <m:t>𝐿</m:t>
                      </m:r>
                      <m:r>
                        <a:rPr lang="en-ID" i="1">
                          <a:solidFill>
                            <a:srgbClr val="000000"/>
                          </a:solidFill>
                          <a:latin typeface="Cambria Math" panose="02040503050406030204" pitchFamily="18" charset="0"/>
                        </a:rPr>
                        <m:t>=</m:t>
                      </m:r>
                      <m:nary>
                        <m:naryPr>
                          <m:chr m:val="∑"/>
                          <m:ctrlPr>
                            <a:rPr lang="en-ID" i="1">
                              <a:solidFill>
                                <a:srgbClr val="000000"/>
                              </a:solidFill>
                              <a:latin typeface="Cambria Math" panose="02040503050406030204" pitchFamily="18" charset="0"/>
                            </a:rPr>
                          </m:ctrlPr>
                        </m:naryPr>
                        <m:sub>
                          <m:r>
                            <a:rPr lang="en-ID" i="1">
                              <a:solidFill>
                                <a:srgbClr val="000000"/>
                              </a:solidFill>
                              <a:latin typeface="Cambria Math" panose="02040503050406030204" pitchFamily="18" charset="0"/>
                            </a:rPr>
                            <m:t>𝑛</m:t>
                          </m:r>
                          <m:r>
                            <a:rPr lang="en-ID" i="1">
                              <a:solidFill>
                                <a:srgbClr val="000000"/>
                              </a:solidFill>
                              <a:latin typeface="Cambria Math" panose="02040503050406030204" pitchFamily="18" charset="0"/>
                            </a:rPr>
                            <m:t>=0</m:t>
                          </m:r>
                        </m:sub>
                        <m:sup>
                          <m:r>
                            <a:rPr lang="en-ID" i="1">
                              <a:solidFill>
                                <a:srgbClr val="000000"/>
                              </a:solidFill>
                              <a:latin typeface="Cambria Math" panose="02040503050406030204" pitchFamily="18" charset="0"/>
                            </a:rPr>
                            <m:t>𝐾</m:t>
                          </m:r>
                        </m:sup>
                        <m:e>
                          <m:r>
                            <a:rPr lang="en-ID" i="1">
                              <a:solidFill>
                                <a:srgbClr val="000000"/>
                              </a:solidFill>
                              <a:latin typeface="Cambria Math" panose="02040503050406030204" pitchFamily="18" charset="0"/>
                            </a:rPr>
                            <m:t>𝑛</m:t>
                          </m:r>
                          <m:sSub>
                            <m:sSubPr>
                              <m:ctrlPr>
                                <a:rPr lang="en-ID" i="1">
                                  <a:solidFill>
                                    <a:srgbClr val="000000"/>
                                  </a:solidFill>
                                  <a:latin typeface="Cambria Math" panose="02040503050406030204" pitchFamily="18" charset="0"/>
                                </a:rPr>
                              </m:ctrlPr>
                            </m:sSubPr>
                            <m:e>
                              <m:r>
                                <a:rPr lang="en-ID" i="1">
                                  <a:solidFill>
                                    <a:srgbClr val="000000"/>
                                  </a:solidFill>
                                  <a:latin typeface="Cambria Math" panose="02040503050406030204" pitchFamily="18" charset="0"/>
                                </a:rPr>
                                <m:t>𝑃</m:t>
                              </m:r>
                            </m:e>
                            <m:sub>
                              <m:r>
                                <a:rPr lang="en-ID" i="1">
                                  <a:solidFill>
                                    <a:srgbClr val="000000"/>
                                  </a:solidFill>
                                  <a:latin typeface="Cambria Math" panose="02040503050406030204" pitchFamily="18" charset="0"/>
                                </a:rPr>
                                <m:t>𝑛</m:t>
                              </m:r>
                            </m:sub>
                          </m:sSub>
                        </m:e>
                      </m:nary>
                      <m:r>
                        <a:rPr lang="en-ID" i="1">
                          <a:solidFill>
                            <a:srgbClr val="000000"/>
                          </a:solidFill>
                          <a:latin typeface="Cambria Math" panose="02040503050406030204" pitchFamily="18" charset="0"/>
                        </a:rPr>
                        <m:t>,</m:t>
                      </m:r>
                      <m:r>
                        <m:rPr>
                          <m:nor/>
                        </m:rPr>
                        <a:rPr lang="en-ID" i="0">
                          <a:solidFill>
                            <a:srgbClr val="000000"/>
                          </a:solidFill>
                          <a:latin typeface="Cambria Math" panose="02040503050406030204" pitchFamily="18" charset="0"/>
                        </a:rPr>
                        <m:t>     </m:t>
                      </m:r>
                      <m:r>
                        <a:rPr lang="en-ID" i="1">
                          <a:solidFill>
                            <a:srgbClr val="000000"/>
                          </a:solidFill>
                          <a:latin typeface="Cambria Math" panose="02040503050406030204" pitchFamily="18" charset="0"/>
                        </a:rPr>
                        <m:t>𝑤</m:t>
                      </m:r>
                      <m:r>
                        <a:rPr lang="en-ID" i="1">
                          <a:solidFill>
                            <a:srgbClr val="000000"/>
                          </a:solidFill>
                          <a:latin typeface="Cambria Math" panose="02040503050406030204" pitchFamily="18" charset="0"/>
                        </a:rPr>
                        <m:t>=</m:t>
                      </m:r>
                      <m:r>
                        <a:rPr lang="en-ID" i="1">
                          <a:solidFill>
                            <a:srgbClr val="000000"/>
                          </a:solidFill>
                          <a:latin typeface="Cambria Math" panose="02040503050406030204" pitchFamily="18" charset="0"/>
                        </a:rPr>
                        <m:t>𝐿</m:t>
                      </m:r>
                      <m:r>
                        <a:rPr lang="en-ID" i="1">
                          <a:solidFill>
                            <a:srgbClr val="000000"/>
                          </a:solidFill>
                          <a:latin typeface="Cambria Math" panose="02040503050406030204" pitchFamily="18" charset="0"/>
                        </a:rPr>
                        <m:t>/</m:t>
                      </m:r>
                      <m:sSub>
                        <m:sSubPr>
                          <m:ctrlPr>
                            <a:rPr lang="en-ID" i="1">
                              <a:solidFill>
                                <a:srgbClr val="000000"/>
                              </a:solidFill>
                              <a:latin typeface="Cambria Math" panose="02040503050406030204" pitchFamily="18" charset="0"/>
                            </a:rPr>
                          </m:ctrlPr>
                        </m:sSubPr>
                        <m:e>
                          <m:r>
                            <a:rPr lang="en-ID" i="1">
                              <a:solidFill>
                                <a:srgbClr val="000000"/>
                              </a:solidFill>
                              <a:latin typeface="Cambria Math" panose="02040503050406030204" pitchFamily="18" charset="0"/>
                            </a:rPr>
                            <m:t>𝜆</m:t>
                          </m:r>
                        </m:e>
                        <m:sub>
                          <m:r>
                            <a:rPr lang="en-ID" i="1">
                              <a:solidFill>
                                <a:srgbClr val="000000"/>
                              </a:solidFill>
                              <a:latin typeface="Cambria Math" panose="02040503050406030204" pitchFamily="18" charset="0"/>
                            </a:rPr>
                            <m:t>𝑒</m:t>
                          </m:r>
                        </m:sub>
                      </m:sSub>
                      <m:r>
                        <a:rPr lang="en-ID" i="1">
                          <a:solidFill>
                            <a:srgbClr val="000000"/>
                          </a:solidFill>
                          <a:latin typeface="Cambria Math" panose="02040503050406030204" pitchFamily="18" charset="0"/>
                        </a:rPr>
                        <m:t>,</m:t>
                      </m:r>
                      <m:r>
                        <m:rPr>
                          <m:nor/>
                        </m:rPr>
                        <a:rPr lang="en-ID" i="0">
                          <a:solidFill>
                            <a:srgbClr val="000000"/>
                          </a:solidFill>
                          <a:latin typeface="Cambria Math" panose="02040503050406030204" pitchFamily="18" charset="0"/>
                        </a:rPr>
                        <m:t>      </m:t>
                      </m:r>
                      <m:r>
                        <a:rPr lang="en-ID" i="1">
                          <a:solidFill>
                            <a:srgbClr val="000000"/>
                          </a:solidFill>
                          <a:latin typeface="Cambria Math" panose="02040503050406030204" pitchFamily="18" charset="0"/>
                        </a:rPr>
                        <m:t>𝜌</m:t>
                      </m:r>
                      <m:r>
                        <a:rPr lang="en-ID" i="1">
                          <a:solidFill>
                            <a:srgbClr val="000000"/>
                          </a:solidFill>
                          <a:latin typeface="Cambria Math" panose="02040503050406030204" pitchFamily="18" charset="0"/>
                        </a:rPr>
                        <m:t>=</m:t>
                      </m:r>
                      <m:sSub>
                        <m:sSubPr>
                          <m:ctrlPr>
                            <a:rPr lang="en-ID" i="1">
                              <a:solidFill>
                                <a:srgbClr val="000000"/>
                              </a:solidFill>
                              <a:latin typeface="Cambria Math" panose="02040503050406030204" pitchFamily="18" charset="0"/>
                            </a:rPr>
                          </m:ctrlPr>
                        </m:sSubPr>
                        <m:e>
                          <m:r>
                            <a:rPr lang="en-ID" i="1">
                              <a:solidFill>
                                <a:srgbClr val="000000"/>
                              </a:solidFill>
                              <a:latin typeface="Cambria Math" panose="02040503050406030204" pitchFamily="18" charset="0"/>
                            </a:rPr>
                            <m:t>𝜆</m:t>
                          </m:r>
                        </m:e>
                        <m:sub>
                          <m:r>
                            <a:rPr lang="en-ID" i="1">
                              <a:solidFill>
                                <a:srgbClr val="000000"/>
                              </a:solidFill>
                              <a:latin typeface="Cambria Math" panose="02040503050406030204" pitchFamily="18" charset="0"/>
                            </a:rPr>
                            <m:t>𝑒</m:t>
                          </m:r>
                        </m:sub>
                      </m:sSub>
                      <m:r>
                        <a:rPr lang="en-ID" i="1">
                          <a:solidFill>
                            <a:srgbClr val="000000"/>
                          </a:solidFill>
                          <a:latin typeface="Cambria Math" panose="02040503050406030204" pitchFamily="18" charset="0"/>
                        </a:rPr>
                        <m:t>/</m:t>
                      </m:r>
                      <m:r>
                        <a:rPr lang="en-ID" i="1">
                          <a:solidFill>
                            <a:srgbClr val="000000"/>
                          </a:solidFill>
                          <a:latin typeface="Cambria Math" panose="02040503050406030204" pitchFamily="18" charset="0"/>
                        </a:rPr>
                        <m:t>𝑐</m:t>
                      </m:r>
                      <m:r>
                        <a:rPr lang="en-ID" i="1">
                          <a:solidFill>
                            <a:srgbClr val="000000"/>
                          </a:solidFill>
                          <a:latin typeface="Cambria Math" panose="02040503050406030204" pitchFamily="18" charset="0"/>
                        </a:rPr>
                        <m:t>𝜇</m:t>
                      </m:r>
                    </m:oMath>
                  </m:oMathPara>
                </a14:m>
                <a:endParaRPr lang="en-ID" dirty="0"/>
              </a:p>
            </p:txBody>
          </p:sp>
        </mc:Choice>
        <mc:Fallback xmlns="">
          <p:sp>
            <p:nvSpPr>
              <p:cNvPr id="44037" name="Object 4">
                <a:extLst>
                  <a:ext uri="{FF2B5EF4-FFF2-40B4-BE49-F238E27FC236}">
                    <a16:creationId xmlns:a16="http://schemas.microsoft.com/office/drawing/2014/main" id="{814ED0EA-C343-A2DF-2888-B80BB14C1E84}"/>
                  </a:ext>
                </a:extLst>
              </p:cNvPr>
              <p:cNvSpPr txBox="1">
                <a:spLocks noRot="1" noChangeAspect="1" noMove="1" noResize="1" noEditPoints="1" noAdjustHandles="1" noChangeArrowheads="1" noChangeShapeType="1" noTextEdit="1"/>
              </p:cNvSpPr>
              <p:nvPr>
                <p:ph sz="quarter" idx="2"/>
              </p:nvPr>
            </p:nvSpPr>
            <p:spPr bwMode="auto">
              <a:xfrm>
                <a:off x="1600200" y="1828800"/>
                <a:ext cx="4267200" cy="2990850"/>
              </a:xfrm>
              <a:prstGeom prst="rect">
                <a:avLst/>
              </a:prstGeom>
              <a:blipFill>
                <a:blip r:embed="rId2"/>
                <a:stretch>
                  <a:fillRect/>
                </a:stretch>
              </a:blipFill>
              <a:ln>
                <a:noFill/>
              </a:ln>
              <a:effectLst/>
            </p:spPr>
            <p:txBody>
              <a:bodyPr/>
              <a:lstStyle/>
              <a:p>
                <a:r>
                  <a:rPr lang="en-ID">
                    <a:noFill/>
                  </a:rPr>
                  <a:t> </a:t>
                </a:r>
              </a:p>
            </p:txBody>
          </p:sp>
        </mc:Fallback>
      </mc:AlternateContent>
      <mc:AlternateContent xmlns:mc="http://schemas.openxmlformats.org/markup-compatibility/2006" xmlns:a14="http://schemas.microsoft.com/office/drawing/2010/main">
        <mc:Choice Requires="a14">
          <p:sp>
            <p:nvSpPr>
              <p:cNvPr id="44038" name="Object 12">
                <a:extLst>
                  <a:ext uri="{FF2B5EF4-FFF2-40B4-BE49-F238E27FC236}">
                    <a16:creationId xmlns:a16="http://schemas.microsoft.com/office/drawing/2014/main" id="{C9336140-0B09-9F16-77BD-D3B22438814F}"/>
                  </a:ext>
                </a:extLst>
              </p:cNvPr>
              <p:cNvSpPr txBox="1"/>
              <p:nvPr/>
            </p:nvSpPr>
            <p:spPr bwMode="auto">
              <a:xfrm>
                <a:off x="751681" y="4641057"/>
                <a:ext cx="7716838" cy="995362"/>
              </a:xfrm>
              <a:prstGeom prst="rect">
                <a:avLst/>
              </a:prstGeom>
              <a:noFill/>
              <a:ln>
                <a:noFill/>
              </a:ln>
              <a:effectLst/>
            </p:spPr>
            <p:txBody>
              <a:bodyPr>
                <a:normAutofit fontScale="77500" lnSpcReduction="20000"/>
              </a:bodyPr>
              <a:lstStyle/>
              <a:p>
                <a:pPr/>
                <a14:m>
                  <m:oMathPara xmlns:m="http://schemas.openxmlformats.org/officeDocument/2006/math">
                    <m:oMathParaPr>
                      <m:jc m:val="left"/>
                    </m:oMathParaPr>
                    <m:oMath xmlns:m="http://schemas.openxmlformats.org/officeDocument/2006/math">
                      <m:r>
                        <m:rPr>
                          <m:nor/>
                        </m:rPr>
                        <a:rPr lang="en-ID">
                          <a:solidFill>
                            <a:srgbClr val="000000"/>
                          </a:solidFill>
                          <a:latin typeface="Cambria Math" panose="02040503050406030204" pitchFamily="18" charset="0"/>
                        </a:rPr>
                        <m:t>d</m:t>
                      </m:r>
                      <m:r>
                        <m:rPr>
                          <m:nor/>
                        </m:rPr>
                        <a:rPr lang="en-US" b="0" i="0" smtClean="0">
                          <a:solidFill>
                            <a:srgbClr val="000000"/>
                          </a:solidFill>
                          <a:latin typeface="Cambria Math" panose="02040503050406030204" pitchFamily="18" charset="0"/>
                        </a:rPr>
                        <m:t>imana</m:t>
                      </m:r>
                      <m:r>
                        <m:rPr>
                          <m:nor/>
                        </m:rPr>
                        <a:rPr lang="en-US" b="0" i="0" smtClean="0">
                          <a:solidFill>
                            <a:srgbClr val="000000"/>
                          </a:solidFill>
                          <a:latin typeface="Cambria Math" panose="02040503050406030204" pitchFamily="18" charset="0"/>
                        </a:rPr>
                        <m:t> </m:t>
                      </m:r>
                      <m:sSub>
                        <m:sSubPr>
                          <m:ctrlPr>
                            <a:rPr lang="en-ID" i="1">
                              <a:solidFill>
                                <a:srgbClr val="000000"/>
                              </a:solidFill>
                              <a:latin typeface="Cambria Math" panose="02040503050406030204" pitchFamily="18" charset="0"/>
                            </a:rPr>
                          </m:ctrlPr>
                        </m:sSubPr>
                        <m:e>
                          <m:r>
                            <a:rPr lang="en-ID" i="1">
                              <a:solidFill>
                                <a:srgbClr val="000000"/>
                              </a:solidFill>
                              <a:latin typeface="Cambria Math" panose="02040503050406030204" pitchFamily="18" charset="0"/>
                            </a:rPr>
                            <m:t>𝜆</m:t>
                          </m:r>
                        </m:e>
                        <m:sub>
                          <m:r>
                            <a:rPr lang="en-ID" i="1">
                              <a:solidFill>
                                <a:srgbClr val="000000"/>
                              </a:solidFill>
                              <a:latin typeface="Cambria Math" panose="02040503050406030204" pitchFamily="18" charset="0"/>
                            </a:rPr>
                            <m:t>𝑒</m:t>
                          </m:r>
                        </m:sub>
                      </m:sSub>
                      <m:r>
                        <m:rPr>
                          <m:nor/>
                        </m:rPr>
                        <a:rPr lang="en-ID" i="0">
                          <a:solidFill>
                            <a:srgbClr val="000000"/>
                          </a:solidFill>
                          <a:latin typeface="Cambria Math" panose="02040503050406030204" pitchFamily="18" charset="0"/>
                        </a:rPr>
                        <m:t> </m:t>
                      </m:r>
                      <m:r>
                        <m:rPr>
                          <m:nor/>
                        </m:rPr>
                        <a:rPr lang="en-US" b="0" i="0" smtClean="0">
                          <a:solidFill>
                            <a:srgbClr val="000000"/>
                          </a:solidFill>
                          <a:latin typeface="Cambria Math" panose="02040503050406030204" pitchFamily="18" charset="0"/>
                        </a:rPr>
                        <m:t>adalah</m:t>
                      </m:r>
                      <m:r>
                        <m:rPr>
                          <m:nor/>
                        </m:rPr>
                        <a:rPr lang="en-US" b="0" i="0" smtClean="0">
                          <a:solidFill>
                            <a:srgbClr val="000000"/>
                          </a:solidFill>
                          <a:latin typeface="Cambria Math" panose="02040503050406030204" pitchFamily="18" charset="0"/>
                        </a:rPr>
                        <m:t> </m:t>
                      </m:r>
                      <m:r>
                        <m:rPr>
                          <m:nor/>
                        </m:rPr>
                        <a:rPr lang="en-US" b="0" i="0" smtClean="0">
                          <a:solidFill>
                            <a:srgbClr val="000000"/>
                          </a:solidFill>
                          <a:latin typeface="Cambria Math" panose="02040503050406030204" pitchFamily="18" charset="0"/>
                        </a:rPr>
                        <m:t>laju</m:t>
                      </m:r>
                      <m:r>
                        <m:rPr>
                          <m:nor/>
                        </m:rPr>
                        <a:rPr lang="en-US" b="0" i="0" smtClean="0">
                          <a:solidFill>
                            <a:srgbClr val="000000"/>
                          </a:solidFill>
                          <a:latin typeface="Cambria Math" panose="02040503050406030204" pitchFamily="18" charset="0"/>
                        </a:rPr>
                        <m:t> </m:t>
                      </m:r>
                      <m:r>
                        <m:rPr>
                          <m:nor/>
                        </m:rPr>
                        <a:rPr lang="en-US" b="0" i="0" smtClean="0">
                          <a:solidFill>
                            <a:srgbClr val="000000"/>
                          </a:solidFill>
                          <a:latin typeface="Cambria Math" panose="02040503050406030204" pitchFamily="18" charset="0"/>
                        </a:rPr>
                        <m:t>kedatangan</m:t>
                      </m:r>
                      <m:r>
                        <m:rPr>
                          <m:nor/>
                        </m:rPr>
                        <a:rPr lang="en-US" b="0" i="0" smtClean="0">
                          <a:solidFill>
                            <a:srgbClr val="000000"/>
                          </a:solidFill>
                          <a:latin typeface="Cambria Math" panose="02040503050406030204" pitchFamily="18" charset="0"/>
                        </a:rPr>
                        <m:t> </m:t>
                      </m:r>
                      <m:r>
                        <m:rPr>
                          <m:nor/>
                        </m:rPr>
                        <a:rPr lang="en-US" b="0" i="0" smtClean="0">
                          <a:solidFill>
                            <a:srgbClr val="000000"/>
                          </a:solidFill>
                          <a:latin typeface="Cambria Math" panose="02040503050406030204" pitchFamily="18" charset="0"/>
                        </a:rPr>
                        <m:t>efektif</m:t>
                      </m:r>
                      <m:r>
                        <m:rPr>
                          <m:nor/>
                        </m:rPr>
                        <a:rPr lang="en-US" b="0" i="0" smtClean="0">
                          <a:solidFill>
                            <a:srgbClr val="000000"/>
                          </a:solidFill>
                          <a:latin typeface="Cambria Math" panose="02040503050406030204" pitchFamily="18" charset="0"/>
                        </a:rPr>
                        <m:t> </m:t>
                      </m:r>
                      <m:r>
                        <m:rPr>
                          <m:nor/>
                        </m:rPr>
                        <a:rPr lang="en-US" b="0" i="0" smtClean="0">
                          <a:solidFill>
                            <a:srgbClr val="000000"/>
                          </a:solidFill>
                          <a:latin typeface="Cambria Math" panose="02040503050406030204" pitchFamily="18" charset="0"/>
                        </a:rPr>
                        <m:t>jangka</m:t>
                      </m:r>
                      <m:r>
                        <m:rPr>
                          <m:nor/>
                        </m:rPr>
                        <a:rPr lang="en-US" b="0" i="0" smtClean="0">
                          <a:solidFill>
                            <a:srgbClr val="000000"/>
                          </a:solidFill>
                          <a:latin typeface="Cambria Math" panose="02040503050406030204" pitchFamily="18" charset="0"/>
                        </a:rPr>
                        <m:t> </m:t>
                      </m:r>
                      <m:r>
                        <m:rPr>
                          <m:nor/>
                        </m:rPr>
                        <a:rPr lang="en-US" b="0" i="0" smtClean="0">
                          <a:solidFill>
                            <a:srgbClr val="000000"/>
                          </a:solidFill>
                          <a:latin typeface="Cambria Math" panose="02040503050406030204" pitchFamily="18" charset="0"/>
                        </a:rPr>
                        <m:t>panjang</m:t>
                      </m:r>
                      <m:r>
                        <m:rPr>
                          <m:nor/>
                        </m:rPr>
                        <a:rPr lang="en-US" b="0" i="0" smtClean="0">
                          <a:solidFill>
                            <a:srgbClr val="000000"/>
                          </a:solidFill>
                          <a:latin typeface="Cambria Math" panose="02040503050406030204" pitchFamily="18" charset="0"/>
                        </a:rPr>
                        <m:t> </m:t>
                      </m:r>
                      <m:r>
                        <m:rPr>
                          <m:nor/>
                        </m:rPr>
                        <a:rPr lang="en-US" b="0" i="0" smtClean="0">
                          <a:solidFill>
                            <a:srgbClr val="000000"/>
                          </a:solidFill>
                          <a:latin typeface="Cambria Math" panose="02040503050406030204" pitchFamily="18" charset="0"/>
                        </a:rPr>
                        <m:t>dari</m:t>
                      </m:r>
                      <m:r>
                        <m:rPr>
                          <m:nor/>
                        </m:rPr>
                        <a:rPr lang="en-ID" i="0">
                          <a:solidFill>
                            <a:srgbClr val="000000"/>
                          </a:solidFill>
                          <a:latin typeface="Cambria Math" panose="02040503050406030204" pitchFamily="18" charset="0"/>
                        </a:rPr>
                        <m:t> </m:t>
                      </m:r>
                      <m:r>
                        <m:rPr>
                          <m:nor/>
                        </m:rPr>
                        <a:rPr lang="en-ID" i="0">
                          <a:solidFill>
                            <a:srgbClr val="000000"/>
                          </a:solidFill>
                          <a:latin typeface="Cambria Math" panose="02040503050406030204" pitchFamily="18" charset="0"/>
                        </a:rPr>
                        <m:t>customers</m:t>
                      </m:r>
                      <m:r>
                        <m:rPr>
                          <m:nor/>
                        </m:rPr>
                        <a:rPr lang="en-ID" i="0">
                          <a:solidFill>
                            <a:srgbClr val="000000"/>
                          </a:solidFill>
                          <a:latin typeface="Cambria Math" panose="02040503050406030204" pitchFamily="18" charset="0"/>
                        </a:rPr>
                        <m:t> </m:t>
                      </m:r>
                      <m:r>
                        <m:rPr>
                          <m:nor/>
                        </m:rPr>
                        <a:rPr lang="en-US" b="0" i="0" smtClean="0">
                          <a:solidFill>
                            <a:srgbClr val="000000"/>
                          </a:solidFill>
                          <a:latin typeface="Cambria Math" panose="02040503050406030204" pitchFamily="18" charset="0"/>
                        </a:rPr>
                        <m:t>ke</m:t>
                      </m:r>
                      <m:r>
                        <m:rPr>
                          <m:nor/>
                        </m:rPr>
                        <a:rPr lang="en-US" b="0" i="0" smtClean="0">
                          <a:solidFill>
                            <a:srgbClr val="000000"/>
                          </a:solidFill>
                          <a:latin typeface="Cambria Math" panose="02040503050406030204" pitchFamily="18" charset="0"/>
                        </a:rPr>
                        <m:t> </m:t>
                      </m:r>
                      <m:r>
                        <m:rPr>
                          <m:nor/>
                        </m:rPr>
                        <a:rPr lang="en-US" b="0" i="0" smtClean="0">
                          <a:solidFill>
                            <a:srgbClr val="000000"/>
                          </a:solidFill>
                          <a:latin typeface="Cambria Math" panose="02040503050406030204" pitchFamily="18" charset="0"/>
                        </a:rPr>
                        <m:t>antrean</m:t>
                      </m:r>
                      <m:r>
                        <m:rPr>
                          <m:nor/>
                        </m:rPr>
                        <a:rPr lang="en-US" b="0" i="0" smtClean="0">
                          <a:solidFill>
                            <a:srgbClr val="000000"/>
                          </a:solidFill>
                          <a:latin typeface="Cambria Math" panose="02040503050406030204" pitchFamily="18" charset="0"/>
                        </a:rPr>
                        <m:t> </m:t>
                      </m:r>
                      <m:r>
                        <a:rPr lang="en-ID" i="1">
                          <a:solidFill>
                            <a:srgbClr val="000000"/>
                          </a:solidFill>
                          <a:latin typeface="Cambria Math" panose="02040503050406030204" pitchFamily="18" charset="0"/>
                        </a:rPr>
                        <m:t>(</m:t>
                      </m:r>
                      <m:r>
                        <m:rPr>
                          <m:nor/>
                        </m:rPr>
                        <a:rPr lang="en-US" b="0" i="0" smtClean="0">
                          <a:solidFill>
                            <a:srgbClr val="000000"/>
                          </a:solidFill>
                          <a:latin typeface="Cambria Math" panose="02040503050406030204" pitchFamily="18" charset="0"/>
                        </a:rPr>
                        <m:t>atau</m:t>
                      </m:r>
                      <m:r>
                        <m:rPr>
                          <m:nor/>
                        </m:rPr>
                        <a:rPr lang="en-US" b="0" i="0" smtClean="0">
                          <a:solidFill>
                            <a:srgbClr val="000000"/>
                          </a:solidFill>
                          <a:latin typeface="Cambria Math" panose="02040503050406030204" pitchFamily="18" charset="0"/>
                        </a:rPr>
                        <m:t> </m:t>
                      </m:r>
                      <m:r>
                        <m:rPr>
                          <m:nor/>
                        </m:rPr>
                        <a:rPr lang="en-US" b="0" i="0" smtClean="0">
                          <a:solidFill>
                            <a:srgbClr val="000000"/>
                          </a:solidFill>
                          <a:latin typeface="Cambria Math" panose="02040503050406030204" pitchFamily="18" charset="0"/>
                        </a:rPr>
                        <m:t>masuk</m:t>
                      </m:r>
                      <m:r>
                        <m:rPr>
                          <m:nor/>
                        </m:rPr>
                        <a:rPr lang="en-ID" i="0">
                          <a:solidFill>
                            <a:srgbClr val="000000"/>
                          </a:solidFill>
                          <a:latin typeface="Cambria Math" panose="02040503050406030204" pitchFamily="18" charset="0"/>
                        </a:rPr>
                        <m:t>/</m:t>
                      </m:r>
                      <m:r>
                        <m:rPr>
                          <m:nor/>
                        </m:rPr>
                        <a:rPr lang="en-US" b="0" i="0" smtClean="0">
                          <a:solidFill>
                            <a:srgbClr val="000000"/>
                          </a:solidFill>
                          <a:latin typeface="Cambria Math" panose="02040503050406030204" pitchFamily="18" charset="0"/>
                        </a:rPr>
                        <m:t>keluar</m:t>
                      </m:r>
                      <m:r>
                        <m:rPr>
                          <m:nor/>
                        </m:rPr>
                        <a:rPr lang="en-US" b="0" i="0" smtClean="0">
                          <a:solidFill>
                            <a:srgbClr val="000000"/>
                          </a:solidFill>
                          <a:latin typeface="Cambria Math" panose="02040503050406030204" pitchFamily="18" charset="0"/>
                        </a:rPr>
                        <m:t> </m:t>
                      </m:r>
                      <m:r>
                        <m:rPr>
                          <m:nor/>
                        </m:rPr>
                        <a:rPr lang="en-US" b="0" i="0" smtClean="0">
                          <a:solidFill>
                            <a:srgbClr val="000000"/>
                          </a:solidFill>
                          <a:latin typeface="Cambria Math" panose="02040503050406030204" pitchFamily="18" charset="0"/>
                        </a:rPr>
                        <m:t>layanan</m:t>
                      </m:r>
                      <m:r>
                        <a:rPr lang="en-ID" i="1">
                          <a:solidFill>
                            <a:srgbClr val="000000"/>
                          </a:solidFill>
                          <a:latin typeface="Cambria Math" panose="02040503050406030204" pitchFamily="18" charset="0"/>
                        </a:rPr>
                        <m:t>)</m:t>
                      </m:r>
                    </m:oMath>
                    <m:oMath xmlns:m="http://schemas.openxmlformats.org/officeDocument/2006/math">
                      <m:r>
                        <m:rPr>
                          <m:nor/>
                        </m:rPr>
                        <a:rPr lang="en-ID" i="0">
                          <a:solidFill>
                            <a:srgbClr val="000000"/>
                          </a:solidFill>
                          <a:latin typeface="Cambria Math" panose="02040503050406030204" pitchFamily="18" charset="0"/>
                        </a:rPr>
                        <m:t>          </m:t>
                      </m:r>
                      <m:sSub>
                        <m:sSubPr>
                          <m:ctrlPr>
                            <a:rPr lang="en-ID" i="1">
                              <a:solidFill>
                                <a:srgbClr val="000000"/>
                              </a:solidFill>
                              <a:latin typeface="Cambria Math" panose="02040503050406030204" pitchFamily="18" charset="0"/>
                            </a:rPr>
                          </m:ctrlPr>
                        </m:sSubPr>
                        <m:e>
                          <m:r>
                            <a:rPr lang="en-ID" i="1">
                              <a:solidFill>
                                <a:srgbClr val="000000"/>
                              </a:solidFill>
                              <a:latin typeface="Cambria Math" panose="02040503050406030204" pitchFamily="18" charset="0"/>
                            </a:rPr>
                            <m:t>𝜆</m:t>
                          </m:r>
                        </m:e>
                        <m:sub>
                          <m:r>
                            <a:rPr lang="en-ID" i="1">
                              <a:solidFill>
                                <a:srgbClr val="000000"/>
                              </a:solidFill>
                              <a:latin typeface="Cambria Math" panose="02040503050406030204" pitchFamily="18" charset="0"/>
                            </a:rPr>
                            <m:t>𝑒</m:t>
                          </m:r>
                        </m:sub>
                      </m:sSub>
                      <m:r>
                        <a:rPr lang="en-ID" i="1">
                          <a:solidFill>
                            <a:srgbClr val="000000"/>
                          </a:solidFill>
                          <a:latin typeface="Cambria Math" panose="02040503050406030204" pitchFamily="18" charset="0"/>
                        </a:rPr>
                        <m:t>=</m:t>
                      </m:r>
                      <m:nary>
                        <m:naryPr>
                          <m:chr m:val="∑"/>
                          <m:ctrlPr>
                            <a:rPr lang="en-ID" i="1">
                              <a:solidFill>
                                <a:srgbClr val="000000"/>
                              </a:solidFill>
                              <a:latin typeface="Cambria Math" panose="02040503050406030204" pitchFamily="18" charset="0"/>
                            </a:rPr>
                          </m:ctrlPr>
                        </m:naryPr>
                        <m:sub>
                          <m:r>
                            <a:rPr lang="en-ID" i="1">
                              <a:solidFill>
                                <a:srgbClr val="000000"/>
                              </a:solidFill>
                              <a:latin typeface="Cambria Math" panose="02040503050406030204" pitchFamily="18" charset="0"/>
                            </a:rPr>
                            <m:t>𝑛</m:t>
                          </m:r>
                          <m:r>
                            <a:rPr lang="en-ID" i="1">
                              <a:solidFill>
                                <a:srgbClr val="000000"/>
                              </a:solidFill>
                              <a:latin typeface="Cambria Math" panose="02040503050406030204" pitchFamily="18" charset="0"/>
                            </a:rPr>
                            <m:t>=0</m:t>
                          </m:r>
                        </m:sub>
                        <m:sup>
                          <m:r>
                            <a:rPr lang="en-ID" i="1">
                              <a:solidFill>
                                <a:srgbClr val="000000"/>
                              </a:solidFill>
                              <a:latin typeface="Cambria Math" panose="02040503050406030204" pitchFamily="18" charset="0"/>
                            </a:rPr>
                            <m:t>𝐾</m:t>
                          </m:r>
                        </m:sup>
                        <m:e>
                          <m:r>
                            <a:rPr lang="en-ID" i="1">
                              <a:solidFill>
                                <a:srgbClr val="000000"/>
                              </a:solidFill>
                              <a:latin typeface="Cambria Math" panose="02040503050406030204" pitchFamily="18" charset="0"/>
                            </a:rPr>
                            <m:t>(</m:t>
                          </m:r>
                          <m:r>
                            <a:rPr lang="en-ID" i="1">
                              <a:solidFill>
                                <a:srgbClr val="000000"/>
                              </a:solidFill>
                              <a:latin typeface="Cambria Math" panose="02040503050406030204" pitchFamily="18" charset="0"/>
                            </a:rPr>
                            <m:t>𝐾</m:t>
                          </m:r>
                          <m:r>
                            <a:rPr lang="en-ID" i="1">
                              <a:solidFill>
                                <a:srgbClr val="000000"/>
                              </a:solidFill>
                              <a:latin typeface="Cambria Math" panose="02040503050406030204" pitchFamily="18" charset="0"/>
                            </a:rPr>
                            <m:t>−</m:t>
                          </m:r>
                          <m:r>
                            <a:rPr lang="en-ID" i="1">
                              <a:solidFill>
                                <a:srgbClr val="000000"/>
                              </a:solidFill>
                              <a:latin typeface="Cambria Math" panose="02040503050406030204" pitchFamily="18" charset="0"/>
                            </a:rPr>
                            <m:t>𝑛</m:t>
                          </m:r>
                          <m:r>
                            <a:rPr lang="en-ID" i="1">
                              <a:solidFill>
                                <a:srgbClr val="000000"/>
                              </a:solidFill>
                              <a:latin typeface="Cambria Math" panose="02040503050406030204" pitchFamily="18" charset="0"/>
                            </a:rPr>
                            <m:t>)</m:t>
                          </m:r>
                          <m:r>
                            <a:rPr lang="en-ID" i="1">
                              <a:solidFill>
                                <a:srgbClr val="000000"/>
                              </a:solidFill>
                              <a:latin typeface="Cambria Math" panose="02040503050406030204" pitchFamily="18" charset="0"/>
                            </a:rPr>
                            <m:t>𝜆</m:t>
                          </m:r>
                          <m:sSub>
                            <m:sSubPr>
                              <m:ctrlPr>
                                <a:rPr lang="en-ID" i="1">
                                  <a:solidFill>
                                    <a:srgbClr val="000000"/>
                                  </a:solidFill>
                                  <a:latin typeface="Cambria Math" panose="02040503050406030204" pitchFamily="18" charset="0"/>
                                </a:rPr>
                              </m:ctrlPr>
                            </m:sSubPr>
                            <m:e>
                              <m:r>
                                <a:rPr lang="en-ID" i="1">
                                  <a:solidFill>
                                    <a:srgbClr val="000000"/>
                                  </a:solidFill>
                                  <a:latin typeface="Cambria Math" panose="02040503050406030204" pitchFamily="18" charset="0"/>
                                </a:rPr>
                                <m:t>𝑃</m:t>
                              </m:r>
                            </m:e>
                            <m:sub>
                              <m:r>
                                <a:rPr lang="en-ID" i="1">
                                  <a:solidFill>
                                    <a:srgbClr val="000000"/>
                                  </a:solidFill>
                                  <a:latin typeface="Cambria Math" panose="02040503050406030204" pitchFamily="18" charset="0"/>
                                </a:rPr>
                                <m:t>𝑛</m:t>
                              </m:r>
                            </m:sub>
                          </m:sSub>
                        </m:e>
                      </m:nary>
                    </m:oMath>
                  </m:oMathPara>
                </a14:m>
                <a:endParaRPr lang="en-ID" dirty="0"/>
              </a:p>
            </p:txBody>
          </p:sp>
        </mc:Choice>
        <mc:Fallback xmlns="">
          <p:sp>
            <p:nvSpPr>
              <p:cNvPr id="44038" name="Object 12">
                <a:extLst>
                  <a:ext uri="{FF2B5EF4-FFF2-40B4-BE49-F238E27FC236}">
                    <a16:creationId xmlns:a16="http://schemas.microsoft.com/office/drawing/2014/main" id="{C9336140-0B09-9F16-77BD-D3B22438814F}"/>
                  </a:ext>
                </a:extLst>
              </p:cNvPr>
              <p:cNvSpPr txBox="1">
                <a:spLocks noRot="1" noChangeAspect="1" noMove="1" noResize="1" noEditPoints="1" noAdjustHandles="1" noChangeArrowheads="1" noChangeShapeType="1" noTextEdit="1"/>
              </p:cNvSpPr>
              <p:nvPr/>
            </p:nvSpPr>
            <p:spPr bwMode="auto">
              <a:xfrm>
                <a:off x="751681" y="4641057"/>
                <a:ext cx="7716838" cy="995362"/>
              </a:xfrm>
              <a:prstGeom prst="rect">
                <a:avLst/>
              </a:prstGeom>
              <a:blipFill>
                <a:blip r:embed="rId3"/>
                <a:stretch>
                  <a:fillRect/>
                </a:stretch>
              </a:blipFill>
              <a:ln>
                <a:noFill/>
              </a:ln>
              <a:effectLst/>
            </p:spPr>
            <p:txBody>
              <a:bodyPr/>
              <a:lstStyle/>
              <a:p>
                <a:r>
                  <a:rPr lang="en-US">
                    <a:noFill/>
                  </a:rPr>
                  <a:t> </a:t>
                </a:r>
              </a:p>
            </p:txBody>
          </p:sp>
        </mc:Fallback>
      </mc:AlternateContent>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Number Placeholder 6">
            <a:extLst>
              <a:ext uri="{FF2B5EF4-FFF2-40B4-BE49-F238E27FC236}">
                <a16:creationId xmlns:a16="http://schemas.microsoft.com/office/drawing/2014/main" id="{B35F025D-B5D8-9094-1832-B9FFF5AFBC7F}"/>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5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4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9pPr>
          </a:lstStyle>
          <a:p>
            <a:pPr>
              <a:spcBef>
                <a:spcPct val="0"/>
              </a:spcBef>
              <a:buClrTx/>
              <a:buSzTx/>
              <a:buFontTx/>
              <a:buNone/>
            </a:pPr>
            <a:fld id="{38EA83F0-E35F-4BD3-BF00-5006C7F5D027}" type="slidenum">
              <a:rPr lang="en-US" altLang="id-ID" sz="1200">
                <a:latin typeface="Arial Black" panose="020B0A04020102020204" pitchFamily="34" charset="0"/>
              </a:rPr>
              <a:pPr>
                <a:spcBef>
                  <a:spcPct val="0"/>
                </a:spcBef>
                <a:buClrTx/>
                <a:buSzTx/>
                <a:buFontTx/>
                <a:buNone/>
              </a:pPr>
              <a:t>39</a:t>
            </a:fld>
            <a:endParaRPr lang="en-US" altLang="id-ID" sz="1200">
              <a:latin typeface="Arial Black" panose="020B0A04020102020204" pitchFamily="34" charset="0"/>
            </a:endParaRPr>
          </a:p>
        </p:txBody>
      </p:sp>
      <p:sp>
        <p:nvSpPr>
          <p:cNvPr id="45059" name="Rectangle 2">
            <a:extLst>
              <a:ext uri="{FF2B5EF4-FFF2-40B4-BE49-F238E27FC236}">
                <a16:creationId xmlns:a16="http://schemas.microsoft.com/office/drawing/2014/main" id="{6C6E16DD-9F36-1005-0E44-7BE25B1B69DC}"/>
              </a:ext>
            </a:extLst>
          </p:cNvPr>
          <p:cNvSpPr>
            <a:spLocks noGrp="1" noChangeArrowheads="1"/>
          </p:cNvSpPr>
          <p:nvPr>
            <p:ph type="title"/>
          </p:nvPr>
        </p:nvSpPr>
        <p:spPr>
          <a:xfrm>
            <a:off x="457200" y="381000"/>
            <a:ext cx="8229600" cy="762000"/>
          </a:xfrm>
        </p:spPr>
        <p:txBody>
          <a:bodyPr/>
          <a:lstStyle/>
          <a:p>
            <a:pPr eaLnBrk="1" hangingPunct="1"/>
            <a:r>
              <a:rPr lang="en-US" altLang="id-ID" sz="3200" dirty="0" err="1"/>
              <a:t>Perilaku</a:t>
            </a:r>
            <a:r>
              <a:rPr lang="en-US" altLang="id-ID" sz="3200" dirty="0"/>
              <a:t> </a:t>
            </a:r>
            <a:r>
              <a:rPr lang="en-US" altLang="id-ID" sz="3200" dirty="0" err="1"/>
              <a:t>Keadaan-tunak</a:t>
            </a:r>
            <a:r>
              <a:rPr lang="en-US" altLang="id-ID" sz="3200" dirty="0"/>
              <a:t> Model </a:t>
            </a:r>
            <a:r>
              <a:rPr lang="en-US" altLang="id-ID" sz="3200" dirty="0" err="1"/>
              <a:t>Populasi</a:t>
            </a:r>
            <a:r>
              <a:rPr lang="en-US" altLang="id-ID" sz="3200" dirty="0"/>
              <a:t> </a:t>
            </a:r>
            <a:r>
              <a:rPr lang="en-US" altLang="id-ID" sz="3200" dirty="0" err="1"/>
              <a:t>berhingga</a:t>
            </a:r>
            <a:endParaRPr lang="en-US" altLang="id-ID" dirty="0"/>
          </a:p>
        </p:txBody>
      </p:sp>
      <p:sp>
        <p:nvSpPr>
          <p:cNvPr id="45060" name="Rectangle 3">
            <a:extLst>
              <a:ext uri="{FF2B5EF4-FFF2-40B4-BE49-F238E27FC236}">
                <a16:creationId xmlns:a16="http://schemas.microsoft.com/office/drawing/2014/main" id="{A12AE062-D2EA-626C-6181-0AF22B536D8B}"/>
              </a:ext>
            </a:extLst>
          </p:cNvPr>
          <p:cNvSpPr>
            <a:spLocks noGrp="1" noChangeArrowheads="1"/>
          </p:cNvSpPr>
          <p:nvPr>
            <p:ph type="body" sz="half" idx="1"/>
          </p:nvPr>
        </p:nvSpPr>
        <p:spPr>
          <a:xfrm>
            <a:off x="457200" y="1447800"/>
            <a:ext cx="8305800" cy="5181600"/>
          </a:xfrm>
        </p:spPr>
        <p:txBody>
          <a:bodyPr/>
          <a:lstStyle/>
          <a:p>
            <a:pPr eaLnBrk="1" hangingPunct="1"/>
            <a:r>
              <a:rPr lang="en-US" altLang="id-ID" sz="2200" dirty="0" err="1"/>
              <a:t>Contoh</a:t>
            </a:r>
            <a:r>
              <a:rPr lang="en-US" altLang="id-ID" sz="2200" dirty="0"/>
              <a:t>: dua orang </a:t>
            </a:r>
            <a:r>
              <a:rPr lang="en-US" altLang="id-ID" sz="2200" dirty="0" err="1"/>
              <a:t>pekerja</a:t>
            </a:r>
            <a:r>
              <a:rPr lang="en-US" altLang="id-ID" sz="2200" dirty="0"/>
              <a:t> yang </a:t>
            </a:r>
            <a:r>
              <a:rPr lang="en-US" altLang="id-ID" sz="2200" dirty="0" err="1"/>
              <a:t>bertanggung</a:t>
            </a:r>
            <a:r>
              <a:rPr lang="en-US" altLang="id-ID" sz="2200" dirty="0"/>
              <a:t> </a:t>
            </a:r>
            <a:r>
              <a:rPr lang="en-US" altLang="id-ID" sz="2200" dirty="0" err="1"/>
              <a:t>jawab</a:t>
            </a:r>
            <a:r>
              <a:rPr lang="en-US" altLang="id-ID" sz="2200" dirty="0"/>
              <a:t> </a:t>
            </a:r>
            <a:r>
              <a:rPr lang="en-US" altLang="id-ID" sz="2200" dirty="0" err="1"/>
              <a:t>atas</a:t>
            </a:r>
            <a:r>
              <a:rPr lang="en-US" altLang="id-ID" sz="2200" dirty="0"/>
              <a:t> 10 </a:t>
            </a:r>
            <a:r>
              <a:rPr lang="en-US" altLang="id-ID" sz="2200" dirty="0" err="1"/>
              <a:t>mesin</a:t>
            </a:r>
            <a:r>
              <a:rPr lang="en-US" altLang="id-ID" sz="2200" dirty="0"/>
              <a:t> milling. </a:t>
            </a:r>
          </a:p>
          <a:p>
            <a:pPr lvl="1" eaLnBrk="1" hangingPunct="1"/>
            <a:r>
              <a:rPr lang="en-US" altLang="id-ID" sz="2000" dirty="0" err="1"/>
              <a:t>Mesin</a:t>
            </a:r>
            <a:r>
              <a:rPr lang="en-US" altLang="id-ID" sz="2000" dirty="0"/>
              <a:t> </a:t>
            </a:r>
            <a:r>
              <a:rPr lang="en-US" altLang="id-ID" sz="2000" dirty="0" err="1"/>
              <a:t>berjalan</a:t>
            </a:r>
            <a:r>
              <a:rPr lang="en-US" altLang="id-ID" sz="2000" dirty="0"/>
              <a:t> rata-rata </a:t>
            </a:r>
            <a:r>
              <a:rPr lang="en-US" altLang="id-ID" sz="2000" dirty="0" err="1"/>
              <a:t>selama</a:t>
            </a:r>
            <a:r>
              <a:rPr lang="en-US" altLang="id-ID" sz="2000" dirty="0"/>
              <a:t> 20 </a:t>
            </a:r>
            <a:r>
              <a:rPr lang="en-US" altLang="id-ID" sz="2000" dirty="0" err="1"/>
              <a:t>menit</a:t>
            </a:r>
            <a:r>
              <a:rPr lang="en-US" altLang="id-ID" sz="2000" dirty="0"/>
              <a:t>, </a:t>
            </a:r>
            <a:r>
              <a:rPr lang="en-US" altLang="id-ID" sz="2000" dirty="0" err="1"/>
              <a:t>kemudian</a:t>
            </a:r>
            <a:r>
              <a:rPr lang="en-US" altLang="id-ID" sz="2000" dirty="0"/>
              <a:t> </a:t>
            </a:r>
            <a:r>
              <a:rPr lang="en-US" altLang="id-ID" sz="2000" dirty="0" err="1"/>
              <a:t>memerlukan</a:t>
            </a:r>
            <a:r>
              <a:rPr lang="en-US" altLang="id-ID" sz="2000" dirty="0"/>
              <a:t> masa </a:t>
            </a:r>
            <a:r>
              <a:rPr lang="en-US" altLang="id-ID" sz="2000" dirty="0" err="1"/>
              <a:t>servis</a:t>
            </a:r>
            <a:r>
              <a:rPr lang="en-US" altLang="id-ID" sz="2000" dirty="0"/>
              <a:t> rata-rata 5 </a:t>
            </a:r>
            <a:r>
              <a:rPr lang="en-US" altLang="id-ID" sz="2000" dirty="0" err="1"/>
              <a:t>menit</a:t>
            </a:r>
            <a:r>
              <a:rPr lang="en-US" altLang="id-ID" sz="2000" dirty="0"/>
              <a:t>, </a:t>
            </a:r>
            <a:r>
              <a:rPr lang="en-US" altLang="id-ID" sz="2000" dirty="0" err="1"/>
              <a:t>kedua</a:t>
            </a:r>
            <a:r>
              <a:rPr lang="en-US" altLang="id-ID" sz="2000" dirty="0"/>
              <a:t> kali </a:t>
            </a:r>
            <a:r>
              <a:rPr lang="en-US" altLang="id-ID" sz="2000" dirty="0" err="1"/>
              <a:t>didistribusikan</a:t>
            </a:r>
            <a:r>
              <a:rPr lang="en-US" altLang="id-ID" sz="2000" dirty="0"/>
              <a:t> </a:t>
            </a:r>
            <a:r>
              <a:rPr lang="en-US" altLang="id-ID" sz="2000" dirty="0" err="1"/>
              <a:t>secara</a:t>
            </a:r>
            <a:r>
              <a:rPr lang="en-US" altLang="id-ID" sz="2000" dirty="0"/>
              <a:t> </a:t>
            </a:r>
            <a:r>
              <a:rPr lang="en-US" altLang="id-ID" sz="2000" dirty="0" err="1"/>
              <a:t>eksponensial</a:t>
            </a:r>
            <a:r>
              <a:rPr lang="en-US" altLang="id-ID" sz="2000" dirty="0"/>
              <a:t> : </a:t>
            </a:r>
            <a:r>
              <a:rPr lang="en-US" altLang="id-ID" sz="2000" i="1" dirty="0">
                <a:latin typeface="Symbol" panose="05050102010706020507" pitchFamily="18" charset="2"/>
              </a:rPr>
              <a:t>l</a:t>
            </a:r>
            <a:r>
              <a:rPr lang="en-US" altLang="id-ID" sz="2000" i="1" dirty="0"/>
              <a:t> = 1/20 dan </a:t>
            </a:r>
            <a:r>
              <a:rPr lang="en-US" altLang="id-ID" sz="2000" i="1" dirty="0">
                <a:latin typeface="Symbol" panose="05050102010706020507" pitchFamily="18" charset="2"/>
              </a:rPr>
              <a:t>m</a:t>
            </a:r>
            <a:r>
              <a:rPr lang="en-US" altLang="id-ID" sz="2000" i="1" dirty="0"/>
              <a:t> = 1/5</a:t>
            </a:r>
            <a:r>
              <a:rPr lang="en-US" altLang="id-ID" sz="2000" dirty="0"/>
              <a:t>.</a:t>
            </a:r>
          </a:p>
          <a:p>
            <a:pPr lvl="1" eaLnBrk="1" hangingPunct="1"/>
            <a:r>
              <a:rPr lang="sv-SE" altLang="id-ID" sz="2000" dirty="0"/>
              <a:t>Semua ukuran kinerja bergantung pada </a:t>
            </a:r>
            <a:r>
              <a:rPr lang="en-US" altLang="id-ID" sz="2000" i="1" dirty="0"/>
              <a:t>P</a:t>
            </a:r>
            <a:r>
              <a:rPr lang="en-US" altLang="id-ID" sz="2000" i="1" baseline="-25000" dirty="0"/>
              <a:t>0</a:t>
            </a:r>
            <a:r>
              <a:rPr lang="en-US" altLang="id-ID" sz="2000" dirty="0"/>
              <a:t>:</a:t>
            </a:r>
          </a:p>
          <a:p>
            <a:pPr lvl="1" eaLnBrk="1" hangingPunct="1"/>
            <a:endParaRPr lang="en-US" altLang="id-ID" sz="2000" dirty="0"/>
          </a:p>
          <a:p>
            <a:pPr lvl="1" eaLnBrk="1" hangingPunct="1"/>
            <a:endParaRPr lang="en-US" altLang="id-ID" sz="2000" dirty="0"/>
          </a:p>
          <a:p>
            <a:pPr lvl="2" eaLnBrk="1" hangingPunct="1"/>
            <a:r>
              <a:rPr lang="fi-FI" altLang="id-ID" sz="1800" dirty="0"/>
              <a:t>Kemudian, kita dapat memperoleh </a:t>
            </a:r>
            <a:r>
              <a:rPr lang="en-US" altLang="id-ID" sz="1800" i="1" dirty="0" err="1"/>
              <a:t>P</a:t>
            </a:r>
            <a:r>
              <a:rPr lang="en-US" altLang="id-ID" sz="1800" i="1" baseline="-25000" dirty="0" err="1"/>
              <a:t>n</a:t>
            </a:r>
            <a:r>
              <a:rPr lang="en-US" altLang="id-ID" sz="1800" i="1" baseline="-25000" dirty="0"/>
              <a:t> </a:t>
            </a:r>
            <a:r>
              <a:rPr lang="fi-FI" altLang="id-ID" sz="1800" dirty="0"/>
              <a:t>lainnya</a:t>
            </a:r>
            <a:r>
              <a:rPr lang="en-US" altLang="id-ID" sz="1800" dirty="0"/>
              <a:t>.</a:t>
            </a:r>
          </a:p>
          <a:p>
            <a:pPr lvl="2" eaLnBrk="1" hangingPunct="1"/>
            <a:r>
              <a:rPr lang="en-US" altLang="id-ID" sz="1800" dirty="0" err="1"/>
              <a:t>Jumlah</a:t>
            </a:r>
            <a:r>
              <a:rPr lang="en-US" altLang="id-ID" sz="1800" dirty="0"/>
              <a:t> </a:t>
            </a:r>
            <a:r>
              <a:rPr lang="en-US" altLang="id-ID" sz="1800" dirty="0" err="1"/>
              <a:t>mesin</a:t>
            </a:r>
            <a:r>
              <a:rPr lang="en-US" altLang="id-ID" sz="1800" dirty="0"/>
              <a:t> yang </a:t>
            </a:r>
            <a:r>
              <a:rPr lang="en-US" altLang="id-ID" sz="1800" dirty="0" err="1"/>
              <a:t>diharapkan</a:t>
            </a:r>
            <a:r>
              <a:rPr lang="en-US" altLang="id-ID" sz="1800" dirty="0"/>
              <a:t> </a:t>
            </a:r>
            <a:r>
              <a:rPr lang="en-US" altLang="id-ID" sz="1800" dirty="0" err="1"/>
              <a:t>dalam</a:t>
            </a:r>
            <a:r>
              <a:rPr lang="en-US" altLang="id-ID" sz="1800" dirty="0"/>
              <a:t> </a:t>
            </a:r>
            <a:r>
              <a:rPr lang="en-US" altLang="id-ID" sz="1800" dirty="0" err="1"/>
              <a:t>sistem</a:t>
            </a:r>
            <a:r>
              <a:rPr lang="en-US" altLang="id-ID" sz="1800" dirty="0"/>
              <a:t> :</a:t>
            </a:r>
          </a:p>
          <a:p>
            <a:pPr lvl="2" eaLnBrk="1" hangingPunct="1"/>
            <a:endParaRPr lang="en-US" altLang="id-ID" sz="1800" dirty="0"/>
          </a:p>
          <a:p>
            <a:pPr lvl="2" eaLnBrk="1" hangingPunct="1"/>
            <a:endParaRPr lang="en-US" altLang="id-ID" sz="1800" dirty="0"/>
          </a:p>
          <a:p>
            <a:pPr lvl="2" eaLnBrk="1" hangingPunct="1"/>
            <a:r>
              <a:rPr lang="fi-FI" altLang="id-ID" sz="1800" dirty="0"/>
              <a:t>Jumlah rata-rata mesin yang berjalan/berfungsi </a:t>
            </a:r>
            <a:r>
              <a:rPr lang="en-US" altLang="id-ID" sz="1800" dirty="0"/>
              <a:t>:</a:t>
            </a:r>
          </a:p>
          <a:p>
            <a:pPr lvl="2" eaLnBrk="1" hangingPunct="1"/>
            <a:endParaRPr lang="en-US" altLang="id-ID" sz="1800" dirty="0"/>
          </a:p>
        </p:txBody>
      </p:sp>
      <mc:AlternateContent xmlns:mc="http://schemas.openxmlformats.org/markup-compatibility/2006" xmlns:a14="http://schemas.microsoft.com/office/drawing/2010/main">
        <mc:Choice Requires="a14">
          <p:sp>
            <p:nvSpPr>
              <p:cNvPr id="45061" name="Object 8">
                <a:extLst>
                  <a:ext uri="{FF2B5EF4-FFF2-40B4-BE49-F238E27FC236}">
                    <a16:creationId xmlns:a16="http://schemas.microsoft.com/office/drawing/2014/main" id="{5B15F0CF-284C-FEF0-3B4E-B846CC9845E5}"/>
                  </a:ext>
                </a:extLst>
              </p:cNvPr>
              <p:cNvSpPr txBox="1">
                <a:spLocks noGrp="1"/>
              </p:cNvSpPr>
              <p:nvPr>
                <p:ph sz="quarter" idx="2"/>
              </p:nvPr>
            </p:nvSpPr>
            <p:spPr bwMode="auto">
              <a:xfrm>
                <a:off x="2133600" y="3433763"/>
                <a:ext cx="5105400" cy="833437"/>
              </a:xfrm>
              <a:prstGeom prst="rect">
                <a:avLst/>
              </a:prstGeom>
              <a:noFill/>
              <a:ln>
                <a:noFill/>
              </a:ln>
              <a:effectLst/>
            </p:spPr>
            <p:txBody>
              <a:bodyPr>
                <a:normAutofit fontScale="47500" lnSpcReduction="20000"/>
              </a:bodyPr>
              <a:lstStyle/>
              <a:p>
                <a:pPr>
                  <a:buNone/>
                </a:pPr>
                <a14:m>
                  <m:oMathPara xmlns:m="http://schemas.openxmlformats.org/officeDocument/2006/math">
                    <m:oMathParaPr>
                      <m:jc m:val="left"/>
                    </m:oMathParaPr>
                    <m:oMath xmlns:m="http://schemas.openxmlformats.org/officeDocument/2006/math">
                      <m:sSub>
                        <m:sSubPr>
                          <m:ctrlPr>
                            <a:rPr lang="en-ID" i="1">
                              <a:solidFill>
                                <a:srgbClr val="000000"/>
                              </a:solidFill>
                              <a:latin typeface="Cambria Math" panose="02040503050406030204" pitchFamily="18" charset="0"/>
                            </a:rPr>
                          </m:ctrlPr>
                        </m:sSubPr>
                        <m:e>
                          <m:r>
                            <a:rPr lang="en-ID" i="1">
                              <a:solidFill>
                                <a:srgbClr val="000000"/>
                              </a:solidFill>
                              <a:latin typeface="Cambria Math" panose="02040503050406030204" pitchFamily="18" charset="0"/>
                            </a:rPr>
                            <m:t>𝑃</m:t>
                          </m:r>
                        </m:e>
                        <m:sub>
                          <m:r>
                            <a:rPr lang="en-ID" i="1">
                              <a:solidFill>
                                <a:srgbClr val="000000"/>
                              </a:solidFill>
                              <a:latin typeface="Cambria Math" panose="02040503050406030204" pitchFamily="18" charset="0"/>
                            </a:rPr>
                            <m:t>0</m:t>
                          </m:r>
                        </m:sub>
                      </m:sSub>
                      <m:r>
                        <a:rPr lang="en-ID" i="1">
                          <a:solidFill>
                            <a:srgbClr val="000000"/>
                          </a:solidFill>
                          <a:latin typeface="Cambria Math" panose="02040503050406030204" pitchFamily="18" charset="0"/>
                        </a:rPr>
                        <m:t>=</m:t>
                      </m:r>
                      <m:sSup>
                        <m:sSupPr>
                          <m:ctrlPr>
                            <a:rPr lang="en-ID" i="1">
                              <a:solidFill>
                                <a:srgbClr val="000000"/>
                              </a:solidFill>
                              <a:latin typeface="Cambria Math" panose="02040503050406030204" pitchFamily="18" charset="0"/>
                            </a:rPr>
                          </m:ctrlPr>
                        </m:sSupPr>
                        <m:e>
                          <m:d>
                            <m:dPr>
                              <m:begChr m:val="{"/>
                              <m:endChr m:val="}"/>
                              <m:ctrlPr>
                                <a:rPr lang="en-ID" i="1">
                                  <a:solidFill>
                                    <a:srgbClr val="000000"/>
                                  </a:solidFill>
                                  <a:latin typeface="Cambria Math" panose="02040503050406030204" pitchFamily="18" charset="0"/>
                                </a:rPr>
                              </m:ctrlPr>
                            </m:dPr>
                            <m:e>
                              <m:nary>
                                <m:naryPr>
                                  <m:chr m:val="∑"/>
                                  <m:ctrlPr>
                                    <a:rPr lang="en-ID" i="1">
                                      <a:solidFill>
                                        <a:srgbClr val="000000"/>
                                      </a:solidFill>
                                      <a:latin typeface="Cambria Math" panose="02040503050406030204" pitchFamily="18" charset="0"/>
                                    </a:rPr>
                                  </m:ctrlPr>
                                </m:naryPr>
                                <m:sub>
                                  <m:r>
                                    <a:rPr lang="en-ID" i="1">
                                      <a:solidFill>
                                        <a:srgbClr val="000000"/>
                                      </a:solidFill>
                                      <a:latin typeface="Cambria Math" panose="02040503050406030204" pitchFamily="18" charset="0"/>
                                    </a:rPr>
                                    <m:t>𝑛</m:t>
                                  </m:r>
                                  <m:r>
                                    <a:rPr lang="en-ID" i="1">
                                      <a:solidFill>
                                        <a:srgbClr val="000000"/>
                                      </a:solidFill>
                                      <a:latin typeface="Cambria Math" panose="02040503050406030204" pitchFamily="18" charset="0"/>
                                    </a:rPr>
                                    <m:t>=0</m:t>
                                  </m:r>
                                </m:sub>
                                <m:sup>
                                  <m:r>
                                    <a:rPr lang="en-ID" i="1">
                                      <a:solidFill>
                                        <a:srgbClr val="000000"/>
                                      </a:solidFill>
                                      <a:latin typeface="Cambria Math" panose="02040503050406030204" pitchFamily="18" charset="0"/>
                                    </a:rPr>
                                    <m:t>2−1</m:t>
                                  </m:r>
                                </m:sup>
                                <m:e>
                                  <m:d>
                                    <m:dPr>
                                      <m:ctrlPr>
                                        <a:rPr lang="en-ID" i="1">
                                          <a:solidFill>
                                            <a:srgbClr val="000000"/>
                                          </a:solidFill>
                                          <a:latin typeface="Cambria Math" panose="02040503050406030204" pitchFamily="18" charset="0"/>
                                        </a:rPr>
                                      </m:ctrlPr>
                                    </m:dPr>
                                    <m:e>
                                      <m:m>
                                        <m:mPr>
                                          <m:plcHide m:val="on"/>
                                          <m:mcs>
                                            <m:mc>
                                              <m:mcPr>
                                                <m:count m:val="1"/>
                                                <m:mcJc m:val="center"/>
                                              </m:mcPr>
                                            </m:mc>
                                          </m:mcs>
                                          <m:ctrlPr>
                                            <a:rPr lang="en-ID" i="1">
                                              <a:solidFill>
                                                <a:srgbClr val="000000"/>
                                              </a:solidFill>
                                              <a:latin typeface="Cambria Math" panose="02040503050406030204" pitchFamily="18" charset="0"/>
                                            </a:rPr>
                                          </m:ctrlPr>
                                        </m:mPr>
                                        <m:mr>
                                          <m:e>
                                            <m:r>
                                              <a:rPr lang="en-ID" i="1">
                                                <a:solidFill>
                                                  <a:srgbClr val="000000"/>
                                                </a:solidFill>
                                                <a:latin typeface="Cambria Math" panose="02040503050406030204" pitchFamily="18" charset="0"/>
                                              </a:rPr>
                                              <m:t>10</m:t>
                                            </m:r>
                                          </m:e>
                                        </m:mr>
                                        <m:mr>
                                          <m:e>
                                            <m:r>
                                              <a:rPr lang="en-ID" i="1">
                                                <a:solidFill>
                                                  <a:srgbClr val="000000"/>
                                                </a:solidFill>
                                                <a:latin typeface="Cambria Math" panose="02040503050406030204" pitchFamily="18" charset="0"/>
                                              </a:rPr>
                                              <m:t>𝑛</m:t>
                                            </m:r>
                                          </m:e>
                                        </m:mr>
                                      </m:m>
                                    </m:e>
                                  </m:d>
                                  <m:sSup>
                                    <m:sSupPr>
                                      <m:ctrlPr>
                                        <a:rPr lang="en-ID" i="1">
                                          <a:solidFill>
                                            <a:srgbClr val="000000"/>
                                          </a:solidFill>
                                          <a:latin typeface="Cambria Math" panose="02040503050406030204" pitchFamily="18" charset="0"/>
                                        </a:rPr>
                                      </m:ctrlPr>
                                    </m:sSupPr>
                                    <m:e>
                                      <m:d>
                                        <m:dPr>
                                          <m:ctrlPr>
                                            <a:rPr lang="en-ID" i="1">
                                              <a:solidFill>
                                                <a:srgbClr val="000000"/>
                                              </a:solidFill>
                                              <a:latin typeface="Cambria Math" panose="02040503050406030204" pitchFamily="18" charset="0"/>
                                            </a:rPr>
                                          </m:ctrlPr>
                                        </m:dPr>
                                        <m:e>
                                          <m:f>
                                            <m:fPr>
                                              <m:ctrlPr>
                                                <a:rPr lang="en-ID" i="1">
                                                  <a:solidFill>
                                                    <a:srgbClr val="000000"/>
                                                  </a:solidFill>
                                                  <a:latin typeface="Cambria Math" panose="02040503050406030204" pitchFamily="18" charset="0"/>
                                                </a:rPr>
                                              </m:ctrlPr>
                                            </m:fPr>
                                            <m:num>
                                              <m:r>
                                                <a:rPr lang="en-ID" i="1">
                                                  <a:solidFill>
                                                    <a:srgbClr val="000000"/>
                                                  </a:solidFill>
                                                  <a:latin typeface="Cambria Math" panose="02040503050406030204" pitchFamily="18" charset="0"/>
                                                </a:rPr>
                                                <m:t>5</m:t>
                                              </m:r>
                                            </m:num>
                                            <m:den>
                                              <m:r>
                                                <a:rPr lang="en-ID" i="1">
                                                  <a:solidFill>
                                                    <a:srgbClr val="000000"/>
                                                  </a:solidFill>
                                                  <a:latin typeface="Cambria Math" panose="02040503050406030204" pitchFamily="18" charset="0"/>
                                                </a:rPr>
                                                <m:t>20</m:t>
                                              </m:r>
                                            </m:den>
                                          </m:f>
                                        </m:e>
                                      </m:d>
                                    </m:e>
                                    <m:sup>
                                      <m:r>
                                        <a:rPr lang="en-ID" i="1">
                                          <a:solidFill>
                                            <a:srgbClr val="000000"/>
                                          </a:solidFill>
                                          <a:latin typeface="Cambria Math" panose="02040503050406030204" pitchFamily="18" charset="0"/>
                                        </a:rPr>
                                        <m:t>𝑛</m:t>
                                      </m:r>
                                    </m:sup>
                                  </m:sSup>
                                </m:e>
                              </m:nary>
                              <m:r>
                                <a:rPr lang="en-ID" i="1">
                                  <a:solidFill>
                                    <a:srgbClr val="000000"/>
                                  </a:solidFill>
                                  <a:latin typeface="Cambria Math" panose="02040503050406030204" pitchFamily="18" charset="0"/>
                                </a:rPr>
                                <m:t>+</m:t>
                              </m:r>
                              <m:nary>
                                <m:naryPr>
                                  <m:chr m:val="∑"/>
                                  <m:ctrlPr>
                                    <a:rPr lang="en-ID" i="1">
                                      <a:solidFill>
                                        <a:srgbClr val="000000"/>
                                      </a:solidFill>
                                      <a:latin typeface="Cambria Math" panose="02040503050406030204" pitchFamily="18" charset="0"/>
                                    </a:rPr>
                                  </m:ctrlPr>
                                </m:naryPr>
                                <m:sub>
                                  <m:r>
                                    <a:rPr lang="en-ID" i="1">
                                      <a:solidFill>
                                        <a:srgbClr val="000000"/>
                                      </a:solidFill>
                                      <a:latin typeface="Cambria Math" panose="02040503050406030204" pitchFamily="18" charset="0"/>
                                    </a:rPr>
                                    <m:t>𝑛</m:t>
                                  </m:r>
                                  <m:r>
                                    <a:rPr lang="en-ID" i="1">
                                      <a:solidFill>
                                        <a:srgbClr val="000000"/>
                                      </a:solidFill>
                                      <a:latin typeface="Cambria Math" panose="02040503050406030204" pitchFamily="18" charset="0"/>
                                    </a:rPr>
                                    <m:t>=2</m:t>
                                  </m:r>
                                </m:sub>
                                <m:sup>
                                  <m:r>
                                    <a:rPr lang="en-ID" i="1">
                                      <a:solidFill>
                                        <a:srgbClr val="000000"/>
                                      </a:solidFill>
                                      <a:latin typeface="Cambria Math" panose="02040503050406030204" pitchFamily="18" charset="0"/>
                                    </a:rPr>
                                    <m:t>10</m:t>
                                  </m:r>
                                </m:sup>
                                <m:e>
                                  <m:f>
                                    <m:fPr>
                                      <m:ctrlPr>
                                        <a:rPr lang="en-ID" i="1">
                                          <a:solidFill>
                                            <a:srgbClr val="000000"/>
                                          </a:solidFill>
                                          <a:latin typeface="Cambria Math" panose="02040503050406030204" pitchFamily="18" charset="0"/>
                                        </a:rPr>
                                      </m:ctrlPr>
                                    </m:fPr>
                                    <m:num>
                                      <m:r>
                                        <a:rPr lang="en-ID" i="1">
                                          <a:solidFill>
                                            <a:srgbClr val="000000"/>
                                          </a:solidFill>
                                          <a:latin typeface="Cambria Math" panose="02040503050406030204" pitchFamily="18" charset="0"/>
                                        </a:rPr>
                                        <m:t>10!</m:t>
                                      </m:r>
                                    </m:num>
                                    <m:den>
                                      <m:r>
                                        <a:rPr lang="en-ID" i="1">
                                          <a:solidFill>
                                            <a:srgbClr val="000000"/>
                                          </a:solidFill>
                                          <a:latin typeface="Cambria Math" panose="02040503050406030204" pitchFamily="18" charset="0"/>
                                        </a:rPr>
                                        <m:t>(10−</m:t>
                                      </m:r>
                                      <m:r>
                                        <a:rPr lang="en-ID" i="1">
                                          <a:solidFill>
                                            <a:srgbClr val="000000"/>
                                          </a:solidFill>
                                          <a:latin typeface="Cambria Math" panose="02040503050406030204" pitchFamily="18" charset="0"/>
                                        </a:rPr>
                                        <m:t>𝑛</m:t>
                                      </m:r>
                                      <m:r>
                                        <a:rPr lang="en-ID" i="1">
                                          <a:solidFill>
                                            <a:srgbClr val="000000"/>
                                          </a:solidFill>
                                          <a:latin typeface="Cambria Math" panose="02040503050406030204" pitchFamily="18" charset="0"/>
                                        </a:rPr>
                                        <m:t>)!2!</m:t>
                                      </m:r>
                                      <m:sSup>
                                        <m:sSupPr>
                                          <m:ctrlPr>
                                            <a:rPr lang="en-ID" i="1">
                                              <a:solidFill>
                                                <a:srgbClr val="000000"/>
                                              </a:solidFill>
                                              <a:latin typeface="Cambria Math" panose="02040503050406030204" pitchFamily="18" charset="0"/>
                                            </a:rPr>
                                          </m:ctrlPr>
                                        </m:sSupPr>
                                        <m:e>
                                          <m:r>
                                            <a:rPr lang="en-ID" i="1">
                                              <a:solidFill>
                                                <a:srgbClr val="000000"/>
                                              </a:solidFill>
                                              <a:latin typeface="Cambria Math" panose="02040503050406030204" pitchFamily="18" charset="0"/>
                                            </a:rPr>
                                            <m:t>2</m:t>
                                          </m:r>
                                        </m:e>
                                        <m:sup>
                                          <m:r>
                                            <a:rPr lang="en-ID" i="1">
                                              <a:solidFill>
                                                <a:srgbClr val="000000"/>
                                              </a:solidFill>
                                              <a:latin typeface="Cambria Math" panose="02040503050406030204" pitchFamily="18" charset="0"/>
                                            </a:rPr>
                                            <m:t>𝑛</m:t>
                                          </m:r>
                                          <m:r>
                                            <a:rPr lang="en-ID" i="1">
                                              <a:solidFill>
                                                <a:srgbClr val="000000"/>
                                              </a:solidFill>
                                              <a:latin typeface="Cambria Math" panose="02040503050406030204" pitchFamily="18" charset="0"/>
                                            </a:rPr>
                                            <m:t>−2</m:t>
                                          </m:r>
                                        </m:sup>
                                      </m:sSup>
                                    </m:den>
                                  </m:f>
                                  <m:sSup>
                                    <m:sSupPr>
                                      <m:ctrlPr>
                                        <a:rPr lang="en-ID" i="1">
                                          <a:solidFill>
                                            <a:srgbClr val="000000"/>
                                          </a:solidFill>
                                          <a:latin typeface="Cambria Math" panose="02040503050406030204" pitchFamily="18" charset="0"/>
                                        </a:rPr>
                                      </m:ctrlPr>
                                    </m:sSupPr>
                                    <m:e>
                                      <m:d>
                                        <m:dPr>
                                          <m:ctrlPr>
                                            <a:rPr lang="en-ID" i="1">
                                              <a:solidFill>
                                                <a:srgbClr val="000000"/>
                                              </a:solidFill>
                                              <a:latin typeface="Cambria Math" panose="02040503050406030204" pitchFamily="18" charset="0"/>
                                            </a:rPr>
                                          </m:ctrlPr>
                                        </m:dPr>
                                        <m:e>
                                          <m:f>
                                            <m:fPr>
                                              <m:ctrlPr>
                                                <a:rPr lang="en-ID" i="1">
                                                  <a:solidFill>
                                                    <a:srgbClr val="000000"/>
                                                  </a:solidFill>
                                                  <a:latin typeface="Cambria Math" panose="02040503050406030204" pitchFamily="18" charset="0"/>
                                                </a:rPr>
                                              </m:ctrlPr>
                                            </m:fPr>
                                            <m:num>
                                              <m:r>
                                                <a:rPr lang="en-ID" i="1">
                                                  <a:solidFill>
                                                    <a:srgbClr val="000000"/>
                                                  </a:solidFill>
                                                  <a:latin typeface="Cambria Math" panose="02040503050406030204" pitchFamily="18" charset="0"/>
                                                </a:rPr>
                                                <m:t>5</m:t>
                                              </m:r>
                                            </m:num>
                                            <m:den>
                                              <m:r>
                                                <a:rPr lang="en-ID" i="1">
                                                  <a:solidFill>
                                                    <a:srgbClr val="000000"/>
                                                  </a:solidFill>
                                                  <a:latin typeface="Cambria Math" panose="02040503050406030204" pitchFamily="18" charset="0"/>
                                                </a:rPr>
                                                <m:t>20</m:t>
                                              </m:r>
                                            </m:den>
                                          </m:f>
                                        </m:e>
                                      </m:d>
                                    </m:e>
                                    <m:sup>
                                      <m:r>
                                        <a:rPr lang="en-ID" i="1">
                                          <a:solidFill>
                                            <a:srgbClr val="000000"/>
                                          </a:solidFill>
                                          <a:latin typeface="Cambria Math" panose="02040503050406030204" pitchFamily="18" charset="0"/>
                                        </a:rPr>
                                        <m:t>𝑛</m:t>
                                      </m:r>
                                    </m:sup>
                                  </m:sSup>
                                </m:e>
                              </m:nary>
                            </m:e>
                          </m:d>
                        </m:e>
                        <m:sup>
                          <m:r>
                            <a:rPr lang="en-ID" i="1">
                              <a:solidFill>
                                <a:srgbClr val="000000"/>
                              </a:solidFill>
                              <a:latin typeface="Cambria Math" panose="02040503050406030204" pitchFamily="18" charset="0"/>
                            </a:rPr>
                            <m:t>−1</m:t>
                          </m:r>
                        </m:sup>
                      </m:sSup>
                      <m:r>
                        <a:rPr lang="en-ID" i="1">
                          <a:solidFill>
                            <a:srgbClr val="000000"/>
                          </a:solidFill>
                          <a:latin typeface="Cambria Math" panose="02040503050406030204" pitchFamily="18" charset="0"/>
                        </a:rPr>
                        <m:t>=0.065</m:t>
                      </m:r>
                    </m:oMath>
                  </m:oMathPara>
                </a14:m>
                <a:endParaRPr lang="en-ID"/>
              </a:p>
            </p:txBody>
          </p:sp>
        </mc:Choice>
        <mc:Fallback xmlns="">
          <p:sp>
            <p:nvSpPr>
              <p:cNvPr id="45061" name="Object 8">
                <a:extLst>
                  <a:ext uri="{FF2B5EF4-FFF2-40B4-BE49-F238E27FC236}">
                    <a16:creationId xmlns:a16="http://schemas.microsoft.com/office/drawing/2014/main" id="{5B15F0CF-284C-FEF0-3B4E-B846CC9845E5}"/>
                  </a:ext>
                </a:extLst>
              </p:cNvPr>
              <p:cNvSpPr txBox="1">
                <a:spLocks noRot="1" noChangeAspect="1" noMove="1" noResize="1" noEditPoints="1" noAdjustHandles="1" noChangeArrowheads="1" noChangeShapeType="1" noTextEdit="1"/>
              </p:cNvSpPr>
              <p:nvPr>
                <p:ph sz="quarter" idx="2"/>
              </p:nvPr>
            </p:nvSpPr>
            <p:spPr bwMode="auto">
              <a:xfrm>
                <a:off x="2133600" y="3433763"/>
                <a:ext cx="5105400" cy="833437"/>
              </a:xfrm>
              <a:prstGeom prst="rect">
                <a:avLst/>
              </a:prstGeom>
              <a:blipFill>
                <a:blip r:embed="rId2"/>
                <a:stretch>
                  <a:fillRect/>
                </a:stretch>
              </a:blipFill>
              <a:ln>
                <a:noFill/>
              </a:ln>
              <a:effectLst/>
            </p:spPr>
            <p:txBody>
              <a:bodyPr/>
              <a:lstStyle/>
              <a:p>
                <a:r>
                  <a:rPr lang="en-ID">
                    <a:noFill/>
                  </a:rPr>
                  <a:t> </a:t>
                </a:r>
              </a:p>
            </p:txBody>
          </p:sp>
        </mc:Fallback>
      </mc:AlternateContent>
      <mc:AlternateContent xmlns:mc="http://schemas.openxmlformats.org/markup-compatibility/2006" xmlns:a14="http://schemas.microsoft.com/office/drawing/2010/main">
        <mc:Choice Requires="a14">
          <p:sp>
            <p:nvSpPr>
              <p:cNvPr id="45062" name="Object 9">
                <a:extLst>
                  <a:ext uri="{FF2B5EF4-FFF2-40B4-BE49-F238E27FC236}">
                    <a16:creationId xmlns:a16="http://schemas.microsoft.com/office/drawing/2014/main" id="{7CCA7979-7BC2-804F-9FD9-88E9589AF9A5}"/>
                  </a:ext>
                </a:extLst>
              </p:cNvPr>
              <p:cNvSpPr txBox="1">
                <a:spLocks noGrp="1"/>
              </p:cNvSpPr>
              <p:nvPr>
                <p:ph sz="quarter" idx="3"/>
              </p:nvPr>
            </p:nvSpPr>
            <p:spPr bwMode="auto">
              <a:xfrm>
                <a:off x="2743200" y="4876800"/>
                <a:ext cx="2514600" cy="757238"/>
              </a:xfrm>
              <a:prstGeom prst="rect">
                <a:avLst/>
              </a:prstGeom>
              <a:noFill/>
              <a:ln>
                <a:noFill/>
              </a:ln>
              <a:effectLst/>
            </p:spPr>
            <p:txBody>
              <a:bodyPr>
                <a:normAutofit fontScale="47500" lnSpcReduction="20000"/>
              </a:bodyPr>
              <a:lstStyle/>
              <a:p>
                <a:pPr>
                  <a:buNone/>
                </a:pPr>
                <a14:m>
                  <m:oMathPara xmlns:m="http://schemas.openxmlformats.org/officeDocument/2006/math">
                    <m:oMathParaPr>
                      <m:jc m:val="left"/>
                    </m:oMathParaPr>
                    <m:oMath xmlns:m="http://schemas.openxmlformats.org/officeDocument/2006/math">
                      <m:r>
                        <a:rPr lang="en-ID" i="1">
                          <a:solidFill>
                            <a:srgbClr val="000000"/>
                          </a:solidFill>
                          <a:latin typeface="Cambria Math" panose="02040503050406030204" pitchFamily="18" charset="0"/>
                        </a:rPr>
                        <m:t>𝐿</m:t>
                      </m:r>
                      <m:r>
                        <a:rPr lang="en-ID" i="1">
                          <a:solidFill>
                            <a:srgbClr val="000000"/>
                          </a:solidFill>
                          <a:latin typeface="Cambria Math" panose="02040503050406030204" pitchFamily="18" charset="0"/>
                        </a:rPr>
                        <m:t>=</m:t>
                      </m:r>
                      <m:nary>
                        <m:naryPr>
                          <m:chr m:val="∑"/>
                          <m:ctrlPr>
                            <a:rPr lang="en-ID" i="1">
                              <a:solidFill>
                                <a:srgbClr val="000000"/>
                              </a:solidFill>
                              <a:latin typeface="Cambria Math" panose="02040503050406030204" pitchFamily="18" charset="0"/>
                            </a:rPr>
                          </m:ctrlPr>
                        </m:naryPr>
                        <m:sub>
                          <m:r>
                            <a:rPr lang="en-ID" i="1">
                              <a:solidFill>
                                <a:srgbClr val="000000"/>
                              </a:solidFill>
                              <a:latin typeface="Cambria Math" panose="02040503050406030204" pitchFamily="18" charset="0"/>
                            </a:rPr>
                            <m:t>𝑛</m:t>
                          </m:r>
                          <m:r>
                            <a:rPr lang="en-ID" i="1">
                              <a:solidFill>
                                <a:srgbClr val="000000"/>
                              </a:solidFill>
                              <a:latin typeface="Cambria Math" panose="02040503050406030204" pitchFamily="18" charset="0"/>
                            </a:rPr>
                            <m:t>=0</m:t>
                          </m:r>
                        </m:sub>
                        <m:sup>
                          <m:r>
                            <a:rPr lang="en-ID" i="1">
                              <a:solidFill>
                                <a:srgbClr val="000000"/>
                              </a:solidFill>
                              <a:latin typeface="Cambria Math" panose="02040503050406030204" pitchFamily="18" charset="0"/>
                            </a:rPr>
                            <m:t>10</m:t>
                          </m:r>
                        </m:sup>
                        <m:e>
                          <m:r>
                            <a:rPr lang="en-ID" i="1">
                              <a:solidFill>
                                <a:srgbClr val="000000"/>
                              </a:solidFill>
                              <a:latin typeface="Cambria Math" panose="02040503050406030204" pitchFamily="18" charset="0"/>
                            </a:rPr>
                            <m:t>𝑛</m:t>
                          </m:r>
                          <m:sSub>
                            <m:sSubPr>
                              <m:ctrlPr>
                                <a:rPr lang="en-ID" i="1">
                                  <a:solidFill>
                                    <a:srgbClr val="000000"/>
                                  </a:solidFill>
                                  <a:latin typeface="Cambria Math" panose="02040503050406030204" pitchFamily="18" charset="0"/>
                                </a:rPr>
                              </m:ctrlPr>
                            </m:sSubPr>
                            <m:e>
                              <m:r>
                                <a:rPr lang="en-ID" i="1">
                                  <a:solidFill>
                                    <a:srgbClr val="000000"/>
                                  </a:solidFill>
                                  <a:latin typeface="Cambria Math" panose="02040503050406030204" pitchFamily="18" charset="0"/>
                                </a:rPr>
                                <m:t>𝑃</m:t>
                              </m:r>
                            </m:e>
                            <m:sub>
                              <m:r>
                                <a:rPr lang="en-ID" i="1">
                                  <a:solidFill>
                                    <a:srgbClr val="000000"/>
                                  </a:solidFill>
                                  <a:latin typeface="Cambria Math" panose="02040503050406030204" pitchFamily="18" charset="0"/>
                                </a:rPr>
                                <m:t>𝑛</m:t>
                              </m:r>
                            </m:sub>
                          </m:sSub>
                        </m:e>
                      </m:nary>
                      <m:r>
                        <a:rPr lang="en-ID" i="1">
                          <a:solidFill>
                            <a:srgbClr val="000000"/>
                          </a:solidFill>
                          <a:latin typeface="Cambria Math" panose="02040503050406030204" pitchFamily="18" charset="0"/>
                        </a:rPr>
                        <m:t>=3.17</m:t>
                      </m:r>
                      <m:r>
                        <m:rPr>
                          <m:nor/>
                        </m:rPr>
                        <a:rPr lang="en-ID" i="0">
                          <a:solidFill>
                            <a:srgbClr val="000000"/>
                          </a:solidFill>
                          <a:latin typeface="Cambria Math" panose="02040503050406030204" pitchFamily="18" charset="0"/>
                        </a:rPr>
                        <m:t> </m:t>
                      </m:r>
                      <m:r>
                        <m:rPr>
                          <m:nor/>
                        </m:rPr>
                        <a:rPr lang="en-ID" i="0">
                          <a:solidFill>
                            <a:srgbClr val="000000"/>
                          </a:solidFill>
                          <a:latin typeface="Cambria Math" panose="02040503050406030204" pitchFamily="18" charset="0"/>
                        </a:rPr>
                        <m:t>machines</m:t>
                      </m:r>
                    </m:oMath>
                  </m:oMathPara>
                </a14:m>
                <a:endParaRPr lang="en-ID"/>
              </a:p>
            </p:txBody>
          </p:sp>
        </mc:Choice>
        <mc:Fallback xmlns="">
          <p:sp>
            <p:nvSpPr>
              <p:cNvPr id="45062" name="Object 9">
                <a:extLst>
                  <a:ext uri="{FF2B5EF4-FFF2-40B4-BE49-F238E27FC236}">
                    <a16:creationId xmlns:a16="http://schemas.microsoft.com/office/drawing/2014/main" id="{7CCA7979-7BC2-804F-9FD9-88E9589AF9A5}"/>
                  </a:ext>
                </a:extLst>
              </p:cNvPr>
              <p:cNvSpPr txBox="1">
                <a:spLocks noRot="1" noChangeAspect="1" noMove="1" noResize="1" noEditPoints="1" noAdjustHandles="1" noChangeArrowheads="1" noChangeShapeType="1" noTextEdit="1"/>
              </p:cNvSpPr>
              <p:nvPr>
                <p:ph sz="quarter" idx="3"/>
              </p:nvPr>
            </p:nvSpPr>
            <p:spPr bwMode="auto">
              <a:xfrm>
                <a:off x="2743200" y="4876800"/>
                <a:ext cx="2514600" cy="757238"/>
              </a:xfrm>
              <a:prstGeom prst="rect">
                <a:avLst/>
              </a:prstGeom>
              <a:blipFill>
                <a:blip r:embed="rId3"/>
                <a:stretch>
                  <a:fillRect/>
                </a:stretch>
              </a:blipFill>
              <a:ln>
                <a:noFill/>
              </a:ln>
              <a:effectLst/>
            </p:spPr>
            <p:txBody>
              <a:bodyPr/>
              <a:lstStyle/>
              <a:p>
                <a:r>
                  <a:rPr lang="en-ID">
                    <a:noFill/>
                  </a:rPr>
                  <a:t> </a:t>
                </a:r>
              </a:p>
            </p:txBody>
          </p:sp>
        </mc:Fallback>
      </mc:AlternateContent>
      <mc:AlternateContent xmlns:mc="http://schemas.openxmlformats.org/markup-compatibility/2006" xmlns:a14="http://schemas.microsoft.com/office/drawing/2010/main">
        <mc:Choice Requires="a14">
          <p:sp>
            <p:nvSpPr>
              <p:cNvPr id="45063" name="Object 11">
                <a:extLst>
                  <a:ext uri="{FF2B5EF4-FFF2-40B4-BE49-F238E27FC236}">
                    <a16:creationId xmlns:a16="http://schemas.microsoft.com/office/drawing/2014/main" id="{F6B2D630-BC43-B554-780C-C83F72C8CB6F}"/>
                  </a:ext>
                </a:extLst>
              </p:cNvPr>
              <p:cNvSpPr txBox="1"/>
              <p:nvPr/>
            </p:nvSpPr>
            <p:spPr bwMode="auto">
              <a:xfrm>
                <a:off x="2743200" y="5965825"/>
                <a:ext cx="3013075" cy="282575"/>
              </a:xfrm>
              <a:prstGeom prst="rect">
                <a:avLst/>
              </a:prstGeom>
              <a:noFill/>
              <a:ln>
                <a:noFill/>
              </a:ln>
              <a:effectLst/>
            </p:spPr>
            <p:txBody>
              <a:bodyPr>
                <a:normAutofit fontScale="77500" lnSpcReduction="20000"/>
              </a:bodyPr>
              <a:lstStyle/>
              <a:p>
                <a:pPr/>
                <a14:m>
                  <m:oMathPara xmlns:m="http://schemas.openxmlformats.org/officeDocument/2006/math">
                    <m:oMathParaPr>
                      <m:jc m:val="left"/>
                    </m:oMathParaPr>
                    <m:oMath xmlns:m="http://schemas.openxmlformats.org/officeDocument/2006/math">
                      <m:r>
                        <a:rPr lang="en-ID" i="1">
                          <a:solidFill>
                            <a:srgbClr val="000000"/>
                          </a:solidFill>
                          <a:latin typeface="Cambria Math" panose="02040503050406030204" pitchFamily="18" charset="0"/>
                        </a:rPr>
                        <m:t>𝐾</m:t>
                      </m:r>
                      <m:r>
                        <a:rPr lang="en-ID" i="1">
                          <a:solidFill>
                            <a:srgbClr val="000000"/>
                          </a:solidFill>
                          <a:latin typeface="Cambria Math" panose="02040503050406030204" pitchFamily="18" charset="0"/>
                        </a:rPr>
                        <m:t>−</m:t>
                      </m:r>
                      <m:r>
                        <a:rPr lang="en-ID" i="1">
                          <a:solidFill>
                            <a:srgbClr val="000000"/>
                          </a:solidFill>
                          <a:latin typeface="Cambria Math" panose="02040503050406030204" pitchFamily="18" charset="0"/>
                        </a:rPr>
                        <m:t>𝐿</m:t>
                      </m:r>
                      <m:r>
                        <a:rPr lang="en-ID" i="1">
                          <a:solidFill>
                            <a:srgbClr val="000000"/>
                          </a:solidFill>
                          <a:latin typeface="Cambria Math" panose="02040503050406030204" pitchFamily="18" charset="0"/>
                        </a:rPr>
                        <m:t>=10−3.17=6.83</m:t>
                      </m:r>
                      <m:r>
                        <m:rPr>
                          <m:nor/>
                        </m:rPr>
                        <a:rPr lang="en-ID" i="0">
                          <a:solidFill>
                            <a:srgbClr val="000000"/>
                          </a:solidFill>
                          <a:latin typeface="Cambria Math" panose="02040503050406030204" pitchFamily="18" charset="0"/>
                        </a:rPr>
                        <m:t> </m:t>
                      </m:r>
                      <m:r>
                        <m:rPr>
                          <m:nor/>
                        </m:rPr>
                        <a:rPr lang="en-ID" i="0">
                          <a:solidFill>
                            <a:srgbClr val="000000"/>
                          </a:solidFill>
                          <a:latin typeface="Cambria Math" panose="02040503050406030204" pitchFamily="18" charset="0"/>
                        </a:rPr>
                        <m:t>machines</m:t>
                      </m:r>
                    </m:oMath>
                  </m:oMathPara>
                </a14:m>
                <a:endParaRPr lang="en-ID"/>
              </a:p>
            </p:txBody>
          </p:sp>
        </mc:Choice>
        <mc:Fallback xmlns="">
          <p:sp>
            <p:nvSpPr>
              <p:cNvPr id="45063" name="Object 11">
                <a:extLst>
                  <a:ext uri="{FF2B5EF4-FFF2-40B4-BE49-F238E27FC236}">
                    <a16:creationId xmlns:a16="http://schemas.microsoft.com/office/drawing/2014/main" id="{F6B2D630-BC43-B554-780C-C83F72C8CB6F}"/>
                  </a:ext>
                </a:extLst>
              </p:cNvPr>
              <p:cNvSpPr txBox="1">
                <a:spLocks noRot="1" noChangeAspect="1" noMove="1" noResize="1" noEditPoints="1" noAdjustHandles="1" noChangeArrowheads="1" noChangeShapeType="1" noTextEdit="1"/>
              </p:cNvSpPr>
              <p:nvPr/>
            </p:nvSpPr>
            <p:spPr bwMode="auto">
              <a:xfrm>
                <a:off x="2743200" y="5965825"/>
                <a:ext cx="3013075" cy="282575"/>
              </a:xfrm>
              <a:prstGeom prst="rect">
                <a:avLst/>
              </a:prstGeom>
              <a:blipFill>
                <a:blip r:embed="rId4"/>
                <a:stretch>
                  <a:fillRect/>
                </a:stretch>
              </a:blipFill>
              <a:ln>
                <a:noFill/>
              </a:ln>
              <a:effectLst/>
            </p:spPr>
            <p:txBody>
              <a:bodyPr/>
              <a:lstStyle/>
              <a:p>
                <a:r>
                  <a:rPr lang="en-ID">
                    <a:noFill/>
                  </a:rPr>
                  <a:t> </a:t>
                </a:r>
              </a:p>
            </p:txBody>
          </p:sp>
        </mc:Fallback>
      </mc:AlternateContent>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Number Placeholder 6">
            <a:extLst>
              <a:ext uri="{FF2B5EF4-FFF2-40B4-BE49-F238E27FC236}">
                <a16:creationId xmlns:a16="http://schemas.microsoft.com/office/drawing/2014/main" id="{15149374-8FCD-9060-0E21-982CA7C6075A}"/>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5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4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9pPr>
          </a:lstStyle>
          <a:p>
            <a:pPr>
              <a:spcBef>
                <a:spcPct val="0"/>
              </a:spcBef>
              <a:buClrTx/>
              <a:buSzTx/>
              <a:buFontTx/>
              <a:buNone/>
            </a:pPr>
            <a:fld id="{EB5966EE-AA80-4746-AA47-3505BC197C1D}" type="slidenum">
              <a:rPr lang="en-US" altLang="id-ID" sz="1200">
                <a:latin typeface="Arial Black" panose="020B0A04020102020204" pitchFamily="34" charset="0"/>
              </a:rPr>
              <a:pPr>
                <a:spcBef>
                  <a:spcPct val="0"/>
                </a:spcBef>
                <a:buClrTx/>
                <a:buSzTx/>
                <a:buFontTx/>
                <a:buNone/>
              </a:pPr>
              <a:t>40</a:t>
            </a:fld>
            <a:endParaRPr lang="en-US" altLang="id-ID" sz="1200">
              <a:latin typeface="Arial Black" panose="020B0A04020102020204" pitchFamily="34" charset="0"/>
            </a:endParaRPr>
          </a:p>
        </p:txBody>
      </p:sp>
      <p:sp>
        <p:nvSpPr>
          <p:cNvPr id="46083" name="Rectangle 2">
            <a:extLst>
              <a:ext uri="{FF2B5EF4-FFF2-40B4-BE49-F238E27FC236}">
                <a16:creationId xmlns:a16="http://schemas.microsoft.com/office/drawing/2014/main" id="{0AC8CEA6-97C6-0D41-C5B5-813F9E159E69}"/>
              </a:ext>
            </a:extLst>
          </p:cNvPr>
          <p:cNvSpPr>
            <a:spLocks noGrp="1" noChangeArrowheads="1"/>
          </p:cNvSpPr>
          <p:nvPr>
            <p:ph type="title"/>
          </p:nvPr>
        </p:nvSpPr>
        <p:spPr/>
        <p:txBody>
          <a:bodyPr/>
          <a:lstStyle/>
          <a:p>
            <a:pPr eaLnBrk="1" hangingPunct="1"/>
            <a:r>
              <a:rPr lang="en-US" altLang="id-ID" dirty="0" err="1"/>
              <a:t>Jaringan</a:t>
            </a:r>
            <a:r>
              <a:rPr lang="en-US" altLang="id-ID" dirty="0"/>
              <a:t> </a:t>
            </a:r>
            <a:r>
              <a:rPr lang="en-US" altLang="id-ID" dirty="0" err="1"/>
              <a:t>Antrian</a:t>
            </a:r>
            <a:endParaRPr lang="en-US" altLang="id-ID" dirty="0"/>
          </a:p>
        </p:txBody>
      </p:sp>
      <p:sp>
        <p:nvSpPr>
          <p:cNvPr id="46084" name="Rectangle 3">
            <a:extLst>
              <a:ext uri="{FF2B5EF4-FFF2-40B4-BE49-F238E27FC236}">
                <a16:creationId xmlns:a16="http://schemas.microsoft.com/office/drawing/2014/main" id="{840E10B0-E6C5-5B78-985C-C4B0CC5F0F18}"/>
              </a:ext>
            </a:extLst>
          </p:cNvPr>
          <p:cNvSpPr>
            <a:spLocks noGrp="1" noChangeArrowheads="1"/>
          </p:cNvSpPr>
          <p:nvPr>
            <p:ph type="body" sz="half" idx="1"/>
          </p:nvPr>
        </p:nvSpPr>
        <p:spPr>
          <a:xfrm>
            <a:off x="457200" y="1447800"/>
            <a:ext cx="8305800" cy="4953000"/>
          </a:xfrm>
        </p:spPr>
        <p:txBody>
          <a:bodyPr/>
          <a:lstStyle/>
          <a:p>
            <a:pPr eaLnBrk="1" hangingPunct="1"/>
            <a:r>
              <a:rPr lang="en-US" altLang="id-ID" sz="2200" dirty="0"/>
              <a:t>Banyak </a:t>
            </a:r>
            <a:r>
              <a:rPr lang="en-US" altLang="id-ID" sz="2200" dirty="0" err="1"/>
              <a:t>sistem</a:t>
            </a:r>
            <a:r>
              <a:rPr lang="en-US" altLang="id-ID" sz="2200" dirty="0"/>
              <a:t> yang </a:t>
            </a:r>
            <a:r>
              <a:rPr lang="en-US" altLang="id-ID" sz="2200" dirty="0" err="1"/>
              <a:t>secara</a:t>
            </a:r>
            <a:r>
              <a:rPr lang="en-US" altLang="id-ID" sz="2200" dirty="0"/>
              <a:t> </a:t>
            </a:r>
            <a:r>
              <a:rPr lang="en-US" altLang="id-ID" sz="2200" dirty="0" err="1"/>
              <a:t>alami</a:t>
            </a:r>
            <a:r>
              <a:rPr lang="en-US" altLang="id-ID" sz="2200" dirty="0"/>
              <a:t> </a:t>
            </a:r>
            <a:r>
              <a:rPr lang="en-US" altLang="id-ID" sz="2200" dirty="0" err="1"/>
              <a:t>dimodelkan</a:t>
            </a:r>
            <a:r>
              <a:rPr lang="en-US" altLang="id-ID" sz="2200" dirty="0"/>
              <a:t> </a:t>
            </a:r>
            <a:r>
              <a:rPr lang="en-US" altLang="id-ID" sz="2200" dirty="0" err="1"/>
              <a:t>sebagai</a:t>
            </a:r>
            <a:r>
              <a:rPr lang="en-US" altLang="id-ID" sz="2200" dirty="0"/>
              <a:t> </a:t>
            </a:r>
            <a:r>
              <a:rPr lang="en-US" altLang="id-ID" sz="2200" dirty="0" err="1"/>
              <a:t>jaringan</a:t>
            </a:r>
            <a:r>
              <a:rPr lang="en-US" altLang="id-ID" sz="2200" dirty="0"/>
              <a:t> </a:t>
            </a:r>
            <a:r>
              <a:rPr lang="en-US" altLang="id-ID" sz="2200" dirty="0" err="1"/>
              <a:t>antrian</a:t>
            </a:r>
            <a:r>
              <a:rPr lang="en-US" altLang="id-ID" sz="2200" dirty="0"/>
              <a:t> </a:t>
            </a:r>
            <a:r>
              <a:rPr lang="en-US" altLang="id-ID" sz="2200" dirty="0" err="1"/>
              <a:t>tunggal:customer</a:t>
            </a:r>
            <a:r>
              <a:rPr lang="en-US" altLang="id-ID" sz="2200" dirty="0"/>
              <a:t> yang </a:t>
            </a:r>
            <a:r>
              <a:rPr lang="en-US" altLang="id-ID" sz="2200" dirty="0" err="1"/>
              <a:t>berangkat</a:t>
            </a:r>
            <a:r>
              <a:rPr lang="en-US" altLang="id-ID" sz="2200" dirty="0"/>
              <a:t> </a:t>
            </a:r>
            <a:r>
              <a:rPr lang="en-US" altLang="id-ID" sz="2200" dirty="0" err="1"/>
              <a:t>dari</a:t>
            </a:r>
            <a:r>
              <a:rPr lang="en-US" altLang="id-ID" sz="2200" dirty="0"/>
              <a:t> </a:t>
            </a:r>
            <a:r>
              <a:rPr lang="en-US" altLang="id-ID" sz="2200" dirty="0" err="1"/>
              <a:t>satu</a:t>
            </a:r>
            <a:r>
              <a:rPr lang="en-US" altLang="id-ID" sz="2200" dirty="0"/>
              <a:t> </a:t>
            </a:r>
            <a:r>
              <a:rPr lang="en-US" altLang="id-ID" sz="2200" dirty="0" err="1"/>
              <a:t>antrian</a:t>
            </a:r>
            <a:r>
              <a:rPr lang="en-US" altLang="id-ID" sz="2200" dirty="0"/>
              <a:t> </a:t>
            </a:r>
            <a:r>
              <a:rPr lang="en-US" altLang="id-ID" sz="2200" dirty="0" err="1"/>
              <a:t>mungkin</a:t>
            </a:r>
            <a:r>
              <a:rPr lang="en-US" altLang="id-ID" sz="2200" dirty="0"/>
              <a:t> </a:t>
            </a:r>
            <a:r>
              <a:rPr lang="en-US" altLang="id-ID" sz="2200" dirty="0" err="1"/>
              <a:t>dialihkan</a:t>
            </a:r>
            <a:r>
              <a:rPr lang="en-US" altLang="id-ID" sz="2200" dirty="0"/>
              <a:t> </a:t>
            </a:r>
            <a:r>
              <a:rPr lang="en-US" altLang="id-ID" sz="2200" dirty="0" err="1"/>
              <a:t>ke</a:t>
            </a:r>
            <a:r>
              <a:rPr lang="en-US" altLang="id-ID" sz="2200" dirty="0"/>
              <a:t> </a:t>
            </a:r>
            <a:r>
              <a:rPr lang="en-US" altLang="id-ID" sz="2200" dirty="0" err="1"/>
              <a:t>antrian</a:t>
            </a:r>
            <a:r>
              <a:rPr lang="en-US" altLang="id-ID" sz="2200" dirty="0"/>
              <a:t> </a:t>
            </a:r>
            <a:r>
              <a:rPr lang="en-US" altLang="id-ID" sz="2200" dirty="0" err="1"/>
              <a:t>lainnya</a:t>
            </a:r>
            <a:r>
              <a:rPr lang="en-US" altLang="id-ID" sz="2200" dirty="0"/>
              <a:t>.</a:t>
            </a:r>
          </a:p>
          <a:p>
            <a:pPr eaLnBrk="1" hangingPunct="1"/>
            <a:r>
              <a:rPr lang="en-US" altLang="id-ID" sz="2200" dirty="0"/>
              <a:t>Hasil </a:t>
            </a:r>
            <a:r>
              <a:rPr lang="en-US" altLang="id-ID" sz="2200" dirty="0" err="1"/>
              <a:t>berikut</a:t>
            </a:r>
            <a:r>
              <a:rPr lang="en-US" altLang="id-ID" sz="2200" dirty="0"/>
              <a:t> </a:t>
            </a:r>
            <a:r>
              <a:rPr lang="en-US" altLang="id-ID" sz="2200" dirty="0" err="1"/>
              <a:t>mengasumsikan</a:t>
            </a:r>
            <a:r>
              <a:rPr lang="en-US" altLang="id-ID" sz="2200" dirty="0"/>
              <a:t> </a:t>
            </a:r>
            <a:r>
              <a:rPr lang="en-US" altLang="id-ID" sz="2200" dirty="0" err="1"/>
              <a:t>sistem</a:t>
            </a:r>
            <a:r>
              <a:rPr lang="en-US" altLang="id-ID" sz="2200" dirty="0"/>
              <a:t> </a:t>
            </a:r>
            <a:r>
              <a:rPr lang="en-US" altLang="id-ID" sz="2200" dirty="0" err="1"/>
              <a:t>stabil</a:t>
            </a:r>
            <a:r>
              <a:rPr lang="en-US" altLang="id-ID" sz="2200" dirty="0"/>
              <a:t> </a:t>
            </a:r>
            <a:r>
              <a:rPr lang="en-US" altLang="id-ID" sz="2200" dirty="0" err="1"/>
              <a:t>dengan</a:t>
            </a:r>
            <a:r>
              <a:rPr lang="en-US" altLang="id-ID" sz="2200" dirty="0"/>
              <a:t> </a:t>
            </a:r>
            <a:r>
              <a:rPr lang="en-US" altLang="id-ID" sz="2200" dirty="0" err="1"/>
              <a:t>populasi</a:t>
            </a:r>
            <a:r>
              <a:rPr lang="en-US" altLang="id-ID" sz="2200" dirty="0"/>
              <a:t> </a:t>
            </a:r>
            <a:r>
              <a:rPr lang="en-US" altLang="id-ID" sz="2200" dirty="0" err="1"/>
              <a:t>panggilan</a:t>
            </a:r>
            <a:r>
              <a:rPr lang="en-US" altLang="id-ID" sz="2200" dirty="0"/>
              <a:t> </a:t>
            </a:r>
            <a:r>
              <a:rPr lang="en-US" altLang="id-ID" sz="2200" dirty="0" err="1"/>
              <a:t>tak</a:t>
            </a:r>
            <a:r>
              <a:rPr lang="en-US" altLang="id-ID" sz="2200" dirty="0"/>
              <a:t> </a:t>
            </a:r>
            <a:r>
              <a:rPr lang="en-US" altLang="id-ID" sz="2200" dirty="0" err="1"/>
              <a:t>terbatas</a:t>
            </a:r>
            <a:r>
              <a:rPr lang="en-US" altLang="id-ID" sz="2200" dirty="0"/>
              <a:t> dan </a:t>
            </a:r>
            <a:r>
              <a:rPr lang="en-US" altLang="id-ID" sz="2200" dirty="0" err="1"/>
              <a:t>tidak</a:t>
            </a:r>
            <a:r>
              <a:rPr lang="en-US" altLang="id-ID" sz="2200" dirty="0"/>
              <a:t> </a:t>
            </a:r>
            <a:r>
              <a:rPr lang="en-US" altLang="id-ID" sz="2200" dirty="0" err="1"/>
              <a:t>ada</a:t>
            </a:r>
            <a:r>
              <a:rPr lang="en-US" altLang="id-ID" sz="2200" dirty="0"/>
              <a:t> </a:t>
            </a:r>
            <a:r>
              <a:rPr lang="en-US" altLang="id-ID" sz="2200" dirty="0" err="1"/>
              <a:t>batasan</a:t>
            </a:r>
            <a:r>
              <a:rPr lang="en-US" altLang="id-ID" sz="2200" dirty="0"/>
              <a:t> </a:t>
            </a:r>
            <a:r>
              <a:rPr lang="en-US" altLang="id-ID" sz="2200" dirty="0" err="1"/>
              <a:t>kapasitas</a:t>
            </a:r>
            <a:r>
              <a:rPr lang="en-US" altLang="id-ID" sz="2200" dirty="0"/>
              <a:t> </a:t>
            </a:r>
            <a:r>
              <a:rPr lang="en-US" altLang="id-ID" sz="2200" dirty="0" err="1"/>
              <a:t>sistem</a:t>
            </a:r>
            <a:r>
              <a:rPr lang="en-US" altLang="id-ID" sz="2200" dirty="0"/>
              <a:t>:</a:t>
            </a:r>
          </a:p>
          <a:p>
            <a:pPr lvl="1" eaLnBrk="1" hangingPunct="1"/>
            <a:r>
              <a:rPr lang="en-US" altLang="id-ID" sz="2000" dirty="0" err="1"/>
              <a:t>Asalkan</a:t>
            </a:r>
            <a:r>
              <a:rPr lang="en-US" altLang="id-ID" sz="2000" dirty="0"/>
              <a:t> </a:t>
            </a:r>
            <a:r>
              <a:rPr lang="en-US" altLang="id-ID" sz="2000" dirty="0" err="1"/>
              <a:t>tidak</a:t>
            </a:r>
            <a:r>
              <a:rPr lang="en-US" altLang="id-ID" sz="2000" dirty="0"/>
              <a:t> </a:t>
            </a:r>
            <a:r>
              <a:rPr lang="en-US" altLang="id-ID" sz="2000" err="1"/>
              <a:t>ada</a:t>
            </a:r>
            <a:r>
              <a:rPr lang="en-US" altLang="id-ID" sz="2000"/>
              <a:t> customer </a:t>
            </a:r>
            <a:r>
              <a:rPr lang="en-US" altLang="id-ID" sz="2000" dirty="0"/>
              <a:t>yang </a:t>
            </a:r>
            <a:r>
              <a:rPr lang="en-US" altLang="id-ID" sz="2000" dirty="0" err="1"/>
              <a:t>diciptakan</a:t>
            </a:r>
            <a:r>
              <a:rPr lang="en-US" altLang="id-ID" sz="2000" dirty="0"/>
              <a:t> </a:t>
            </a:r>
            <a:r>
              <a:rPr lang="en-US" altLang="id-ID" sz="2000" dirty="0" err="1"/>
              <a:t>atau</a:t>
            </a:r>
            <a:r>
              <a:rPr lang="en-US" altLang="id-ID" sz="2000" dirty="0"/>
              <a:t> </a:t>
            </a:r>
            <a:r>
              <a:rPr lang="en-US" altLang="id-ID" sz="2000" dirty="0" err="1"/>
              <a:t>dimusnahkan</a:t>
            </a:r>
            <a:r>
              <a:rPr lang="en-US" altLang="id-ID" sz="2000" dirty="0"/>
              <a:t> </a:t>
            </a:r>
            <a:r>
              <a:rPr lang="en-US" altLang="id-ID" sz="2000" dirty="0" err="1"/>
              <a:t>dalam</a:t>
            </a:r>
            <a:r>
              <a:rPr lang="en-US" altLang="id-ID" sz="2000" dirty="0"/>
              <a:t> </a:t>
            </a:r>
            <a:r>
              <a:rPr lang="en-US" altLang="id-ID" sz="2000" dirty="0" err="1"/>
              <a:t>antrian</a:t>
            </a:r>
            <a:r>
              <a:rPr lang="en-US" altLang="id-ID" sz="2000" dirty="0"/>
              <a:t>, </a:t>
            </a:r>
            <a:r>
              <a:rPr lang="en-US" altLang="id-ID" sz="2000" dirty="0" err="1"/>
              <a:t>maka</a:t>
            </a:r>
            <a:r>
              <a:rPr lang="en-US" altLang="id-ID" sz="2000" dirty="0"/>
              <a:t> </a:t>
            </a:r>
            <a:r>
              <a:rPr lang="en-US" altLang="id-ID" sz="2000" dirty="0" err="1"/>
              <a:t>laju</a:t>
            </a:r>
            <a:r>
              <a:rPr lang="en-US" altLang="id-ID" sz="2000" dirty="0"/>
              <a:t> </a:t>
            </a:r>
            <a:r>
              <a:rPr lang="en-US" altLang="id-ID" sz="2000" dirty="0" err="1"/>
              <a:t>keberangkatan</a:t>
            </a:r>
            <a:r>
              <a:rPr lang="en-US" altLang="id-ID" sz="2000" dirty="0"/>
              <a:t> </a:t>
            </a:r>
            <a:r>
              <a:rPr lang="en-US" altLang="id-ID" sz="2000" dirty="0" err="1"/>
              <a:t>keluar</a:t>
            </a:r>
            <a:r>
              <a:rPr lang="en-US" altLang="id-ID" sz="2000" dirty="0"/>
              <a:t> </a:t>
            </a:r>
            <a:r>
              <a:rPr lang="en-US" altLang="id-ID" sz="2000" dirty="0" err="1"/>
              <a:t>dari</a:t>
            </a:r>
            <a:r>
              <a:rPr lang="en-US" altLang="id-ID" sz="2000" dirty="0"/>
              <a:t> </a:t>
            </a:r>
            <a:r>
              <a:rPr lang="en-US" altLang="id-ID" sz="2000" dirty="0" err="1"/>
              <a:t>antrian</a:t>
            </a:r>
            <a:r>
              <a:rPr lang="en-US" altLang="id-ID" sz="2000" dirty="0"/>
              <a:t> </a:t>
            </a:r>
            <a:r>
              <a:rPr lang="en-US" altLang="id-ID" sz="2000" dirty="0" err="1"/>
              <a:t>sama</a:t>
            </a:r>
            <a:r>
              <a:rPr lang="en-US" altLang="id-ID" sz="2000" dirty="0"/>
              <a:t> </a:t>
            </a:r>
            <a:r>
              <a:rPr lang="en-US" altLang="id-ID" sz="2000" dirty="0" err="1"/>
              <a:t>dengan</a:t>
            </a:r>
            <a:r>
              <a:rPr lang="en-US" altLang="id-ID" sz="2000" dirty="0"/>
              <a:t> </a:t>
            </a:r>
            <a:r>
              <a:rPr lang="en-US" altLang="id-ID" sz="2000" dirty="0" err="1"/>
              <a:t>laju</a:t>
            </a:r>
            <a:r>
              <a:rPr lang="en-US" altLang="id-ID" sz="2000" dirty="0"/>
              <a:t> </a:t>
            </a:r>
            <a:r>
              <a:rPr lang="en-US" altLang="id-ID" sz="2000" dirty="0" err="1"/>
              <a:t>kedatangan</a:t>
            </a:r>
            <a:r>
              <a:rPr lang="en-US" altLang="id-ID" sz="2000" dirty="0"/>
              <a:t> </a:t>
            </a:r>
            <a:r>
              <a:rPr lang="en-US" altLang="id-ID" sz="2000" dirty="0" err="1"/>
              <a:t>ke</a:t>
            </a:r>
            <a:r>
              <a:rPr lang="en-US" altLang="id-ID" sz="2000" dirty="0"/>
              <a:t> </a:t>
            </a:r>
            <a:r>
              <a:rPr lang="en-US" altLang="id-ID" sz="2000" dirty="0" err="1"/>
              <a:t>dalam</a:t>
            </a:r>
            <a:r>
              <a:rPr lang="en-US" altLang="id-ID" sz="2000" dirty="0"/>
              <a:t> </a:t>
            </a:r>
            <a:r>
              <a:rPr lang="en-US" altLang="id-ID" sz="2000" dirty="0" err="1"/>
              <a:t>antrian</a:t>
            </a:r>
            <a:r>
              <a:rPr lang="en-US" altLang="id-ID" sz="2000" dirty="0"/>
              <a:t> (</a:t>
            </a:r>
            <a:r>
              <a:rPr lang="en-US" altLang="id-ID" sz="2000" dirty="0" err="1"/>
              <a:t>dalam</a:t>
            </a:r>
            <a:r>
              <a:rPr lang="en-US" altLang="id-ID" sz="2000" dirty="0"/>
              <a:t> </a:t>
            </a:r>
            <a:r>
              <a:rPr lang="en-US" altLang="id-ID" sz="2000" dirty="0" err="1"/>
              <a:t>jangka</a:t>
            </a:r>
            <a:r>
              <a:rPr lang="en-US" altLang="id-ID" sz="2000" dirty="0"/>
              <a:t> </a:t>
            </a:r>
            <a:r>
              <a:rPr lang="en-US" altLang="id-ID" sz="2000" dirty="0" err="1"/>
              <a:t>panjang</a:t>
            </a:r>
            <a:r>
              <a:rPr lang="en-US" altLang="id-ID" sz="2000" dirty="0"/>
              <a:t>).</a:t>
            </a:r>
          </a:p>
          <a:p>
            <a:pPr lvl="1" eaLnBrk="1" hangingPunct="1"/>
            <a:r>
              <a:rPr lang="en-US" altLang="id-ID" sz="2000" dirty="0"/>
              <a:t>Jika customers </a:t>
            </a:r>
            <a:r>
              <a:rPr lang="en-US" altLang="id-ID" sz="2000" dirty="0" err="1"/>
              <a:t>ke</a:t>
            </a:r>
            <a:r>
              <a:rPr lang="en-US" altLang="id-ID" sz="2000" dirty="0"/>
              <a:t> </a:t>
            </a:r>
            <a:r>
              <a:rPr lang="en-US" altLang="id-ID" sz="2000" dirty="0" err="1"/>
              <a:t>antrean</a:t>
            </a:r>
            <a:r>
              <a:rPr lang="en-US" altLang="id-ID" sz="2000" dirty="0"/>
              <a:t> </a:t>
            </a:r>
            <a:r>
              <a:rPr lang="en-US" altLang="id-ID" sz="2000" i="1" dirty="0" err="1"/>
              <a:t>i</a:t>
            </a:r>
            <a:r>
              <a:rPr lang="en-US" altLang="id-ID" sz="2000" dirty="0"/>
              <a:t> pada </a:t>
            </a:r>
            <a:r>
              <a:rPr lang="en-US" altLang="id-ID" sz="2000" dirty="0" err="1"/>
              <a:t>laju</a:t>
            </a:r>
            <a:r>
              <a:rPr lang="en-US" altLang="id-ID" sz="2000" dirty="0"/>
              <a:t> \ </a:t>
            </a:r>
            <a:r>
              <a:rPr lang="en-US" altLang="id-ID" sz="2000" i="1" dirty="0">
                <a:latin typeface="Symbol" panose="05050102010706020507" pitchFamily="18" charset="2"/>
              </a:rPr>
              <a:t>l</a:t>
            </a:r>
            <a:r>
              <a:rPr lang="en-US" altLang="id-ID" sz="2000" u="sng" baseline="-25000" dirty="0"/>
              <a:t>i</a:t>
            </a:r>
            <a:r>
              <a:rPr lang="en-US" altLang="id-ID" sz="2000" dirty="0"/>
              <a:t>, dan </a:t>
            </a:r>
            <a:r>
              <a:rPr lang="en-US" altLang="id-ID" sz="2000" dirty="0" err="1"/>
              <a:t>suatu</a:t>
            </a:r>
            <a:r>
              <a:rPr lang="en-US" altLang="id-ID" sz="2000" dirty="0"/>
              <a:t> </a:t>
            </a:r>
            <a:r>
              <a:rPr lang="en-US" altLang="id-ID" sz="2000" dirty="0" err="1"/>
              <a:t>pecahan</a:t>
            </a:r>
            <a:r>
              <a:rPr lang="en-US" altLang="id-ID" sz="2000" dirty="0"/>
              <a:t> </a:t>
            </a:r>
            <a:r>
              <a:rPr lang="en-US" altLang="id-ID" sz="2000" i="1" dirty="0"/>
              <a:t>0 </a:t>
            </a:r>
            <a:r>
              <a:rPr lang="en-US" altLang="id-ID" sz="2000" dirty="0">
                <a:latin typeface="Symbol" panose="05050102010706020507" pitchFamily="18" charset="2"/>
              </a:rPr>
              <a:t>£</a:t>
            </a:r>
            <a:r>
              <a:rPr lang="en-US" altLang="id-ID" sz="2000" i="1" dirty="0"/>
              <a:t> </a:t>
            </a:r>
            <a:r>
              <a:rPr lang="en-US" altLang="id-ID" sz="2000" i="1" dirty="0" err="1"/>
              <a:t>p</a:t>
            </a:r>
            <a:r>
              <a:rPr lang="en-US" altLang="id-ID" sz="2000" u="sng" baseline="-25000" dirty="0" err="1"/>
              <a:t>ij</a:t>
            </a:r>
            <a:r>
              <a:rPr lang="en-US" altLang="id-ID" sz="2000" u="sng" baseline="-25000" dirty="0"/>
              <a:t> </a:t>
            </a:r>
            <a:r>
              <a:rPr lang="en-US" altLang="id-ID" sz="2000" dirty="0">
                <a:latin typeface="Symbol" panose="05050102010706020507" pitchFamily="18" charset="2"/>
              </a:rPr>
              <a:t>£</a:t>
            </a:r>
            <a:r>
              <a:rPr lang="en-US" altLang="id-ID" sz="2000" u="sng" baseline="-25000" dirty="0"/>
              <a:t> </a:t>
            </a:r>
            <a:r>
              <a:rPr lang="en-US" altLang="id-ID" sz="2000" i="1" dirty="0"/>
              <a:t>1</a:t>
            </a:r>
            <a:r>
              <a:rPr lang="en-US" altLang="id-ID" sz="2000" dirty="0"/>
              <a:t> </a:t>
            </a:r>
            <a:r>
              <a:rPr lang="en-US" altLang="id-ID" sz="2000" dirty="0" err="1"/>
              <a:t>darinya</a:t>
            </a:r>
            <a:r>
              <a:rPr lang="en-US" altLang="id-ID" sz="2000" dirty="0"/>
              <a:t> </a:t>
            </a:r>
            <a:r>
              <a:rPr lang="en-US" altLang="id-ID" sz="2000" dirty="0" err="1"/>
              <a:t>diputarkan</a:t>
            </a:r>
            <a:r>
              <a:rPr lang="en-US" altLang="id-ID" sz="2000" dirty="0"/>
              <a:t> </a:t>
            </a:r>
            <a:r>
              <a:rPr lang="en-US" altLang="id-ID" sz="2000" dirty="0" err="1"/>
              <a:t>ke</a:t>
            </a:r>
            <a:r>
              <a:rPr lang="en-US" altLang="id-ID" sz="2000" dirty="0"/>
              <a:t> </a:t>
            </a:r>
            <a:r>
              <a:rPr lang="en-US" altLang="id-ID" sz="2000" dirty="0" err="1"/>
              <a:t>antrean</a:t>
            </a:r>
            <a:r>
              <a:rPr lang="en-US" altLang="id-ID" sz="2000" dirty="0"/>
              <a:t> </a:t>
            </a:r>
            <a:r>
              <a:rPr lang="en-US" altLang="id-ID" sz="2000" dirty="0" err="1"/>
              <a:t>jsampai</a:t>
            </a:r>
            <a:r>
              <a:rPr lang="en-US" altLang="id-ID" sz="2000" dirty="0"/>
              <a:t> </a:t>
            </a:r>
            <a:r>
              <a:rPr lang="en-US" altLang="id-ID" sz="2000" dirty="0" err="1"/>
              <a:t>keberangkatan</a:t>
            </a:r>
            <a:r>
              <a:rPr lang="en-US" altLang="id-ID" sz="2000" dirty="0"/>
              <a:t>, </a:t>
            </a:r>
            <a:r>
              <a:rPr lang="en-US" altLang="id-ID" sz="2000" dirty="0" err="1"/>
              <a:t>maka</a:t>
            </a:r>
            <a:r>
              <a:rPr lang="en-US" altLang="id-ID" sz="2000" dirty="0"/>
              <a:t> </a:t>
            </a:r>
            <a:r>
              <a:rPr lang="en-US" altLang="id-ID" sz="2000" dirty="0" err="1"/>
              <a:t>laju</a:t>
            </a:r>
            <a:r>
              <a:rPr lang="en-US" altLang="id-ID" sz="2000" dirty="0"/>
              <a:t> </a:t>
            </a:r>
            <a:r>
              <a:rPr lang="en-US" altLang="id-ID" sz="2000" dirty="0" err="1"/>
              <a:t>kedatangan</a:t>
            </a:r>
            <a:r>
              <a:rPr lang="en-US" altLang="id-ID" sz="2000" dirty="0"/>
              <a:t> </a:t>
            </a:r>
            <a:r>
              <a:rPr lang="en-US" altLang="id-ID" sz="2000" i="1" dirty="0" err="1"/>
              <a:t>i</a:t>
            </a:r>
            <a:r>
              <a:rPr lang="en-US" altLang="id-ID" sz="2000" dirty="0"/>
              <a:t> </a:t>
            </a:r>
            <a:r>
              <a:rPr lang="en-US" altLang="id-ID" sz="2000" dirty="0" err="1"/>
              <a:t>ke</a:t>
            </a:r>
            <a:r>
              <a:rPr lang="en-US" altLang="id-ID" sz="2000" dirty="0"/>
              <a:t> </a:t>
            </a:r>
            <a:r>
              <a:rPr lang="en-US" altLang="id-ID" sz="2000" dirty="0" err="1"/>
              <a:t>antrean</a:t>
            </a:r>
            <a:r>
              <a:rPr lang="en-US" altLang="id-ID" sz="2000" dirty="0"/>
              <a:t> \ </a:t>
            </a:r>
            <a:r>
              <a:rPr lang="en-US" altLang="id-ID" sz="2000" i="1" dirty="0"/>
              <a:t>j</a:t>
            </a:r>
            <a:r>
              <a:rPr lang="en-US" altLang="id-ID" sz="2000" dirty="0"/>
              <a:t> </a:t>
            </a:r>
            <a:r>
              <a:rPr lang="en-US" altLang="id-ID" sz="2000" dirty="0" err="1"/>
              <a:t>adalah</a:t>
            </a:r>
            <a:r>
              <a:rPr lang="en-US" altLang="id-ID" sz="2000" dirty="0"/>
              <a:t> </a:t>
            </a:r>
            <a:r>
              <a:rPr lang="en-US" altLang="id-ID" sz="2000" i="1" dirty="0" err="1">
                <a:latin typeface="Symbol" panose="05050102010706020507" pitchFamily="18" charset="2"/>
              </a:rPr>
              <a:t>l</a:t>
            </a:r>
            <a:r>
              <a:rPr lang="en-US" altLang="id-ID" sz="2000" u="sng" baseline="-25000" dirty="0" err="1"/>
              <a:t>i</a:t>
            </a:r>
            <a:r>
              <a:rPr lang="en-US" altLang="id-ID" sz="2000" i="1" dirty="0" err="1"/>
              <a:t>p</a:t>
            </a:r>
            <a:r>
              <a:rPr lang="en-US" altLang="id-ID" sz="2000" u="sng" baseline="-25000" dirty="0" err="1"/>
              <a:t>ij</a:t>
            </a:r>
            <a:r>
              <a:rPr lang="en-US" altLang="id-ID" sz="2000" dirty="0"/>
              <a:t> (</a:t>
            </a:r>
            <a:r>
              <a:rPr lang="en-US" altLang="id-ID" sz="2000" dirty="0" err="1"/>
              <a:t>melebihi</a:t>
            </a:r>
            <a:r>
              <a:rPr lang="en-US" altLang="id-ID" sz="2000" dirty="0"/>
              <a:t> </a:t>
            </a:r>
            <a:r>
              <a:rPr lang="en-US" altLang="id-ID" sz="2000" dirty="0" err="1"/>
              <a:t>ambang</a:t>
            </a:r>
            <a:r>
              <a:rPr lang="en-US" altLang="id-ID" sz="2000" dirty="0"/>
              <a:t> batas).</a:t>
            </a:r>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Number Placeholder 6">
            <a:extLst>
              <a:ext uri="{FF2B5EF4-FFF2-40B4-BE49-F238E27FC236}">
                <a16:creationId xmlns:a16="http://schemas.microsoft.com/office/drawing/2014/main" id="{08214E4D-84C2-1365-82FC-BC3777F377AC}"/>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5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4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9pPr>
          </a:lstStyle>
          <a:p>
            <a:pPr>
              <a:spcBef>
                <a:spcPct val="0"/>
              </a:spcBef>
              <a:buClrTx/>
              <a:buSzTx/>
              <a:buFontTx/>
              <a:buNone/>
            </a:pPr>
            <a:fld id="{F59AFF27-B690-4BBE-900F-55AE2B4AAB90}" type="slidenum">
              <a:rPr lang="en-US" altLang="id-ID" sz="1200">
                <a:latin typeface="Arial Black" panose="020B0A04020102020204" pitchFamily="34" charset="0"/>
              </a:rPr>
              <a:pPr>
                <a:spcBef>
                  <a:spcPct val="0"/>
                </a:spcBef>
                <a:buClrTx/>
                <a:buSzTx/>
                <a:buFontTx/>
                <a:buNone/>
              </a:pPr>
              <a:t>41</a:t>
            </a:fld>
            <a:endParaRPr lang="en-US" altLang="id-ID" sz="1200">
              <a:latin typeface="Arial Black" panose="020B0A04020102020204" pitchFamily="34" charset="0"/>
            </a:endParaRPr>
          </a:p>
        </p:txBody>
      </p:sp>
      <p:sp>
        <p:nvSpPr>
          <p:cNvPr id="47107" name="Rectangle 2">
            <a:extLst>
              <a:ext uri="{FF2B5EF4-FFF2-40B4-BE49-F238E27FC236}">
                <a16:creationId xmlns:a16="http://schemas.microsoft.com/office/drawing/2014/main" id="{3D2A4303-6026-81D6-69AD-F1D41533DDE9}"/>
              </a:ext>
            </a:extLst>
          </p:cNvPr>
          <p:cNvSpPr>
            <a:spLocks noGrp="1" noChangeArrowheads="1"/>
          </p:cNvSpPr>
          <p:nvPr>
            <p:ph type="title"/>
          </p:nvPr>
        </p:nvSpPr>
        <p:spPr/>
        <p:txBody>
          <a:bodyPr/>
          <a:lstStyle/>
          <a:p>
            <a:pPr eaLnBrk="1" hangingPunct="1"/>
            <a:r>
              <a:rPr lang="en-US" altLang="id-ID" dirty="0" err="1"/>
              <a:t>Jaringan</a:t>
            </a:r>
            <a:r>
              <a:rPr lang="en-US" altLang="id-ID" dirty="0"/>
              <a:t> </a:t>
            </a:r>
            <a:r>
              <a:rPr lang="en-US" altLang="id-ID"/>
              <a:t>Antrean</a:t>
            </a:r>
            <a:endParaRPr lang="en-US" altLang="id-ID" dirty="0"/>
          </a:p>
        </p:txBody>
      </p:sp>
      <p:sp>
        <p:nvSpPr>
          <p:cNvPr id="47108" name="Rectangle 3">
            <a:extLst>
              <a:ext uri="{FF2B5EF4-FFF2-40B4-BE49-F238E27FC236}">
                <a16:creationId xmlns:a16="http://schemas.microsoft.com/office/drawing/2014/main" id="{4250A856-3F9F-A328-4D38-D19290177D78}"/>
              </a:ext>
            </a:extLst>
          </p:cNvPr>
          <p:cNvSpPr>
            <a:spLocks noGrp="1" noChangeArrowheads="1"/>
          </p:cNvSpPr>
          <p:nvPr>
            <p:ph type="body" sz="half" idx="1"/>
          </p:nvPr>
        </p:nvSpPr>
        <p:spPr>
          <a:xfrm>
            <a:off x="457200" y="1447800"/>
            <a:ext cx="8305800" cy="4953000"/>
          </a:xfrm>
        </p:spPr>
        <p:txBody>
          <a:bodyPr/>
          <a:lstStyle/>
          <a:p>
            <a:pPr lvl="1" eaLnBrk="1" hangingPunct="1"/>
            <a:r>
              <a:rPr lang="en-US" altLang="id-ID" sz="2000"/>
              <a:t>The overall arrival rate into queue j:</a:t>
            </a:r>
          </a:p>
          <a:p>
            <a:pPr lvl="1" eaLnBrk="1" hangingPunct="1"/>
            <a:endParaRPr lang="en-US" altLang="id-ID" sz="2000"/>
          </a:p>
          <a:p>
            <a:pPr lvl="1" eaLnBrk="1" hangingPunct="1"/>
            <a:endParaRPr lang="en-US" altLang="id-ID" sz="2000"/>
          </a:p>
          <a:p>
            <a:pPr lvl="1" eaLnBrk="1" hangingPunct="1"/>
            <a:endParaRPr lang="en-US" altLang="id-ID" sz="2000"/>
          </a:p>
          <a:p>
            <a:pPr lvl="1" eaLnBrk="1" hangingPunct="1"/>
            <a:endParaRPr lang="en-US" altLang="id-ID" sz="2000"/>
          </a:p>
          <a:p>
            <a:pPr lvl="1" eaLnBrk="1" hangingPunct="1"/>
            <a:endParaRPr lang="en-US" altLang="id-ID" sz="2000"/>
          </a:p>
          <a:p>
            <a:pPr lvl="1" eaLnBrk="1" hangingPunct="1"/>
            <a:r>
              <a:rPr lang="en-US" altLang="id-ID" sz="2000"/>
              <a:t>If queue </a:t>
            </a:r>
            <a:r>
              <a:rPr lang="en-US" altLang="id-ID" sz="2000" i="1"/>
              <a:t>j</a:t>
            </a:r>
            <a:r>
              <a:rPr lang="en-US" altLang="id-ID" sz="2000"/>
              <a:t> has </a:t>
            </a:r>
            <a:r>
              <a:rPr lang="en-US" altLang="id-ID" sz="2000" i="1"/>
              <a:t>c</a:t>
            </a:r>
            <a:r>
              <a:rPr lang="en-US" altLang="id-ID" sz="2000" u="sng" baseline="-25000"/>
              <a:t>j</a:t>
            </a:r>
            <a:r>
              <a:rPr lang="en-US" altLang="id-ID" sz="2000" i="1"/>
              <a:t> &lt;</a:t>
            </a:r>
            <a:r>
              <a:rPr lang="en-US" altLang="id-ID" sz="2000"/>
              <a:t> ∞ parallel servers, each working at rate </a:t>
            </a:r>
            <a:r>
              <a:rPr lang="en-US" altLang="id-ID" sz="2000" i="1">
                <a:latin typeface="Symbol" panose="05050102010706020507" pitchFamily="18" charset="2"/>
              </a:rPr>
              <a:t>m</a:t>
            </a:r>
            <a:r>
              <a:rPr lang="en-US" altLang="id-ID" sz="2000" i="1" u="sng" baseline="-25000"/>
              <a:t>j</a:t>
            </a:r>
            <a:r>
              <a:rPr lang="en-US" altLang="id-ID" sz="2000"/>
              <a:t>, then the long-run utilization of each server is </a:t>
            </a:r>
            <a:r>
              <a:rPr lang="en-US" altLang="id-ID" sz="2000" i="1">
                <a:latin typeface="Symbol" panose="05050102010706020507" pitchFamily="18" charset="2"/>
              </a:rPr>
              <a:t>r</a:t>
            </a:r>
            <a:r>
              <a:rPr lang="en-US" altLang="id-ID" sz="2000" i="1" u="sng" baseline="-25000"/>
              <a:t>j</a:t>
            </a:r>
            <a:r>
              <a:rPr lang="en-US" altLang="id-ID" sz="2000" i="1"/>
              <a:t>=</a:t>
            </a:r>
            <a:r>
              <a:rPr lang="en-US" altLang="id-ID" sz="2000" i="1">
                <a:latin typeface="Symbol" panose="05050102010706020507" pitchFamily="18" charset="2"/>
              </a:rPr>
              <a:t>l</a:t>
            </a:r>
            <a:r>
              <a:rPr lang="en-US" altLang="id-ID" sz="2000" i="1" baseline="-25000"/>
              <a:t>j</a:t>
            </a:r>
            <a:r>
              <a:rPr lang="en-US" altLang="id-ID" sz="2000" i="1"/>
              <a:t>/(c</a:t>
            </a:r>
            <a:r>
              <a:rPr lang="en-US" altLang="id-ID" sz="2000" i="1" noProof="1">
                <a:latin typeface="Symbol" panose="05050102010706020507" pitchFamily="18" charset="2"/>
              </a:rPr>
              <a:t>m</a:t>
            </a:r>
            <a:r>
              <a:rPr lang="en-US" altLang="id-ID" sz="2000" i="1" u="sng" baseline="-25000"/>
              <a:t>j</a:t>
            </a:r>
            <a:r>
              <a:rPr lang="en-US" altLang="id-ID" sz="2000" i="1"/>
              <a:t>)</a:t>
            </a:r>
            <a:r>
              <a:rPr lang="en-US" altLang="id-ID" sz="2000"/>
              <a:t> (where </a:t>
            </a:r>
            <a:r>
              <a:rPr lang="en-US" altLang="id-ID" sz="2000" i="1">
                <a:latin typeface="Symbol" panose="05050102010706020507" pitchFamily="18" charset="2"/>
              </a:rPr>
              <a:t>r</a:t>
            </a:r>
            <a:r>
              <a:rPr lang="en-US" altLang="id-ID" sz="2000" i="1" u="sng" baseline="-25000"/>
              <a:t>j</a:t>
            </a:r>
            <a:r>
              <a:rPr lang="en-US" altLang="id-ID" sz="2000" i="1"/>
              <a:t> &lt; 1</a:t>
            </a:r>
            <a:r>
              <a:rPr lang="en-US" altLang="id-ID" sz="2000"/>
              <a:t> for stable queue).</a:t>
            </a:r>
          </a:p>
          <a:p>
            <a:pPr lvl="1" eaLnBrk="1" hangingPunct="1"/>
            <a:r>
              <a:rPr lang="en-US" altLang="id-ID" sz="2000"/>
              <a:t>If arrivals from outside the network form a Poisson process with rate </a:t>
            </a:r>
            <a:r>
              <a:rPr lang="en-US" altLang="id-ID" sz="2000" i="1"/>
              <a:t>a</a:t>
            </a:r>
            <a:r>
              <a:rPr lang="en-US" altLang="id-ID" sz="2000" i="1" baseline="-25000"/>
              <a:t>j</a:t>
            </a:r>
            <a:r>
              <a:rPr lang="en-US" altLang="id-ID" sz="2000"/>
              <a:t> for each queue </a:t>
            </a:r>
            <a:r>
              <a:rPr lang="en-US" altLang="id-ID" sz="2000" i="1"/>
              <a:t>j</a:t>
            </a:r>
            <a:r>
              <a:rPr lang="en-US" altLang="id-ID" sz="2000"/>
              <a:t>, and if there are </a:t>
            </a:r>
            <a:r>
              <a:rPr lang="en-US" altLang="id-ID" sz="2000" i="1"/>
              <a:t>c</a:t>
            </a:r>
            <a:r>
              <a:rPr lang="en-US" altLang="id-ID" sz="2000" i="1" u="sng" baseline="-25000"/>
              <a:t>j</a:t>
            </a:r>
            <a:r>
              <a:rPr lang="en-US" altLang="id-ID" sz="2000"/>
              <a:t> identical servers delivering exponentially distributed service times with mean </a:t>
            </a:r>
            <a:r>
              <a:rPr lang="en-US" altLang="id-ID" sz="2000" i="1"/>
              <a:t>1/</a:t>
            </a:r>
            <a:r>
              <a:rPr lang="en-US" altLang="id-ID" sz="2000" i="1">
                <a:latin typeface="Symbol" panose="05050102010706020507" pitchFamily="18" charset="2"/>
              </a:rPr>
              <a:t>m</a:t>
            </a:r>
            <a:r>
              <a:rPr lang="en-US" altLang="id-ID" sz="2000" i="1" baseline="-25000"/>
              <a:t>j</a:t>
            </a:r>
            <a:r>
              <a:rPr lang="en-US" altLang="id-ID" sz="2000" i="1"/>
              <a:t>,</a:t>
            </a:r>
            <a:r>
              <a:rPr lang="en-US" altLang="id-ID" sz="2000"/>
              <a:t> then, in steady state, queue </a:t>
            </a:r>
            <a:r>
              <a:rPr lang="en-US" altLang="id-ID" sz="2000" i="1"/>
              <a:t>j</a:t>
            </a:r>
            <a:r>
              <a:rPr lang="en-US" altLang="id-ID" sz="2000"/>
              <a:t> behaves likes an </a:t>
            </a:r>
            <a:r>
              <a:rPr lang="en-US" altLang="id-ID" sz="2000" i="1"/>
              <a:t>M/M/c</a:t>
            </a:r>
            <a:r>
              <a:rPr lang="en-US" altLang="id-ID" sz="2000" i="1" baseline="-25000"/>
              <a:t>j</a:t>
            </a:r>
            <a:r>
              <a:rPr lang="en-US" altLang="id-ID" sz="2000"/>
              <a:t> queue with arrival rate</a:t>
            </a:r>
          </a:p>
        </p:txBody>
      </p:sp>
      <mc:AlternateContent xmlns:mc="http://schemas.openxmlformats.org/markup-compatibility/2006" xmlns:a14="http://schemas.microsoft.com/office/drawing/2010/main">
        <mc:Choice Requires="a14">
          <p:sp>
            <p:nvSpPr>
              <p:cNvPr id="47109" name="Object 4">
                <a:extLst>
                  <a:ext uri="{FF2B5EF4-FFF2-40B4-BE49-F238E27FC236}">
                    <a16:creationId xmlns:a16="http://schemas.microsoft.com/office/drawing/2014/main" id="{E7B2A647-9177-50A0-1C6D-0ED8D72F6E10}"/>
                  </a:ext>
                </a:extLst>
              </p:cNvPr>
              <p:cNvSpPr txBox="1">
                <a:spLocks noGrp="1"/>
              </p:cNvSpPr>
              <p:nvPr>
                <p:ph sz="quarter" idx="2"/>
              </p:nvPr>
            </p:nvSpPr>
            <p:spPr bwMode="auto">
              <a:xfrm>
                <a:off x="3124200" y="1828800"/>
                <a:ext cx="2133600" cy="736600"/>
              </a:xfrm>
              <a:prstGeom prst="rect">
                <a:avLst/>
              </a:prstGeom>
              <a:noFill/>
              <a:ln>
                <a:noFill/>
              </a:ln>
              <a:effectLst/>
            </p:spPr>
            <p:txBody>
              <a:bodyPr>
                <a:normAutofit fontScale="55000" lnSpcReduction="20000"/>
              </a:bodyPr>
              <a:lstStyle/>
              <a:p>
                <a:pPr>
                  <a:buNone/>
                </a:pPr>
                <a14:m>
                  <m:oMathPara xmlns:m="http://schemas.openxmlformats.org/officeDocument/2006/math">
                    <m:oMathParaPr>
                      <m:jc m:val="left"/>
                    </m:oMathParaPr>
                    <m:oMath xmlns:m="http://schemas.openxmlformats.org/officeDocument/2006/math">
                      <m:sSub>
                        <m:sSubPr>
                          <m:ctrlPr>
                            <a:rPr lang="en-ID" i="1">
                              <a:solidFill>
                                <a:srgbClr val="000000"/>
                              </a:solidFill>
                              <a:latin typeface="Cambria Math" panose="02040503050406030204" pitchFamily="18" charset="0"/>
                            </a:rPr>
                          </m:ctrlPr>
                        </m:sSubPr>
                        <m:e>
                          <m:r>
                            <a:rPr lang="en-ID" i="1">
                              <a:solidFill>
                                <a:srgbClr val="000000"/>
                              </a:solidFill>
                              <a:latin typeface="Cambria Math" panose="02040503050406030204" pitchFamily="18" charset="0"/>
                            </a:rPr>
                            <m:t>𝜆</m:t>
                          </m:r>
                        </m:e>
                        <m:sub>
                          <m:r>
                            <a:rPr lang="en-ID" i="1">
                              <a:solidFill>
                                <a:srgbClr val="000000"/>
                              </a:solidFill>
                              <a:latin typeface="Cambria Math" panose="02040503050406030204" pitchFamily="18" charset="0"/>
                            </a:rPr>
                            <m:t>𝑗</m:t>
                          </m:r>
                        </m:sub>
                      </m:sSub>
                      <m:r>
                        <a:rPr lang="en-ID" i="1">
                          <a:solidFill>
                            <a:srgbClr val="000000"/>
                          </a:solidFill>
                          <a:latin typeface="Cambria Math" panose="02040503050406030204" pitchFamily="18" charset="0"/>
                        </a:rPr>
                        <m:t>=</m:t>
                      </m:r>
                      <m:sSub>
                        <m:sSubPr>
                          <m:ctrlPr>
                            <a:rPr lang="en-ID" i="1">
                              <a:solidFill>
                                <a:srgbClr val="000000"/>
                              </a:solidFill>
                              <a:latin typeface="Cambria Math" panose="02040503050406030204" pitchFamily="18" charset="0"/>
                            </a:rPr>
                          </m:ctrlPr>
                        </m:sSubPr>
                        <m:e>
                          <m:r>
                            <a:rPr lang="en-ID" i="1">
                              <a:solidFill>
                                <a:srgbClr val="000000"/>
                              </a:solidFill>
                              <a:latin typeface="Cambria Math" panose="02040503050406030204" pitchFamily="18" charset="0"/>
                            </a:rPr>
                            <m:t>𝑎</m:t>
                          </m:r>
                        </m:e>
                        <m:sub>
                          <m:r>
                            <a:rPr lang="en-ID" i="1">
                              <a:solidFill>
                                <a:srgbClr val="000000"/>
                              </a:solidFill>
                              <a:latin typeface="Cambria Math" panose="02040503050406030204" pitchFamily="18" charset="0"/>
                            </a:rPr>
                            <m:t>𝑗</m:t>
                          </m:r>
                        </m:sub>
                      </m:sSub>
                      <m:r>
                        <a:rPr lang="en-ID" i="1">
                          <a:solidFill>
                            <a:srgbClr val="000000"/>
                          </a:solidFill>
                          <a:latin typeface="Cambria Math" panose="02040503050406030204" pitchFamily="18" charset="0"/>
                        </a:rPr>
                        <m:t>+</m:t>
                      </m:r>
                      <m:nary>
                        <m:naryPr>
                          <m:chr m:val="∑"/>
                          <m:supHide m:val="on"/>
                          <m:ctrlPr>
                            <a:rPr lang="en-ID" i="1">
                              <a:solidFill>
                                <a:srgbClr val="000000"/>
                              </a:solidFill>
                              <a:latin typeface="Cambria Math" panose="02040503050406030204" pitchFamily="18" charset="0"/>
                            </a:rPr>
                          </m:ctrlPr>
                        </m:naryPr>
                        <m:sub>
                          <m:r>
                            <m:rPr>
                              <m:nor/>
                            </m:rPr>
                            <a:rPr lang="en-ID" i="0">
                              <a:solidFill>
                                <a:srgbClr val="000000"/>
                              </a:solidFill>
                              <a:latin typeface="Cambria Math" panose="02040503050406030204" pitchFamily="18" charset="0"/>
                            </a:rPr>
                            <m:t>all</m:t>
                          </m:r>
                          <m:r>
                            <m:rPr>
                              <m:nor/>
                            </m:rPr>
                            <a:rPr lang="en-ID" i="0">
                              <a:solidFill>
                                <a:srgbClr val="000000"/>
                              </a:solidFill>
                              <a:latin typeface="Cambria Math" panose="02040503050406030204" pitchFamily="18" charset="0"/>
                            </a:rPr>
                            <m:t> </m:t>
                          </m:r>
                          <m:r>
                            <a:rPr lang="en-ID" i="1">
                              <a:solidFill>
                                <a:srgbClr val="000000"/>
                              </a:solidFill>
                              <a:latin typeface="Cambria Math" panose="02040503050406030204" pitchFamily="18" charset="0"/>
                            </a:rPr>
                            <m:t>𝑖</m:t>
                          </m:r>
                        </m:sub>
                        <m:sup/>
                        <m:e>
                          <m:sSub>
                            <m:sSubPr>
                              <m:ctrlPr>
                                <a:rPr lang="en-ID" i="1">
                                  <a:solidFill>
                                    <a:srgbClr val="000000"/>
                                  </a:solidFill>
                                  <a:latin typeface="Cambria Math" panose="02040503050406030204" pitchFamily="18" charset="0"/>
                                </a:rPr>
                              </m:ctrlPr>
                            </m:sSubPr>
                            <m:e>
                              <m:r>
                                <a:rPr lang="en-ID" i="1">
                                  <a:solidFill>
                                    <a:srgbClr val="000000"/>
                                  </a:solidFill>
                                  <a:latin typeface="Cambria Math" panose="02040503050406030204" pitchFamily="18" charset="0"/>
                                </a:rPr>
                                <m:t>𝜆</m:t>
                              </m:r>
                            </m:e>
                            <m:sub>
                              <m:r>
                                <a:rPr lang="en-ID" i="1">
                                  <a:solidFill>
                                    <a:srgbClr val="000000"/>
                                  </a:solidFill>
                                  <a:latin typeface="Cambria Math" panose="02040503050406030204" pitchFamily="18" charset="0"/>
                                </a:rPr>
                                <m:t>𝑖</m:t>
                              </m:r>
                            </m:sub>
                          </m:sSub>
                          <m:sSub>
                            <m:sSubPr>
                              <m:ctrlPr>
                                <a:rPr lang="en-ID" i="1">
                                  <a:solidFill>
                                    <a:srgbClr val="000000"/>
                                  </a:solidFill>
                                  <a:latin typeface="Cambria Math" panose="02040503050406030204" pitchFamily="18" charset="0"/>
                                </a:rPr>
                              </m:ctrlPr>
                            </m:sSubPr>
                            <m:e>
                              <m:r>
                                <a:rPr lang="en-ID" i="1">
                                  <a:solidFill>
                                    <a:srgbClr val="000000"/>
                                  </a:solidFill>
                                  <a:latin typeface="Cambria Math" panose="02040503050406030204" pitchFamily="18" charset="0"/>
                                </a:rPr>
                                <m:t>𝑝</m:t>
                              </m:r>
                            </m:e>
                            <m:sub>
                              <m:r>
                                <a:rPr lang="en-ID" i="1">
                                  <a:solidFill>
                                    <a:srgbClr val="000000"/>
                                  </a:solidFill>
                                  <a:latin typeface="Cambria Math" panose="02040503050406030204" pitchFamily="18" charset="0"/>
                                </a:rPr>
                                <m:t>𝑖𝑗</m:t>
                              </m:r>
                            </m:sub>
                          </m:sSub>
                        </m:e>
                      </m:nary>
                    </m:oMath>
                  </m:oMathPara>
                </a14:m>
                <a:endParaRPr lang="en-ID"/>
              </a:p>
            </p:txBody>
          </p:sp>
        </mc:Choice>
        <mc:Fallback xmlns="">
          <p:sp>
            <p:nvSpPr>
              <p:cNvPr id="47109" name="Object 4">
                <a:extLst>
                  <a:ext uri="{FF2B5EF4-FFF2-40B4-BE49-F238E27FC236}">
                    <a16:creationId xmlns:a16="http://schemas.microsoft.com/office/drawing/2014/main" id="{E7B2A647-9177-50A0-1C6D-0ED8D72F6E10}"/>
                  </a:ext>
                </a:extLst>
              </p:cNvPr>
              <p:cNvSpPr txBox="1">
                <a:spLocks noRot="1" noChangeAspect="1" noMove="1" noResize="1" noEditPoints="1" noAdjustHandles="1" noChangeArrowheads="1" noChangeShapeType="1" noTextEdit="1"/>
              </p:cNvSpPr>
              <p:nvPr>
                <p:ph sz="quarter" idx="2"/>
              </p:nvPr>
            </p:nvSpPr>
            <p:spPr bwMode="auto">
              <a:xfrm>
                <a:off x="3124200" y="1828800"/>
                <a:ext cx="2133600" cy="736600"/>
              </a:xfrm>
              <a:prstGeom prst="rect">
                <a:avLst/>
              </a:prstGeom>
              <a:blipFill>
                <a:blip r:embed="rId2"/>
                <a:stretch>
                  <a:fillRect/>
                </a:stretch>
              </a:blipFill>
              <a:ln>
                <a:noFill/>
              </a:ln>
              <a:effectLst/>
            </p:spPr>
            <p:txBody>
              <a:bodyPr/>
              <a:lstStyle/>
              <a:p>
                <a:r>
                  <a:rPr lang="en-ID">
                    <a:noFill/>
                  </a:rPr>
                  <a:t> </a:t>
                </a:r>
              </a:p>
            </p:txBody>
          </p:sp>
        </mc:Fallback>
      </mc:AlternateContent>
      <p:sp>
        <p:nvSpPr>
          <p:cNvPr id="47110" name="AutoShape 6">
            <a:extLst>
              <a:ext uri="{FF2B5EF4-FFF2-40B4-BE49-F238E27FC236}">
                <a16:creationId xmlns:a16="http://schemas.microsoft.com/office/drawing/2014/main" id="{880AD443-49FB-0D04-6D61-F32C4A2FA2A6}"/>
              </a:ext>
            </a:extLst>
          </p:cNvPr>
          <p:cNvSpPr>
            <a:spLocks noChangeArrowheads="1"/>
          </p:cNvSpPr>
          <p:nvPr/>
        </p:nvSpPr>
        <p:spPr bwMode="auto">
          <a:xfrm rot="-5400000">
            <a:off x="2743200" y="2171700"/>
            <a:ext cx="723900" cy="1409700"/>
          </a:xfrm>
          <a:prstGeom prst="wedgeRoundRectCallout">
            <a:avLst>
              <a:gd name="adj1" fmla="val 82671"/>
              <a:gd name="adj2" fmla="val 38847"/>
              <a:gd name="adj3" fmla="val 16667"/>
            </a:avLst>
          </a:prstGeom>
          <a:noFill/>
          <a:ln w="9525" algn="ctr">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nchor="ctr"/>
          <a:lstStyle>
            <a:lvl1pPr>
              <a:spcBef>
                <a:spcPct val="20000"/>
              </a:spcBef>
              <a:buClr>
                <a:schemeClr val="bg2"/>
              </a:buClr>
              <a:buSzPct val="75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4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9pPr>
          </a:lstStyle>
          <a:p>
            <a:pPr algn="ctr">
              <a:spcBef>
                <a:spcPct val="0"/>
              </a:spcBef>
              <a:buClrTx/>
              <a:buSzTx/>
              <a:buFontTx/>
              <a:buNone/>
            </a:pPr>
            <a:r>
              <a:rPr lang="en-US" altLang="id-ID" sz="1400"/>
              <a:t>Arrival rate from outside the network</a:t>
            </a:r>
          </a:p>
        </p:txBody>
      </p:sp>
      <p:sp>
        <p:nvSpPr>
          <p:cNvPr id="47111" name="AutoShape 7">
            <a:extLst>
              <a:ext uri="{FF2B5EF4-FFF2-40B4-BE49-F238E27FC236}">
                <a16:creationId xmlns:a16="http://schemas.microsoft.com/office/drawing/2014/main" id="{9511FB25-AFA2-5D59-1E30-8DC0D27BEDEC}"/>
              </a:ext>
            </a:extLst>
          </p:cNvPr>
          <p:cNvSpPr>
            <a:spLocks noChangeArrowheads="1"/>
          </p:cNvSpPr>
          <p:nvPr/>
        </p:nvSpPr>
        <p:spPr bwMode="auto">
          <a:xfrm rot="-5400000">
            <a:off x="5048250" y="2000250"/>
            <a:ext cx="723900" cy="1828800"/>
          </a:xfrm>
          <a:prstGeom prst="wedgeRoundRectCallout">
            <a:avLst>
              <a:gd name="adj1" fmla="val 89032"/>
              <a:gd name="adj2" fmla="val -27694"/>
              <a:gd name="adj3" fmla="val 16667"/>
            </a:avLst>
          </a:prstGeom>
          <a:noFill/>
          <a:ln w="9525" algn="ctr">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nchor="ctr"/>
          <a:lstStyle>
            <a:lvl1pPr>
              <a:spcBef>
                <a:spcPct val="20000"/>
              </a:spcBef>
              <a:buClr>
                <a:schemeClr val="bg2"/>
              </a:buClr>
              <a:buSzPct val="75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4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9pPr>
          </a:lstStyle>
          <a:p>
            <a:pPr algn="ctr">
              <a:spcBef>
                <a:spcPct val="0"/>
              </a:spcBef>
              <a:buClrTx/>
              <a:buSzTx/>
              <a:buFontTx/>
              <a:buNone/>
            </a:pPr>
            <a:r>
              <a:rPr lang="en-US" altLang="id-ID" sz="1400"/>
              <a:t>Sum of arrival rates from other queues in network</a:t>
            </a:r>
          </a:p>
        </p:txBody>
      </p:sp>
      <mc:AlternateContent xmlns:mc="http://schemas.openxmlformats.org/markup-compatibility/2006" xmlns:a14="http://schemas.microsoft.com/office/drawing/2010/main">
        <mc:Choice Requires="a14">
          <p:sp>
            <p:nvSpPr>
              <p:cNvPr id="47112" name="Object 8">
                <a:extLst>
                  <a:ext uri="{FF2B5EF4-FFF2-40B4-BE49-F238E27FC236}">
                    <a16:creationId xmlns:a16="http://schemas.microsoft.com/office/drawing/2014/main" id="{ADADF9B5-40DF-22C5-B9F8-65BC618CB05F}"/>
                  </a:ext>
                </a:extLst>
              </p:cNvPr>
              <p:cNvSpPr txBox="1">
                <a:spLocks noGrp="1"/>
              </p:cNvSpPr>
              <p:nvPr>
                <p:ph sz="quarter" idx="3"/>
              </p:nvPr>
            </p:nvSpPr>
            <p:spPr bwMode="auto">
              <a:xfrm>
                <a:off x="2590800" y="5894388"/>
                <a:ext cx="1905000" cy="658812"/>
              </a:xfrm>
              <a:prstGeom prst="rect">
                <a:avLst/>
              </a:prstGeom>
              <a:noFill/>
              <a:ln>
                <a:noFill/>
              </a:ln>
              <a:effectLst/>
            </p:spPr>
            <p:txBody>
              <a:bodyPr>
                <a:normAutofit fontScale="47500" lnSpcReduction="20000"/>
              </a:bodyPr>
              <a:lstStyle/>
              <a:p>
                <a:pPr>
                  <a:buNone/>
                </a:pPr>
                <a14:m>
                  <m:oMathPara xmlns:m="http://schemas.openxmlformats.org/officeDocument/2006/math">
                    <m:oMathParaPr>
                      <m:jc m:val="left"/>
                    </m:oMathParaPr>
                    <m:oMath xmlns:m="http://schemas.openxmlformats.org/officeDocument/2006/math">
                      <m:sSub>
                        <m:sSubPr>
                          <m:ctrlPr>
                            <a:rPr lang="en-ID" i="1">
                              <a:solidFill>
                                <a:srgbClr val="000000"/>
                              </a:solidFill>
                              <a:latin typeface="Cambria Math" panose="02040503050406030204" pitchFamily="18" charset="0"/>
                            </a:rPr>
                          </m:ctrlPr>
                        </m:sSubPr>
                        <m:e>
                          <m:r>
                            <a:rPr lang="en-ID" i="1">
                              <a:solidFill>
                                <a:srgbClr val="000000"/>
                              </a:solidFill>
                              <a:latin typeface="Cambria Math" panose="02040503050406030204" pitchFamily="18" charset="0"/>
                            </a:rPr>
                            <m:t>𝜆</m:t>
                          </m:r>
                        </m:e>
                        <m:sub>
                          <m:r>
                            <a:rPr lang="en-ID" i="1">
                              <a:solidFill>
                                <a:srgbClr val="000000"/>
                              </a:solidFill>
                              <a:latin typeface="Cambria Math" panose="02040503050406030204" pitchFamily="18" charset="0"/>
                            </a:rPr>
                            <m:t>𝑗</m:t>
                          </m:r>
                        </m:sub>
                      </m:sSub>
                      <m:r>
                        <a:rPr lang="en-ID" i="1">
                          <a:solidFill>
                            <a:srgbClr val="000000"/>
                          </a:solidFill>
                          <a:latin typeface="Cambria Math" panose="02040503050406030204" pitchFamily="18" charset="0"/>
                        </a:rPr>
                        <m:t>=</m:t>
                      </m:r>
                      <m:sSub>
                        <m:sSubPr>
                          <m:ctrlPr>
                            <a:rPr lang="en-ID" i="1">
                              <a:solidFill>
                                <a:srgbClr val="000000"/>
                              </a:solidFill>
                              <a:latin typeface="Cambria Math" panose="02040503050406030204" pitchFamily="18" charset="0"/>
                            </a:rPr>
                          </m:ctrlPr>
                        </m:sSubPr>
                        <m:e>
                          <m:r>
                            <a:rPr lang="en-ID" i="1">
                              <a:solidFill>
                                <a:srgbClr val="000000"/>
                              </a:solidFill>
                              <a:latin typeface="Cambria Math" panose="02040503050406030204" pitchFamily="18" charset="0"/>
                            </a:rPr>
                            <m:t>𝑎</m:t>
                          </m:r>
                        </m:e>
                        <m:sub>
                          <m:r>
                            <a:rPr lang="en-ID" i="1">
                              <a:solidFill>
                                <a:srgbClr val="000000"/>
                              </a:solidFill>
                              <a:latin typeface="Cambria Math" panose="02040503050406030204" pitchFamily="18" charset="0"/>
                            </a:rPr>
                            <m:t>𝑗</m:t>
                          </m:r>
                        </m:sub>
                      </m:sSub>
                      <m:r>
                        <a:rPr lang="en-ID" i="1">
                          <a:solidFill>
                            <a:srgbClr val="000000"/>
                          </a:solidFill>
                          <a:latin typeface="Cambria Math" panose="02040503050406030204" pitchFamily="18" charset="0"/>
                        </a:rPr>
                        <m:t>+</m:t>
                      </m:r>
                      <m:nary>
                        <m:naryPr>
                          <m:chr m:val="∑"/>
                          <m:supHide m:val="on"/>
                          <m:ctrlPr>
                            <a:rPr lang="en-ID" i="1">
                              <a:solidFill>
                                <a:srgbClr val="000000"/>
                              </a:solidFill>
                              <a:latin typeface="Cambria Math" panose="02040503050406030204" pitchFamily="18" charset="0"/>
                            </a:rPr>
                          </m:ctrlPr>
                        </m:naryPr>
                        <m:sub>
                          <m:r>
                            <m:rPr>
                              <m:nor/>
                            </m:rPr>
                            <a:rPr lang="en-ID" i="0">
                              <a:solidFill>
                                <a:srgbClr val="000000"/>
                              </a:solidFill>
                              <a:latin typeface="Cambria Math" panose="02040503050406030204" pitchFamily="18" charset="0"/>
                            </a:rPr>
                            <m:t>all</m:t>
                          </m:r>
                          <m:r>
                            <m:rPr>
                              <m:nor/>
                            </m:rPr>
                            <a:rPr lang="en-ID" i="0">
                              <a:solidFill>
                                <a:srgbClr val="000000"/>
                              </a:solidFill>
                              <a:latin typeface="Cambria Math" panose="02040503050406030204" pitchFamily="18" charset="0"/>
                            </a:rPr>
                            <m:t> </m:t>
                          </m:r>
                          <m:r>
                            <a:rPr lang="en-ID" i="1">
                              <a:solidFill>
                                <a:srgbClr val="000000"/>
                              </a:solidFill>
                              <a:latin typeface="Cambria Math" panose="02040503050406030204" pitchFamily="18" charset="0"/>
                            </a:rPr>
                            <m:t>𝑖</m:t>
                          </m:r>
                        </m:sub>
                        <m:sup/>
                        <m:e>
                          <m:sSub>
                            <m:sSubPr>
                              <m:ctrlPr>
                                <a:rPr lang="en-ID" i="1">
                                  <a:solidFill>
                                    <a:srgbClr val="000000"/>
                                  </a:solidFill>
                                  <a:latin typeface="Cambria Math" panose="02040503050406030204" pitchFamily="18" charset="0"/>
                                </a:rPr>
                              </m:ctrlPr>
                            </m:sSubPr>
                            <m:e>
                              <m:r>
                                <a:rPr lang="en-ID" i="1">
                                  <a:solidFill>
                                    <a:srgbClr val="000000"/>
                                  </a:solidFill>
                                  <a:latin typeface="Cambria Math" panose="02040503050406030204" pitchFamily="18" charset="0"/>
                                </a:rPr>
                                <m:t>𝜆</m:t>
                              </m:r>
                            </m:e>
                            <m:sub>
                              <m:r>
                                <a:rPr lang="en-ID" i="1">
                                  <a:solidFill>
                                    <a:srgbClr val="000000"/>
                                  </a:solidFill>
                                  <a:latin typeface="Cambria Math" panose="02040503050406030204" pitchFamily="18" charset="0"/>
                                </a:rPr>
                                <m:t>𝑖</m:t>
                              </m:r>
                            </m:sub>
                          </m:sSub>
                          <m:sSub>
                            <m:sSubPr>
                              <m:ctrlPr>
                                <a:rPr lang="en-ID" i="1">
                                  <a:solidFill>
                                    <a:srgbClr val="000000"/>
                                  </a:solidFill>
                                  <a:latin typeface="Cambria Math" panose="02040503050406030204" pitchFamily="18" charset="0"/>
                                </a:rPr>
                              </m:ctrlPr>
                            </m:sSubPr>
                            <m:e>
                              <m:r>
                                <a:rPr lang="en-ID" i="1">
                                  <a:solidFill>
                                    <a:srgbClr val="000000"/>
                                  </a:solidFill>
                                  <a:latin typeface="Cambria Math" panose="02040503050406030204" pitchFamily="18" charset="0"/>
                                </a:rPr>
                                <m:t>𝑝</m:t>
                              </m:r>
                            </m:e>
                            <m:sub>
                              <m:r>
                                <a:rPr lang="en-ID" i="1">
                                  <a:solidFill>
                                    <a:srgbClr val="000000"/>
                                  </a:solidFill>
                                  <a:latin typeface="Cambria Math" panose="02040503050406030204" pitchFamily="18" charset="0"/>
                                </a:rPr>
                                <m:t>𝑖𝑗</m:t>
                              </m:r>
                            </m:sub>
                          </m:sSub>
                        </m:e>
                      </m:nary>
                    </m:oMath>
                  </m:oMathPara>
                </a14:m>
                <a:endParaRPr lang="en-ID"/>
              </a:p>
            </p:txBody>
          </p:sp>
        </mc:Choice>
        <mc:Fallback xmlns="">
          <p:sp>
            <p:nvSpPr>
              <p:cNvPr id="47112" name="Object 8">
                <a:extLst>
                  <a:ext uri="{FF2B5EF4-FFF2-40B4-BE49-F238E27FC236}">
                    <a16:creationId xmlns:a16="http://schemas.microsoft.com/office/drawing/2014/main" id="{ADADF9B5-40DF-22C5-B9F8-65BC618CB05F}"/>
                  </a:ext>
                </a:extLst>
              </p:cNvPr>
              <p:cNvSpPr txBox="1">
                <a:spLocks noRot="1" noChangeAspect="1" noMove="1" noResize="1" noEditPoints="1" noAdjustHandles="1" noChangeArrowheads="1" noChangeShapeType="1" noTextEdit="1"/>
              </p:cNvSpPr>
              <p:nvPr>
                <p:ph sz="quarter" idx="3"/>
              </p:nvPr>
            </p:nvSpPr>
            <p:spPr bwMode="auto">
              <a:xfrm>
                <a:off x="2590800" y="5894388"/>
                <a:ext cx="1905000" cy="658812"/>
              </a:xfrm>
              <a:prstGeom prst="rect">
                <a:avLst/>
              </a:prstGeom>
              <a:blipFill>
                <a:blip r:embed="rId3"/>
                <a:stretch>
                  <a:fillRect t="-100926" r="-18211" b="-130556"/>
                </a:stretch>
              </a:blipFill>
              <a:ln>
                <a:noFill/>
              </a:ln>
              <a:effectLst/>
            </p:spPr>
            <p:txBody>
              <a:bodyPr/>
              <a:lstStyle/>
              <a:p>
                <a:r>
                  <a:rPr lang="en-ID">
                    <a:noFill/>
                  </a:rPr>
                  <a:t> </a:t>
                </a:r>
              </a:p>
            </p:txBody>
          </p:sp>
        </mc:Fallback>
      </mc:AlternateContent>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Number Placeholder 6">
            <a:extLst>
              <a:ext uri="{FF2B5EF4-FFF2-40B4-BE49-F238E27FC236}">
                <a16:creationId xmlns:a16="http://schemas.microsoft.com/office/drawing/2014/main" id="{DA1B42EF-0BD3-B086-5DB1-961DA7CBD22D}"/>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5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4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9pPr>
          </a:lstStyle>
          <a:p>
            <a:pPr>
              <a:spcBef>
                <a:spcPct val="0"/>
              </a:spcBef>
              <a:buClrTx/>
              <a:buSzTx/>
              <a:buFontTx/>
              <a:buNone/>
            </a:pPr>
            <a:fld id="{B67446B7-5A7D-4D2B-936A-8E9E9BD83A79}" type="slidenum">
              <a:rPr lang="en-US" altLang="id-ID" sz="1200">
                <a:latin typeface="Arial Black" panose="020B0A04020102020204" pitchFamily="34" charset="0"/>
              </a:rPr>
              <a:pPr>
                <a:spcBef>
                  <a:spcPct val="0"/>
                </a:spcBef>
                <a:buClrTx/>
                <a:buSzTx/>
                <a:buFontTx/>
                <a:buNone/>
              </a:pPr>
              <a:t>42</a:t>
            </a:fld>
            <a:endParaRPr lang="en-US" altLang="id-ID" sz="1200">
              <a:latin typeface="Arial Black" panose="020B0A04020102020204" pitchFamily="34" charset="0"/>
            </a:endParaRPr>
          </a:p>
        </p:txBody>
      </p:sp>
      <p:sp>
        <p:nvSpPr>
          <p:cNvPr id="48131" name="Rectangle 2">
            <a:extLst>
              <a:ext uri="{FF2B5EF4-FFF2-40B4-BE49-F238E27FC236}">
                <a16:creationId xmlns:a16="http://schemas.microsoft.com/office/drawing/2014/main" id="{71193498-F097-F2EA-033E-49CD94A2B5F9}"/>
              </a:ext>
            </a:extLst>
          </p:cNvPr>
          <p:cNvSpPr>
            <a:spLocks noGrp="1" noChangeArrowheads="1"/>
          </p:cNvSpPr>
          <p:nvPr>
            <p:ph type="title"/>
          </p:nvPr>
        </p:nvSpPr>
        <p:spPr/>
        <p:txBody>
          <a:bodyPr/>
          <a:lstStyle/>
          <a:p>
            <a:pPr eaLnBrk="1" hangingPunct="1"/>
            <a:r>
              <a:rPr lang="en-US" altLang="id-ID"/>
              <a:t>Network of Queues</a:t>
            </a:r>
          </a:p>
        </p:txBody>
      </p:sp>
      <p:sp>
        <p:nvSpPr>
          <p:cNvPr id="48132" name="Rectangle 3">
            <a:extLst>
              <a:ext uri="{FF2B5EF4-FFF2-40B4-BE49-F238E27FC236}">
                <a16:creationId xmlns:a16="http://schemas.microsoft.com/office/drawing/2014/main" id="{40205FD9-2AFE-5C21-8663-93E6232B5F61}"/>
              </a:ext>
            </a:extLst>
          </p:cNvPr>
          <p:cNvSpPr>
            <a:spLocks noGrp="1" noChangeArrowheads="1"/>
          </p:cNvSpPr>
          <p:nvPr>
            <p:ph type="body" sz="half" idx="1"/>
          </p:nvPr>
        </p:nvSpPr>
        <p:spPr>
          <a:xfrm>
            <a:off x="457200" y="1447800"/>
            <a:ext cx="8305800" cy="4953000"/>
          </a:xfrm>
        </p:spPr>
        <p:txBody>
          <a:bodyPr/>
          <a:lstStyle/>
          <a:p>
            <a:pPr eaLnBrk="1" hangingPunct="1"/>
            <a:r>
              <a:rPr lang="en-US" altLang="id-ID" sz="2400"/>
              <a:t>Discount store example: </a:t>
            </a:r>
          </a:p>
          <a:p>
            <a:pPr lvl="1" eaLnBrk="1" hangingPunct="1"/>
            <a:r>
              <a:rPr lang="en-US" altLang="id-ID" sz="2000"/>
              <a:t>Suppose customers arrive at the rate </a:t>
            </a:r>
            <a:r>
              <a:rPr lang="en-US" altLang="id-ID" sz="2000" i="1"/>
              <a:t>80</a:t>
            </a:r>
            <a:r>
              <a:rPr lang="en-US" altLang="id-ID" sz="2000"/>
              <a:t> per hour and </a:t>
            </a:r>
            <a:r>
              <a:rPr lang="en-US" altLang="id-ID" sz="2000" i="1"/>
              <a:t>40%</a:t>
            </a:r>
            <a:r>
              <a:rPr lang="en-US" altLang="id-ID" sz="2000"/>
              <a:t> choose self-service. Hence:</a:t>
            </a:r>
          </a:p>
          <a:p>
            <a:pPr lvl="2" eaLnBrk="1" hangingPunct="1"/>
            <a:r>
              <a:rPr lang="en-US" altLang="id-ID" sz="1800"/>
              <a:t>Arrival rate to service center 1 is </a:t>
            </a:r>
            <a:r>
              <a:rPr lang="en-US" altLang="id-ID" sz="1800" i="1">
                <a:latin typeface="Symbol" panose="05050102010706020507" pitchFamily="18" charset="2"/>
              </a:rPr>
              <a:t>l</a:t>
            </a:r>
            <a:r>
              <a:rPr lang="en-US" altLang="id-ID" sz="1800" i="1" baseline="-25000"/>
              <a:t>1</a:t>
            </a:r>
            <a:r>
              <a:rPr lang="en-US" altLang="id-ID" sz="1800" i="1"/>
              <a:t> = 80(0.4) = 32</a:t>
            </a:r>
            <a:r>
              <a:rPr lang="en-US" altLang="id-ID" sz="1800"/>
              <a:t> per hour</a:t>
            </a:r>
          </a:p>
          <a:p>
            <a:pPr lvl="2" eaLnBrk="1" hangingPunct="1"/>
            <a:r>
              <a:rPr lang="en-US" altLang="id-ID" sz="1800"/>
              <a:t>Arrival rate to service center 2 is </a:t>
            </a:r>
            <a:r>
              <a:rPr lang="en-US" altLang="id-ID" sz="1800" i="1">
                <a:latin typeface="Symbol" panose="05050102010706020507" pitchFamily="18" charset="2"/>
              </a:rPr>
              <a:t>l</a:t>
            </a:r>
            <a:r>
              <a:rPr lang="en-US" altLang="id-ID" sz="1800" i="1" baseline="-25000"/>
              <a:t>2</a:t>
            </a:r>
            <a:r>
              <a:rPr lang="en-US" altLang="id-ID" sz="1800" i="1"/>
              <a:t> = 80(0.6) = 48</a:t>
            </a:r>
            <a:r>
              <a:rPr lang="en-US" altLang="id-ID" sz="1800"/>
              <a:t> per hour.</a:t>
            </a:r>
          </a:p>
          <a:p>
            <a:pPr lvl="1" eaLnBrk="1" hangingPunct="1"/>
            <a:r>
              <a:rPr lang="en-US" altLang="id-ID" sz="2000" i="1"/>
              <a:t>c</a:t>
            </a:r>
            <a:r>
              <a:rPr lang="en-US" altLang="id-ID" sz="2000" i="1" baseline="-25000"/>
              <a:t>2</a:t>
            </a:r>
            <a:r>
              <a:rPr lang="en-US" altLang="id-ID" sz="2000" i="1"/>
              <a:t> = 3</a:t>
            </a:r>
            <a:r>
              <a:rPr lang="en-US" altLang="id-ID" sz="2000"/>
              <a:t> clerks and </a:t>
            </a:r>
            <a:r>
              <a:rPr lang="en-US" altLang="id-ID" sz="2000" i="1">
                <a:latin typeface="Symbol" panose="05050102010706020507" pitchFamily="18" charset="2"/>
              </a:rPr>
              <a:t>m</a:t>
            </a:r>
            <a:r>
              <a:rPr lang="en-US" altLang="id-ID" sz="2000" i="1" baseline="-25000"/>
              <a:t>2</a:t>
            </a:r>
            <a:r>
              <a:rPr lang="en-US" altLang="id-ID" sz="2000" i="1"/>
              <a:t> = 20</a:t>
            </a:r>
            <a:r>
              <a:rPr lang="en-US" altLang="id-ID" sz="2000"/>
              <a:t> customers per hour.</a:t>
            </a:r>
          </a:p>
          <a:p>
            <a:pPr lvl="1" eaLnBrk="1" hangingPunct="1"/>
            <a:r>
              <a:rPr lang="en-US" altLang="id-ID" sz="2000"/>
              <a:t>The long-run utilization of the clerks is:</a:t>
            </a:r>
          </a:p>
          <a:p>
            <a:pPr lvl="1" eaLnBrk="1" hangingPunct="1">
              <a:buFont typeface="Wingdings" panose="05000000000000000000" pitchFamily="2" charset="2"/>
              <a:buNone/>
            </a:pPr>
            <a:r>
              <a:rPr lang="en-US" altLang="id-ID" sz="2000" i="1"/>
              <a:t>				</a:t>
            </a:r>
            <a:r>
              <a:rPr lang="en-US" altLang="id-ID" sz="2000" i="1">
                <a:latin typeface="Symbol" panose="05050102010706020507" pitchFamily="18" charset="2"/>
              </a:rPr>
              <a:t>r</a:t>
            </a:r>
            <a:r>
              <a:rPr lang="en-US" altLang="id-ID" sz="2000" i="1" baseline="-25000"/>
              <a:t>2</a:t>
            </a:r>
            <a:r>
              <a:rPr lang="en-US" altLang="id-ID" sz="2000" i="1"/>
              <a:t> = 48/(3*20) = 0.8</a:t>
            </a:r>
            <a:endParaRPr lang="en-US" altLang="id-ID" sz="2000"/>
          </a:p>
          <a:p>
            <a:pPr lvl="1" eaLnBrk="1" hangingPunct="1"/>
            <a:r>
              <a:rPr lang="en-US" altLang="id-ID" sz="2000"/>
              <a:t>All customers must see the cashier at service center 3, the overall rate to service center 3 is </a:t>
            </a:r>
            <a:r>
              <a:rPr lang="en-US" altLang="id-ID" sz="2000" i="1">
                <a:latin typeface="Symbol" panose="05050102010706020507" pitchFamily="18" charset="2"/>
              </a:rPr>
              <a:t>l</a:t>
            </a:r>
            <a:r>
              <a:rPr lang="en-US" altLang="id-ID" sz="2000" i="1" baseline="-25000"/>
              <a:t>3</a:t>
            </a:r>
            <a:r>
              <a:rPr lang="en-US" altLang="id-ID" sz="2000" i="1"/>
              <a:t> = </a:t>
            </a:r>
            <a:r>
              <a:rPr lang="en-US" altLang="id-ID" sz="2000" i="1">
                <a:latin typeface="Symbol" panose="05050102010706020507" pitchFamily="18" charset="2"/>
              </a:rPr>
              <a:t>l</a:t>
            </a:r>
            <a:r>
              <a:rPr lang="en-US" altLang="id-ID" sz="2000" i="1" baseline="-25000"/>
              <a:t>1</a:t>
            </a:r>
            <a:r>
              <a:rPr lang="en-US" altLang="id-ID" sz="2000" i="1"/>
              <a:t> + </a:t>
            </a:r>
            <a:r>
              <a:rPr lang="en-US" altLang="id-ID" sz="2000" i="1">
                <a:latin typeface="Symbol" panose="05050102010706020507" pitchFamily="18" charset="2"/>
              </a:rPr>
              <a:t>l</a:t>
            </a:r>
            <a:r>
              <a:rPr lang="en-US" altLang="id-ID" sz="2000" i="1" baseline="-25000"/>
              <a:t>2</a:t>
            </a:r>
            <a:r>
              <a:rPr lang="en-US" altLang="id-ID" sz="2000" i="1"/>
              <a:t> = 80</a:t>
            </a:r>
            <a:r>
              <a:rPr lang="en-US" altLang="id-ID" sz="2000"/>
              <a:t> per hour.</a:t>
            </a:r>
          </a:p>
          <a:p>
            <a:pPr lvl="2" eaLnBrk="1" hangingPunct="1"/>
            <a:r>
              <a:rPr lang="en-US" altLang="id-ID" sz="1800"/>
              <a:t>If </a:t>
            </a:r>
            <a:r>
              <a:rPr lang="en-US" altLang="id-ID" sz="1800" i="1">
                <a:latin typeface="Symbol" panose="05050102010706020507" pitchFamily="18" charset="2"/>
              </a:rPr>
              <a:t>m</a:t>
            </a:r>
            <a:r>
              <a:rPr lang="en-US" altLang="id-ID" sz="1800" i="1" baseline="-25000"/>
              <a:t>3</a:t>
            </a:r>
            <a:r>
              <a:rPr lang="en-US" altLang="id-ID" sz="1800" i="1"/>
              <a:t> = 90</a:t>
            </a:r>
            <a:r>
              <a:rPr lang="en-US" altLang="id-ID" sz="1800"/>
              <a:t> per hour, then the utilization of the cashier is:</a:t>
            </a:r>
          </a:p>
          <a:p>
            <a:pPr lvl="2" eaLnBrk="1" hangingPunct="1">
              <a:buFont typeface="Wingdings" panose="05000000000000000000" pitchFamily="2" charset="2"/>
              <a:buNone/>
            </a:pPr>
            <a:r>
              <a:rPr lang="en-US" altLang="id-ID" sz="1800" i="1"/>
              <a:t>			</a:t>
            </a:r>
            <a:r>
              <a:rPr lang="en-US" altLang="id-ID" sz="1800" i="1">
                <a:latin typeface="Symbol" panose="05050102010706020507" pitchFamily="18" charset="2"/>
              </a:rPr>
              <a:t>r</a:t>
            </a:r>
            <a:r>
              <a:rPr lang="en-US" altLang="id-ID" sz="1800" i="1" baseline="-25000"/>
              <a:t>3</a:t>
            </a:r>
            <a:r>
              <a:rPr lang="en-US" altLang="id-ID" sz="1800" i="1"/>
              <a:t> = 80/90 = 0.89</a:t>
            </a:r>
          </a:p>
          <a:p>
            <a:pPr lvl="2" eaLnBrk="1" hangingPunct="1"/>
            <a:endParaRPr lang="en-US" altLang="id-ID" sz="1800"/>
          </a:p>
          <a:p>
            <a:pPr lvl="1" eaLnBrk="1" hangingPunct="1"/>
            <a:endParaRPr lang="en-US" altLang="id-ID" sz="2000"/>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Number Placeholder 5">
            <a:extLst>
              <a:ext uri="{FF2B5EF4-FFF2-40B4-BE49-F238E27FC236}">
                <a16:creationId xmlns:a16="http://schemas.microsoft.com/office/drawing/2014/main" id="{D02C780A-52B8-67CE-51CB-40EE46479681}"/>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5000"/>
              <a:buFont typeface="Wingdings" panose="05000000000000000000" pitchFamily="2" charset="2"/>
              <a:buChar char="n"/>
              <a:defRPr sz="28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4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defRPr>
            </a:lvl9pPr>
          </a:lstStyle>
          <a:p>
            <a:pPr>
              <a:spcBef>
                <a:spcPct val="0"/>
              </a:spcBef>
              <a:buClrTx/>
              <a:buSzTx/>
              <a:buFontTx/>
              <a:buNone/>
            </a:pPr>
            <a:fld id="{D795A004-5E63-42CE-9090-F72D4A928A8A}" type="slidenum">
              <a:rPr lang="en-US" altLang="id-ID" sz="1200">
                <a:latin typeface="Arial Black" panose="020B0A04020102020204" pitchFamily="34" charset="0"/>
              </a:rPr>
              <a:pPr>
                <a:spcBef>
                  <a:spcPct val="0"/>
                </a:spcBef>
                <a:buClrTx/>
                <a:buSzTx/>
                <a:buFontTx/>
                <a:buNone/>
              </a:pPr>
              <a:t>43</a:t>
            </a:fld>
            <a:endParaRPr lang="en-US" altLang="id-ID" sz="1200">
              <a:latin typeface="Arial Black" panose="020B0A04020102020204" pitchFamily="34" charset="0"/>
            </a:endParaRPr>
          </a:p>
        </p:txBody>
      </p:sp>
      <p:sp>
        <p:nvSpPr>
          <p:cNvPr id="49155" name="Rectangle 2">
            <a:extLst>
              <a:ext uri="{FF2B5EF4-FFF2-40B4-BE49-F238E27FC236}">
                <a16:creationId xmlns:a16="http://schemas.microsoft.com/office/drawing/2014/main" id="{386FD78D-FCBF-6EAC-C794-90F56CA6C780}"/>
              </a:ext>
            </a:extLst>
          </p:cNvPr>
          <p:cNvSpPr>
            <a:spLocks noGrp="1" noChangeArrowheads="1"/>
          </p:cNvSpPr>
          <p:nvPr>
            <p:ph type="title"/>
          </p:nvPr>
        </p:nvSpPr>
        <p:spPr/>
        <p:txBody>
          <a:bodyPr/>
          <a:lstStyle/>
          <a:p>
            <a:pPr eaLnBrk="1" hangingPunct="1"/>
            <a:r>
              <a:rPr lang="en-US" altLang="id-ID" sz="3600"/>
              <a:t>Summary </a:t>
            </a:r>
            <a:endParaRPr lang="en-US" altLang="id-ID" sz="2600">
              <a:solidFill>
                <a:schemeClr val="bg2"/>
              </a:solidFill>
            </a:endParaRPr>
          </a:p>
        </p:txBody>
      </p:sp>
      <p:sp>
        <p:nvSpPr>
          <p:cNvPr id="49156" name="Rectangle 3">
            <a:extLst>
              <a:ext uri="{FF2B5EF4-FFF2-40B4-BE49-F238E27FC236}">
                <a16:creationId xmlns:a16="http://schemas.microsoft.com/office/drawing/2014/main" id="{8A216A65-D229-26E9-24EA-D7623F130A94}"/>
              </a:ext>
            </a:extLst>
          </p:cNvPr>
          <p:cNvSpPr>
            <a:spLocks noGrp="1" noChangeArrowheads="1"/>
          </p:cNvSpPr>
          <p:nvPr>
            <p:ph type="body" sz="half" idx="1"/>
          </p:nvPr>
        </p:nvSpPr>
        <p:spPr>
          <a:xfrm>
            <a:off x="457200" y="1447800"/>
            <a:ext cx="8305800" cy="4800600"/>
          </a:xfrm>
        </p:spPr>
        <p:txBody>
          <a:bodyPr/>
          <a:lstStyle/>
          <a:p>
            <a:pPr eaLnBrk="1" hangingPunct="1"/>
            <a:r>
              <a:rPr lang="en-US" altLang="id-ID" sz="2000"/>
              <a:t>Introduced basic concepts of queueing models.</a:t>
            </a:r>
          </a:p>
          <a:p>
            <a:pPr eaLnBrk="1" hangingPunct="1"/>
            <a:r>
              <a:rPr lang="en-US" altLang="id-ID" sz="2000"/>
              <a:t>Show how simulation, and some times mathematical analysis, can be used to estimate the performance measures of a system.</a:t>
            </a:r>
          </a:p>
          <a:p>
            <a:pPr eaLnBrk="1" hangingPunct="1"/>
            <a:r>
              <a:rPr lang="en-US" altLang="id-ID" sz="2000"/>
              <a:t>Commonly used performance measures: </a:t>
            </a:r>
            <a:r>
              <a:rPr lang="en-US" altLang="id-ID" sz="2000" i="1"/>
              <a:t>L, L</a:t>
            </a:r>
            <a:r>
              <a:rPr lang="en-US" altLang="id-ID" sz="2000" i="1" baseline="-25000"/>
              <a:t>Q</a:t>
            </a:r>
            <a:r>
              <a:rPr lang="en-US" altLang="id-ID" sz="2000" i="1"/>
              <a:t>, w, w</a:t>
            </a:r>
            <a:r>
              <a:rPr lang="en-US" altLang="id-ID" sz="2000" i="1" baseline="-25000"/>
              <a:t>Q</a:t>
            </a:r>
            <a:r>
              <a:rPr lang="en-US" altLang="id-ID" sz="2000" i="1"/>
              <a:t>, </a:t>
            </a:r>
            <a:r>
              <a:rPr lang="en-US" altLang="id-ID" sz="2000" i="1">
                <a:latin typeface="Symbol" panose="05050102010706020507" pitchFamily="18" charset="2"/>
              </a:rPr>
              <a:t>r</a:t>
            </a:r>
            <a:r>
              <a:rPr lang="en-US" altLang="id-ID" sz="2000"/>
              <a:t>, and </a:t>
            </a:r>
            <a:r>
              <a:rPr lang="en-US" altLang="id-ID" sz="2000" i="1">
                <a:latin typeface="Symbol" panose="05050102010706020507" pitchFamily="18" charset="2"/>
              </a:rPr>
              <a:t>l</a:t>
            </a:r>
            <a:r>
              <a:rPr lang="en-US" altLang="id-ID" sz="2000" i="1" baseline="-25000"/>
              <a:t>e</a:t>
            </a:r>
            <a:r>
              <a:rPr lang="en-US" altLang="id-ID" sz="2000"/>
              <a:t>.</a:t>
            </a:r>
          </a:p>
          <a:p>
            <a:pPr eaLnBrk="1" hangingPunct="1"/>
            <a:r>
              <a:rPr lang="en-US" altLang="id-ID" sz="2000"/>
              <a:t>When simulating any system that evolves over time, analyst must decide whether to study transient behavior or steady-state behavior.</a:t>
            </a:r>
          </a:p>
          <a:p>
            <a:pPr lvl="1" eaLnBrk="1" hangingPunct="1"/>
            <a:r>
              <a:rPr lang="en-US" altLang="id-ID" sz="1800"/>
              <a:t>Simple formulas exist for the steady-state behavior of some queues.</a:t>
            </a:r>
          </a:p>
          <a:p>
            <a:pPr eaLnBrk="1" hangingPunct="1"/>
            <a:r>
              <a:rPr lang="en-US" altLang="id-ID" sz="2000"/>
              <a:t>Simple models can be solved mathematically, and can be useful in providing a rough estimate of a performance measure.</a:t>
            </a:r>
          </a:p>
          <a:p>
            <a:pPr lvl="1" eaLnBrk="1" hangingPunct="1"/>
            <a:endParaRPr lang="en-US" altLang="id-ID" sz="1800"/>
          </a:p>
        </p:txBody>
      </p:sp>
    </p:spTree>
  </p:cSld>
  <p:clrMapOvr>
    <a:masterClrMapping/>
  </p:clrMapOvr>
  <p:transition/>
</p:sld>
</file>

<file path=ppt/theme/theme1.xml><?xml version="1.0" encoding="utf-8"?>
<a:theme xmlns:a="http://schemas.openxmlformats.org/drawingml/2006/main" name="Pixel">
  <a:themeElements>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Pixe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eaVert" wrap="square" lIns="91440" tIns="45720" rIns="91440" bIns="45720" numCol="1" anchor="ctr"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id-ID" sz="16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eaVert" wrap="square" lIns="91440" tIns="45720" rIns="91440" bIns="45720" numCol="1" anchor="ctr"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id-ID" sz="16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Pixel</Template>
  <TotalTime>7193</TotalTime>
  <Words>4190</Words>
  <Application>Microsoft Office PowerPoint</Application>
  <PresentationFormat>On-screen Show (4:3)</PresentationFormat>
  <Paragraphs>423</Paragraphs>
  <Slides>43</Slides>
  <Notes>1</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43</vt:i4>
      </vt:variant>
    </vt:vector>
  </HeadingPairs>
  <TitlesOfParts>
    <vt:vector size="51" baseType="lpstr">
      <vt:lpstr>Arial</vt:lpstr>
      <vt:lpstr>Arial Black</vt:lpstr>
      <vt:lpstr>Cambria Math</vt:lpstr>
      <vt:lpstr>Symbol</vt:lpstr>
      <vt:lpstr>Times New Roman</vt:lpstr>
      <vt:lpstr>Wingdings</vt:lpstr>
      <vt:lpstr>Pixel</vt:lpstr>
      <vt:lpstr>Worksheet</vt:lpstr>
      <vt:lpstr>Chapter 6 Queueing Models</vt:lpstr>
      <vt:lpstr>Tujuan</vt:lpstr>
      <vt:lpstr>Outline</vt:lpstr>
      <vt:lpstr>Karakteristik Sistem Antrian</vt:lpstr>
      <vt:lpstr>Calling Population      [Karakteristik Sistem Antrean]</vt:lpstr>
      <vt:lpstr>Kapasitas Sistem       [Karakteristik Sistem Antrean]</vt:lpstr>
      <vt:lpstr>Proses Kedatangan       [Karakteristik Sistem Antrean]</vt:lpstr>
      <vt:lpstr>Proses Kedatangan        [Karakteristik Sistem Antrean]</vt:lpstr>
      <vt:lpstr>Perilaku Antrian dan Disiplin Antrian      [Karakteristik Sistem Antrean]</vt:lpstr>
      <vt:lpstr>Service Times and Service Mechanism      [Characteristics of Queueing System]</vt:lpstr>
      <vt:lpstr>Service Times and Service Mechanism      [Characteristics of Queueing System]</vt:lpstr>
      <vt:lpstr>Service Times and Service Mechanism      [Characteristics of Queueing System]</vt:lpstr>
      <vt:lpstr>Notasi Antrean                                                                                             [Karakteristik Sistem Antrean]</vt:lpstr>
      <vt:lpstr>Notasi Antrean                                      [Karakteristik Sistem Antrean]                                                                  </vt:lpstr>
      <vt:lpstr>Angka Rata-Rata Waktu dalam Sistem L                                   [Karakteristik Sistem Antrean]</vt:lpstr>
      <vt:lpstr>Jumlah rata-rata waktu dalam Sistem L             [kteristik Sistem Antrean]</vt:lpstr>
      <vt:lpstr>Rata-rata waktu yg dihabiskan dalam sistem per Customer w                     [Karakteristik Sistem Antrean]</vt:lpstr>
      <vt:lpstr>Persamaan Konservasi                                                          [Karakteristik Sistem Antran]</vt:lpstr>
      <vt:lpstr>Utilisasi Server                [Karakteristik Sistem Antrean]</vt:lpstr>
      <vt:lpstr>Utilisasi Server         [Karakteristik Sistem Antrean]</vt:lpstr>
      <vt:lpstr>Utilisasi Server         [Karakteristik Sistem Antrean]</vt:lpstr>
      <vt:lpstr>Utilisasi Server         [Karakteristik Sistem Antrean]</vt:lpstr>
      <vt:lpstr>Utilisasi Server dan Performa Sistem         [Karakteristik Sistem Antrean]</vt:lpstr>
      <vt:lpstr>Server Utilization and System Performance    [Characteristics of Queueing System]</vt:lpstr>
      <vt:lpstr>Costs in Queueing Problems    [Characteristics of Queueing System]</vt:lpstr>
      <vt:lpstr>Steady-State Behavior of Infinite-Population Markovian Models</vt:lpstr>
      <vt:lpstr>Steady-State Behavior of Infinite-Population Markovian Models</vt:lpstr>
      <vt:lpstr>M/G/1 Queues  [Steady-State of Markovian Model]</vt:lpstr>
      <vt:lpstr>M/G/1 Queues  [Steady-State of Markovian Model]</vt:lpstr>
      <vt:lpstr>M/G/1 Queues  [Steady-State of Markovian Model]</vt:lpstr>
      <vt:lpstr>M/M/1 Queues  [Steady-State of Markovian Model]</vt:lpstr>
      <vt:lpstr>M/M/1 Queues  [Steady-State of Markovian Model]</vt:lpstr>
      <vt:lpstr>Efek Utilisasi dan Variabilitas Layanan    [Steady-State of Markovian Model]</vt:lpstr>
      <vt:lpstr>Efek Utilisasi dan Variabilitas Layanan     [Steady-State of Markovian Model]</vt:lpstr>
      <vt:lpstr>Antrean Multiserver  [Steady-State of Markovian Model]</vt:lpstr>
      <vt:lpstr>Antrean Multiserver  [Model Markov KeadaanTunak]</vt:lpstr>
      <vt:lpstr>Perilaku tunak Model Populasi Berhingga </vt:lpstr>
      <vt:lpstr>Perilaku Keadaan-tunak Model Populasi berhingga</vt:lpstr>
      <vt:lpstr>Perilaku Keadaan-tunak Model Populasi berhingga</vt:lpstr>
      <vt:lpstr>Jaringan Antrian</vt:lpstr>
      <vt:lpstr>Jaringan Antrean</vt:lpstr>
      <vt:lpstr>Network of Queues</vt:lpstr>
      <vt:lpstr>Summary </vt:lpstr>
    </vt:vector>
  </TitlesOfParts>
  <Company>Kellogg School of Management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8: Random-Variant Generation</dc:title>
  <dc:creator>Gigi Yuen</dc:creator>
  <cp:lastModifiedBy>Mohammad Isa Irawan</cp:lastModifiedBy>
  <cp:revision>3092</cp:revision>
  <dcterms:created xsi:type="dcterms:W3CDTF">2004-10-04T02:17:06Z</dcterms:created>
  <dcterms:modified xsi:type="dcterms:W3CDTF">2023-10-25T09:45:59Z</dcterms:modified>
</cp:coreProperties>
</file>