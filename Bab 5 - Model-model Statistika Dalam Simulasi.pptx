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</p:sldIdLst>
  <p:sldSz cx="6489700" cy="8636000"/>
  <p:notesSz cx="6489700" cy="863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2898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6727" y="2677160"/>
            <a:ext cx="5516245" cy="181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73455" y="4836160"/>
            <a:ext cx="4542790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4485" y="1986280"/>
            <a:ext cx="2823019" cy="569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342195" y="1986280"/>
            <a:ext cx="2823019" cy="569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485" y="345440"/>
            <a:ext cx="5840730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485" y="1986280"/>
            <a:ext cx="5840730" cy="569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06498" y="8031480"/>
            <a:ext cx="2076704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24485" y="8031480"/>
            <a:ext cx="1492631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672584" y="8031480"/>
            <a:ext cx="1492631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8596" y="612648"/>
            <a:ext cx="4572000" cy="3429000"/>
            <a:chOff x="958596" y="612648"/>
            <a:chExt cx="4572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612648"/>
              <a:ext cx="1680241" cy="3429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16608" y="1457706"/>
              <a:ext cx="3714115" cy="1267460"/>
            </a:xfrm>
            <a:custGeom>
              <a:avLst/>
              <a:gdLst/>
              <a:ahLst/>
              <a:cxnLst/>
              <a:rect l="l" t="t" r="r" b="b"/>
              <a:pathLst>
                <a:path w="3714115" h="1267460">
                  <a:moveTo>
                    <a:pt x="3713988" y="0"/>
                  </a:moveTo>
                  <a:lnTo>
                    <a:pt x="0" y="0"/>
                  </a:lnTo>
                  <a:lnTo>
                    <a:pt x="0" y="1267205"/>
                  </a:lnTo>
                  <a:lnTo>
                    <a:pt x="3713988" y="1267205"/>
                  </a:lnTo>
                  <a:lnTo>
                    <a:pt x="3713988" y="0"/>
                  </a:lnTo>
                  <a:close/>
                </a:path>
              </a:pathLst>
            </a:custGeom>
            <a:solidFill>
              <a:srgbClr val="00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97182"/>
              </p:ext>
            </p:extLst>
          </p:nvPr>
        </p:nvGraphicFramePr>
        <p:xfrm>
          <a:off x="958214" y="612266"/>
          <a:ext cx="4560569" cy="3671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31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705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E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134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99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99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86080">
                        <a:lnSpc>
                          <a:spcPts val="1250"/>
                        </a:lnSpc>
                      </a:pPr>
                      <a:r>
                        <a:rPr lang="en-US" sz="180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Bab </a:t>
                      </a:r>
                      <a:r>
                        <a:rPr sz="1800" spc="-5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386080">
                        <a:lnSpc>
                          <a:spcPts val="1130"/>
                        </a:lnSpc>
                      </a:pPr>
                      <a:endParaRPr lang="en-US" sz="1800" dirty="0" smtClean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  <a:p>
                      <a:pPr marL="386080">
                        <a:lnSpc>
                          <a:spcPts val="1130"/>
                        </a:lnSpc>
                      </a:pPr>
                      <a:r>
                        <a:rPr lang="en-US" sz="180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Model-model </a:t>
                      </a:r>
                      <a:r>
                        <a:rPr lang="en-US" sz="1800" dirty="0" err="1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Statistik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CC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99CC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66865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lang="en-US" sz="1800" spc="-10" dirty="0" err="1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Dalam</a:t>
                      </a: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 err="1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Simula</a:t>
                      </a:r>
                      <a:r>
                        <a:rPr lang="en-US" sz="1800" spc="-10" dirty="0" err="1" smtClean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187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7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99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7D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87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7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9370">
                <a:tc gridSpan="6"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Banks,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Carson,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Nelson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Nicol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 marR="107314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i="1" dirty="0">
                          <a:latin typeface="Arial"/>
                          <a:cs typeface="Arial"/>
                        </a:rPr>
                        <a:t>Discrete-Event</a:t>
                      </a:r>
                      <a:r>
                        <a:rPr sz="14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14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10" dirty="0">
                          <a:latin typeface="Arial"/>
                          <a:cs typeface="Arial"/>
                        </a:rPr>
                        <a:t>Simulation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64691" y="459562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Purpose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&amp;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Overview</a:t>
            </a:r>
            <a:endParaRPr sz="1600" dirty="0">
              <a:latin typeface="Arial"/>
              <a:cs typeface="Arial"/>
            </a:endParaRPr>
          </a:p>
          <a:p>
            <a:pPr marL="439420" marR="412750" indent="-171450">
              <a:lnSpc>
                <a:spcPts val="1290"/>
              </a:lnSpc>
              <a:spcBef>
                <a:spcPts val="168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world 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model-builder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 probabilistic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rather </a:t>
            </a:r>
            <a:r>
              <a:rPr sz="1200" dirty="0">
                <a:latin typeface="Arial"/>
                <a:cs typeface="Arial"/>
              </a:rPr>
              <a:t>than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deterministic.</a:t>
            </a:r>
            <a:endParaRPr sz="1200" dirty="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110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Some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statistical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might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well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describe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variations.</a:t>
            </a: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20"/>
              </a:spcBef>
              <a:buClr>
                <a:srgbClr val="9A9ACC"/>
              </a:buClr>
              <a:buFont typeface="Arial"/>
              <a:buChar char="□"/>
            </a:pPr>
            <a:endParaRPr sz="1000" dirty="0">
              <a:latin typeface="Arial"/>
              <a:cs typeface="Arial"/>
            </a:endParaRPr>
          </a:p>
          <a:p>
            <a:pPr marL="439420" marR="297180" indent="-171450">
              <a:lnSpc>
                <a:spcPts val="1300"/>
              </a:lnSpc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200" dirty="0">
                <a:latin typeface="Arial"/>
                <a:cs typeface="Arial"/>
              </a:rPr>
              <a:t>An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appropriate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developed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sampling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phenomenon of </a:t>
            </a:r>
            <a:r>
              <a:rPr sz="1200" spc="-10" dirty="0">
                <a:latin typeface="Arial"/>
                <a:cs typeface="Arial"/>
              </a:rPr>
              <a:t>interest:</a:t>
            </a:r>
            <a:endParaRPr sz="1200" dirty="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105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Select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educated</a:t>
            </a:r>
            <a:r>
              <a:rPr sz="1000" spc="-10" dirty="0">
                <a:latin typeface="Arial"/>
                <a:cs typeface="Arial"/>
              </a:rPr>
              <a:t> guesses</a:t>
            </a:r>
            <a:endParaRPr sz="1000" dirty="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120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Make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estimate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parameter(s)</a:t>
            </a:r>
            <a:endParaRPr sz="1000" dirty="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114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Test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goodness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 smtClean="0">
                <a:latin typeface="Arial"/>
                <a:cs typeface="Arial"/>
              </a:rPr>
              <a:t>fi</a:t>
            </a:r>
            <a:r>
              <a:rPr lang="en-US" sz="1000" spc="-25" dirty="0" smtClean="0">
                <a:latin typeface="Arial"/>
                <a:cs typeface="Arial"/>
              </a:rPr>
              <a:t>t</a:t>
            </a:r>
            <a:endParaRPr sz="1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65"/>
              </a:spcBef>
              <a:buClr>
                <a:srgbClr val="9A9ACC"/>
              </a:buClr>
              <a:buFont typeface="Arial"/>
              <a:buChar char="□"/>
            </a:pPr>
            <a:endParaRPr sz="1000" dirty="0">
              <a:latin typeface="Arial"/>
              <a:cs typeface="Arial"/>
            </a:endParaRPr>
          </a:p>
          <a:p>
            <a:pPr marL="438784" indent="-170815">
              <a:lnSpc>
                <a:spcPct val="100000"/>
              </a:lnSpc>
              <a:buClr>
                <a:srgbClr val="00007C"/>
              </a:buClr>
              <a:buSzPct val="75000"/>
              <a:buChar char="■"/>
              <a:tabLst>
                <a:tab pos="438784" algn="l"/>
              </a:tabLst>
            </a:pPr>
            <a:r>
              <a:rPr sz="1200" dirty="0">
                <a:latin typeface="Arial"/>
                <a:cs typeface="Arial"/>
              </a:rPr>
              <a:t>In this </a:t>
            </a:r>
            <a:r>
              <a:rPr sz="1200" spc="-10" dirty="0">
                <a:latin typeface="Arial"/>
                <a:cs typeface="Arial"/>
              </a:rPr>
              <a:t>chapter:</a:t>
            </a:r>
            <a:endParaRPr sz="1200" dirty="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125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Review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several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important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distributions</a:t>
            </a:r>
            <a:endParaRPr sz="1000" dirty="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120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Present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typical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application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these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models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00" dirty="0">
              <a:latin typeface="Arial"/>
              <a:cs typeface="Arial"/>
            </a:endParaRPr>
          </a:p>
          <a:p>
            <a:pPr marR="259715" algn="r">
              <a:lnSpc>
                <a:spcPct val="100000"/>
              </a:lnSpc>
            </a:pPr>
            <a:r>
              <a:rPr sz="600" spc="-50" dirty="0">
                <a:latin typeface="Arial"/>
                <a:cs typeface="Arial"/>
              </a:rPr>
              <a:t>٢</a:t>
            </a:r>
            <a:endParaRPr sz="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64691" y="618744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Review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Terminology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Concepts</a:t>
            </a:r>
            <a:endParaRPr sz="1600">
              <a:latin typeface="Arial"/>
              <a:cs typeface="Arial"/>
            </a:endParaRPr>
          </a:p>
          <a:p>
            <a:pPr marL="437515" marR="798195" indent="-169545">
              <a:lnSpc>
                <a:spcPct val="100000"/>
              </a:lnSpc>
              <a:spcBef>
                <a:spcPts val="163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section,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review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following 	concepts:</a:t>
            </a:r>
            <a:endParaRPr sz="14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Discrete random </a:t>
            </a:r>
            <a:r>
              <a:rPr sz="1200" spc="-10" dirty="0"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5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Continuous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 </a:t>
            </a:r>
            <a:r>
              <a:rPr sz="1200" spc="-10" dirty="0"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4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Cumulative distribution </a:t>
            </a:r>
            <a:r>
              <a:rPr sz="1200" spc="-10" dirty="0">
                <a:latin typeface="Arial"/>
                <a:cs typeface="Arial"/>
              </a:rPr>
              <a:t>function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5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spc="-10" dirty="0">
                <a:latin typeface="Arial"/>
                <a:cs typeface="Arial"/>
              </a:rPr>
              <a:t>Expectation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200">
              <a:latin typeface="Arial"/>
              <a:cs typeface="Arial"/>
            </a:endParaRPr>
          </a:p>
          <a:p>
            <a:pPr marR="259715" algn="r">
              <a:lnSpc>
                <a:spcPct val="100000"/>
              </a:lnSpc>
            </a:pPr>
            <a:r>
              <a:rPr sz="600" spc="-50" dirty="0">
                <a:latin typeface="Arial"/>
                <a:cs typeface="Arial"/>
              </a:rPr>
              <a:t>٣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32916" y="4884670"/>
            <a:ext cx="21818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Discrete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Random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5646" y="4934962"/>
            <a:ext cx="11283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[Probability</a:t>
            </a:r>
            <a:r>
              <a:rPr sz="10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Review]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6116" y="7124950"/>
            <a:ext cx="386715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marR="30480" indent="-143510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80000"/>
              <a:buChar char="□"/>
              <a:tabLst>
                <a:tab pos="168275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collection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pairs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[x</a:t>
            </a:r>
            <a:r>
              <a:rPr sz="900" i="1" baseline="-23148" dirty="0">
                <a:latin typeface="Arial"/>
                <a:cs typeface="Arial"/>
              </a:rPr>
              <a:t>i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p(x</a:t>
            </a:r>
            <a:r>
              <a:rPr sz="900" i="1" baseline="-23148" dirty="0">
                <a:latin typeface="Arial"/>
                <a:cs typeface="Arial"/>
              </a:rPr>
              <a:t>i</a:t>
            </a:r>
            <a:r>
              <a:rPr sz="1000" i="1" dirty="0">
                <a:latin typeface="Arial"/>
                <a:cs typeface="Arial"/>
              </a:rPr>
              <a:t>)],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1,2,…,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called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probability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p(x</a:t>
            </a:r>
            <a:r>
              <a:rPr sz="900" i="1" baseline="-23148" dirty="0">
                <a:latin typeface="Arial"/>
                <a:cs typeface="Arial"/>
              </a:rPr>
              <a:t>i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called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mass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function </a:t>
            </a:r>
            <a:r>
              <a:rPr sz="1000" dirty="0">
                <a:latin typeface="Arial"/>
                <a:cs typeface="Arial"/>
              </a:rPr>
              <a:t>(pmf)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Arial"/>
              <a:cs typeface="Arial"/>
            </a:endParaRPr>
          </a:p>
          <a:p>
            <a:pPr marR="39370" algn="r">
              <a:lnSpc>
                <a:spcPct val="100000"/>
              </a:lnSpc>
            </a:pPr>
            <a:r>
              <a:rPr sz="600" spc="-50" dirty="0">
                <a:latin typeface="Arial"/>
                <a:cs typeface="Arial"/>
              </a:rPr>
              <a:t>٤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3372" y="6863693"/>
            <a:ext cx="13906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Symbol"/>
                <a:cs typeface="Symbol"/>
              </a:rPr>
              <a:t>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9101" y="6829318"/>
            <a:ext cx="106045" cy="2724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409"/>
              </a:spcBef>
            </a:pPr>
            <a:r>
              <a:rPr sz="550" spc="-50" dirty="0">
                <a:latin typeface="Symbol"/>
                <a:cs typeface="Symbol"/>
              </a:rPr>
              <a:t></a:t>
            </a:r>
            <a:endParaRPr sz="5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550" i="1" spc="-25" dirty="0">
                <a:latin typeface="Times New Roman"/>
                <a:cs typeface="Times New Roman"/>
              </a:rPr>
              <a:t>i</a:t>
            </a:r>
            <a:r>
              <a:rPr sz="550" spc="-25" dirty="0">
                <a:latin typeface="Symbol"/>
                <a:cs typeface="Symbol"/>
              </a:rPr>
              <a:t></a:t>
            </a:r>
            <a:r>
              <a:rPr sz="550" spc="-25" dirty="0">
                <a:latin typeface="Times New Roman"/>
                <a:cs typeface="Times New Roman"/>
              </a:rPr>
              <a:t>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9519" y="6973947"/>
            <a:ext cx="32384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i="1" spc="-50" dirty="0">
                <a:latin typeface="Times New Roman"/>
                <a:cs typeface="Times New Roman"/>
              </a:rPr>
              <a:t>i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0017" y="6895154"/>
            <a:ext cx="79121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378460" algn="l"/>
              </a:tabLst>
            </a:pPr>
            <a:r>
              <a:rPr sz="900" spc="-25" dirty="0">
                <a:latin typeface="Times New Roman"/>
                <a:cs typeface="Times New Roman"/>
              </a:rPr>
              <a:t>2.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-11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07516" y="5319009"/>
            <a:ext cx="4031615" cy="152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30480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Arial"/>
              <a:buChar char="■"/>
              <a:tabLst>
                <a:tab pos="196850" algn="l"/>
              </a:tabLst>
            </a:pP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discrete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number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possible </a:t>
            </a:r>
            <a:r>
              <a:rPr sz="1200" dirty="0">
                <a:latin typeface="Arial"/>
                <a:cs typeface="Arial"/>
              </a:rPr>
              <a:t>values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finite,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countably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infinite.</a:t>
            </a:r>
            <a:endParaRPr sz="1200">
              <a:latin typeface="Arial"/>
              <a:cs typeface="Arial"/>
            </a:endParaRPr>
          </a:p>
          <a:p>
            <a:pPr marL="196215" indent="-170815">
              <a:lnSpc>
                <a:spcPct val="100000"/>
              </a:lnSpc>
              <a:spcBef>
                <a:spcPts val="280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Example: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Consider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jobs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arriving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job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shop.</a:t>
            </a:r>
            <a:endParaRPr sz="1200">
              <a:latin typeface="Arial"/>
              <a:cs typeface="Arial"/>
            </a:endParaRPr>
          </a:p>
          <a:p>
            <a:pPr marL="594995" lvl="1" indent="-112395">
              <a:lnSpc>
                <a:spcPct val="100000"/>
              </a:lnSpc>
              <a:spcBef>
                <a:spcPts val="235"/>
              </a:spcBef>
              <a:buClr>
                <a:srgbClr val="00007C"/>
              </a:buClr>
              <a:buSzPct val="66666"/>
              <a:buChar char="■"/>
              <a:tabLst>
                <a:tab pos="594995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jobs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arriving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 week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job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shop.</a:t>
            </a:r>
            <a:endParaRPr sz="900">
              <a:latin typeface="Arial"/>
              <a:cs typeface="Arial"/>
            </a:endParaRPr>
          </a:p>
          <a:p>
            <a:pPr marL="788035" lvl="1" indent="-305435">
              <a:lnSpc>
                <a:spcPct val="100000"/>
              </a:lnSpc>
              <a:spcBef>
                <a:spcPts val="215"/>
              </a:spcBef>
              <a:buClr>
                <a:srgbClr val="00007C"/>
              </a:buClr>
              <a:buSzPct val="66666"/>
              <a:buFont typeface="Arial"/>
              <a:buChar char="■"/>
              <a:tabLst>
                <a:tab pos="788035" algn="l"/>
              </a:tabLst>
            </a:pP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-23148" dirty="0">
                <a:latin typeface="Arial"/>
                <a:cs typeface="Arial"/>
              </a:rPr>
              <a:t>x</a:t>
            </a:r>
            <a:r>
              <a:rPr sz="900" i="1" spc="89" baseline="-23148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(range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{0,1,2,…}</a:t>
            </a:r>
            <a:endParaRPr sz="900">
              <a:latin typeface="Arial"/>
              <a:cs typeface="Arial"/>
            </a:endParaRPr>
          </a:p>
          <a:p>
            <a:pPr marL="788035" lvl="1" indent="-305435">
              <a:lnSpc>
                <a:spcPct val="100000"/>
              </a:lnSpc>
              <a:spcBef>
                <a:spcPts val="225"/>
              </a:spcBef>
              <a:buClr>
                <a:srgbClr val="00007C"/>
              </a:buClr>
              <a:buSzPct val="66666"/>
              <a:buFont typeface="Arial"/>
              <a:buChar char="■"/>
              <a:tabLst>
                <a:tab pos="788035" algn="l"/>
              </a:tabLst>
            </a:pPr>
            <a:r>
              <a:rPr sz="900" i="1" dirty="0">
                <a:latin typeface="Arial"/>
                <a:cs typeface="Arial"/>
              </a:rPr>
              <a:t>p(x</a:t>
            </a:r>
            <a:r>
              <a:rPr sz="900" i="1" baseline="-23148" dirty="0">
                <a:latin typeface="Arial"/>
                <a:cs typeface="Arial"/>
              </a:rPr>
              <a:t>i</a:t>
            </a:r>
            <a:r>
              <a:rPr sz="900" i="1" dirty="0">
                <a:latin typeface="Arial"/>
                <a:cs typeface="Arial"/>
              </a:rPr>
              <a:t>)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variable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-23148" dirty="0">
                <a:latin typeface="Arial"/>
                <a:cs typeface="Arial"/>
              </a:rPr>
              <a:t>i</a:t>
            </a:r>
            <a:r>
              <a:rPr sz="900" i="1" spc="89" baseline="-23148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P(X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i="1" spc="-37" baseline="-23148" dirty="0">
                <a:latin typeface="Arial"/>
                <a:cs typeface="Arial"/>
              </a:rPr>
              <a:t>i</a:t>
            </a:r>
            <a:r>
              <a:rPr sz="900" i="1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397510" indent="-143510">
              <a:lnSpc>
                <a:spcPct val="100000"/>
              </a:lnSpc>
              <a:spcBef>
                <a:spcPts val="229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397510" algn="l"/>
              </a:tabLst>
            </a:pPr>
            <a:r>
              <a:rPr sz="1000" i="1" dirty="0">
                <a:latin typeface="Arial"/>
                <a:cs typeface="Arial"/>
              </a:rPr>
              <a:t>p(x</a:t>
            </a:r>
            <a:r>
              <a:rPr sz="900" i="1" baseline="-23148" dirty="0">
                <a:latin typeface="Arial"/>
                <a:cs typeface="Arial"/>
              </a:rPr>
              <a:t>i</a:t>
            </a:r>
            <a:r>
              <a:rPr sz="1000" i="1" dirty="0">
                <a:latin typeface="Arial"/>
                <a:cs typeface="Arial"/>
              </a:rPr>
              <a:t>),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1,2,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…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satisfy:</a:t>
            </a:r>
            <a:endParaRPr sz="1000">
              <a:latin typeface="Arial"/>
              <a:cs typeface="Arial"/>
            </a:endParaRPr>
          </a:p>
          <a:p>
            <a:pPr marL="628015" lvl="1" indent="-148590">
              <a:lnSpc>
                <a:spcPct val="100000"/>
              </a:lnSpc>
              <a:spcBef>
                <a:spcPts val="795"/>
              </a:spcBef>
              <a:buFont typeface="Times New Roman"/>
              <a:buAutoNum type="arabicPeriod"/>
              <a:tabLst>
                <a:tab pos="628015" algn="l"/>
              </a:tabLst>
            </a:pP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6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825" i="1" baseline="-25252" dirty="0">
                <a:latin typeface="Times New Roman"/>
                <a:cs typeface="Times New Roman"/>
              </a:rPr>
              <a:t>i</a:t>
            </a:r>
            <a:r>
              <a:rPr sz="825" i="1" spc="-15" baseline="-25252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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0,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all</a:t>
            </a:r>
            <a:r>
              <a:rPr sz="900" spc="-90" dirty="0">
                <a:latin typeface="Times New Roman"/>
                <a:cs typeface="Times New Roman"/>
              </a:rPr>
              <a:t> </a:t>
            </a:r>
            <a:r>
              <a:rPr sz="900" i="1" spc="-50" dirty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5890" y="3833872"/>
            <a:ext cx="533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"/>
                <a:cs typeface="Arial"/>
              </a:rPr>
              <a:t>٥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907792"/>
            <a:ext cx="24288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Continuous Random </a:t>
            </a:r>
            <a:r>
              <a:rPr sz="1400" spc="-1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5646" y="958084"/>
            <a:ext cx="11283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[Probability</a:t>
            </a:r>
            <a:r>
              <a:rPr sz="10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Review]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96147" y="2250806"/>
            <a:ext cx="3619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spc="-50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3417" y="1879520"/>
            <a:ext cx="5334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Symbol"/>
                <a:cs typeface="Symbol"/>
              </a:rPr>
              <a:t>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7516" y="1342894"/>
            <a:ext cx="4056379" cy="62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30480" indent="-171450">
              <a:lnSpc>
                <a:spcPct val="100000"/>
              </a:lnSpc>
              <a:spcBef>
                <a:spcPts val="100"/>
              </a:spcBef>
              <a:buSzPct val="75000"/>
              <a:buFont typeface="Arial"/>
              <a:buChar char="■"/>
              <a:tabLst>
                <a:tab pos="196850" algn="l"/>
                <a:tab pos="198120" algn="l"/>
              </a:tabLst>
            </a:pPr>
            <a:r>
              <a:rPr sz="1000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continuous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random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variable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range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space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R</a:t>
            </a:r>
            <a:r>
              <a:rPr sz="975" i="1" baseline="-21367" dirty="0">
                <a:latin typeface="Arial"/>
                <a:cs typeface="Arial"/>
              </a:rPr>
              <a:t>x</a:t>
            </a:r>
            <a:r>
              <a:rPr sz="975" i="1" spc="120" baseline="-21367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interval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collection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intervals.</a:t>
            </a:r>
            <a:endParaRPr sz="1000">
              <a:latin typeface="Arial"/>
              <a:cs typeface="Arial"/>
            </a:endParaRPr>
          </a:p>
          <a:p>
            <a:pPr marL="198120" indent="-172720">
              <a:lnSpc>
                <a:spcPct val="100000"/>
              </a:lnSpc>
              <a:spcBef>
                <a:spcPts val="240"/>
              </a:spcBef>
              <a:buClr>
                <a:srgbClr val="00007C"/>
              </a:buClr>
              <a:buSzPct val="75000"/>
              <a:buChar char="■"/>
              <a:tabLst>
                <a:tab pos="19812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interval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[a,b]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by:</a:t>
            </a:r>
            <a:endParaRPr sz="1000">
              <a:latin typeface="Arial"/>
              <a:cs typeface="Arial"/>
            </a:endParaRPr>
          </a:p>
          <a:p>
            <a:pPr marR="386080" algn="ctr">
              <a:lnSpc>
                <a:spcPct val="100000"/>
              </a:lnSpc>
              <a:spcBef>
                <a:spcPts val="170"/>
              </a:spcBef>
            </a:pPr>
            <a:r>
              <a:rPr sz="600" i="1" spc="-50" dirty="0">
                <a:latin typeface="Times New Roman"/>
                <a:cs typeface="Times New Roman"/>
              </a:rPr>
              <a:t>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3046" y="2022544"/>
            <a:ext cx="5080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3321" y="1897749"/>
            <a:ext cx="129984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937894" algn="l"/>
              </a:tabLst>
            </a:pPr>
            <a:r>
              <a:rPr sz="1000" i="1" dirty="0">
                <a:latin typeface="Times New Roman"/>
                <a:cs typeface="Times New Roman"/>
              </a:rPr>
              <a:t>P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Symbol"/>
                <a:cs typeface="Symbol"/>
              </a:rPr>
              <a:t>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(</a:t>
            </a:r>
            <a:r>
              <a:rPr sz="1000" i="1" spc="-20" dirty="0">
                <a:latin typeface="Times New Roman"/>
                <a:cs typeface="Times New Roman"/>
              </a:rPr>
              <a:t>x</a:t>
            </a:r>
            <a:r>
              <a:rPr sz="1000" spc="-20" dirty="0">
                <a:latin typeface="Times New Roman"/>
                <a:cs typeface="Times New Roman"/>
              </a:rPr>
              <a:t>)</a:t>
            </a:r>
            <a:r>
              <a:rPr sz="1000" i="1" spc="-20" dirty="0">
                <a:latin typeface="Times New Roman"/>
                <a:cs typeface="Times New Roman"/>
              </a:rPr>
              <a:t>dx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4074" y="3470316"/>
            <a:ext cx="38100" cy="85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400" spc="-50" dirty="0">
                <a:latin typeface="Times New Roman"/>
                <a:cs typeface="Times New Roman"/>
              </a:rPr>
              <a:t>0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3401" y="3397895"/>
            <a:ext cx="47625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50" spc="-50" dirty="0">
                <a:latin typeface="Times New Roman"/>
                <a:cs typeface="Times New Roman"/>
              </a:rPr>
              <a:t>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7516" y="2216420"/>
            <a:ext cx="2327275" cy="117094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98120" indent="-172720">
              <a:lnSpc>
                <a:spcPct val="100000"/>
              </a:lnSpc>
              <a:spcBef>
                <a:spcPts val="175"/>
              </a:spcBef>
              <a:buClr>
                <a:srgbClr val="00007C"/>
              </a:buClr>
              <a:buSzPct val="75000"/>
              <a:buFont typeface="Arial"/>
              <a:buChar char="■"/>
              <a:tabLst>
                <a:tab pos="198120" algn="l"/>
              </a:tabLst>
            </a:pPr>
            <a:r>
              <a:rPr sz="1000" i="1" dirty="0">
                <a:latin typeface="Arial"/>
                <a:cs typeface="Arial"/>
              </a:rPr>
              <a:t>f(x)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denoted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satisfies</a:t>
            </a:r>
            <a:endParaRPr sz="1000">
              <a:latin typeface="Arial"/>
              <a:cs typeface="Arial"/>
            </a:endParaRPr>
          </a:p>
          <a:p>
            <a:pPr marL="488315" lvl="1" indent="-160655">
              <a:lnSpc>
                <a:spcPct val="100000"/>
              </a:lnSpc>
              <a:spcBef>
                <a:spcPts val="80"/>
              </a:spcBef>
              <a:buFont typeface="Times New Roman"/>
              <a:buAutoNum type="arabicPeriod"/>
              <a:tabLst>
                <a:tab pos="488315" algn="l"/>
              </a:tabLst>
            </a:pPr>
            <a:r>
              <a:rPr sz="950" i="1" dirty="0">
                <a:latin typeface="Times New Roman"/>
                <a:cs typeface="Times New Roman"/>
              </a:rPr>
              <a:t>f</a:t>
            </a:r>
            <a:r>
              <a:rPr sz="950" i="1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spc="-16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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0</a:t>
            </a:r>
            <a:r>
              <a:rPr sz="950" spc="-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for</a:t>
            </a:r>
            <a:r>
              <a:rPr sz="950" spc="-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all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x</a:t>
            </a:r>
            <a:r>
              <a:rPr sz="950" i="1" spc="-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in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i="1" spc="30" dirty="0">
                <a:latin typeface="Times New Roman"/>
                <a:cs typeface="Times New Roman"/>
              </a:rPr>
              <a:t>R</a:t>
            </a:r>
            <a:r>
              <a:rPr sz="825" i="1" spc="44" baseline="-25252" dirty="0">
                <a:latin typeface="Times New Roman"/>
                <a:cs typeface="Times New Roman"/>
              </a:rPr>
              <a:t>X</a:t>
            </a:r>
            <a:endParaRPr sz="825" baseline="-25252">
              <a:latin typeface="Times New Roman"/>
              <a:cs typeface="Times New Roman"/>
            </a:endParaRPr>
          </a:p>
          <a:p>
            <a:pPr marL="472440" lvl="1" indent="-132080">
              <a:lnSpc>
                <a:spcPct val="100000"/>
              </a:lnSpc>
              <a:spcBef>
                <a:spcPts val="85"/>
              </a:spcBef>
              <a:buSzPct val="67857"/>
              <a:buFont typeface="Times New Roman"/>
              <a:buAutoNum type="arabicPeriod"/>
              <a:tabLst>
                <a:tab pos="472440" algn="l"/>
              </a:tabLst>
            </a:pPr>
            <a:r>
              <a:rPr sz="2100" baseline="-13888" dirty="0">
                <a:latin typeface="Symbol"/>
                <a:cs typeface="Symbol"/>
              </a:rPr>
              <a:t></a:t>
            </a:r>
            <a:r>
              <a:rPr sz="2100" spc="-7" baseline="-13888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f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spc="-16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i="1" dirty="0">
                <a:latin typeface="Times New Roman"/>
                <a:cs typeface="Times New Roman"/>
              </a:rPr>
              <a:t>dx</a:t>
            </a:r>
            <a:r>
              <a:rPr sz="950" i="1" spc="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-110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  <a:p>
            <a:pPr marL="452120">
              <a:lnSpc>
                <a:spcPct val="100000"/>
              </a:lnSpc>
              <a:spcBef>
                <a:spcPts val="209"/>
              </a:spcBef>
            </a:pPr>
            <a:r>
              <a:rPr sz="550" i="1" spc="-25" dirty="0">
                <a:latin typeface="Times New Roman"/>
                <a:cs typeface="Times New Roman"/>
              </a:rPr>
              <a:t>R</a:t>
            </a:r>
            <a:r>
              <a:rPr sz="600" i="1" spc="-37" baseline="-20833" dirty="0">
                <a:latin typeface="Times New Roman"/>
                <a:cs typeface="Times New Roman"/>
              </a:rPr>
              <a:t>X</a:t>
            </a:r>
            <a:endParaRPr sz="600" baseline="-20833">
              <a:latin typeface="Times New Roman"/>
              <a:cs typeface="Times New Roman"/>
            </a:endParaRPr>
          </a:p>
          <a:p>
            <a:pPr marL="467359" lvl="1" indent="-130810">
              <a:lnSpc>
                <a:spcPct val="100000"/>
              </a:lnSpc>
              <a:spcBef>
                <a:spcPts val="290"/>
              </a:spcBef>
              <a:buFont typeface="Times New Roman"/>
              <a:buAutoNum type="arabicPeriod" startAt="3"/>
              <a:tabLst>
                <a:tab pos="467359" algn="l"/>
              </a:tabLst>
            </a:pPr>
            <a:r>
              <a:rPr sz="950" i="1" dirty="0">
                <a:latin typeface="Times New Roman"/>
                <a:cs typeface="Times New Roman"/>
              </a:rPr>
              <a:t>f</a:t>
            </a:r>
            <a:r>
              <a:rPr sz="950" i="1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spc="-17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0,</a:t>
            </a:r>
            <a:r>
              <a:rPr sz="950" spc="3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if</a:t>
            </a:r>
            <a:r>
              <a:rPr sz="950" spc="12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x</a:t>
            </a:r>
            <a:r>
              <a:rPr sz="950" i="1" spc="-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</a:t>
            </a:r>
            <a:r>
              <a:rPr sz="950" spc="-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not</a:t>
            </a:r>
            <a:r>
              <a:rPr sz="950" spc="-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in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i="1" spc="-25" dirty="0">
                <a:latin typeface="Times New Roman"/>
                <a:cs typeface="Times New Roman"/>
              </a:rPr>
              <a:t>R</a:t>
            </a:r>
            <a:r>
              <a:rPr sz="825" i="1" spc="-37" baseline="-25252" dirty="0">
                <a:latin typeface="Times New Roman"/>
                <a:cs typeface="Times New Roman"/>
              </a:rPr>
              <a:t>X</a:t>
            </a:r>
            <a:endParaRPr sz="825" baseline="-25252">
              <a:latin typeface="Times New Roman"/>
              <a:cs typeface="Times New Roman"/>
            </a:endParaRPr>
          </a:p>
          <a:p>
            <a:pPr marL="198120" indent="-172720">
              <a:lnSpc>
                <a:spcPts val="1150"/>
              </a:lnSpc>
              <a:spcBef>
                <a:spcPts val="700"/>
              </a:spcBef>
              <a:buClr>
                <a:srgbClr val="00007C"/>
              </a:buClr>
              <a:buSzPct val="75000"/>
              <a:buChar char="■"/>
              <a:tabLst>
                <a:tab pos="198120" algn="l"/>
              </a:tabLst>
            </a:pPr>
            <a:r>
              <a:rPr sz="1000" spc="-10" dirty="0">
                <a:latin typeface="Arial"/>
                <a:cs typeface="Arial"/>
              </a:rPr>
              <a:t>Properties</a:t>
            </a:r>
            <a:endParaRPr sz="1000">
              <a:latin typeface="Arial"/>
              <a:cs typeface="Arial"/>
            </a:endParaRPr>
          </a:p>
          <a:p>
            <a:pPr marR="619125" algn="r">
              <a:lnSpc>
                <a:spcPts val="610"/>
              </a:lnSpc>
            </a:pPr>
            <a:r>
              <a:rPr sz="550" i="1" spc="-50" dirty="0">
                <a:latin typeface="Times New Roman"/>
                <a:cs typeface="Times New Roman"/>
              </a:rPr>
              <a:t>x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59026" y="3432944"/>
            <a:ext cx="43815" cy="10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50" i="1" spc="-50" dirty="0">
                <a:latin typeface="Times New Roman"/>
                <a:cs typeface="Times New Roman"/>
              </a:rPr>
              <a:t>x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8368" y="3552497"/>
            <a:ext cx="302133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2.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a</a:t>
            </a:r>
            <a:r>
              <a:rPr sz="900" i="1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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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b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a</a:t>
            </a:r>
            <a:r>
              <a:rPr sz="900" i="1" spc="30" dirty="0">
                <a:latin typeface="Times New Roman"/>
                <a:cs typeface="Times New Roman"/>
              </a:rPr>
              <a:t> </a:t>
            </a:r>
            <a:r>
              <a:rPr sz="900" spc="-330" dirty="0">
                <a:latin typeface="MT Extra"/>
                <a:cs typeface="MT Extra"/>
              </a:rPr>
              <a:t>--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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b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a</a:t>
            </a:r>
            <a:r>
              <a:rPr sz="900" i="1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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180" dirty="0">
                <a:latin typeface="Times New Roman"/>
                <a:cs typeface="Times New Roman"/>
              </a:rPr>
              <a:t> </a:t>
            </a:r>
            <a:r>
              <a:rPr sz="900" spc="-330" dirty="0">
                <a:latin typeface="MT Extra"/>
                <a:cs typeface="MT Extra"/>
              </a:rPr>
              <a:t>--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b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a</a:t>
            </a:r>
            <a:r>
              <a:rPr sz="900" i="1" spc="30" dirty="0">
                <a:latin typeface="Times New Roman"/>
                <a:cs typeface="Times New Roman"/>
              </a:rPr>
              <a:t> </a:t>
            </a:r>
            <a:r>
              <a:rPr sz="900" spc="-330" dirty="0">
                <a:latin typeface="MT Extra"/>
                <a:cs typeface="MT Extra"/>
              </a:rPr>
              <a:t>--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180" dirty="0">
                <a:latin typeface="Times New Roman"/>
                <a:cs typeface="Times New Roman"/>
              </a:rPr>
              <a:t> </a:t>
            </a:r>
            <a:r>
              <a:rPr sz="900" spc="-330" dirty="0">
                <a:latin typeface="MT Extra"/>
                <a:cs typeface="MT Extra"/>
              </a:rPr>
              <a:t>--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i="1" spc="-25" dirty="0">
                <a:latin typeface="Times New Roman"/>
                <a:cs typeface="Times New Roman"/>
              </a:rPr>
              <a:t>b</a:t>
            </a:r>
            <a:r>
              <a:rPr sz="900" spc="-25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0013" y="3318562"/>
            <a:ext cx="1995805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1.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2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dirty="0">
                <a:latin typeface="Times New Roman"/>
                <a:cs typeface="Times New Roman"/>
              </a:rPr>
              <a:t> 0,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because</a:t>
            </a:r>
            <a:r>
              <a:rPr sz="900" spc="254" dirty="0">
                <a:latin typeface="Times New Roman"/>
                <a:cs typeface="Times New Roman"/>
              </a:rPr>
              <a:t>  </a:t>
            </a:r>
            <a:r>
              <a:rPr sz="600" baseline="76388" dirty="0">
                <a:latin typeface="Times New Roman"/>
                <a:cs typeface="Times New Roman"/>
              </a:rPr>
              <a:t>0</a:t>
            </a:r>
            <a:r>
              <a:rPr sz="600" spc="284" baseline="76388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f</a:t>
            </a:r>
            <a:r>
              <a:rPr sz="900" i="1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spc="-15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i="1" dirty="0">
                <a:latin typeface="Times New Roman"/>
                <a:cs typeface="Times New Roman"/>
              </a:rPr>
              <a:t>dx</a:t>
            </a:r>
            <a:r>
              <a:rPr sz="900" i="1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19400" y="3301697"/>
            <a:ext cx="62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latin typeface="Symbol"/>
                <a:cs typeface="Symbol"/>
              </a:rPr>
              <a:t></a:t>
            </a:r>
            <a:endParaRPr sz="1400">
              <a:latin typeface="Symbol"/>
              <a:cs typeface="Symbo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58214" y="612266"/>
            <a:ext cx="4572000" cy="3429000"/>
            <a:chOff x="958214" y="612266"/>
            <a:chExt cx="4572000" cy="342900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1295" y="2253992"/>
              <a:ext cx="1829328" cy="4152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1295" y="2669282"/>
              <a:ext cx="1829328" cy="4152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64691" y="618743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5"/>
                  </a:moveTo>
                  <a:lnTo>
                    <a:pt x="4559046" y="3416045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5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215890" y="7810750"/>
            <a:ext cx="533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"/>
                <a:cs typeface="Arial"/>
              </a:rPr>
              <a:t>٦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32916" y="4884670"/>
            <a:ext cx="24288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Continuous Random </a:t>
            </a:r>
            <a:r>
              <a:rPr sz="1400" spc="-10" dirty="0">
                <a:latin typeface="Arial"/>
                <a:cs typeface="Arial"/>
              </a:rPr>
              <a:t>Variables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25646" y="4934962"/>
            <a:ext cx="11283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[Probability</a:t>
            </a:r>
            <a:r>
              <a:rPr sz="10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Review]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2916" y="5319009"/>
            <a:ext cx="382016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Example: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Life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inspection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device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given</a:t>
            </a:r>
            <a:r>
              <a:rPr sz="1200" spc="3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by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 </a:t>
            </a:r>
            <a:r>
              <a:rPr sz="1200" dirty="0">
                <a:latin typeface="Arial"/>
                <a:cs typeface="Arial"/>
              </a:rPr>
              <a:t>continuous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pdf: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61516" y="6780069"/>
            <a:ext cx="3507104" cy="3911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43510" indent="-143510">
              <a:lnSpc>
                <a:spcPct val="100000"/>
              </a:lnSpc>
              <a:spcBef>
                <a:spcPts val="340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143510" algn="l"/>
              </a:tabLst>
            </a:pP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 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exponential distribution 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 2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years</a:t>
            </a:r>
            <a:endParaRPr sz="1000">
              <a:latin typeface="Arial"/>
              <a:cs typeface="Arial"/>
            </a:endParaRPr>
          </a:p>
          <a:p>
            <a:pPr marL="143510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143510" algn="l"/>
              </a:tabLst>
            </a:pP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device’s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life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years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78151" y="6136385"/>
            <a:ext cx="81915" cy="0"/>
          </a:xfrm>
          <a:custGeom>
            <a:avLst/>
            <a:gdLst/>
            <a:ahLst/>
            <a:cxnLst/>
            <a:rect l="l" t="t" r="r" b="b"/>
            <a:pathLst>
              <a:path w="81914">
                <a:moveTo>
                  <a:pt x="0" y="0"/>
                </a:moveTo>
                <a:lnTo>
                  <a:pt x="81534" y="0"/>
                </a:lnTo>
              </a:path>
            </a:pathLst>
          </a:custGeom>
          <a:ln w="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882648" y="6252726"/>
            <a:ext cx="229235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575" spc="-120" baseline="2645" dirty="0">
                <a:latin typeface="Symbol"/>
                <a:cs typeface="Symbol"/>
              </a:rPr>
              <a:t></a:t>
            </a:r>
            <a:r>
              <a:rPr sz="1575" spc="-120" baseline="-13227" dirty="0">
                <a:latin typeface="Symbol"/>
                <a:cs typeface="Symbol"/>
              </a:rPr>
              <a:t></a:t>
            </a:r>
            <a:r>
              <a:rPr sz="1050" spc="-80" dirty="0">
                <a:latin typeface="Times New Roman"/>
                <a:cs typeface="Times New Roman"/>
              </a:rPr>
              <a:t>0,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68879" y="5953401"/>
            <a:ext cx="539750" cy="487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25400">
              <a:lnSpc>
                <a:spcPct val="144300"/>
              </a:lnSpc>
              <a:spcBef>
                <a:spcPts val="95"/>
              </a:spcBef>
            </a:pPr>
            <a:r>
              <a:rPr sz="1050" dirty="0">
                <a:latin typeface="Times New Roman"/>
                <a:cs typeface="Times New Roman"/>
              </a:rPr>
              <a:t>x</a:t>
            </a:r>
            <a:r>
              <a:rPr sz="1050" spc="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Symbol"/>
                <a:cs typeface="Symbol"/>
              </a:rPr>
              <a:t>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0 </a:t>
            </a:r>
            <a:r>
              <a:rPr sz="1050" spc="-10" dirty="0">
                <a:latin typeface="Times New Roman"/>
                <a:cs typeface="Times New Roman"/>
              </a:rPr>
              <a:t>otherwise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82648" y="5961644"/>
            <a:ext cx="521334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575" spc="-232" baseline="5291" dirty="0">
                <a:latin typeface="Symbol"/>
                <a:cs typeface="Symbol"/>
              </a:rPr>
              <a:t></a:t>
            </a:r>
            <a:r>
              <a:rPr sz="1575" spc="-232" baseline="-21164" dirty="0">
                <a:latin typeface="Symbol"/>
                <a:cs typeface="Symbol"/>
              </a:rPr>
              <a:t></a:t>
            </a:r>
            <a:r>
              <a:rPr sz="1575" spc="-232" baseline="10582" dirty="0">
                <a:latin typeface="Times New Roman"/>
                <a:cs typeface="Times New Roman"/>
              </a:rPr>
              <a:t>1</a:t>
            </a:r>
            <a:r>
              <a:rPr sz="1575" spc="7" baseline="10582" dirty="0">
                <a:latin typeface="Times New Roman"/>
                <a:cs typeface="Times New Roman"/>
              </a:rPr>
              <a:t> </a:t>
            </a:r>
            <a:r>
              <a:rPr sz="1575" i="1" baseline="-23809" dirty="0">
                <a:latin typeface="Times New Roman"/>
                <a:cs typeface="Times New Roman"/>
              </a:rPr>
              <a:t>e</a:t>
            </a:r>
            <a:r>
              <a:rPr sz="600" dirty="0">
                <a:latin typeface="Symbol"/>
                <a:cs typeface="Symbol"/>
              </a:rPr>
              <a:t></a:t>
            </a:r>
            <a:r>
              <a:rPr sz="600" spc="-75" dirty="0">
                <a:latin typeface="Times New Roman"/>
                <a:cs typeface="Times New Roman"/>
              </a:rPr>
              <a:t> </a:t>
            </a:r>
            <a:r>
              <a:rPr sz="600" i="1" dirty="0">
                <a:latin typeface="Times New Roman"/>
                <a:cs typeface="Times New Roman"/>
              </a:rPr>
              <a:t>x</a:t>
            </a:r>
            <a:r>
              <a:rPr sz="600" i="1" spc="-50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/</a:t>
            </a:r>
            <a:r>
              <a:rPr sz="600" spc="-35" dirty="0">
                <a:latin typeface="Times New Roman"/>
                <a:cs typeface="Times New Roman"/>
              </a:rPr>
              <a:t> </a:t>
            </a:r>
            <a:r>
              <a:rPr sz="600" dirty="0">
                <a:latin typeface="Times New Roman"/>
                <a:cs typeface="Times New Roman"/>
              </a:rPr>
              <a:t>2</a:t>
            </a:r>
            <a:r>
              <a:rPr sz="600" spc="-30" dirty="0">
                <a:latin typeface="Times New Roman"/>
                <a:cs typeface="Times New Roman"/>
              </a:rPr>
              <a:t> </a:t>
            </a:r>
            <a:r>
              <a:rPr sz="1575" spc="-75" baseline="-23809" dirty="0">
                <a:latin typeface="Times New Roman"/>
                <a:cs typeface="Times New Roman"/>
              </a:rPr>
              <a:t>,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12308" y="6092706"/>
            <a:ext cx="581025" cy="1879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050" i="1" dirty="0">
                <a:latin typeface="Times New Roman"/>
                <a:cs typeface="Times New Roman"/>
              </a:rPr>
              <a:t>f</a:t>
            </a:r>
            <a:r>
              <a:rPr sz="1050" i="1" spc="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</a:t>
            </a:r>
            <a:r>
              <a:rPr sz="1050" i="1" dirty="0">
                <a:latin typeface="Times New Roman"/>
                <a:cs typeface="Times New Roman"/>
              </a:rPr>
              <a:t>x</a:t>
            </a:r>
            <a:r>
              <a:rPr sz="1050" dirty="0">
                <a:latin typeface="Times New Roman"/>
                <a:cs typeface="Times New Roman"/>
              </a:rPr>
              <a:t>)</a:t>
            </a:r>
            <a:r>
              <a:rPr sz="1050" spc="2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Symbol"/>
                <a:cs typeface="Symbol"/>
              </a:rPr>
              <a:t>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575" baseline="-10582" dirty="0">
                <a:latin typeface="Symbol"/>
                <a:cs typeface="Symbol"/>
              </a:rPr>
              <a:t></a:t>
            </a:r>
            <a:r>
              <a:rPr sz="1575" spc="-232" baseline="-10582" dirty="0">
                <a:latin typeface="Times New Roman"/>
                <a:cs typeface="Times New Roman"/>
              </a:rPr>
              <a:t> </a:t>
            </a:r>
            <a:r>
              <a:rPr sz="1575" spc="-75" baseline="-15873" dirty="0">
                <a:latin typeface="Times New Roman"/>
                <a:cs typeface="Times New Roman"/>
              </a:rPr>
              <a:t>2</a:t>
            </a:r>
            <a:endParaRPr sz="1575" baseline="-15873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54012" y="7344800"/>
            <a:ext cx="272415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875" baseline="-13333" dirty="0">
                <a:latin typeface="Times New Roman"/>
                <a:cs typeface="Times New Roman"/>
              </a:rPr>
              <a:t>2</a:t>
            </a:r>
            <a:r>
              <a:rPr sz="1875" spc="494" baseline="-13333" dirty="0">
                <a:latin typeface="Times New Roman"/>
                <a:cs typeface="Times New Roman"/>
              </a:rPr>
              <a:t> </a:t>
            </a:r>
            <a:r>
              <a:rPr sz="700" spc="-60" dirty="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28943" y="7179643"/>
            <a:ext cx="210502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250" i="1" dirty="0">
                <a:latin typeface="Times New Roman"/>
                <a:cs typeface="Times New Roman"/>
              </a:rPr>
              <a:t>P</a:t>
            </a:r>
            <a:r>
              <a:rPr sz="1250" dirty="0">
                <a:latin typeface="Times New Roman"/>
                <a:cs typeface="Times New Roman"/>
              </a:rPr>
              <a:t>(2</a:t>
            </a:r>
            <a:r>
              <a:rPr sz="1250" spc="-55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</a:t>
            </a:r>
            <a:r>
              <a:rPr sz="1250" spc="45" dirty="0">
                <a:latin typeface="Times New Roman"/>
                <a:cs typeface="Times New Roman"/>
              </a:rPr>
              <a:t> </a:t>
            </a:r>
            <a:r>
              <a:rPr sz="1250" i="1" dirty="0">
                <a:latin typeface="Times New Roman"/>
                <a:cs typeface="Times New Roman"/>
              </a:rPr>
              <a:t>x</a:t>
            </a:r>
            <a:r>
              <a:rPr sz="1250" i="1" spc="-2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</a:t>
            </a:r>
            <a:r>
              <a:rPr sz="1250" spc="-6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Times New Roman"/>
                <a:cs typeface="Times New Roman"/>
              </a:rPr>
              <a:t>3)</a:t>
            </a:r>
            <a:r>
              <a:rPr sz="1250" spc="-30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</a:t>
            </a:r>
            <a:r>
              <a:rPr sz="1250" spc="75" dirty="0">
                <a:latin typeface="Times New Roman"/>
                <a:cs typeface="Times New Roman"/>
              </a:rPr>
              <a:t> </a:t>
            </a:r>
            <a:r>
              <a:rPr sz="1875" u="sng" baseline="355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875" spc="-15" baseline="35555" dirty="0">
                <a:latin typeface="Times New Roman"/>
                <a:cs typeface="Times New Roman"/>
              </a:rPr>
              <a:t> </a:t>
            </a:r>
            <a:r>
              <a:rPr sz="2775" baseline="-13513" dirty="0">
                <a:latin typeface="Symbol"/>
                <a:cs typeface="Symbol"/>
              </a:rPr>
              <a:t></a:t>
            </a:r>
            <a:r>
              <a:rPr sz="1050" baseline="75396" dirty="0">
                <a:latin typeface="Times New Roman"/>
                <a:cs typeface="Times New Roman"/>
              </a:rPr>
              <a:t>3</a:t>
            </a:r>
            <a:r>
              <a:rPr sz="1050" spc="-52" baseline="75396" dirty="0">
                <a:latin typeface="Times New Roman"/>
                <a:cs typeface="Times New Roman"/>
              </a:rPr>
              <a:t> </a:t>
            </a:r>
            <a:r>
              <a:rPr sz="1250" i="1" dirty="0">
                <a:latin typeface="Times New Roman"/>
                <a:cs typeface="Times New Roman"/>
              </a:rPr>
              <a:t>e</a:t>
            </a:r>
            <a:r>
              <a:rPr sz="1050" baseline="43650" dirty="0">
                <a:latin typeface="Symbol"/>
                <a:cs typeface="Symbol"/>
              </a:rPr>
              <a:t></a:t>
            </a:r>
            <a:r>
              <a:rPr sz="1050" spc="-142" baseline="43650" dirty="0">
                <a:latin typeface="Times New Roman"/>
                <a:cs typeface="Times New Roman"/>
              </a:rPr>
              <a:t> </a:t>
            </a:r>
            <a:r>
              <a:rPr sz="1050" i="1" baseline="43650" dirty="0">
                <a:latin typeface="Times New Roman"/>
                <a:cs typeface="Times New Roman"/>
              </a:rPr>
              <a:t>x</a:t>
            </a:r>
            <a:r>
              <a:rPr sz="1050" i="1" spc="-120" baseline="43650" dirty="0">
                <a:latin typeface="Times New Roman"/>
                <a:cs typeface="Times New Roman"/>
              </a:rPr>
              <a:t> </a:t>
            </a:r>
            <a:r>
              <a:rPr sz="1050" baseline="43650" dirty="0">
                <a:latin typeface="Times New Roman"/>
                <a:cs typeface="Times New Roman"/>
              </a:rPr>
              <a:t>/</a:t>
            </a:r>
            <a:r>
              <a:rPr sz="1050" spc="-89" baseline="43650" dirty="0">
                <a:latin typeface="Times New Roman"/>
                <a:cs typeface="Times New Roman"/>
              </a:rPr>
              <a:t> </a:t>
            </a:r>
            <a:r>
              <a:rPr sz="1050" baseline="43650" dirty="0">
                <a:latin typeface="Times New Roman"/>
                <a:cs typeface="Times New Roman"/>
              </a:rPr>
              <a:t>2</a:t>
            </a:r>
            <a:r>
              <a:rPr sz="1050" spc="-172" baseline="43650" dirty="0">
                <a:latin typeface="Times New Roman"/>
                <a:cs typeface="Times New Roman"/>
              </a:rPr>
              <a:t> </a:t>
            </a:r>
            <a:r>
              <a:rPr sz="1250" i="1" dirty="0">
                <a:latin typeface="Times New Roman"/>
                <a:cs typeface="Times New Roman"/>
              </a:rPr>
              <a:t>dx</a:t>
            </a:r>
            <a:r>
              <a:rPr sz="1250" i="1" spc="-5" dirty="0">
                <a:latin typeface="Times New Roman"/>
                <a:cs typeface="Times New Roman"/>
              </a:rPr>
              <a:t> </a:t>
            </a:r>
            <a:r>
              <a:rPr sz="1250" dirty="0">
                <a:latin typeface="Symbol"/>
                <a:cs typeface="Symbol"/>
              </a:rPr>
              <a:t></a:t>
            </a:r>
            <a:r>
              <a:rPr sz="1250" spc="-40" dirty="0">
                <a:latin typeface="Times New Roman"/>
                <a:cs typeface="Times New Roman"/>
              </a:rPr>
              <a:t> </a:t>
            </a:r>
            <a:r>
              <a:rPr sz="1250" spc="-20" dirty="0">
                <a:latin typeface="Times New Roman"/>
                <a:cs typeface="Times New Roman"/>
              </a:rPr>
              <a:t>0.14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58214" y="4589145"/>
            <a:ext cx="4572000" cy="3429000"/>
            <a:chOff x="958214" y="4589145"/>
            <a:chExt cx="4572000" cy="3429000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49395" y="5770621"/>
              <a:ext cx="1481612" cy="19735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49395" y="5967980"/>
              <a:ext cx="1481612" cy="19735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49395" y="6165338"/>
              <a:ext cx="1481612" cy="19735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49395" y="6362696"/>
              <a:ext cx="1481612" cy="19735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49395" y="6560054"/>
              <a:ext cx="1481612" cy="19507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64691" y="459562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5890" y="3833872"/>
            <a:ext cx="533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"/>
                <a:cs typeface="Arial"/>
              </a:rPr>
              <a:t>٧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907792"/>
            <a:ext cx="4028440" cy="73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92095" algn="l"/>
              </a:tabLst>
            </a:pPr>
            <a:r>
              <a:rPr sz="1400" dirty="0">
                <a:latin typeface="Arial"/>
                <a:cs typeface="Arial"/>
              </a:rPr>
              <a:t>Cumulative Distribution </a:t>
            </a:r>
            <a:r>
              <a:rPr sz="1400" spc="-10" dirty="0">
                <a:latin typeface="Arial"/>
                <a:cs typeface="Arial"/>
              </a:rPr>
              <a:t>Function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[Probability</a:t>
            </a:r>
            <a:r>
              <a:rPr sz="10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Review]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172720" indent="-172720">
              <a:lnSpc>
                <a:spcPts val="1145"/>
              </a:lnSpc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Cumulative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Function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(cdf)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denoted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F(x)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F(x)</a:t>
            </a:r>
            <a:endParaRPr sz="1000">
              <a:latin typeface="Arial"/>
              <a:cs typeface="Arial"/>
            </a:endParaRPr>
          </a:p>
          <a:p>
            <a:pPr marL="171450">
              <a:lnSpc>
                <a:spcPts val="1145"/>
              </a:lnSpc>
            </a:pP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P(X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&lt;=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x)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1516" y="1635502"/>
            <a:ext cx="1311910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indent="-144780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77777"/>
              <a:buChar char="□"/>
              <a:tabLst>
                <a:tab pos="144780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discrete,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9A9ACC"/>
              </a:buClr>
              <a:buFont typeface="Arial"/>
              <a:buChar char="□"/>
            </a:pPr>
            <a:endParaRPr sz="900">
              <a:latin typeface="Arial"/>
              <a:cs typeface="Arial"/>
            </a:endParaRPr>
          </a:p>
          <a:p>
            <a:pPr marL="144780" indent="-144780">
              <a:lnSpc>
                <a:spcPct val="100000"/>
              </a:lnSpc>
              <a:buClr>
                <a:srgbClr val="9A9ACC"/>
              </a:buClr>
              <a:buSzPct val="77777"/>
              <a:buChar char="□"/>
              <a:tabLst>
                <a:tab pos="144780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continuous,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then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87090" y="2003842"/>
            <a:ext cx="488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spc="-60" dirty="0">
                <a:latin typeface="Symbol"/>
                <a:cs typeface="Symbol"/>
              </a:rPr>
              <a:t>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9274" y="1559056"/>
            <a:ext cx="785495" cy="5302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75"/>
              </a:spcBef>
            </a:pPr>
            <a:r>
              <a:rPr sz="900" i="1" dirty="0">
                <a:latin typeface="Times New Roman"/>
                <a:cs typeface="Times New Roman"/>
              </a:rPr>
              <a:t>F</a:t>
            </a:r>
            <a:r>
              <a:rPr sz="900" i="1" spc="-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2025" baseline="-8230" dirty="0">
                <a:latin typeface="Symbol"/>
                <a:cs typeface="Symbol"/>
              </a:rPr>
              <a:t></a:t>
            </a:r>
            <a:r>
              <a:rPr sz="2025" spc="-104" baseline="-823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750" i="1" baseline="-22222" dirty="0">
                <a:latin typeface="Times New Roman"/>
                <a:cs typeface="Times New Roman"/>
              </a:rPr>
              <a:t>i</a:t>
            </a:r>
            <a:r>
              <a:rPr sz="750" i="1" spc="15" baseline="-22222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  <a:p>
            <a:pPr marL="54610" algn="ctr">
              <a:lnSpc>
                <a:spcPts val="560"/>
              </a:lnSpc>
              <a:spcBef>
                <a:spcPts val="95"/>
              </a:spcBef>
            </a:pPr>
            <a:r>
              <a:rPr sz="500" spc="-25" dirty="0">
                <a:latin typeface="Times New Roman"/>
                <a:cs typeface="Times New Roman"/>
              </a:rPr>
              <a:t>all</a:t>
            </a:r>
            <a:endParaRPr sz="500">
              <a:latin typeface="Times New Roman"/>
              <a:cs typeface="Times New Roman"/>
            </a:endParaRPr>
          </a:p>
          <a:p>
            <a:pPr marL="72390" algn="ctr">
              <a:lnSpc>
                <a:spcPts val="560"/>
              </a:lnSpc>
            </a:pPr>
            <a:r>
              <a:rPr sz="500" i="1" dirty="0">
                <a:latin typeface="Times New Roman"/>
                <a:cs typeface="Times New Roman"/>
              </a:rPr>
              <a:t>x</a:t>
            </a:r>
            <a:r>
              <a:rPr sz="525" i="1" baseline="-23809" dirty="0">
                <a:latin typeface="Times New Roman"/>
                <a:cs typeface="Times New Roman"/>
              </a:rPr>
              <a:t>i</a:t>
            </a:r>
            <a:r>
              <a:rPr sz="525" i="1" spc="22" baseline="-23809" dirty="0">
                <a:latin typeface="Times New Roman"/>
                <a:cs typeface="Times New Roman"/>
              </a:rPr>
              <a:t> </a:t>
            </a:r>
            <a:r>
              <a:rPr sz="500" dirty="0">
                <a:latin typeface="Symbol"/>
                <a:cs typeface="Symbol"/>
              </a:rPr>
              <a:t></a:t>
            </a:r>
            <a:r>
              <a:rPr sz="500" spc="-70" dirty="0">
                <a:latin typeface="Times New Roman"/>
                <a:cs typeface="Times New Roman"/>
              </a:rPr>
              <a:t> </a:t>
            </a:r>
            <a:r>
              <a:rPr sz="500" i="1" spc="-50" dirty="0">
                <a:latin typeface="Times New Roman"/>
                <a:cs typeface="Times New Roman"/>
              </a:rPr>
              <a:t>x</a:t>
            </a:r>
            <a:endParaRPr sz="500">
              <a:latin typeface="Times New Roman"/>
              <a:cs typeface="Times New Roman"/>
            </a:endParaRPr>
          </a:p>
          <a:p>
            <a:pPr marL="33655" algn="ctr">
              <a:lnSpc>
                <a:spcPct val="100000"/>
              </a:lnSpc>
              <a:spcBef>
                <a:spcPts val="300"/>
              </a:spcBef>
            </a:pPr>
            <a:r>
              <a:rPr sz="550" i="1" spc="-50" dirty="0">
                <a:latin typeface="Times New Roman"/>
                <a:cs typeface="Times New Roman"/>
              </a:rPr>
              <a:t>x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37329" y="2021018"/>
            <a:ext cx="80454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516255" algn="l"/>
              </a:tabLst>
            </a:pPr>
            <a:r>
              <a:rPr sz="900" i="1" dirty="0">
                <a:latin typeface="Times New Roman"/>
                <a:cs typeface="Times New Roman"/>
              </a:rPr>
              <a:t>F</a:t>
            </a:r>
            <a:r>
              <a:rPr sz="900" i="1" spc="-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Symbol"/>
                <a:cs typeface="Symbol"/>
              </a:rPr>
              <a:t>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i="1" dirty="0">
                <a:latin typeface="Times New Roman"/>
                <a:cs typeface="Times New Roman"/>
              </a:rPr>
              <a:t>f </a:t>
            </a:r>
            <a:r>
              <a:rPr sz="900" spc="-10" dirty="0">
                <a:latin typeface="Times New Roman"/>
                <a:cs typeface="Times New Roman"/>
              </a:rPr>
              <a:t>(</a:t>
            </a:r>
            <a:r>
              <a:rPr sz="900" i="1" spc="-10" dirty="0">
                <a:latin typeface="Times New Roman"/>
                <a:cs typeface="Times New Roman"/>
              </a:rPr>
              <a:t>t</a:t>
            </a:r>
            <a:r>
              <a:rPr sz="900" spc="-10" dirty="0">
                <a:latin typeface="Times New Roman"/>
                <a:cs typeface="Times New Roman"/>
              </a:rPr>
              <a:t>)</a:t>
            </a:r>
            <a:r>
              <a:rPr sz="900" i="1" spc="-10" dirty="0">
                <a:latin typeface="Times New Roman"/>
                <a:cs typeface="Times New Roman"/>
              </a:rPr>
              <a:t>dt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7516" y="2121851"/>
            <a:ext cx="4057015" cy="13944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64184" algn="ctr">
              <a:lnSpc>
                <a:spcPct val="100000"/>
              </a:lnSpc>
              <a:spcBef>
                <a:spcPts val="195"/>
              </a:spcBef>
            </a:pPr>
            <a:r>
              <a:rPr sz="550" spc="-25" dirty="0">
                <a:latin typeface="Symbol"/>
                <a:cs typeface="Symbol"/>
              </a:rPr>
              <a:t></a:t>
            </a:r>
            <a:endParaRPr sz="550">
              <a:latin typeface="Symbol"/>
              <a:cs typeface="Symbol"/>
            </a:endParaRPr>
          </a:p>
          <a:p>
            <a:pPr marL="198120" indent="-172720">
              <a:lnSpc>
                <a:spcPct val="100000"/>
              </a:lnSpc>
              <a:spcBef>
                <a:spcPts val="190"/>
              </a:spcBef>
              <a:buClr>
                <a:srgbClr val="00007C"/>
              </a:buClr>
              <a:buSzPct val="75000"/>
              <a:buChar char="■"/>
              <a:tabLst>
                <a:tab pos="198120" algn="l"/>
              </a:tabLst>
            </a:pPr>
            <a:r>
              <a:rPr sz="1000" spc="-10" dirty="0">
                <a:latin typeface="Arial"/>
                <a:cs typeface="Arial"/>
              </a:rPr>
              <a:t>Properties</a:t>
            </a:r>
            <a:endParaRPr sz="1000">
              <a:latin typeface="Arial"/>
              <a:cs typeface="Arial"/>
            </a:endParaRPr>
          </a:p>
          <a:p>
            <a:pPr marL="531495" lvl="1" indent="-128270">
              <a:lnSpc>
                <a:spcPct val="100000"/>
              </a:lnSpc>
              <a:spcBef>
                <a:spcPts val="219"/>
              </a:spcBef>
              <a:buFont typeface="Times New Roman"/>
              <a:buAutoNum type="arabicPeriod"/>
              <a:tabLst>
                <a:tab pos="531495" algn="l"/>
              </a:tabLst>
            </a:pP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3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is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nondecreasing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function.</a:t>
            </a:r>
            <a:r>
              <a:rPr sz="850" spc="14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If</a:t>
            </a:r>
            <a:r>
              <a:rPr sz="850" spc="9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a</a:t>
            </a:r>
            <a:r>
              <a:rPr sz="850" i="1" spc="25" dirty="0">
                <a:latin typeface="Times New Roman"/>
                <a:cs typeface="Times New Roman"/>
              </a:rPr>
              <a:t> </a:t>
            </a:r>
            <a:r>
              <a:rPr sz="850" spc="-320" dirty="0">
                <a:latin typeface="MT Extra"/>
                <a:cs typeface="MT Extra"/>
              </a:rPr>
              <a:t>--</a:t>
            </a:r>
            <a:r>
              <a:rPr sz="850" spc="-35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b</a:t>
            </a:r>
            <a:r>
              <a:rPr sz="850" dirty="0">
                <a:latin typeface="Times New Roman"/>
                <a:cs typeface="Times New Roman"/>
              </a:rPr>
              <a:t>,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then</a:t>
            </a:r>
            <a:r>
              <a:rPr sz="850" spc="3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-114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</a:t>
            </a:r>
            <a:r>
              <a:rPr sz="850" i="1" dirty="0">
                <a:latin typeface="Times New Roman"/>
                <a:cs typeface="Times New Roman"/>
              </a:rPr>
              <a:t>a</a:t>
            </a:r>
            <a:r>
              <a:rPr sz="850" dirty="0">
                <a:latin typeface="Times New Roman"/>
                <a:cs typeface="Times New Roman"/>
              </a:rPr>
              <a:t>)</a:t>
            </a:r>
            <a:r>
              <a:rPr sz="850" spc="-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</a:t>
            </a:r>
            <a:r>
              <a:rPr sz="850" spc="4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-114" dirty="0">
                <a:latin typeface="Times New Roman"/>
                <a:cs typeface="Times New Roman"/>
              </a:rPr>
              <a:t> </a:t>
            </a:r>
            <a:r>
              <a:rPr sz="850" spc="-25" dirty="0">
                <a:latin typeface="Times New Roman"/>
                <a:cs typeface="Times New Roman"/>
              </a:rPr>
              <a:t>(</a:t>
            </a:r>
            <a:r>
              <a:rPr sz="850" i="1" spc="-25" dirty="0">
                <a:latin typeface="Times New Roman"/>
                <a:cs typeface="Times New Roman"/>
              </a:rPr>
              <a:t>b</a:t>
            </a:r>
            <a:r>
              <a:rPr sz="850" spc="-25" dirty="0">
                <a:latin typeface="Times New Roman"/>
                <a:cs typeface="Times New Roman"/>
              </a:rPr>
              <a:t>)</a:t>
            </a:r>
            <a:endParaRPr sz="850">
              <a:latin typeface="Times New Roman"/>
              <a:cs typeface="Times New Roman"/>
            </a:endParaRPr>
          </a:p>
          <a:p>
            <a:pPr marL="538480" lvl="1" indent="-123189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538480" algn="l"/>
              </a:tabLst>
            </a:pPr>
            <a:r>
              <a:rPr sz="850" dirty="0">
                <a:latin typeface="Times New Roman"/>
                <a:cs typeface="Times New Roman"/>
              </a:rPr>
              <a:t>lim</a:t>
            </a:r>
            <a:r>
              <a:rPr sz="850" spc="-135" dirty="0">
                <a:latin typeface="Times New Roman"/>
                <a:cs typeface="Times New Roman"/>
              </a:rPr>
              <a:t> </a:t>
            </a:r>
            <a:r>
              <a:rPr sz="750" i="1" baseline="-22222" dirty="0">
                <a:latin typeface="Times New Roman"/>
                <a:cs typeface="Times New Roman"/>
              </a:rPr>
              <a:t>x</a:t>
            </a:r>
            <a:r>
              <a:rPr sz="750" baseline="-22222" dirty="0">
                <a:latin typeface="Symbol"/>
                <a:cs typeface="Symbol"/>
              </a:rPr>
              <a:t></a:t>
            </a:r>
            <a:r>
              <a:rPr sz="750" spc="262" baseline="-22222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-10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</a:t>
            </a:r>
            <a:r>
              <a:rPr sz="850" i="1" dirty="0">
                <a:latin typeface="Times New Roman"/>
                <a:cs typeface="Times New Roman"/>
              </a:rPr>
              <a:t>x</a:t>
            </a:r>
            <a:r>
              <a:rPr sz="850" dirty="0">
                <a:latin typeface="Times New Roman"/>
                <a:cs typeface="Times New Roman"/>
              </a:rPr>
              <a:t>)</a:t>
            </a:r>
            <a:r>
              <a:rPr sz="850" spc="4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</a:t>
            </a:r>
            <a:r>
              <a:rPr sz="850" spc="-80" dirty="0">
                <a:latin typeface="Times New Roman"/>
                <a:cs typeface="Times New Roman"/>
              </a:rPr>
              <a:t> </a:t>
            </a:r>
            <a:r>
              <a:rPr sz="850" spc="-50" dirty="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  <a:p>
            <a:pPr marL="535305" lvl="1" indent="-12382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35305" algn="l"/>
              </a:tabLst>
            </a:pPr>
            <a:r>
              <a:rPr sz="850" dirty="0">
                <a:latin typeface="Times New Roman"/>
                <a:cs typeface="Times New Roman"/>
              </a:rPr>
              <a:t>lim</a:t>
            </a:r>
            <a:r>
              <a:rPr sz="850" spc="-140" dirty="0">
                <a:latin typeface="Times New Roman"/>
                <a:cs typeface="Times New Roman"/>
              </a:rPr>
              <a:t> </a:t>
            </a:r>
            <a:r>
              <a:rPr sz="750" i="1" baseline="-22222" dirty="0">
                <a:latin typeface="Times New Roman"/>
                <a:cs typeface="Times New Roman"/>
              </a:rPr>
              <a:t>x</a:t>
            </a:r>
            <a:r>
              <a:rPr sz="750" baseline="-22222" dirty="0">
                <a:latin typeface="Symbol"/>
                <a:cs typeface="Symbol"/>
              </a:rPr>
              <a:t></a:t>
            </a:r>
            <a:r>
              <a:rPr sz="750" spc="262" baseline="-22222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-10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</a:t>
            </a:r>
            <a:r>
              <a:rPr sz="850" i="1" dirty="0">
                <a:latin typeface="Times New Roman"/>
                <a:cs typeface="Times New Roman"/>
              </a:rPr>
              <a:t>x</a:t>
            </a:r>
            <a:r>
              <a:rPr sz="850" dirty="0">
                <a:latin typeface="Times New Roman"/>
                <a:cs typeface="Times New Roman"/>
              </a:rPr>
              <a:t>)</a:t>
            </a:r>
            <a:r>
              <a:rPr sz="850" spc="3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</a:t>
            </a:r>
            <a:r>
              <a:rPr sz="850" spc="15" dirty="0">
                <a:latin typeface="Times New Roman"/>
                <a:cs typeface="Times New Roman"/>
              </a:rPr>
              <a:t> </a:t>
            </a:r>
            <a:r>
              <a:rPr sz="850" spc="-50" dirty="0">
                <a:latin typeface="Times New Roman"/>
                <a:cs typeface="Times New Roman"/>
              </a:rPr>
              <a:t>0</a:t>
            </a:r>
            <a:endParaRPr sz="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/>
            </a:pPr>
            <a:endParaRPr sz="850">
              <a:latin typeface="Times New Roman"/>
              <a:cs typeface="Times New Roman"/>
            </a:endParaRPr>
          </a:p>
          <a:p>
            <a:pPr marL="196850" marR="30480" indent="-171450">
              <a:lnSpc>
                <a:spcPts val="1080"/>
              </a:lnSpc>
              <a:buSzPct val="75000"/>
              <a:buFont typeface="Arial"/>
              <a:buChar char="■"/>
              <a:tabLst>
                <a:tab pos="196850" algn="l"/>
                <a:tab pos="198120" algn="l"/>
              </a:tabLst>
            </a:pPr>
            <a:r>
              <a:rPr sz="1000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question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about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answered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terms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cdf, </a:t>
            </a:r>
            <a:r>
              <a:rPr sz="1000" spc="-10" dirty="0">
                <a:latin typeface="Arial"/>
                <a:cs typeface="Arial"/>
              </a:rPr>
              <a:t>e.g.:</a:t>
            </a:r>
            <a:endParaRPr sz="1000">
              <a:latin typeface="Arial"/>
              <a:cs typeface="Arial"/>
            </a:endParaRPr>
          </a:p>
          <a:p>
            <a:pPr marL="902335">
              <a:lnSpc>
                <a:spcPts val="930"/>
              </a:lnSpc>
            </a:pPr>
            <a:r>
              <a:rPr sz="1000" i="1" dirty="0">
                <a:latin typeface="Times New Roman"/>
                <a:cs typeface="Times New Roman"/>
              </a:rPr>
              <a:t>P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40" dirty="0">
                <a:latin typeface="Times New Roman"/>
                <a:cs typeface="Times New Roman"/>
              </a:rPr>
              <a:t> </a:t>
            </a:r>
            <a:r>
              <a:rPr sz="1000" spc="-375" dirty="0">
                <a:latin typeface="MT Extra"/>
                <a:cs typeface="MT Extra"/>
              </a:rPr>
              <a:t>--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Times New Roman"/>
                <a:cs typeface="Times New Roman"/>
              </a:rPr>
              <a:t>b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),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45" dirty="0">
                <a:latin typeface="Times New Roman"/>
                <a:cs typeface="Times New Roman"/>
              </a:rPr>
              <a:t> </a:t>
            </a:r>
            <a:r>
              <a:rPr sz="1000" spc="-375" dirty="0">
                <a:latin typeface="MT Extra"/>
                <a:cs typeface="MT Extra"/>
              </a:rPr>
              <a:t>--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b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215890" y="7810750"/>
            <a:ext cx="533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"/>
                <a:cs typeface="Arial"/>
              </a:rPr>
              <a:t>٨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32916" y="4884670"/>
            <a:ext cx="3921125" cy="64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92095" algn="l"/>
              </a:tabLst>
            </a:pPr>
            <a:r>
              <a:rPr sz="1400" dirty="0">
                <a:latin typeface="Arial"/>
                <a:cs typeface="Arial"/>
              </a:rPr>
              <a:t>Cumulative Distribution </a:t>
            </a:r>
            <a:r>
              <a:rPr sz="1400" spc="-10" dirty="0">
                <a:latin typeface="Arial"/>
                <a:cs typeface="Arial"/>
              </a:rPr>
              <a:t>Function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[Probability</a:t>
            </a:r>
            <a:r>
              <a:rPr sz="10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Review]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400">
              <a:latin typeface="Arial"/>
              <a:cs typeface="Arial"/>
            </a:endParaRPr>
          </a:p>
          <a:p>
            <a:pPr marL="170815" indent="-170815">
              <a:lnSpc>
                <a:spcPct val="100000"/>
              </a:lnSpc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Example: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inspection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device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cdf: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77411" y="5687921"/>
            <a:ext cx="2476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650" baseline="-12626" dirty="0">
                <a:latin typeface="Times New Roman"/>
                <a:cs typeface="Times New Roman"/>
              </a:rPr>
              <a:t>2</a:t>
            </a:r>
            <a:r>
              <a:rPr sz="1650" spc="450" baseline="-12626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54505" y="5540900"/>
            <a:ext cx="16167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latin typeface="Times New Roman"/>
                <a:cs typeface="Times New Roman"/>
              </a:rPr>
              <a:t>F</a:t>
            </a:r>
            <a:r>
              <a:rPr sz="1100" i="1" spc="-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650" u="sng" baseline="3535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50" spc="52" baseline="35353" dirty="0">
                <a:latin typeface="Times New Roman"/>
                <a:cs typeface="Times New Roman"/>
              </a:rPr>
              <a:t> </a:t>
            </a:r>
            <a:r>
              <a:rPr sz="2475" baseline="-13468" dirty="0">
                <a:latin typeface="Symbol"/>
                <a:cs typeface="Symbol"/>
              </a:rPr>
              <a:t></a:t>
            </a:r>
            <a:r>
              <a:rPr sz="975" i="1" baseline="72649" dirty="0">
                <a:latin typeface="Times New Roman"/>
                <a:cs typeface="Times New Roman"/>
              </a:rPr>
              <a:t>x</a:t>
            </a:r>
            <a:r>
              <a:rPr sz="975" i="1" spc="15" baseline="72649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</a:t>
            </a:r>
            <a:r>
              <a:rPr sz="975" baseline="42735" dirty="0">
                <a:latin typeface="Symbol"/>
                <a:cs typeface="Symbol"/>
              </a:rPr>
              <a:t></a:t>
            </a:r>
            <a:r>
              <a:rPr sz="975" i="1" baseline="42735" dirty="0">
                <a:latin typeface="Times New Roman"/>
                <a:cs typeface="Times New Roman"/>
              </a:rPr>
              <a:t>t</a:t>
            </a:r>
            <a:r>
              <a:rPr sz="975" i="1" spc="-52" baseline="42735" dirty="0">
                <a:latin typeface="Times New Roman"/>
                <a:cs typeface="Times New Roman"/>
              </a:rPr>
              <a:t> </a:t>
            </a:r>
            <a:r>
              <a:rPr sz="975" baseline="42735" dirty="0">
                <a:latin typeface="Times New Roman"/>
                <a:cs typeface="Times New Roman"/>
              </a:rPr>
              <a:t>/</a:t>
            </a:r>
            <a:r>
              <a:rPr sz="975" spc="-82" baseline="42735" dirty="0">
                <a:latin typeface="Times New Roman"/>
                <a:cs typeface="Times New Roman"/>
              </a:rPr>
              <a:t> </a:t>
            </a:r>
            <a:r>
              <a:rPr sz="975" spc="-15" baseline="42735" dirty="0">
                <a:latin typeface="Times New Roman"/>
                <a:cs typeface="Times New Roman"/>
              </a:rPr>
              <a:t>2</a:t>
            </a:r>
            <a:r>
              <a:rPr sz="975" spc="-150" baseline="427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dt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-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dirty="0">
                <a:latin typeface="Symbol"/>
                <a:cs typeface="Symbol"/>
              </a:rPr>
              <a:t></a:t>
            </a:r>
            <a:r>
              <a:rPr sz="1100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</a:t>
            </a:r>
            <a:r>
              <a:rPr sz="975" baseline="42735" dirty="0">
                <a:latin typeface="Symbol"/>
                <a:cs typeface="Symbol"/>
              </a:rPr>
              <a:t></a:t>
            </a:r>
            <a:r>
              <a:rPr sz="975" spc="-135" baseline="42735" dirty="0">
                <a:latin typeface="Times New Roman"/>
                <a:cs typeface="Times New Roman"/>
              </a:rPr>
              <a:t> </a:t>
            </a:r>
            <a:r>
              <a:rPr sz="975" i="1" spc="-15" baseline="42735" dirty="0">
                <a:latin typeface="Times New Roman"/>
                <a:cs typeface="Times New Roman"/>
              </a:rPr>
              <a:t>x</a:t>
            </a:r>
            <a:r>
              <a:rPr sz="975" i="1" spc="-89" baseline="42735" dirty="0">
                <a:latin typeface="Times New Roman"/>
                <a:cs typeface="Times New Roman"/>
              </a:rPr>
              <a:t> </a:t>
            </a:r>
            <a:r>
              <a:rPr sz="975" baseline="42735" dirty="0">
                <a:latin typeface="Times New Roman"/>
                <a:cs typeface="Times New Roman"/>
              </a:rPr>
              <a:t>/</a:t>
            </a:r>
            <a:r>
              <a:rPr sz="975" spc="-75" baseline="42735" dirty="0">
                <a:latin typeface="Times New Roman"/>
                <a:cs typeface="Times New Roman"/>
              </a:rPr>
              <a:t> 2</a:t>
            </a:r>
            <a:endParaRPr sz="975" baseline="4273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36116" y="6086330"/>
            <a:ext cx="3434079" cy="108521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68910" indent="-143510">
              <a:lnSpc>
                <a:spcPct val="100000"/>
              </a:lnSpc>
              <a:spcBef>
                <a:spcPts val="630"/>
              </a:spcBef>
              <a:buClr>
                <a:srgbClr val="9A9ACC"/>
              </a:buClr>
              <a:buSzPct val="80000"/>
              <a:buChar char="□"/>
              <a:tabLst>
                <a:tab pos="1689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device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less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years:</a:t>
            </a:r>
            <a:endParaRPr sz="1000">
              <a:latin typeface="Arial"/>
              <a:cs typeface="Arial"/>
            </a:endParaRPr>
          </a:p>
          <a:p>
            <a:pPr marL="217804" algn="ctr">
              <a:lnSpc>
                <a:spcPct val="100000"/>
              </a:lnSpc>
              <a:spcBef>
                <a:spcPts val="555"/>
              </a:spcBef>
            </a:pPr>
            <a:r>
              <a:rPr sz="1000" i="1" dirty="0">
                <a:latin typeface="Times New Roman"/>
                <a:cs typeface="Times New Roman"/>
              </a:rPr>
              <a:t>P</a:t>
            </a:r>
            <a:r>
              <a:rPr sz="1000" dirty="0">
                <a:latin typeface="Times New Roman"/>
                <a:cs typeface="Times New Roman"/>
              </a:rPr>
              <a:t>(0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2)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(2)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(0)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(2)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-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8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</a:t>
            </a:r>
            <a:r>
              <a:rPr sz="900" baseline="41666" dirty="0">
                <a:latin typeface="Symbol"/>
                <a:cs typeface="Symbol"/>
              </a:rPr>
              <a:t></a:t>
            </a:r>
            <a:r>
              <a:rPr sz="900" baseline="41666" dirty="0">
                <a:latin typeface="Times New Roman"/>
                <a:cs typeface="Times New Roman"/>
              </a:rPr>
              <a:t>1</a:t>
            </a:r>
            <a:r>
              <a:rPr sz="900" spc="262" baseline="41666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-10" dirty="0">
                <a:latin typeface="Times New Roman"/>
                <a:cs typeface="Times New Roman"/>
              </a:rPr>
              <a:t> 0.632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00">
              <a:latin typeface="Times New Roman"/>
              <a:cs typeface="Times New Roman"/>
            </a:endParaRPr>
          </a:p>
          <a:p>
            <a:pPr marL="168910" indent="-143510">
              <a:lnSpc>
                <a:spcPct val="100000"/>
              </a:lnSpc>
              <a:spcBef>
                <a:spcPts val="5"/>
              </a:spcBef>
              <a:buClr>
                <a:srgbClr val="9A9ACC"/>
              </a:buClr>
              <a:buSzPct val="80000"/>
              <a:buChar char="□"/>
              <a:tabLst>
                <a:tab pos="1689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lasts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years:</a:t>
            </a:r>
            <a:endParaRPr sz="1000">
              <a:latin typeface="Arial"/>
              <a:cs typeface="Arial"/>
            </a:endParaRPr>
          </a:p>
          <a:p>
            <a:pPr marL="346710">
              <a:lnSpc>
                <a:spcPct val="100000"/>
              </a:lnSpc>
              <a:spcBef>
                <a:spcPts val="1090"/>
              </a:spcBef>
            </a:pPr>
            <a:r>
              <a:rPr sz="1000" i="1" dirty="0">
                <a:latin typeface="Times New Roman"/>
                <a:cs typeface="Times New Roman"/>
              </a:rPr>
              <a:t>P</a:t>
            </a:r>
            <a:r>
              <a:rPr sz="1000" dirty="0">
                <a:latin typeface="Times New Roman"/>
                <a:cs typeface="Times New Roman"/>
              </a:rPr>
              <a:t>(2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3)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(3)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-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(2)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(1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</a:t>
            </a:r>
            <a:r>
              <a:rPr sz="900" baseline="41666" dirty="0">
                <a:latin typeface="Symbol"/>
                <a:cs typeface="Symbol"/>
              </a:rPr>
              <a:t></a:t>
            </a:r>
            <a:r>
              <a:rPr sz="900" baseline="41666" dirty="0">
                <a:latin typeface="Times New Roman"/>
                <a:cs typeface="Times New Roman"/>
              </a:rPr>
              <a:t>(3/</a:t>
            </a:r>
            <a:r>
              <a:rPr sz="900" spc="-67" baseline="41666" dirty="0">
                <a:latin typeface="Times New Roman"/>
                <a:cs typeface="Times New Roman"/>
              </a:rPr>
              <a:t> </a:t>
            </a:r>
            <a:r>
              <a:rPr sz="900" baseline="41666" dirty="0">
                <a:latin typeface="Times New Roman"/>
                <a:cs typeface="Times New Roman"/>
              </a:rPr>
              <a:t>2)</a:t>
            </a:r>
            <a:r>
              <a:rPr sz="900" spc="-15" baseline="41666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(1</a:t>
            </a:r>
            <a:r>
              <a:rPr sz="1000" dirty="0">
                <a:latin typeface="Symbol"/>
                <a:cs typeface="Symbol"/>
              </a:rPr>
              <a:t></a:t>
            </a:r>
            <a:r>
              <a:rPr sz="1000" spc="-6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</a:t>
            </a:r>
            <a:r>
              <a:rPr sz="900" baseline="41666" dirty="0">
                <a:latin typeface="Symbol"/>
                <a:cs typeface="Symbol"/>
              </a:rPr>
              <a:t></a:t>
            </a:r>
            <a:r>
              <a:rPr sz="900" baseline="41666" dirty="0">
                <a:latin typeface="Times New Roman"/>
                <a:cs typeface="Times New Roman"/>
              </a:rPr>
              <a:t>1</a:t>
            </a:r>
            <a:r>
              <a:rPr sz="900" spc="-112" baseline="41666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0.145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5890" y="3833872"/>
            <a:ext cx="533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"/>
                <a:cs typeface="Arial"/>
              </a:rPr>
              <a:t>٩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1072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Expectation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2503" y="955035"/>
            <a:ext cx="11334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</a:t>
            </a: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Probability</a:t>
            </a:r>
            <a:r>
              <a:rPr sz="1000" spc="-5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Review]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916" y="1330702"/>
            <a:ext cx="26314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indent="-17272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expected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denoted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E(X)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1516" y="1497579"/>
            <a:ext cx="1026160" cy="466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indent="-144780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77777"/>
              <a:buChar char="□"/>
              <a:tabLst>
                <a:tab pos="144780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 </a:t>
            </a:r>
            <a:r>
              <a:rPr sz="900" dirty="0">
                <a:latin typeface="Arial"/>
                <a:cs typeface="Arial"/>
              </a:rPr>
              <a:t>is </a:t>
            </a:r>
            <a:r>
              <a:rPr sz="900" spc="-10" dirty="0">
                <a:latin typeface="Arial"/>
                <a:cs typeface="Arial"/>
              </a:rPr>
              <a:t>discrete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Clr>
                <a:srgbClr val="9A9ACC"/>
              </a:buClr>
              <a:buFont typeface="Arial"/>
              <a:buChar char="□"/>
            </a:pPr>
            <a:endParaRPr sz="900">
              <a:latin typeface="Arial"/>
              <a:cs typeface="Arial"/>
            </a:endParaRPr>
          </a:p>
          <a:p>
            <a:pPr marL="144780" indent="-144780">
              <a:lnSpc>
                <a:spcPct val="100000"/>
              </a:lnSpc>
              <a:buClr>
                <a:srgbClr val="9A9ACC"/>
              </a:buClr>
              <a:buSzPct val="77777"/>
              <a:buChar char="□"/>
              <a:tabLst>
                <a:tab pos="144780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 </a:t>
            </a:r>
            <a:r>
              <a:rPr sz="900" dirty="0">
                <a:latin typeface="Arial"/>
                <a:cs typeface="Arial"/>
              </a:rPr>
              <a:t>is </a:t>
            </a:r>
            <a:r>
              <a:rPr sz="900" spc="-10" dirty="0">
                <a:latin typeface="Arial"/>
                <a:cs typeface="Arial"/>
              </a:rPr>
              <a:t>continuous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7637" y="3344573"/>
            <a:ext cx="95250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900" spc="-25" dirty="0">
                <a:latin typeface="Arial"/>
                <a:cs typeface="Arial"/>
              </a:rPr>
              <a:t>n: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83336" y="1454859"/>
            <a:ext cx="855344" cy="45465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275"/>
              </a:spcBef>
            </a:pPr>
            <a:r>
              <a:rPr sz="900" i="1" dirty="0">
                <a:latin typeface="Times New Roman"/>
                <a:cs typeface="Times New Roman"/>
              </a:rPr>
              <a:t>E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2025" baseline="-8230" dirty="0">
                <a:latin typeface="Symbol"/>
                <a:cs typeface="Symbol"/>
              </a:rPr>
              <a:t></a:t>
            </a:r>
            <a:r>
              <a:rPr sz="2025" spc="-209" baseline="-823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750" i="1" baseline="-27777" dirty="0">
                <a:latin typeface="Times New Roman"/>
                <a:cs typeface="Times New Roman"/>
              </a:rPr>
              <a:t>i</a:t>
            </a:r>
            <a:r>
              <a:rPr sz="750" i="1" spc="135" baseline="-27777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750" i="1" baseline="-27777" dirty="0">
                <a:latin typeface="Times New Roman"/>
                <a:cs typeface="Times New Roman"/>
              </a:rPr>
              <a:t>i</a:t>
            </a:r>
            <a:r>
              <a:rPr sz="750" i="1" spc="22" baseline="-27777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)</a:t>
            </a:r>
            <a:endParaRPr sz="900">
              <a:latin typeface="Times New Roman"/>
              <a:cs typeface="Times New Roman"/>
            </a:endParaRPr>
          </a:p>
          <a:p>
            <a:pPr marR="17780" algn="ctr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latin typeface="Times New Roman"/>
                <a:cs typeface="Times New Roman"/>
              </a:rPr>
              <a:t>all</a:t>
            </a:r>
            <a:r>
              <a:rPr sz="500" spc="-30" dirty="0">
                <a:latin typeface="Times New Roman"/>
                <a:cs typeface="Times New Roman"/>
              </a:rPr>
              <a:t> </a:t>
            </a:r>
            <a:r>
              <a:rPr sz="500" i="1" spc="-50" dirty="0">
                <a:latin typeface="Times New Roman"/>
                <a:cs typeface="Times New Roman"/>
              </a:rPr>
              <a:t>i</a:t>
            </a:r>
            <a:endParaRPr sz="500">
              <a:latin typeface="Times New Roman"/>
              <a:cs typeface="Times New Roman"/>
            </a:endParaRPr>
          </a:p>
          <a:p>
            <a:pPr marR="29845" algn="ctr">
              <a:lnSpc>
                <a:spcPct val="100000"/>
              </a:lnSpc>
              <a:spcBef>
                <a:spcPts val="235"/>
              </a:spcBef>
            </a:pPr>
            <a:r>
              <a:rPr sz="550" spc="-50" dirty="0">
                <a:latin typeface="Symbol"/>
                <a:cs typeface="Symbol"/>
              </a:rPr>
              <a:t></a:t>
            </a:r>
            <a:endParaRPr sz="5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5235" y="1782101"/>
            <a:ext cx="92900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Times New Roman"/>
                <a:cs typeface="Times New Roman"/>
              </a:rPr>
              <a:t>E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2100" baseline="-13888" dirty="0">
                <a:latin typeface="Symbol"/>
                <a:cs typeface="Symbol"/>
              </a:rPr>
              <a:t></a:t>
            </a:r>
            <a:r>
              <a:rPr sz="2100" spc="157" baseline="-13888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xf</a:t>
            </a:r>
            <a:r>
              <a:rPr sz="900" i="1" spc="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(</a:t>
            </a:r>
            <a:r>
              <a:rPr sz="900" i="1" spc="-10" dirty="0">
                <a:latin typeface="Times New Roman"/>
                <a:cs typeface="Times New Roman"/>
              </a:rPr>
              <a:t>x</a:t>
            </a:r>
            <a:r>
              <a:rPr sz="900" spc="-10" dirty="0">
                <a:latin typeface="Times New Roman"/>
                <a:cs typeface="Times New Roman"/>
              </a:rPr>
              <a:t>)</a:t>
            </a:r>
            <a:r>
              <a:rPr sz="900" i="1" spc="-10" dirty="0">
                <a:latin typeface="Times New Roman"/>
                <a:cs typeface="Times New Roman"/>
              </a:rPr>
              <a:t>dx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94154" y="3330702"/>
            <a:ext cx="162560" cy="120014"/>
          </a:xfrm>
          <a:custGeom>
            <a:avLst/>
            <a:gdLst/>
            <a:ahLst/>
            <a:cxnLst/>
            <a:rect l="l" t="t" r="r" b="b"/>
            <a:pathLst>
              <a:path w="162560" h="120014">
                <a:moveTo>
                  <a:pt x="162306" y="0"/>
                </a:moveTo>
                <a:lnTo>
                  <a:pt x="0" y="0"/>
                </a:lnTo>
                <a:lnTo>
                  <a:pt x="0" y="119634"/>
                </a:lnTo>
                <a:lnTo>
                  <a:pt x="162306" y="119634"/>
                </a:lnTo>
                <a:lnTo>
                  <a:pt x="162306" y="0"/>
                </a:lnTo>
                <a:close/>
              </a:path>
            </a:pathLst>
          </a:custGeom>
          <a:solidFill>
            <a:srgbClr val="FFFF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07516" y="1915253"/>
            <a:ext cx="4035425" cy="172021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R="50165" algn="ctr">
              <a:lnSpc>
                <a:spcPct val="100000"/>
              </a:lnSpc>
              <a:spcBef>
                <a:spcPts val="405"/>
              </a:spcBef>
            </a:pPr>
            <a:r>
              <a:rPr sz="550" spc="-25" dirty="0">
                <a:latin typeface="Symbol"/>
                <a:cs typeface="Symbol"/>
              </a:rPr>
              <a:t></a:t>
            </a:r>
            <a:endParaRPr sz="550">
              <a:latin typeface="Symbol"/>
              <a:cs typeface="Symbol"/>
            </a:endParaRPr>
          </a:p>
          <a:p>
            <a:pPr marL="398780" indent="-144780">
              <a:lnSpc>
                <a:spcPct val="100000"/>
              </a:lnSpc>
              <a:spcBef>
                <a:spcPts val="520"/>
              </a:spcBef>
              <a:buClr>
                <a:srgbClr val="9A9ACC"/>
              </a:buClr>
              <a:buSzPct val="77777"/>
              <a:buChar char="□"/>
              <a:tabLst>
                <a:tab pos="398780" algn="l"/>
              </a:tabLst>
            </a:pPr>
            <a:r>
              <a:rPr sz="900" dirty="0">
                <a:latin typeface="Arial"/>
                <a:cs typeface="Arial"/>
              </a:rPr>
              <a:t>a.k.a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baseline="23148" dirty="0">
                <a:latin typeface="Arial"/>
                <a:cs typeface="Arial"/>
              </a:rPr>
              <a:t>st</a:t>
            </a:r>
            <a:r>
              <a:rPr sz="900" spc="97" baseline="23148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moment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398780" indent="-144780">
              <a:lnSpc>
                <a:spcPct val="100000"/>
              </a:lnSpc>
              <a:spcBef>
                <a:spcPts val="114"/>
              </a:spcBef>
              <a:buClr>
                <a:srgbClr val="9A9ACC"/>
              </a:buClr>
              <a:buSzPct val="77777"/>
              <a:buChar char="□"/>
              <a:tabLst>
                <a:tab pos="39878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tendency</a:t>
            </a:r>
            <a:endParaRPr sz="900">
              <a:latin typeface="Arial"/>
              <a:cs typeface="Arial"/>
            </a:endParaRPr>
          </a:p>
          <a:p>
            <a:pPr marL="198120" indent="-172720">
              <a:lnSpc>
                <a:spcPct val="100000"/>
              </a:lnSpc>
              <a:spcBef>
                <a:spcPts val="85"/>
              </a:spcBef>
              <a:buClr>
                <a:srgbClr val="00007C"/>
              </a:buClr>
              <a:buSzPct val="75000"/>
              <a:buChar char="■"/>
              <a:tabLst>
                <a:tab pos="19812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variance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denoted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V(X)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var(X)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50" i="1" spc="-25" dirty="0">
                <a:latin typeface="Symbol"/>
                <a:cs typeface="Symbol"/>
              </a:rPr>
              <a:t></a:t>
            </a:r>
            <a:r>
              <a:rPr sz="900" i="1" spc="-37" baseline="23148" dirty="0">
                <a:latin typeface="Arial"/>
                <a:cs typeface="Arial"/>
              </a:rPr>
              <a:t>2</a:t>
            </a:r>
            <a:endParaRPr sz="900" baseline="23148">
              <a:latin typeface="Arial"/>
              <a:cs typeface="Arial"/>
            </a:endParaRPr>
          </a:p>
          <a:p>
            <a:pPr marL="398780" lvl="1" indent="-144780">
              <a:lnSpc>
                <a:spcPct val="100000"/>
              </a:lnSpc>
              <a:spcBef>
                <a:spcPts val="90"/>
              </a:spcBef>
              <a:buClr>
                <a:srgbClr val="9A9ACC"/>
              </a:buClr>
              <a:buSzPct val="77777"/>
              <a:buChar char="□"/>
              <a:tabLst>
                <a:tab pos="398780" algn="l"/>
                <a:tab pos="1396365" algn="l"/>
              </a:tabLst>
            </a:pPr>
            <a:r>
              <a:rPr sz="900" spc="-10" dirty="0">
                <a:latin typeface="Arial"/>
                <a:cs typeface="Arial"/>
              </a:rPr>
              <a:t>Definition: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V(X)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E[(X –</a:t>
            </a:r>
            <a:r>
              <a:rPr sz="900" i="1" spc="-10" dirty="0">
                <a:latin typeface="Arial"/>
                <a:cs typeface="Arial"/>
              </a:rPr>
              <a:t> E[X]</a:t>
            </a:r>
            <a:r>
              <a:rPr sz="900" i="1" spc="-15" baseline="23148" dirty="0">
                <a:latin typeface="Arial"/>
                <a:cs typeface="Arial"/>
              </a:rPr>
              <a:t>2</a:t>
            </a:r>
            <a:r>
              <a:rPr sz="900" i="1" spc="-1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398780" lvl="1" indent="-144780">
              <a:lnSpc>
                <a:spcPct val="100000"/>
              </a:lnSpc>
              <a:spcBef>
                <a:spcPts val="115"/>
              </a:spcBef>
              <a:buClr>
                <a:srgbClr val="9A9ACC"/>
              </a:buClr>
              <a:buSzPct val="77777"/>
              <a:buChar char="□"/>
              <a:tabLst>
                <a:tab pos="398780" algn="l"/>
                <a:tab pos="1396365" algn="l"/>
              </a:tabLst>
            </a:pPr>
            <a:r>
              <a:rPr sz="900" spc="-10" dirty="0">
                <a:latin typeface="Arial"/>
                <a:cs typeface="Arial"/>
              </a:rPr>
              <a:t>Also,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V(X)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E(X</a:t>
            </a:r>
            <a:r>
              <a:rPr sz="900" i="1" baseline="23148" dirty="0">
                <a:latin typeface="Arial"/>
                <a:cs typeface="Arial"/>
              </a:rPr>
              <a:t>2</a:t>
            </a:r>
            <a:r>
              <a:rPr sz="900" i="1" dirty="0">
                <a:latin typeface="Arial"/>
                <a:cs typeface="Arial"/>
              </a:rPr>
              <a:t>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–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[E(x)]</a:t>
            </a:r>
            <a:r>
              <a:rPr sz="900" i="1" spc="-15" baseline="23148" dirty="0">
                <a:latin typeface="Arial"/>
                <a:cs typeface="Arial"/>
              </a:rPr>
              <a:t>2</a:t>
            </a:r>
            <a:endParaRPr sz="900" baseline="23148">
              <a:latin typeface="Arial"/>
              <a:cs typeface="Arial"/>
            </a:endParaRPr>
          </a:p>
          <a:p>
            <a:pPr marL="396875" marR="30480" lvl="1" indent="-143510">
              <a:lnSpc>
                <a:spcPts val="969"/>
              </a:lnSpc>
              <a:spcBef>
                <a:spcPts val="235"/>
              </a:spcBef>
              <a:buSzPct val="77777"/>
              <a:buFont typeface="Arial"/>
              <a:buChar char="□"/>
              <a:tabLst>
                <a:tab pos="396875" algn="l"/>
                <a:tab pos="398145" algn="l"/>
              </a:tabLst>
            </a:pPr>
            <a:r>
              <a:rPr sz="900" dirty="0">
                <a:solidFill>
                  <a:srgbClr val="9A9ACC"/>
                </a:solidFill>
                <a:latin typeface="Times New Roman"/>
                <a:cs typeface="Times New Roman"/>
              </a:rPr>
              <a:t>	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variation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around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mean</a:t>
            </a:r>
            <a:endParaRPr sz="900">
              <a:latin typeface="Arial"/>
              <a:cs typeface="Arial"/>
            </a:endParaRPr>
          </a:p>
          <a:p>
            <a:pPr marL="198120" indent="-172720">
              <a:lnSpc>
                <a:spcPct val="100000"/>
              </a:lnSpc>
              <a:spcBef>
                <a:spcPts val="75"/>
              </a:spcBef>
              <a:buClr>
                <a:srgbClr val="00007C"/>
              </a:buClr>
              <a:buSzPct val="75000"/>
              <a:buChar char="■"/>
              <a:tabLst>
                <a:tab pos="19812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standard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deviation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denoted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50" i="1" spc="-50" dirty="0">
                <a:latin typeface="Symbol"/>
                <a:cs typeface="Symbol"/>
              </a:rPr>
              <a:t></a:t>
            </a:r>
            <a:endParaRPr sz="1050">
              <a:latin typeface="Symbol"/>
              <a:cs typeface="Symbol"/>
            </a:endParaRPr>
          </a:p>
          <a:p>
            <a:pPr marL="398780" lvl="1" indent="-144780">
              <a:lnSpc>
                <a:spcPct val="100000"/>
              </a:lnSpc>
              <a:spcBef>
                <a:spcPts val="90"/>
              </a:spcBef>
              <a:buClr>
                <a:srgbClr val="9A9ACC"/>
              </a:buClr>
              <a:buSzPct val="77777"/>
              <a:buChar char="□"/>
              <a:tabLst>
                <a:tab pos="398780" algn="l"/>
              </a:tabLst>
            </a:pPr>
            <a:r>
              <a:rPr sz="900" spc="-20" dirty="0">
                <a:latin typeface="Arial"/>
                <a:cs typeface="Arial"/>
              </a:rPr>
              <a:t>Definitio</a:t>
            </a:r>
            <a:r>
              <a:rPr sz="1050" spc="-30" baseline="11904" dirty="0">
                <a:latin typeface="Tahoma"/>
                <a:cs typeface="Tahoma"/>
              </a:rPr>
              <a:t>B10</a:t>
            </a:r>
            <a:r>
              <a:rPr sz="900" spc="-20" dirty="0">
                <a:latin typeface="Arial"/>
                <a:cs typeface="Arial"/>
              </a:rPr>
              <a:t>square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V(X)</a:t>
            </a:r>
            <a:endParaRPr sz="900">
              <a:latin typeface="Arial"/>
              <a:cs typeface="Arial"/>
            </a:endParaRPr>
          </a:p>
          <a:p>
            <a:pPr marL="398780" lvl="1" indent="-144780">
              <a:lnSpc>
                <a:spcPct val="100000"/>
              </a:lnSpc>
              <a:spcBef>
                <a:spcPts val="110"/>
              </a:spcBef>
              <a:buClr>
                <a:srgbClr val="9A9ACC"/>
              </a:buClr>
              <a:buSzPct val="77777"/>
              <a:buChar char="□"/>
              <a:tabLst>
                <a:tab pos="398780" algn="l"/>
              </a:tabLst>
            </a:pPr>
            <a:r>
              <a:rPr sz="900" dirty="0">
                <a:latin typeface="Arial"/>
                <a:cs typeface="Arial"/>
              </a:rPr>
              <a:t>Expressed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mean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58214" y="612266"/>
            <a:ext cx="4572000" cy="3429000"/>
            <a:chOff x="958214" y="612266"/>
            <a:chExt cx="4572000" cy="3429000"/>
          </a:xfrm>
        </p:grpSpPr>
        <p:sp>
          <p:nvSpPr>
            <p:cNvPr id="17" name="object 17"/>
            <p:cNvSpPr/>
            <p:nvPr/>
          </p:nvSpPr>
          <p:spPr>
            <a:xfrm>
              <a:off x="1995677" y="3332225"/>
              <a:ext cx="159385" cy="116839"/>
            </a:xfrm>
            <a:custGeom>
              <a:avLst/>
              <a:gdLst/>
              <a:ahLst/>
              <a:cxnLst/>
              <a:rect l="l" t="t" r="r" b="b"/>
              <a:pathLst>
                <a:path w="159385" h="116839">
                  <a:moveTo>
                    <a:pt x="0" y="116586"/>
                  </a:moveTo>
                  <a:lnTo>
                    <a:pt x="159257" y="116586"/>
                  </a:lnTo>
                  <a:lnTo>
                    <a:pt x="159257" y="0"/>
                  </a:lnTo>
                  <a:lnTo>
                    <a:pt x="0" y="0"/>
                  </a:lnTo>
                  <a:lnTo>
                    <a:pt x="0" y="116586"/>
                  </a:lnTo>
                  <a:close/>
                </a:path>
              </a:pathLst>
            </a:custGeom>
            <a:ln w="3175">
              <a:solidFill>
                <a:srgbClr val="A4A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4691" y="618743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5"/>
                  </a:moveTo>
                  <a:lnTo>
                    <a:pt x="4559046" y="3416045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5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232916" y="4867906"/>
            <a:ext cx="11741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"/>
                <a:cs typeface="Arial"/>
              </a:rPr>
              <a:t>Expectations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2503" y="4931914"/>
            <a:ext cx="11366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</a:t>
            </a: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Probability</a:t>
            </a:r>
            <a:r>
              <a:rPr sz="1000" spc="-5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Review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]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2916" y="5319770"/>
            <a:ext cx="38760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0" marR="5080" indent="-171450">
              <a:lnSpc>
                <a:spcPct val="100000"/>
              </a:lnSpc>
              <a:spcBef>
                <a:spcPts val="95"/>
              </a:spcBef>
              <a:buClr>
                <a:srgbClr val="00007C"/>
              </a:buClr>
              <a:buSzPct val="77272"/>
              <a:buChar char="■"/>
              <a:tabLst>
                <a:tab pos="171450" algn="l"/>
              </a:tabLst>
            </a:pPr>
            <a:r>
              <a:rPr sz="1100" dirty="0">
                <a:latin typeface="Arial"/>
                <a:cs typeface="Arial"/>
              </a:rPr>
              <a:t>Example: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life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previous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inspection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device </a:t>
            </a:r>
            <a:r>
              <a:rPr sz="1100" spc="-25" dirty="0">
                <a:latin typeface="Arial"/>
                <a:cs typeface="Arial"/>
              </a:rPr>
              <a:t>is: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22370" y="5638038"/>
            <a:ext cx="0" cy="348615"/>
          </a:xfrm>
          <a:custGeom>
            <a:avLst/>
            <a:gdLst/>
            <a:ahLst/>
            <a:cxnLst/>
            <a:rect l="l" t="t" r="r" b="b"/>
            <a:pathLst>
              <a:path h="348614">
                <a:moveTo>
                  <a:pt x="0" y="0"/>
                </a:moveTo>
                <a:lnTo>
                  <a:pt x="0" y="34823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975353" y="5830926"/>
            <a:ext cx="5588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1073" y="5769860"/>
            <a:ext cx="25590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725" baseline="-12077" dirty="0">
                <a:latin typeface="Times New Roman"/>
                <a:cs typeface="Times New Roman"/>
              </a:rPr>
              <a:t>2</a:t>
            </a:r>
            <a:r>
              <a:rPr sz="1725" spc="457" baseline="-12077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31920" y="5669147"/>
            <a:ext cx="7302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00" spc="-50" dirty="0">
                <a:latin typeface="Symbol"/>
                <a:cs typeface="Symbol"/>
              </a:rPr>
              <a:t>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96690" y="5639666"/>
            <a:ext cx="73660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50" spc="-50" dirty="0">
                <a:latin typeface="Symbol"/>
                <a:cs typeface="Symbol"/>
              </a:rPr>
              <a:t></a:t>
            </a:r>
            <a:endParaRPr sz="6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33799" y="5575659"/>
            <a:ext cx="73660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50" spc="-50" dirty="0">
                <a:latin typeface="Symbol"/>
                <a:cs typeface="Symbol"/>
              </a:rPr>
              <a:t></a:t>
            </a:r>
            <a:endParaRPr sz="65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6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6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50614" y="5684625"/>
            <a:ext cx="197485" cy="12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50" dirty="0">
                <a:latin typeface="Symbol"/>
                <a:cs typeface="Symbol"/>
              </a:rPr>
              <a:t></a:t>
            </a:r>
            <a:r>
              <a:rPr sz="650" spc="-90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x</a:t>
            </a:r>
            <a:r>
              <a:rPr sz="650" i="1" spc="-7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/</a:t>
            </a:r>
            <a:r>
              <a:rPr sz="650" spc="-55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45655" y="5616571"/>
            <a:ext cx="309626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2176145" algn="l"/>
                <a:tab pos="2432050" algn="l"/>
                <a:tab pos="2695575" algn="l"/>
              </a:tabLst>
            </a:pPr>
            <a:r>
              <a:rPr sz="1150" i="1" dirty="0">
                <a:latin typeface="Times New Roman"/>
                <a:cs typeface="Times New Roman"/>
              </a:rPr>
              <a:t>E</a:t>
            </a:r>
            <a:r>
              <a:rPr sz="1150" dirty="0">
                <a:latin typeface="Times New Roman"/>
                <a:cs typeface="Times New Roman"/>
              </a:rPr>
              <a:t>(</a:t>
            </a:r>
            <a:r>
              <a:rPr sz="1150" spc="-165" dirty="0">
                <a:latin typeface="Times New Roman"/>
                <a:cs typeface="Times New Roman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X</a:t>
            </a:r>
            <a:r>
              <a:rPr sz="1150" i="1" spc="-8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)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80" dirty="0">
                <a:latin typeface="Times New Roman"/>
                <a:cs typeface="Times New Roman"/>
              </a:rPr>
              <a:t> </a:t>
            </a:r>
            <a:r>
              <a:rPr sz="1725" u="sng" baseline="3623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725" spc="15" baseline="36231" dirty="0">
                <a:latin typeface="Times New Roman"/>
                <a:cs typeface="Times New Roman"/>
              </a:rPr>
              <a:t> </a:t>
            </a:r>
            <a:r>
              <a:rPr sz="2550" baseline="-13071" dirty="0">
                <a:latin typeface="Symbol"/>
                <a:cs typeface="Symbol"/>
              </a:rPr>
              <a:t></a:t>
            </a:r>
            <a:r>
              <a:rPr sz="975" baseline="76923" dirty="0">
                <a:latin typeface="Symbol"/>
                <a:cs typeface="Symbol"/>
              </a:rPr>
              <a:t></a:t>
            </a:r>
            <a:r>
              <a:rPr sz="975" spc="135" baseline="76923" dirty="0">
                <a:latin typeface="Times New Roman"/>
                <a:cs typeface="Times New Roman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xe</a:t>
            </a:r>
            <a:r>
              <a:rPr sz="975" baseline="42735" dirty="0">
                <a:latin typeface="Symbol"/>
                <a:cs typeface="Symbol"/>
              </a:rPr>
              <a:t></a:t>
            </a:r>
            <a:r>
              <a:rPr sz="975" spc="-135" baseline="42735" dirty="0">
                <a:latin typeface="Times New Roman"/>
                <a:cs typeface="Times New Roman"/>
              </a:rPr>
              <a:t> </a:t>
            </a:r>
            <a:r>
              <a:rPr sz="975" i="1" baseline="42735" dirty="0">
                <a:latin typeface="Times New Roman"/>
                <a:cs typeface="Times New Roman"/>
              </a:rPr>
              <a:t>x</a:t>
            </a:r>
            <a:r>
              <a:rPr sz="975" i="1" spc="-97" baseline="42735" dirty="0">
                <a:latin typeface="Times New Roman"/>
                <a:cs typeface="Times New Roman"/>
              </a:rPr>
              <a:t> </a:t>
            </a:r>
            <a:r>
              <a:rPr sz="975" baseline="42735" dirty="0">
                <a:latin typeface="Times New Roman"/>
                <a:cs typeface="Times New Roman"/>
              </a:rPr>
              <a:t>/</a:t>
            </a:r>
            <a:r>
              <a:rPr sz="975" spc="-89" baseline="42735" dirty="0">
                <a:latin typeface="Times New Roman"/>
                <a:cs typeface="Times New Roman"/>
              </a:rPr>
              <a:t> </a:t>
            </a:r>
            <a:r>
              <a:rPr sz="975" baseline="42735" dirty="0">
                <a:latin typeface="Times New Roman"/>
                <a:cs typeface="Times New Roman"/>
              </a:rPr>
              <a:t>2</a:t>
            </a:r>
            <a:r>
              <a:rPr sz="975" spc="-150" baseline="42735" dirty="0">
                <a:latin typeface="Times New Roman"/>
                <a:cs typeface="Times New Roman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dx</a:t>
            </a:r>
            <a:r>
              <a:rPr sz="1150" i="1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2550" spc="82" baseline="-4901" dirty="0">
                <a:latin typeface="Symbol"/>
                <a:cs typeface="Symbol"/>
              </a:rPr>
              <a:t></a:t>
            </a:r>
            <a:r>
              <a:rPr sz="2550" i="1" spc="82" baseline="-4901" dirty="0">
                <a:latin typeface="Times New Roman"/>
                <a:cs typeface="Times New Roman"/>
              </a:rPr>
              <a:t>xe</a:t>
            </a:r>
            <a:r>
              <a:rPr sz="1725" spc="82" baseline="31400" dirty="0">
                <a:latin typeface="Symbol"/>
                <a:cs typeface="Symbol"/>
              </a:rPr>
              <a:t></a:t>
            </a:r>
            <a:r>
              <a:rPr sz="1725" spc="-270" baseline="31400" dirty="0">
                <a:latin typeface="Times New Roman"/>
                <a:cs typeface="Times New Roman"/>
              </a:rPr>
              <a:t> </a:t>
            </a:r>
            <a:r>
              <a:rPr sz="1725" i="1" spc="-15" baseline="31400" dirty="0">
                <a:latin typeface="Times New Roman"/>
                <a:cs typeface="Times New Roman"/>
              </a:rPr>
              <a:t>x</a:t>
            </a:r>
            <a:r>
              <a:rPr sz="1725" i="1" spc="-127" baseline="31400" dirty="0">
                <a:latin typeface="Times New Roman"/>
                <a:cs typeface="Times New Roman"/>
              </a:rPr>
              <a:t> </a:t>
            </a:r>
            <a:r>
              <a:rPr sz="1725" spc="-15" baseline="31400" dirty="0">
                <a:latin typeface="Times New Roman"/>
                <a:cs typeface="Times New Roman"/>
              </a:rPr>
              <a:t>/</a:t>
            </a:r>
            <a:r>
              <a:rPr sz="1725" spc="-112" baseline="31400" dirty="0">
                <a:latin typeface="Times New Roman"/>
                <a:cs typeface="Times New Roman"/>
              </a:rPr>
              <a:t> </a:t>
            </a:r>
            <a:r>
              <a:rPr sz="1725" spc="-75" baseline="31400" dirty="0">
                <a:latin typeface="Times New Roman"/>
                <a:cs typeface="Times New Roman"/>
              </a:rPr>
              <a:t>2</a:t>
            </a:r>
            <a:r>
              <a:rPr sz="1725" baseline="3140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Symbol"/>
                <a:cs typeface="Symbol"/>
              </a:rPr>
              <a:t>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i="1" spc="-50" dirty="0">
                <a:latin typeface="Times New Roman"/>
                <a:cs typeface="Times New Roman"/>
              </a:rPr>
              <a:t>e</a:t>
            </a:r>
            <a:r>
              <a:rPr sz="1150" i="1" dirty="0">
                <a:latin typeface="Times New Roman"/>
                <a:cs typeface="Times New Roman"/>
              </a:rPr>
              <a:t>	dx</a:t>
            </a:r>
            <a:r>
              <a:rPr sz="1150" i="1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80865" y="6401561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375665"/>
                </a:lnTo>
              </a:path>
            </a:pathLst>
          </a:custGeom>
          <a:ln w="87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124705" y="6606677"/>
            <a:ext cx="53975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91538" y="6688970"/>
            <a:ext cx="53975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76022" y="6547812"/>
            <a:ext cx="24828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1650" baseline="-12626" dirty="0">
                <a:latin typeface="Times New Roman"/>
                <a:cs typeface="Times New Roman"/>
              </a:rPr>
              <a:t>2</a:t>
            </a:r>
            <a:r>
              <a:rPr sz="1650" spc="450" baseline="-12626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82796" y="6450505"/>
            <a:ext cx="71120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650" spc="-50" dirty="0">
                <a:latin typeface="Symbol"/>
                <a:cs typeface="Symbol"/>
              </a:rPr>
              <a:t>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45279" y="6423035"/>
            <a:ext cx="71755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50" spc="-50" dirty="0">
                <a:latin typeface="Symbol"/>
                <a:cs typeface="Symbol"/>
              </a:rPr>
              <a:t></a:t>
            </a:r>
            <a:endParaRPr sz="6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07516" y="6089391"/>
            <a:ext cx="3335654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0" indent="-171450">
              <a:lnSpc>
                <a:spcPct val="100000"/>
              </a:lnSpc>
              <a:spcBef>
                <a:spcPts val="95"/>
              </a:spcBef>
              <a:buClr>
                <a:srgbClr val="00007C"/>
              </a:buClr>
              <a:buSzPct val="77272"/>
              <a:buChar char="■"/>
              <a:tabLst>
                <a:tab pos="196850" algn="l"/>
              </a:tabLst>
            </a:pP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variance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E(X</a:t>
            </a:r>
            <a:r>
              <a:rPr sz="1125" i="1" spc="-15" baseline="25925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)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R="584835" algn="r">
              <a:lnSpc>
                <a:spcPct val="100000"/>
              </a:lnSpc>
              <a:spcBef>
                <a:spcPts val="660"/>
              </a:spcBef>
            </a:pPr>
            <a:r>
              <a:rPr sz="650" spc="-50" dirty="0">
                <a:latin typeface="Symbol"/>
                <a:cs typeface="Symbol"/>
              </a:rPr>
              <a:t></a:t>
            </a:r>
            <a:endParaRPr sz="6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93871" y="6466473"/>
            <a:ext cx="19050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50" spc="-10" dirty="0">
                <a:latin typeface="Symbol"/>
                <a:cs typeface="Symbol"/>
              </a:rPr>
              <a:t></a:t>
            </a:r>
            <a:r>
              <a:rPr sz="650" spc="-100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x</a:t>
            </a:r>
            <a:r>
              <a:rPr sz="650" i="1" spc="-7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/</a:t>
            </a:r>
            <a:r>
              <a:rPr sz="650" spc="-65" dirty="0">
                <a:latin typeface="Times New Roman"/>
                <a:cs typeface="Times New Roman"/>
              </a:rPr>
              <a:t> </a:t>
            </a:r>
            <a:r>
              <a:rPr sz="650" spc="-50" dirty="0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44921" y="6400212"/>
            <a:ext cx="3214370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2579370" algn="l"/>
                <a:tab pos="2832735" algn="l"/>
              </a:tabLst>
            </a:pPr>
            <a:r>
              <a:rPr sz="1100" i="1" dirty="0">
                <a:latin typeface="Times New Roman"/>
                <a:cs typeface="Times New Roman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spc="-15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i="1" spc="-20" dirty="0">
                <a:latin typeface="Times New Roman"/>
                <a:cs typeface="Times New Roman"/>
              </a:rPr>
              <a:t> </a:t>
            </a:r>
            <a:r>
              <a:rPr sz="975" spc="-15" baseline="42735" dirty="0">
                <a:latin typeface="Times New Roman"/>
                <a:cs typeface="Times New Roman"/>
              </a:rPr>
              <a:t>2</a:t>
            </a:r>
            <a:r>
              <a:rPr sz="975" spc="-37" baseline="427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)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650" u="sng" baseline="3535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50" spc="30" baseline="35353" dirty="0">
                <a:latin typeface="Times New Roman"/>
                <a:cs typeface="Times New Roman"/>
              </a:rPr>
              <a:t> </a:t>
            </a:r>
            <a:r>
              <a:rPr sz="2475" baseline="-13468" dirty="0">
                <a:latin typeface="Symbol"/>
                <a:cs typeface="Symbol"/>
              </a:rPr>
              <a:t></a:t>
            </a:r>
            <a:r>
              <a:rPr sz="975" baseline="72649" dirty="0">
                <a:latin typeface="Symbol"/>
                <a:cs typeface="Symbol"/>
              </a:rPr>
              <a:t></a:t>
            </a:r>
            <a:r>
              <a:rPr sz="975" spc="135" baseline="72649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975" baseline="42735" dirty="0">
                <a:latin typeface="Times New Roman"/>
                <a:cs typeface="Times New Roman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e</a:t>
            </a:r>
            <a:r>
              <a:rPr sz="975" baseline="42735" dirty="0">
                <a:latin typeface="Symbol"/>
                <a:cs typeface="Symbol"/>
              </a:rPr>
              <a:t></a:t>
            </a:r>
            <a:r>
              <a:rPr sz="975" spc="-135" baseline="42735" dirty="0">
                <a:latin typeface="Times New Roman"/>
                <a:cs typeface="Times New Roman"/>
              </a:rPr>
              <a:t> </a:t>
            </a:r>
            <a:r>
              <a:rPr sz="975" i="1" baseline="42735" dirty="0">
                <a:latin typeface="Times New Roman"/>
                <a:cs typeface="Times New Roman"/>
              </a:rPr>
              <a:t>x</a:t>
            </a:r>
            <a:r>
              <a:rPr sz="975" i="1" spc="-104" baseline="42735" dirty="0">
                <a:latin typeface="Times New Roman"/>
                <a:cs typeface="Times New Roman"/>
              </a:rPr>
              <a:t> </a:t>
            </a:r>
            <a:r>
              <a:rPr sz="975" baseline="42735" dirty="0">
                <a:latin typeface="Times New Roman"/>
                <a:cs typeface="Times New Roman"/>
              </a:rPr>
              <a:t>/</a:t>
            </a:r>
            <a:r>
              <a:rPr sz="975" spc="-82" baseline="42735" dirty="0">
                <a:latin typeface="Times New Roman"/>
                <a:cs typeface="Times New Roman"/>
              </a:rPr>
              <a:t> </a:t>
            </a:r>
            <a:r>
              <a:rPr sz="975" baseline="42735" dirty="0">
                <a:latin typeface="Times New Roman"/>
                <a:cs typeface="Times New Roman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dx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2475" spc="97" baseline="-5050" dirty="0">
                <a:latin typeface="Symbol"/>
                <a:cs typeface="Symbol"/>
              </a:rPr>
              <a:t></a:t>
            </a:r>
            <a:r>
              <a:rPr sz="2475" i="1" spc="97" baseline="-5050" dirty="0">
                <a:latin typeface="Times New Roman"/>
                <a:cs typeface="Times New Roman"/>
              </a:rPr>
              <a:t>x</a:t>
            </a:r>
            <a:r>
              <a:rPr sz="2475" i="1" spc="-307" baseline="-5050" dirty="0">
                <a:latin typeface="Times New Roman"/>
                <a:cs typeface="Times New Roman"/>
              </a:rPr>
              <a:t> </a:t>
            </a:r>
            <a:r>
              <a:rPr sz="1650" baseline="17676" dirty="0">
                <a:latin typeface="Times New Roman"/>
                <a:cs typeface="Times New Roman"/>
              </a:rPr>
              <a:t>2</a:t>
            </a:r>
            <a:r>
              <a:rPr sz="1650" spc="-187" baseline="17676" dirty="0">
                <a:latin typeface="Times New Roman"/>
                <a:cs typeface="Times New Roman"/>
              </a:rPr>
              <a:t> </a:t>
            </a:r>
            <a:r>
              <a:rPr sz="2475" i="1" baseline="-5050" dirty="0">
                <a:latin typeface="Times New Roman"/>
                <a:cs typeface="Times New Roman"/>
              </a:rPr>
              <a:t>e</a:t>
            </a:r>
            <a:r>
              <a:rPr sz="1650" baseline="30303" dirty="0">
                <a:latin typeface="Symbol"/>
                <a:cs typeface="Symbol"/>
              </a:rPr>
              <a:t></a:t>
            </a:r>
            <a:r>
              <a:rPr sz="1650" spc="-247" baseline="30303" dirty="0">
                <a:latin typeface="Times New Roman"/>
                <a:cs typeface="Times New Roman"/>
              </a:rPr>
              <a:t> </a:t>
            </a:r>
            <a:r>
              <a:rPr sz="1650" i="1" baseline="30303" dirty="0">
                <a:latin typeface="Times New Roman"/>
                <a:cs typeface="Times New Roman"/>
              </a:rPr>
              <a:t>x</a:t>
            </a:r>
            <a:r>
              <a:rPr sz="1650" i="1" spc="-112" baseline="30303" dirty="0">
                <a:latin typeface="Times New Roman"/>
                <a:cs typeface="Times New Roman"/>
              </a:rPr>
              <a:t> </a:t>
            </a:r>
            <a:r>
              <a:rPr sz="1650" baseline="30303" dirty="0">
                <a:latin typeface="Times New Roman"/>
                <a:cs typeface="Times New Roman"/>
              </a:rPr>
              <a:t>/</a:t>
            </a:r>
            <a:r>
              <a:rPr sz="1650" spc="-89" baseline="30303" dirty="0">
                <a:latin typeface="Times New Roman"/>
                <a:cs typeface="Times New Roman"/>
              </a:rPr>
              <a:t> </a:t>
            </a:r>
            <a:r>
              <a:rPr sz="1650" baseline="30303" dirty="0">
                <a:latin typeface="Times New Roman"/>
                <a:cs typeface="Times New Roman"/>
              </a:rPr>
              <a:t>2</a:t>
            </a:r>
            <a:r>
              <a:rPr sz="1650" spc="382" baseline="30303" dirty="0">
                <a:latin typeface="Times New Roman"/>
                <a:cs typeface="Times New Roman"/>
              </a:rPr>
              <a:t>  </a:t>
            </a:r>
            <a:r>
              <a:rPr sz="1100" spc="-50" dirty="0">
                <a:latin typeface="Symbol"/>
                <a:cs typeface="Symbol"/>
              </a:rPr>
              <a:t>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e</a:t>
            </a:r>
            <a:r>
              <a:rPr sz="1100" i="1" dirty="0">
                <a:latin typeface="Times New Roman"/>
                <a:cs typeface="Times New Roman"/>
              </a:rPr>
              <a:t>	dx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8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609723" y="7458329"/>
            <a:ext cx="444500" cy="192405"/>
            <a:chOff x="2609723" y="7458329"/>
            <a:chExt cx="444500" cy="192405"/>
          </a:xfrm>
        </p:grpSpPr>
        <p:sp>
          <p:nvSpPr>
            <p:cNvPr id="44" name="object 44"/>
            <p:cNvSpPr/>
            <p:nvPr/>
          </p:nvSpPr>
          <p:spPr>
            <a:xfrm>
              <a:off x="2612898" y="7578090"/>
              <a:ext cx="19050" cy="10795"/>
            </a:xfrm>
            <a:custGeom>
              <a:avLst/>
              <a:gdLst/>
              <a:ahLst/>
              <a:cxnLst/>
              <a:rect l="l" t="t" r="r" b="b"/>
              <a:pathLst>
                <a:path w="19050" h="10795">
                  <a:moveTo>
                    <a:pt x="0" y="10667"/>
                  </a:moveTo>
                  <a:lnTo>
                    <a:pt x="19050" y="0"/>
                  </a:lnTo>
                </a:path>
              </a:pathLst>
            </a:custGeom>
            <a:ln w="6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31948" y="7581138"/>
              <a:ext cx="28575" cy="63500"/>
            </a:xfrm>
            <a:custGeom>
              <a:avLst/>
              <a:gdLst/>
              <a:ahLst/>
              <a:cxnLst/>
              <a:rect l="l" t="t" r="r" b="b"/>
              <a:pathLst>
                <a:path w="28575" h="63500">
                  <a:moveTo>
                    <a:pt x="0" y="0"/>
                  </a:moveTo>
                  <a:lnTo>
                    <a:pt x="28193" y="63245"/>
                  </a:lnTo>
                </a:path>
              </a:pathLst>
            </a:custGeom>
            <a:ln w="12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63190" y="7461504"/>
              <a:ext cx="387985" cy="182880"/>
            </a:xfrm>
            <a:custGeom>
              <a:avLst/>
              <a:gdLst/>
              <a:ahLst/>
              <a:cxnLst/>
              <a:rect l="l" t="t" r="r" b="b"/>
              <a:pathLst>
                <a:path w="387985" h="182879">
                  <a:moveTo>
                    <a:pt x="0" y="182880"/>
                  </a:moveTo>
                  <a:lnTo>
                    <a:pt x="36576" y="0"/>
                  </a:lnTo>
                  <a:lnTo>
                    <a:pt x="387858" y="0"/>
                  </a:lnTo>
                </a:path>
              </a:pathLst>
            </a:custGeom>
            <a:ln w="62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207516" y="6893302"/>
            <a:ext cx="4086225" cy="1034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0" marR="32384" indent="-171450">
              <a:lnSpc>
                <a:spcPct val="100000"/>
              </a:lnSpc>
              <a:spcBef>
                <a:spcPts val="95"/>
              </a:spcBef>
              <a:buClr>
                <a:srgbClr val="00007C"/>
              </a:buClr>
              <a:buSzPct val="77272"/>
              <a:buChar char="■"/>
              <a:tabLst>
                <a:tab pos="196850" algn="l"/>
              </a:tabLst>
            </a:pPr>
            <a:r>
              <a:rPr sz="1100" dirty="0">
                <a:latin typeface="Arial"/>
                <a:cs typeface="Arial"/>
              </a:rPr>
              <a:t>Hence,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deviation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device’s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life are:</a:t>
            </a:r>
            <a:endParaRPr sz="1100">
              <a:latin typeface="Arial"/>
              <a:cs typeface="Arial"/>
            </a:endParaRPr>
          </a:p>
          <a:p>
            <a:pPr marL="1130935">
              <a:lnSpc>
                <a:spcPts val="1065"/>
              </a:lnSpc>
            </a:pPr>
            <a:r>
              <a:rPr sz="1150" i="1" dirty="0">
                <a:latin typeface="Times New Roman"/>
                <a:cs typeface="Times New Roman"/>
              </a:rPr>
              <a:t>V</a:t>
            </a:r>
            <a:r>
              <a:rPr sz="1150" i="1" spc="-9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</a:t>
            </a:r>
            <a:r>
              <a:rPr sz="1150" spc="-160" dirty="0">
                <a:latin typeface="Times New Roman"/>
                <a:cs typeface="Times New Roman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X</a:t>
            </a:r>
            <a:r>
              <a:rPr sz="1150" i="1" spc="-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)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8</a:t>
            </a:r>
            <a:r>
              <a:rPr sz="1150" spc="-10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</a:t>
            </a:r>
            <a:r>
              <a:rPr sz="1150" spc="-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2</a:t>
            </a:r>
            <a:r>
              <a:rPr sz="1050" baseline="43650" dirty="0">
                <a:latin typeface="Times New Roman"/>
                <a:cs typeface="Times New Roman"/>
              </a:rPr>
              <a:t>2</a:t>
            </a:r>
            <a:r>
              <a:rPr sz="1050" spc="382" baseline="436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4</a:t>
            </a:r>
            <a:endParaRPr sz="1150">
              <a:latin typeface="Times New Roman"/>
              <a:cs typeface="Times New Roman"/>
            </a:endParaRPr>
          </a:p>
          <a:p>
            <a:pPr marL="1132840">
              <a:lnSpc>
                <a:spcPct val="100000"/>
              </a:lnSpc>
              <a:spcBef>
                <a:spcPts val="550"/>
              </a:spcBef>
            </a:pPr>
            <a:r>
              <a:rPr sz="1250" i="1" dirty="0">
                <a:latin typeface="Symbol"/>
                <a:cs typeface="Symbol"/>
              </a:rPr>
              <a:t></a:t>
            </a:r>
            <a:r>
              <a:rPr sz="1250" spc="1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204" dirty="0">
                <a:latin typeface="Times New Roman"/>
                <a:cs typeface="Times New Roman"/>
              </a:rPr>
              <a:t>  </a:t>
            </a:r>
            <a:r>
              <a:rPr sz="1150" i="1" dirty="0">
                <a:latin typeface="Times New Roman"/>
                <a:cs typeface="Times New Roman"/>
              </a:rPr>
              <a:t>V</a:t>
            </a:r>
            <a:r>
              <a:rPr sz="1150" i="1" spc="-1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</a:t>
            </a:r>
            <a:r>
              <a:rPr sz="1150" spc="-165" dirty="0">
                <a:latin typeface="Times New Roman"/>
                <a:cs typeface="Times New Roman"/>
              </a:rPr>
              <a:t> </a:t>
            </a:r>
            <a:r>
              <a:rPr sz="1150" i="1" dirty="0">
                <a:latin typeface="Times New Roman"/>
                <a:cs typeface="Times New Roman"/>
              </a:rPr>
              <a:t>X</a:t>
            </a:r>
            <a:r>
              <a:rPr sz="1150" i="1" spc="-8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)</a:t>
            </a:r>
            <a:r>
              <a:rPr sz="1150" spc="9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Symbol"/>
                <a:cs typeface="Symbol"/>
              </a:rPr>
              <a:t>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5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</a:pPr>
            <a:r>
              <a:rPr sz="600" spc="-25" dirty="0">
                <a:latin typeface="Arial"/>
                <a:cs typeface="Arial"/>
              </a:rPr>
              <a:t>١٠</a:t>
            </a:r>
            <a:endParaRPr sz="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64691" y="618744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Useful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Statistical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Models</a:t>
            </a:r>
            <a:endParaRPr sz="1600">
              <a:latin typeface="Arial"/>
              <a:cs typeface="Arial"/>
            </a:endParaRPr>
          </a:p>
          <a:p>
            <a:pPr marL="437515" marR="420370" indent="-169545">
              <a:lnSpc>
                <a:spcPct val="100000"/>
              </a:lnSpc>
              <a:spcBef>
                <a:spcPts val="163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section,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statistical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models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appropriate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to 	</a:t>
            </a:r>
            <a:r>
              <a:rPr sz="1400" dirty="0">
                <a:latin typeface="Arial"/>
                <a:cs typeface="Arial"/>
              </a:rPr>
              <a:t>some application areas are presented.</a:t>
            </a:r>
            <a:r>
              <a:rPr sz="1400" spc="39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dirty="0">
                <a:latin typeface="Arial"/>
                <a:cs typeface="Arial"/>
              </a:rPr>
              <a:t>areas </a:t>
            </a:r>
            <a:r>
              <a:rPr sz="1400" spc="-10" dirty="0">
                <a:latin typeface="Arial"/>
                <a:cs typeface="Arial"/>
              </a:rPr>
              <a:t>include:</a:t>
            </a:r>
            <a:endParaRPr sz="14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Queueing </a:t>
            </a:r>
            <a:r>
              <a:rPr sz="1200" spc="-10" dirty="0"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5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Inventory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supply-chain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4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Reliability and </a:t>
            </a:r>
            <a:r>
              <a:rPr sz="1200" spc="-10" dirty="0">
                <a:latin typeface="Arial"/>
                <a:cs typeface="Arial"/>
              </a:rPr>
              <a:t>maintainability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5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Limited</a:t>
            </a:r>
            <a:r>
              <a:rPr sz="1200" spc="-20" dirty="0">
                <a:latin typeface="Arial"/>
                <a:cs typeface="Arial"/>
              </a:rPr>
              <a:t> data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200">
              <a:latin typeface="Arial"/>
              <a:cs typeface="Arial"/>
            </a:endParaRPr>
          </a:p>
          <a:p>
            <a:pPr marR="260350" algn="r">
              <a:lnSpc>
                <a:spcPct val="100000"/>
              </a:lnSpc>
            </a:pPr>
            <a:r>
              <a:rPr sz="600" spc="-25" dirty="0">
                <a:latin typeface="Arial"/>
                <a:cs typeface="Arial"/>
              </a:rPr>
              <a:t>١١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١٢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32916" y="4867906"/>
            <a:ext cx="17278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Queueing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Systems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32503" y="4944106"/>
            <a:ext cx="8877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[Useful</a:t>
            </a:r>
            <a:r>
              <a:rPr sz="1000" spc="-3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Models]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2916" y="5319009"/>
            <a:ext cx="401701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In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queueing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interarrival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service-</a:t>
            </a:r>
            <a:r>
              <a:rPr sz="1200" spc="-20" dirty="0">
                <a:latin typeface="Arial"/>
                <a:cs typeface="Arial"/>
              </a:rPr>
              <a:t>time </a:t>
            </a:r>
            <a:r>
              <a:rPr sz="1200" dirty="0">
                <a:latin typeface="Arial"/>
                <a:cs typeface="Arial"/>
              </a:rPr>
              <a:t>patterns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probablistic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queueing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examples,</a:t>
            </a:r>
            <a:r>
              <a:rPr sz="1000" spc="-25" dirty="0">
                <a:latin typeface="Arial"/>
                <a:cs typeface="Arial"/>
              </a:rPr>
              <a:t> see </a:t>
            </a:r>
            <a:r>
              <a:rPr sz="1000" dirty="0">
                <a:latin typeface="Arial"/>
                <a:cs typeface="Arial"/>
              </a:rPr>
              <a:t>Chapter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2).</a:t>
            </a:r>
            <a:endParaRPr sz="1000">
              <a:latin typeface="Arial"/>
              <a:cs typeface="Arial"/>
            </a:endParaRPr>
          </a:p>
          <a:p>
            <a:pPr marL="170815" marR="109220" indent="-171450">
              <a:lnSpc>
                <a:spcPct val="100000"/>
              </a:lnSpc>
              <a:spcBef>
                <a:spcPts val="280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Sample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statistical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interarrival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time </a:t>
            </a:r>
            <a:r>
              <a:rPr sz="1200" spc="-10" dirty="0">
                <a:latin typeface="Arial"/>
                <a:cs typeface="Arial"/>
              </a:rPr>
              <a:t>distribution: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244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Exponential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distribution: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service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completely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random</a:t>
            </a:r>
            <a:endParaRPr sz="1000">
              <a:latin typeface="Arial"/>
              <a:cs typeface="Arial"/>
            </a:endParaRPr>
          </a:p>
          <a:p>
            <a:pPr marL="371475" marR="442595" lvl="1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Normal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fairly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constant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but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random </a:t>
            </a:r>
            <a:r>
              <a:rPr sz="1000" dirty="0">
                <a:latin typeface="Arial"/>
                <a:cs typeface="Arial"/>
              </a:rPr>
              <a:t>variability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(either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positive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negative)</a:t>
            </a:r>
            <a:endParaRPr sz="1000">
              <a:latin typeface="Arial"/>
              <a:cs typeface="Arial"/>
            </a:endParaRPr>
          </a:p>
          <a:p>
            <a:pPr marL="371475" marR="128905" lvl="1" indent="-143510">
              <a:lnSpc>
                <a:spcPct val="100000"/>
              </a:lnSpc>
              <a:spcBef>
                <a:spcPts val="229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Truncated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normal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similar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normal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but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restricted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value.</a:t>
            </a:r>
            <a:endParaRPr sz="1000">
              <a:latin typeface="Arial"/>
              <a:cs typeface="Arial"/>
            </a:endParaRPr>
          </a:p>
          <a:p>
            <a:pPr marL="371475" marR="33020" lvl="1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Gamma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Weibull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general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exponential </a:t>
            </a:r>
            <a:r>
              <a:rPr sz="1000" dirty="0">
                <a:latin typeface="Arial"/>
                <a:cs typeface="Arial"/>
              </a:rPr>
              <a:t>(involving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location 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pdf’s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 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shapes 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tails.)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١٣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24269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Inventory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supply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chain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2503" y="967228"/>
            <a:ext cx="8883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[Useful</a:t>
            </a:r>
            <a:r>
              <a:rPr sz="1000" spc="-3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Models]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916" y="1313176"/>
            <a:ext cx="4023360" cy="20307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70815" marR="5080" indent="-171450">
              <a:lnSpc>
                <a:spcPct val="80000"/>
              </a:lnSpc>
              <a:spcBef>
                <a:spcPts val="38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realistic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inventory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supply-</a:t>
            </a:r>
            <a:r>
              <a:rPr sz="1200" dirty="0">
                <a:latin typeface="Arial"/>
                <a:cs typeface="Arial"/>
              </a:rPr>
              <a:t>chain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systems,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are </a:t>
            </a:r>
            <a:r>
              <a:rPr sz="1200" dirty="0">
                <a:latin typeface="Arial"/>
                <a:cs typeface="Arial"/>
              </a:rPr>
              <a:t>at least three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 </a:t>
            </a:r>
            <a:r>
              <a:rPr sz="1200" spc="-10" dirty="0">
                <a:latin typeface="Arial"/>
                <a:cs typeface="Arial"/>
              </a:rPr>
              <a:t>variables: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ts val="1195"/>
              </a:lnSpc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units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demanded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period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0" dirty="0">
                <a:latin typeface="Arial"/>
                <a:cs typeface="Arial"/>
              </a:rPr>
              <a:t> demands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ts val="1200"/>
              </a:lnSpc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time</a:t>
            </a:r>
            <a:endParaRPr sz="1000">
              <a:latin typeface="Arial"/>
              <a:cs typeface="Arial"/>
            </a:endParaRPr>
          </a:p>
          <a:p>
            <a:pPr marL="170815" indent="-170815">
              <a:lnSpc>
                <a:spcPts val="1435"/>
              </a:lnSpc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Sample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statistical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lead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ts val="1200"/>
              </a:lnSpc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spc="-10" dirty="0">
                <a:latin typeface="Arial"/>
                <a:cs typeface="Arial"/>
              </a:rPr>
              <a:t>Gamma</a:t>
            </a:r>
            <a:endParaRPr sz="1000">
              <a:latin typeface="Arial"/>
              <a:cs typeface="Arial"/>
            </a:endParaRPr>
          </a:p>
          <a:p>
            <a:pPr marL="170815" indent="-170815">
              <a:lnSpc>
                <a:spcPts val="1440"/>
              </a:lnSpc>
              <a:spcBef>
                <a:spcPts val="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Sample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statistical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demand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ts val="1200"/>
              </a:lnSpc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Poisson: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simple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extensively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tabulated.</a:t>
            </a:r>
            <a:endParaRPr sz="1000">
              <a:latin typeface="Arial"/>
              <a:cs typeface="Arial"/>
            </a:endParaRPr>
          </a:p>
          <a:p>
            <a:pPr marL="371475" marR="226695" lvl="1" indent="-143510">
              <a:lnSpc>
                <a:spcPts val="960"/>
              </a:lnSpc>
              <a:spcBef>
                <a:spcPts val="234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Negative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binomial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longer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tail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Poisson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(more </a:t>
            </a:r>
            <a:r>
              <a:rPr sz="1000" dirty="0">
                <a:latin typeface="Arial"/>
                <a:cs typeface="Arial"/>
              </a:rPr>
              <a:t>large</a:t>
            </a:r>
            <a:r>
              <a:rPr sz="1000" spc="-10" dirty="0">
                <a:latin typeface="Arial"/>
                <a:cs typeface="Arial"/>
              </a:rPr>
              <a:t> demands).</a:t>
            </a:r>
            <a:endParaRPr sz="1000">
              <a:latin typeface="Arial"/>
              <a:cs typeface="Arial"/>
            </a:endParaRPr>
          </a:p>
          <a:p>
            <a:pPr marL="371475" marR="95250" lvl="1" indent="-143510">
              <a:lnSpc>
                <a:spcPts val="969"/>
              </a:lnSpc>
              <a:spcBef>
                <a:spcPts val="229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Geometric: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special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negative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binomial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least</a:t>
            </a:r>
            <a:r>
              <a:rPr sz="1000" spc="-25" dirty="0">
                <a:latin typeface="Arial"/>
                <a:cs typeface="Arial"/>
              </a:rPr>
              <a:t> one </a:t>
            </a:r>
            <a:r>
              <a:rPr sz="1000" dirty="0">
                <a:latin typeface="Arial"/>
                <a:cs typeface="Arial"/>
              </a:rPr>
              <a:t>demand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occurred.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64691" y="459562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  <a:tabLst>
                <a:tab pos="3067685" algn="l"/>
              </a:tabLst>
            </a:pPr>
            <a:r>
              <a:rPr sz="1600" dirty="0">
                <a:latin typeface="Arial"/>
                <a:cs typeface="Arial"/>
              </a:rPr>
              <a:t>Reliability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maintainability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[Useful</a:t>
            </a:r>
            <a:r>
              <a:rPr sz="1100" spc="-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Models]</a:t>
            </a:r>
            <a:endParaRPr sz="1100">
              <a:latin typeface="Arial"/>
              <a:cs typeface="Arial"/>
            </a:endParaRPr>
          </a:p>
          <a:p>
            <a:pPr marL="437515" indent="-169545">
              <a:lnSpc>
                <a:spcPct val="100000"/>
              </a:lnSpc>
              <a:spcBef>
                <a:spcPts val="1630"/>
              </a:spcBef>
              <a:buClr>
                <a:srgbClr val="00007C"/>
              </a:buClr>
              <a:buSzPct val="75000"/>
              <a:buChar char="■"/>
              <a:tabLst>
                <a:tab pos="437515" algn="l"/>
              </a:tabLst>
            </a:pPr>
            <a:r>
              <a:rPr sz="1400" dirty="0">
                <a:latin typeface="Arial"/>
                <a:cs typeface="Arial"/>
              </a:rPr>
              <a:t>Time to failure </a:t>
            </a:r>
            <a:r>
              <a:rPr sz="1400" spc="-10" dirty="0">
                <a:latin typeface="Arial"/>
                <a:cs typeface="Arial"/>
              </a:rPr>
              <a:t>(TTF)</a:t>
            </a:r>
            <a:endParaRPr sz="14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Exponential: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failures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random</a:t>
            </a:r>
            <a:endParaRPr sz="1200">
              <a:latin typeface="Arial"/>
              <a:cs typeface="Arial"/>
            </a:endParaRPr>
          </a:p>
          <a:p>
            <a:pPr marL="638810" marR="859790" lvl="1" indent="-142240">
              <a:lnSpc>
                <a:spcPct val="100000"/>
              </a:lnSpc>
              <a:spcBef>
                <a:spcPts val="280"/>
              </a:spcBef>
              <a:buClr>
                <a:srgbClr val="9A9ACC"/>
              </a:buClr>
              <a:buSzPct val="79166"/>
              <a:buChar char="□"/>
              <a:tabLst>
                <a:tab pos="640080" algn="l"/>
              </a:tabLst>
            </a:pPr>
            <a:r>
              <a:rPr sz="1200" dirty="0">
                <a:latin typeface="Arial"/>
                <a:cs typeface="Arial"/>
              </a:rPr>
              <a:t>Gamma: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standby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redundancy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where</a:t>
            </a:r>
            <a:r>
              <a:rPr sz="1200" spc="-20" dirty="0">
                <a:latin typeface="Arial"/>
                <a:cs typeface="Arial"/>
              </a:rPr>
              <a:t> each 	</a:t>
            </a:r>
            <a:r>
              <a:rPr sz="1200" dirty="0">
                <a:latin typeface="Arial"/>
                <a:cs typeface="Arial"/>
              </a:rPr>
              <a:t>component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exponential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TTF</a:t>
            </a:r>
            <a:endParaRPr sz="1200">
              <a:latin typeface="Arial"/>
              <a:cs typeface="Arial"/>
            </a:endParaRPr>
          </a:p>
          <a:p>
            <a:pPr marL="638810" marR="454025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40080" algn="l"/>
              </a:tabLst>
            </a:pPr>
            <a:r>
              <a:rPr sz="1200" dirty="0">
                <a:latin typeface="Arial"/>
                <a:cs typeface="Arial"/>
              </a:rPr>
              <a:t>Weibull: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failure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due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most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serious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large 	</a:t>
            </a:r>
            <a:r>
              <a:rPr sz="1200" dirty="0">
                <a:latin typeface="Arial"/>
                <a:cs typeface="Arial"/>
              </a:rPr>
              <a:t>number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defects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system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components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Normal: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failures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due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wear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Arial"/>
              <a:cs typeface="Arial"/>
            </a:endParaRPr>
          </a:p>
          <a:p>
            <a:pPr marR="260350" algn="r">
              <a:lnSpc>
                <a:spcPct val="100000"/>
              </a:lnSpc>
            </a:pPr>
            <a:r>
              <a:rPr sz="600" spc="-25" dirty="0">
                <a:latin typeface="Arial"/>
                <a:cs typeface="Arial"/>
              </a:rPr>
              <a:t>١٤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١٥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10833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Other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areas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2503" y="955035"/>
            <a:ext cx="97663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[Useful</a:t>
            </a:r>
            <a:r>
              <a:rPr sz="1100" spc="-3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Models]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916" y="1342132"/>
            <a:ext cx="3442335" cy="1141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545" marR="97155" indent="-169545">
              <a:lnSpc>
                <a:spcPct val="100000"/>
              </a:lnSpc>
              <a:spcBef>
                <a:spcPts val="95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400" dirty="0">
                <a:latin typeface="Arial"/>
                <a:cs typeface="Arial"/>
              </a:rPr>
              <a:t>For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cases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limited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some </a:t>
            </a:r>
            <a:r>
              <a:rPr sz="1400" spc="-10" dirty="0">
                <a:latin typeface="Arial"/>
                <a:cs typeface="Arial"/>
              </a:rPr>
              <a:t>useful 	</a:t>
            </a:r>
            <a:r>
              <a:rPr sz="1400" dirty="0">
                <a:latin typeface="Arial"/>
                <a:cs typeface="Arial"/>
              </a:rPr>
              <a:t>distributions </a:t>
            </a:r>
            <a:r>
              <a:rPr sz="1400" spc="-20" dirty="0">
                <a:latin typeface="Arial"/>
                <a:cs typeface="Arial"/>
              </a:rPr>
              <a:t>are:</a:t>
            </a:r>
            <a:endParaRPr sz="14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290"/>
              </a:spcBef>
            </a:pPr>
            <a:r>
              <a:rPr sz="950" spc="260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950" spc="15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Uniform, triangular and </a:t>
            </a:r>
            <a:r>
              <a:rPr sz="1200" spc="-20" dirty="0">
                <a:latin typeface="Arial"/>
                <a:cs typeface="Arial"/>
              </a:rPr>
              <a:t>beta</a:t>
            </a:r>
            <a:endParaRPr sz="1200">
              <a:latin typeface="Arial"/>
              <a:cs typeface="Arial"/>
            </a:endParaRPr>
          </a:p>
          <a:p>
            <a:pPr marL="169545" marR="5080" indent="-169545">
              <a:lnSpc>
                <a:spcPct val="100000"/>
              </a:lnSpc>
              <a:spcBef>
                <a:spcPts val="34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400" dirty="0">
                <a:latin typeface="Arial"/>
                <a:cs typeface="Arial"/>
              </a:rPr>
              <a:t>Other distribution: Bernoulli, binomial </a:t>
            </a:r>
            <a:r>
              <a:rPr sz="1400" spc="-25" dirty="0">
                <a:latin typeface="Arial"/>
                <a:cs typeface="Arial"/>
              </a:rPr>
              <a:t>and 	</a:t>
            </a:r>
            <a:r>
              <a:rPr sz="1400" spc="-10" dirty="0">
                <a:latin typeface="Arial"/>
                <a:cs typeface="Arial"/>
              </a:rPr>
              <a:t>hyperexponential.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64691" y="459562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Discrete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Distributions</a:t>
            </a:r>
            <a:endParaRPr sz="1600">
              <a:latin typeface="Arial"/>
              <a:cs typeface="Arial"/>
            </a:endParaRPr>
          </a:p>
          <a:p>
            <a:pPr marL="437515" marR="288925" indent="-169545">
              <a:lnSpc>
                <a:spcPct val="100000"/>
              </a:lnSpc>
              <a:spcBef>
                <a:spcPts val="163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400" dirty="0">
                <a:latin typeface="Arial"/>
                <a:cs typeface="Arial"/>
              </a:rPr>
              <a:t>Discrete random variables are used to </a:t>
            </a:r>
            <a:r>
              <a:rPr sz="1400" spc="-10" dirty="0">
                <a:latin typeface="Arial"/>
                <a:cs typeface="Arial"/>
              </a:rPr>
              <a:t>describe 	</a:t>
            </a:r>
            <a:r>
              <a:rPr sz="1400" dirty="0">
                <a:latin typeface="Arial"/>
                <a:cs typeface="Arial"/>
              </a:rPr>
              <a:t>random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phenomena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integer</a:t>
            </a:r>
            <a:r>
              <a:rPr sz="1400" spc="-10" dirty="0">
                <a:latin typeface="Arial"/>
                <a:cs typeface="Arial"/>
              </a:rPr>
              <a:t> values 	</a:t>
            </a:r>
            <a:r>
              <a:rPr sz="1400" dirty="0">
                <a:latin typeface="Arial"/>
                <a:cs typeface="Arial"/>
              </a:rPr>
              <a:t>can </a:t>
            </a:r>
            <a:r>
              <a:rPr sz="1400" spc="-10" dirty="0">
                <a:latin typeface="Arial"/>
                <a:cs typeface="Arial"/>
              </a:rPr>
              <a:t>occur.</a:t>
            </a:r>
            <a:endParaRPr sz="1400">
              <a:latin typeface="Arial"/>
              <a:cs typeface="Arial"/>
            </a:endParaRPr>
          </a:p>
          <a:p>
            <a:pPr marL="437515" indent="-169545">
              <a:lnSpc>
                <a:spcPct val="100000"/>
              </a:lnSpc>
              <a:spcBef>
                <a:spcPts val="340"/>
              </a:spcBef>
              <a:buClr>
                <a:srgbClr val="00007C"/>
              </a:buClr>
              <a:buSzPct val="75000"/>
              <a:buChar char="■"/>
              <a:tabLst>
                <a:tab pos="437515" algn="l"/>
              </a:tabLst>
            </a:pP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section,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learn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about:</a:t>
            </a:r>
            <a:endParaRPr sz="14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Bernoulli trials and Bernoulli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Binomial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Geometric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negative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binomial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dirty="0">
                <a:latin typeface="Arial"/>
                <a:cs typeface="Arial"/>
              </a:rPr>
              <a:t>Poisson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00">
              <a:latin typeface="Arial"/>
              <a:cs typeface="Arial"/>
            </a:endParaRPr>
          </a:p>
          <a:p>
            <a:pPr marR="260350" algn="r">
              <a:lnSpc>
                <a:spcPct val="100000"/>
              </a:lnSpc>
            </a:pPr>
            <a:r>
              <a:rPr sz="600" spc="-25" dirty="0">
                <a:latin typeface="Arial"/>
                <a:cs typeface="Arial"/>
              </a:rPr>
              <a:t>١٦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١٧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23944" y="1064764"/>
            <a:ext cx="10788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007C"/>
                </a:solidFill>
                <a:latin typeface="Arial"/>
                <a:cs typeface="Arial"/>
              </a:rPr>
              <a:t>[Discrete</a:t>
            </a:r>
            <a:r>
              <a:rPr sz="1200" spc="-4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2916" y="769870"/>
            <a:ext cx="2268220" cy="76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Bernoulli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Trials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Bernoulli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  <a:p>
            <a:pPr marL="170815" indent="-170815">
              <a:lnSpc>
                <a:spcPct val="100000"/>
              </a:lnSpc>
              <a:spcBef>
                <a:spcPts val="54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Bernoulli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Trials: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7516" y="2892900"/>
            <a:ext cx="3265170" cy="728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97510" indent="-143510">
              <a:lnSpc>
                <a:spcPct val="100000"/>
              </a:lnSpc>
              <a:spcBef>
                <a:spcPts val="215"/>
              </a:spcBef>
              <a:buClr>
                <a:srgbClr val="9A9ACC"/>
              </a:buClr>
              <a:buSzPct val="80000"/>
              <a:buChar char="□"/>
              <a:tabLst>
                <a:tab pos="397510" algn="l"/>
              </a:tabLst>
            </a:pPr>
            <a:r>
              <a:rPr sz="1000" dirty="0">
                <a:latin typeface="Arial"/>
                <a:cs typeface="Arial"/>
              </a:rPr>
              <a:t>where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E(X</a:t>
            </a:r>
            <a:r>
              <a:rPr sz="975" i="1" baseline="-21367" dirty="0">
                <a:latin typeface="Arial"/>
                <a:cs typeface="Arial"/>
              </a:rPr>
              <a:t>j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V(X</a:t>
            </a:r>
            <a:r>
              <a:rPr sz="975" i="1" baseline="-21367" dirty="0">
                <a:latin typeface="Arial"/>
                <a:cs typeface="Arial"/>
              </a:rPr>
              <a:t>j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p(1-p)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pq</a:t>
            </a:r>
            <a:endParaRPr sz="1000">
              <a:latin typeface="Arial"/>
              <a:cs typeface="Arial"/>
            </a:endParaRPr>
          </a:p>
          <a:p>
            <a:pPr marL="196215" indent="-170815">
              <a:lnSpc>
                <a:spcPct val="100000"/>
              </a:lnSpc>
              <a:spcBef>
                <a:spcPts val="135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Bernoulli</a:t>
            </a:r>
            <a:r>
              <a:rPr sz="1200" spc="-10" dirty="0">
                <a:latin typeface="Arial"/>
                <a:cs typeface="Arial"/>
              </a:rPr>
              <a:t> process:</a:t>
            </a:r>
            <a:endParaRPr sz="1200">
              <a:latin typeface="Arial"/>
              <a:cs typeface="Arial"/>
            </a:endParaRPr>
          </a:p>
          <a:p>
            <a:pPr marL="254000">
              <a:lnSpc>
                <a:spcPct val="100000"/>
              </a:lnSpc>
              <a:spcBef>
                <a:spcPts val="130"/>
              </a:spcBef>
            </a:pPr>
            <a:r>
              <a:rPr sz="800" spc="215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800" spc="180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Bernoulli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trials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trails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independent:</a:t>
            </a:r>
            <a:endParaRPr sz="1000">
              <a:latin typeface="Arial"/>
              <a:cs typeface="Arial"/>
            </a:endParaRPr>
          </a:p>
          <a:p>
            <a:pPr marL="939165">
              <a:lnSpc>
                <a:spcPct val="100000"/>
              </a:lnSpc>
              <a:spcBef>
                <a:spcPts val="110"/>
              </a:spcBef>
            </a:pPr>
            <a:r>
              <a:rPr sz="1000" i="1" dirty="0">
                <a:latin typeface="Arial"/>
                <a:cs typeface="Arial"/>
              </a:rPr>
              <a:t>p(x</a:t>
            </a:r>
            <a:r>
              <a:rPr sz="900" i="1" baseline="-23148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,x</a:t>
            </a:r>
            <a:r>
              <a:rPr sz="900" i="1" baseline="-23148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,…,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900" i="1" baseline="-23148" dirty="0">
                <a:latin typeface="Arial"/>
                <a:cs typeface="Arial"/>
              </a:rPr>
              <a:t>n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900" i="1" baseline="-23148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(x</a:t>
            </a:r>
            <a:r>
              <a:rPr sz="900" i="1" baseline="-23148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)p</a:t>
            </a:r>
            <a:r>
              <a:rPr sz="900" i="1" baseline="-23148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(x</a:t>
            </a:r>
            <a:r>
              <a:rPr sz="900" i="1" baseline="-23148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…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p</a:t>
            </a:r>
            <a:r>
              <a:rPr sz="900" i="1" spc="-15" baseline="-23148" dirty="0">
                <a:latin typeface="Arial"/>
                <a:cs typeface="Arial"/>
              </a:rPr>
              <a:t>n</a:t>
            </a:r>
            <a:r>
              <a:rPr sz="1000" i="1" spc="-10" dirty="0">
                <a:latin typeface="Arial"/>
                <a:cs typeface="Arial"/>
              </a:rPr>
              <a:t>(x</a:t>
            </a:r>
            <a:r>
              <a:rPr sz="900" i="1" spc="-15" baseline="-23148" dirty="0">
                <a:latin typeface="Arial"/>
                <a:cs typeface="Arial"/>
              </a:rPr>
              <a:t>n</a:t>
            </a:r>
            <a:r>
              <a:rPr sz="1000" i="1" spc="-1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2417" y="2720588"/>
            <a:ext cx="7302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latin typeface="Symbol"/>
                <a:cs typeface="Symbol"/>
              </a:rPr>
              <a:t></a:t>
            </a:r>
            <a:endParaRPr sz="9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7017" y="2687826"/>
            <a:ext cx="211454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25" spc="-37" baseline="20467" dirty="0">
                <a:latin typeface="Symbol"/>
                <a:cs typeface="Symbol"/>
              </a:rPr>
              <a:t></a:t>
            </a:r>
            <a:r>
              <a:rPr sz="950" spc="-25" dirty="0">
                <a:latin typeface="Times New Roman"/>
                <a:cs typeface="Times New Roman"/>
              </a:rPr>
              <a:t>0,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3345" y="2506465"/>
            <a:ext cx="23253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570"/>
              </a:lnSpc>
              <a:spcBef>
                <a:spcPts val="100"/>
              </a:spcBef>
            </a:pPr>
            <a:r>
              <a:rPr sz="950" i="1" dirty="0">
                <a:latin typeface="Times New Roman"/>
                <a:cs typeface="Times New Roman"/>
              </a:rPr>
              <a:t>p</a:t>
            </a:r>
            <a:r>
              <a:rPr sz="950" i="1" spc="1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i="1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114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p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i="1" spc="1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1425" baseline="32163" dirty="0">
                <a:latin typeface="Symbol"/>
                <a:cs typeface="Symbol"/>
              </a:rPr>
              <a:t></a:t>
            </a:r>
            <a:r>
              <a:rPr sz="1425" spc="337" baseline="32163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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p</a:t>
            </a:r>
            <a:r>
              <a:rPr sz="950" i="1" spc="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q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484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i="1" spc="3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0</a:t>
            </a:r>
            <a:r>
              <a:rPr sz="950" i="1" dirty="0">
                <a:latin typeface="Times New Roman"/>
                <a:cs typeface="Times New Roman"/>
              </a:rPr>
              <a:t>,j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Symbol"/>
                <a:cs typeface="Symbol"/>
              </a:rPr>
              <a:t></a:t>
            </a:r>
            <a:r>
              <a:rPr sz="950" spc="-114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1</a:t>
            </a:r>
            <a:r>
              <a:rPr sz="950" i="1" spc="-10" dirty="0">
                <a:latin typeface="Times New Roman"/>
                <a:cs typeface="Times New Roman"/>
              </a:rPr>
              <a:t>,</a:t>
            </a:r>
            <a:r>
              <a:rPr sz="950" spc="-10" dirty="0">
                <a:latin typeface="Times New Roman"/>
                <a:cs typeface="Times New Roman"/>
              </a:rPr>
              <a:t>2</a:t>
            </a:r>
            <a:r>
              <a:rPr sz="950" i="1" spc="-10" dirty="0">
                <a:latin typeface="Times New Roman"/>
                <a:cs typeface="Times New Roman"/>
              </a:rPr>
              <a:t>,...,n</a:t>
            </a:r>
            <a:endParaRPr sz="950">
              <a:latin typeface="Times New Roman"/>
              <a:cs typeface="Times New Roman"/>
            </a:endParaRPr>
          </a:p>
          <a:p>
            <a:pPr marR="450850" algn="ctr">
              <a:lnSpc>
                <a:spcPts val="570"/>
              </a:lnSpc>
            </a:pPr>
            <a:r>
              <a:rPr sz="1425" spc="-37" baseline="-8771" dirty="0">
                <a:latin typeface="Symbol"/>
                <a:cs typeface="Symbol"/>
              </a:rPr>
              <a:t></a:t>
            </a:r>
            <a:r>
              <a:rPr sz="950" spc="-25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5268" y="2578339"/>
            <a:ext cx="484505" cy="28067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75"/>
              </a:spcBef>
            </a:pPr>
            <a:r>
              <a:rPr sz="550" i="1" spc="-50" dirty="0">
                <a:latin typeface="Times New Roman"/>
                <a:cs typeface="Times New Roman"/>
              </a:rPr>
              <a:t>j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latin typeface="Times New Roman"/>
                <a:cs typeface="Times New Roman"/>
              </a:rPr>
              <a:t>otherwise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3416" y="1525774"/>
            <a:ext cx="3596004" cy="9785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0975" marR="43180" indent="-143510">
              <a:lnSpc>
                <a:spcPts val="1080"/>
              </a:lnSpc>
              <a:spcBef>
                <a:spcPts val="235"/>
              </a:spcBef>
              <a:buClr>
                <a:srgbClr val="9A9ACC"/>
              </a:buClr>
              <a:buSzPct val="80000"/>
              <a:buChar char="□"/>
              <a:tabLst>
                <a:tab pos="180975" algn="l"/>
              </a:tabLst>
            </a:pPr>
            <a:r>
              <a:rPr sz="1000" dirty="0">
                <a:latin typeface="Arial"/>
                <a:cs typeface="Arial"/>
              </a:rPr>
              <a:t>Consider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experiment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consisting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trials,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a </a:t>
            </a:r>
            <a:r>
              <a:rPr sz="1000" dirty="0">
                <a:latin typeface="Arial"/>
                <a:cs typeface="Arial"/>
              </a:rPr>
              <a:t>success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failure.</a:t>
            </a:r>
            <a:endParaRPr sz="1000">
              <a:latin typeface="Arial"/>
              <a:cs typeface="Arial"/>
            </a:endParaRPr>
          </a:p>
          <a:p>
            <a:pPr marL="379095" lvl="1" indent="-112395">
              <a:lnSpc>
                <a:spcPct val="100000"/>
              </a:lnSpc>
              <a:spcBef>
                <a:spcPts val="95"/>
              </a:spcBef>
              <a:buClr>
                <a:srgbClr val="00007C"/>
              </a:buClr>
              <a:buSzPct val="66666"/>
              <a:buChar char="■"/>
              <a:tabLst>
                <a:tab pos="379095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-23148" dirty="0">
                <a:latin typeface="Arial"/>
                <a:cs typeface="Arial"/>
              </a:rPr>
              <a:t>j</a:t>
            </a:r>
            <a:r>
              <a:rPr sz="900" i="1" spc="97" baseline="-23148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jth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experiment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success</a:t>
            </a:r>
            <a:endParaRPr sz="900">
              <a:latin typeface="Arial"/>
              <a:cs typeface="Arial"/>
            </a:endParaRPr>
          </a:p>
          <a:p>
            <a:pPr marL="379095" lvl="1" indent="-112395">
              <a:lnSpc>
                <a:spcPct val="100000"/>
              </a:lnSpc>
              <a:spcBef>
                <a:spcPts val="114"/>
              </a:spcBef>
              <a:buClr>
                <a:srgbClr val="00007C"/>
              </a:buClr>
              <a:buSzPct val="66666"/>
              <a:buChar char="■"/>
              <a:tabLst>
                <a:tab pos="379095" algn="l"/>
              </a:tabLst>
            </a:pP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-23148" dirty="0">
                <a:latin typeface="Arial"/>
                <a:cs typeface="Arial"/>
              </a:rPr>
              <a:t>j</a:t>
            </a:r>
            <a:r>
              <a:rPr sz="900" i="1" spc="97" baseline="-23148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jth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experiment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failure</a:t>
            </a:r>
            <a:endParaRPr sz="900">
              <a:latin typeface="Arial"/>
              <a:cs typeface="Arial"/>
            </a:endParaRPr>
          </a:p>
          <a:p>
            <a:pPr marL="181610" indent="-143510">
              <a:lnSpc>
                <a:spcPct val="100000"/>
              </a:lnSpc>
              <a:spcBef>
                <a:spcPts val="125"/>
              </a:spcBef>
              <a:buClr>
                <a:srgbClr val="9A9ACC"/>
              </a:buClr>
              <a:buSzPct val="80000"/>
              <a:buChar char="□"/>
              <a:tabLst>
                <a:tab pos="1816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Bernoulli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(one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trial):</a:t>
            </a:r>
            <a:endParaRPr sz="1000">
              <a:latin typeface="Arial"/>
              <a:cs typeface="Arial"/>
            </a:endParaRPr>
          </a:p>
          <a:p>
            <a:pPr marL="1158875">
              <a:lnSpc>
                <a:spcPct val="100000"/>
              </a:lnSpc>
              <a:spcBef>
                <a:spcPts val="370"/>
              </a:spcBef>
              <a:tabLst>
                <a:tab pos="1750060" algn="l"/>
              </a:tabLst>
            </a:pPr>
            <a:r>
              <a:rPr sz="950" spc="-10" dirty="0">
                <a:latin typeface="Symbol"/>
                <a:cs typeface="Symbol"/>
              </a:rPr>
              <a:t></a:t>
            </a:r>
            <a:r>
              <a:rPr sz="950" spc="-110" dirty="0">
                <a:latin typeface="Times New Roman"/>
                <a:cs typeface="Times New Roman"/>
              </a:rPr>
              <a:t> </a:t>
            </a:r>
            <a:r>
              <a:rPr sz="1425" i="1" spc="-52" baseline="2923" dirty="0">
                <a:latin typeface="Times New Roman"/>
                <a:cs typeface="Times New Roman"/>
              </a:rPr>
              <a:t>p</a:t>
            </a:r>
            <a:r>
              <a:rPr sz="1425" spc="-52" baseline="2923" dirty="0">
                <a:latin typeface="Times New Roman"/>
                <a:cs typeface="Times New Roman"/>
              </a:rPr>
              <a:t>,</a:t>
            </a:r>
            <a:r>
              <a:rPr sz="1425" baseline="2923" dirty="0">
                <a:latin typeface="Times New Roman"/>
                <a:cs typeface="Times New Roman"/>
              </a:rPr>
              <a:t>	</a:t>
            </a:r>
            <a:r>
              <a:rPr sz="1425" i="1" spc="-15" baseline="2923" dirty="0">
                <a:latin typeface="Times New Roman"/>
                <a:cs typeface="Times New Roman"/>
              </a:rPr>
              <a:t>x</a:t>
            </a:r>
            <a:r>
              <a:rPr sz="1425" i="1" spc="-202" baseline="2923" dirty="0">
                <a:latin typeface="Times New Roman"/>
                <a:cs typeface="Times New Roman"/>
              </a:rPr>
              <a:t> </a:t>
            </a:r>
            <a:r>
              <a:rPr sz="825" i="1" baseline="-15151" dirty="0">
                <a:latin typeface="Times New Roman"/>
                <a:cs typeface="Times New Roman"/>
              </a:rPr>
              <a:t>j</a:t>
            </a:r>
            <a:r>
              <a:rPr sz="825" i="1" spc="300" baseline="-15151" dirty="0">
                <a:latin typeface="Times New Roman"/>
                <a:cs typeface="Times New Roman"/>
              </a:rPr>
              <a:t> </a:t>
            </a:r>
            <a:r>
              <a:rPr sz="1425" spc="-15" baseline="2923" dirty="0">
                <a:latin typeface="Symbol"/>
                <a:cs typeface="Symbol"/>
              </a:rPr>
              <a:t></a:t>
            </a:r>
            <a:r>
              <a:rPr sz="1425" spc="-179" baseline="2923" dirty="0">
                <a:latin typeface="Times New Roman"/>
                <a:cs typeface="Times New Roman"/>
              </a:rPr>
              <a:t> </a:t>
            </a:r>
            <a:r>
              <a:rPr sz="1425" baseline="2923" dirty="0">
                <a:latin typeface="Times New Roman"/>
                <a:cs typeface="Times New Roman"/>
              </a:rPr>
              <a:t>1,</a:t>
            </a:r>
            <a:r>
              <a:rPr sz="1425" spc="89" baseline="2923" dirty="0">
                <a:latin typeface="Times New Roman"/>
                <a:cs typeface="Times New Roman"/>
              </a:rPr>
              <a:t> </a:t>
            </a:r>
            <a:r>
              <a:rPr sz="1425" i="1" baseline="2923" dirty="0">
                <a:latin typeface="Times New Roman"/>
                <a:cs typeface="Times New Roman"/>
              </a:rPr>
              <a:t>j</a:t>
            </a:r>
            <a:r>
              <a:rPr sz="1425" i="1" spc="15" baseline="2923" dirty="0">
                <a:latin typeface="Times New Roman"/>
                <a:cs typeface="Times New Roman"/>
              </a:rPr>
              <a:t> </a:t>
            </a:r>
            <a:r>
              <a:rPr sz="1425" spc="-15" baseline="2923" dirty="0">
                <a:latin typeface="Symbol"/>
                <a:cs typeface="Symbol"/>
              </a:rPr>
              <a:t></a:t>
            </a:r>
            <a:r>
              <a:rPr sz="1425" spc="-179" baseline="2923" dirty="0">
                <a:latin typeface="Times New Roman"/>
                <a:cs typeface="Times New Roman"/>
              </a:rPr>
              <a:t> </a:t>
            </a:r>
            <a:r>
              <a:rPr sz="1425" spc="-30" baseline="2923" dirty="0">
                <a:latin typeface="Times New Roman"/>
                <a:cs typeface="Times New Roman"/>
              </a:rPr>
              <a:t>1,2,...,</a:t>
            </a:r>
            <a:r>
              <a:rPr sz="1425" spc="-187" baseline="2923" dirty="0">
                <a:latin typeface="Times New Roman"/>
                <a:cs typeface="Times New Roman"/>
              </a:rPr>
              <a:t> </a:t>
            </a:r>
            <a:r>
              <a:rPr sz="1425" i="1" spc="-75" baseline="2923" dirty="0">
                <a:latin typeface="Times New Roman"/>
                <a:cs typeface="Times New Roman"/>
              </a:rPr>
              <a:t>n</a:t>
            </a:r>
            <a:endParaRPr sz="1425" baseline="292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9558" y="2587430"/>
            <a:ext cx="586105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60655" algn="l"/>
                <a:tab pos="553085" algn="l"/>
              </a:tabLst>
            </a:pPr>
            <a:r>
              <a:rPr sz="550" i="1" spc="-50" dirty="0">
                <a:latin typeface="Times New Roman"/>
                <a:cs typeface="Times New Roman"/>
              </a:rPr>
              <a:t>j</a:t>
            </a:r>
            <a:r>
              <a:rPr sz="550" i="1" dirty="0">
                <a:latin typeface="Times New Roman"/>
                <a:cs typeface="Times New Roman"/>
              </a:rPr>
              <a:t>	</a:t>
            </a:r>
            <a:r>
              <a:rPr sz="550" i="1" spc="-50" dirty="0">
                <a:latin typeface="Times New Roman"/>
                <a:cs typeface="Times New Roman"/>
              </a:rPr>
              <a:t>j</a:t>
            </a:r>
            <a:r>
              <a:rPr sz="550" i="1" dirty="0">
                <a:latin typeface="Times New Roman"/>
                <a:cs typeface="Times New Roman"/>
              </a:rPr>
              <a:t>	</a:t>
            </a:r>
            <a:r>
              <a:rPr sz="550" i="1" spc="-50" dirty="0">
                <a:latin typeface="Times New Roman"/>
                <a:cs typeface="Times New Roman"/>
              </a:rPr>
              <a:t>j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١٨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232916" y="4851904"/>
            <a:ext cx="2096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Binomial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Distribution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76115" y="4953250"/>
            <a:ext cx="90296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[Discrete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 Dist’n]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2916" y="5319009"/>
            <a:ext cx="386334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5080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number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successes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Bernoulli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trials,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 </a:t>
            </a:r>
            <a:r>
              <a:rPr sz="1200" dirty="0">
                <a:latin typeface="Arial"/>
                <a:cs typeface="Arial"/>
              </a:rPr>
              <a:t>binomial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1516" y="7183166"/>
            <a:ext cx="2744470" cy="38989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3510" indent="-143510">
              <a:lnSpc>
                <a:spcPct val="100000"/>
              </a:lnSpc>
              <a:spcBef>
                <a:spcPts val="330"/>
              </a:spcBef>
              <a:buClr>
                <a:srgbClr val="9A9ACC"/>
              </a:buClr>
              <a:buSzPct val="80000"/>
              <a:buChar char="□"/>
              <a:tabLst>
                <a:tab pos="1435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E(x)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…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n*p</a:t>
            </a:r>
            <a:endParaRPr sz="1000">
              <a:latin typeface="Arial"/>
              <a:cs typeface="Arial"/>
            </a:endParaRPr>
          </a:p>
          <a:p>
            <a:pPr marL="143510" indent="-143510">
              <a:lnSpc>
                <a:spcPct val="100000"/>
              </a:lnSpc>
              <a:spcBef>
                <a:spcPts val="235"/>
              </a:spcBef>
              <a:buClr>
                <a:srgbClr val="9A9ACC"/>
              </a:buClr>
              <a:buSzPct val="80000"/>
              <a:buChar char="□"/>
              <a:tabLst>
                <a:tab pos="1435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variance,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V(X)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pq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pq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…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pq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n*pq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68196" y="6189726"/>
            <a:ext cx="1083945" cy="895350"/>
          </a:xfrm>
          <a:custGeom>
            <a:avLst/>
            <a:gdLst/>
            <a:ahLst/>
            <a:cxnLst/>
            <a:rect l="l" t="t" r="r" b="b"/>
            <a:pathLst>
              <a:path w="1083945" h="895350">
                <a:moveTo>
                  <a:pt x="0" y="790194"/>
                </a:moveTo>
                <a:lnTo>
                  <a:pt x="30553" y="852226"/>
                </a:lnTo>
                <a:lnTo>
                  <a:pt x="64849" y="875013"/>
                </a:lnTo>
                <a:lnTo>
                  <a:pt x="108362" y="889973"/>
                </a:lnTo>
                <a:lnTo>
                  <a:pt x="158496" y="895350"/>
                </a:lnTo>
                <a:lnTo>
                  <a:pt x="794004" y="895350"/>
                </a:lnTo>
                <a:lnTo>
                  <a:pt x="844137" y="889973"/>
                </a:lnTo>
                <a:lnTo>
                  <a:pt x="887650" y="875013"/>
                </a:lnTo>
                <a:lnTo>
                  <a:pt x="921946" y="852226"/>
                </a:lnTo>
                <a:lnTo>
                  <a:pt x="952500" y="790194"/>
                </a:lnTo>
                <a:lnTo>
                  <a:pt x="952500" y="371094"/>
                </a:lnTo>
                <a:lnTo>
                  <a:pt x="921946" y="309658"/>
                </a:lnTo>
                <a:lnTo>
                  <a:pt x="887650" y="286987"/>
                </a:lnTo>
                <a:lnTo>
                  <a:pt x="844137" y="272070"/>
                </a:lnTo>
                <a:lnTo>
                  <a:pt x="794004" y="266700"/>
                </a:lnTo>
                <a:lnTo>
                  <a:pt x="1083564" y="0"/>
                </a:lnTo>
                <a:lnTo>
                  <a:pt x="555498" y="266700"/>
                </a:lnTo>
                <a:lnTo>
                  <a:pt x="158496" y="266700"/>
                </a:lnTo>
                <a:lnTo>
                  <a:pt x="108362" y="272070"/>
                </a:lnTo>
                <a:lnTo>
                  <a:pt x="64849" y="286987"/>
                </a:lnTo>
                <a:lnTo>
                  <a:pt x="30553" y="309658"/>
                </a:lnTo>
                <a:lnTo>
                  <a:pt x="8071" y="338291"/>
                </a:lnTo>
                <a:lnTo>
                  <a:pt x="0" y="371094"/>
                </a:lnTo>
                <a:lnTo>
                  <a:pt x="0" y="528828"/>
                </a:lnTo>
                <a:lnTo>
                  <a:pt x="0" y="790194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636011" y="6487918"/>
            <a:ext cx="830580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The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number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of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outcomes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having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the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required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number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of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successes</a:t>
            </a:r>
            <a:r>
              <a:rPr sz="700" spc="-45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and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failures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79420" y="6228588"/>
            <a:ext cx="970280" cy="856615"/>
          </a:xfrm>
          <a:custGeom>
            <a:avLst/>
            <a:gdLst/>
            <a:ahLst/>
            <a:cxnLst/>
            <a:rect l="l" t="t" r="r" b="b"/>
            <a:pathLst>
              <a:path w="970279" h="856615">
                <a:moveTo>
                  <a:pt x="112775" y="751332"/>
                </a:moveTo>
                <a:lnTo>
                  <a:pt x="124003" y="792194"/>
                </a:lnTo>
                <a:lnTo>
                  <a:pt x="154590" y="825626"/>
                </a:lnTo>
                <a:lnTo>
                  <a:pt x="199894" y="848201"/>
                </a:lnTo>
                <a:lnTo>
                  <a:pt x="255269" y="856488"/>
                </a:lnTo>
                <a:lnTo>
                  <a:pt x="826769" y="856488"/>
                </a:lnTo>
                <a:lnTo>
                  <a:pt x="882586" y="848201"/>
                </a:lnTo>
                <a:lnTo>
                  <a:pt x="928115" y="825626"/>
                </a:lnTo>
                <a:lnTo>
                  <a:pt x="958786" y="792194"/>
                </a:lnTo>
                <a:lnTo>
                  <a:pt x="970026" y="751332"/>
                </a:lnTo>
                <a:lnTo>
                  <a:pt x="970026" y="332231"/>
                </a:lnTo>
                <a:lnTo>
                  <a:pt x="958786" y="291810"/>
                </a:lnTo>
                <a:lnTo>
                  <a:pt x="928115" y="258603"/>
                </a:lnTo>
                <a:lnTo>
                  <a:pt x="882586" y="236112"/>
                </a:lnTo>
                <a:lnTo>
                  <a:pt x="826769" y="227837"/>
                </a:lnTo>
                <a:lnTo>
                  <a:pt x="470153" y="227837"/>
                </a:lnTo>
                <a:lnTo>
                  <a:pt x="0" y="0"/>
                </a:lnTo>
                <a:lnTo>
                  <a:pt x="255269" y="227837"/>
                </a:lnTo>
                <a:lnTo>
                  <a:pt x="199894" y="236112"/>
                </a:lnTo>
                <a:lnTo>
                  <a:pt x="154590" y="258603"/>
                </a:lnTo>
                <a:lnTo>
                  <a:pt x="124003" y="291810"/>
                </a:lnTo>
                <a:lnTo>
                  <a:pt x="112775" y="332231"/>
                </a:lnTo>
                <a:lnTo>
                  <a:pt x="112775" y="489966"/>
                </a:lnTo>
                <a:lnTo>
                  <a:pt x="112775" y="751332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92781" y="6540496"/>
            <a:ext cx="6686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38735" algn="ctr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Arial"/>
                <a:cs typeface="Arial"/>
              </a:rPr>
              <a:t>Probability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that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there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are</a:t>
            </a:r>
            <a:endParaRPr sz="700">
              <a:latin typeface="Arial"/>
              <a:cs typeface="Arial"/>
            </a:endParaRPr>
          </a:p>
          <a:p>
            <a:pPr marR="5080" algn="ctr">
              <a:lnSpc>
                <a:spcPts val="840"/>
              </a:lnSpc>
              <a:spcBef>
                <a:spcPts val="20"/>
              </a:spcBef>
            </a:pPr>
            <a:r>
              <a:rPr sz="700" dirty="0">
                <a:latin typeface="Arial"/>
                <a:cs typeface="Arial"/>
              </a:rPr>
              <a:t>x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successes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and</a:t>
            </a:r>
            <a:r>
              <a:rPr sz="700" spc="50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(n-</a:t>
            </a:r>
            <a:r>
              <a:rPr sz="700" dirty="0">
                <a:latin typeface="Arial"/>
                <a:cs typeface="Arial"/>
              </a:rPr>
              <a:t>x)</a:t>
            </a:r>
            <a:r>
              <a:rPr sz="700" spc="-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failures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1767" y="6156507"/>
            <a:ext cx="2343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650" spc="-37" baseline="-12626" dirty="0">
                <a:latin typeface="Symbol"/>
                <a:cs typeface="Symbol"/>
              </a:rPr>
              <a:t></a:t>
            </a:r>
            <a:r>
              <a:rPr sz="1100" spc="-25" dirty="0">
                <a:latin typeface="Times New Roman"/>
                <a:cs typeface="Times New Roman"/>
              </a:rPr>
              <a:t>0,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42310" y="5875328"/>
            <a:ext cx="826135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30" dirty="0">
                <a:latin typeface="Times New Roman"/>
                <a:cs typeface="Times New Roman"/>
              </a:rPr>
              <a:t>0,1,2,...,</a:t>
            </a:r>
            <a:r>
              <a:rPr sz="1100" spc="-12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r>
              <a:rPr sz="1100" spc="-10" dirty="0">
                <a:latin typeface="Times New Roman"/>
                <a:cs typeface="Times New Roman"/>
              </a:rPr>
              <a:t>otherwise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05869" y="5875328"/>
            <a:ext cx="5416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93395" algn="l"/>
              </a:tabLst>
            </a:pPr>
            <a:r>
              <a:rPr sz="1100" dirty="0">
                <a:latin typeface="Symbol"/>
                <a:cs typeface="Symbol"/>
              </a:rPr>
              <a:t>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</a:t>
            </a:r>
            <a:r>
              <a:rPr sz="1100" i="1" spc="18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q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61767" y="5982765"/>
            <a:ext cx="336550" cy="32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1180"/>
              </a:lnSpc>
              <a:spcBef>
                <a:spcPts val="100"/>
              </a:spcBef>
            </a:pPr>
            <a:r>
              <a:rPr sz="1100" spc="-20" dirty="0">
                <a:latin typeface="Symbol"/>
                <a:cs typeface="Symbol"/>
              </a:rPr>
              <a:t></a:t>
            </a:r>
            <a:r>
              <a:rPr sz="1650" spc="-30" baseline="-12626" dirty="0">
                <a:latin typeface="Symbol"/>
                <a:cs typeface="Symbol"/>
              </a:rPr>
              <a:t></a:t>
            </a:r>
            <a:r>
              <a:rPr sz="1650" spc="-135" baseline="-12626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i="1" spc="-160" dirty="0">
                <a:latin typeface="Times New Roman"/>
                <a:cs typeface="Times New Roman"/>
              </a:rPr>
              <a:t> </a:t>
            </a:r>
            <a:r>
              <a:rPr sz="1650" spc="-75" baseline="-12626" dirty="0">
                <a:latin typeface="Symbol"/>
                <a:cs typeface="Symbol"/>
              </a:rPr>
              <a:t></a:t>
            </a:r>
            <a:endParaRPr sz="1650" baseline="-12626">
              <a:latin typeface="Symbol"/>
              <a:cs typeface="Symbol"/>
            </a:endParaRPr>
          </a:p>
          <a:p>
            <a:pPr marL="25400">
              <a:lnSpc>
                <a:spcPts val="1180"/>
              </a:lnSpc>
            </a:pPr>
            <a:r>
              <a:rPr sz="1100" spc="-540" dirty="0">
                <a:latin typeface="Symbol"/>
                <a:cs typeface="Symbol"/>
              </a:rPr>
              <a:t>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87167" y="5783159"/>
            <a:ext cx="2857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50" spc="-30" baseline="5050" dirty="0">
                <a:latin typeface="Symbol"/>
                <a:cs typeface="Symbol"/>
              </a:rPr>
              <a:t></a:t>
            </a:r>
            <a:r>
              <a:rPr sz="1100" spc="-20" dirty="0">
                <a:latin typeface="Symbol"/>
                <a:cs typeface="Symbol"/>
              </a:rPr>
              <a:t></a:t>
            </a:r>
            <a:r>
              <a:rPr sz="1100" spc="-145" dirty="0">
                <a:latin typeface="Times New Roman"/>
                <a:cs typeface="Times New Roman"/>
              </a:rPr>
              <a:t> </a:t>
            </a:r>
            <a:r>
              <a:rPr sz="1650" i="1" baseline="5050" dirty="0">
                <a:latin typeface="Times New Roman"/>
                <a:cs typeface="Times New Roman"/>
              </a:rPr>
              <a:t>n</a:t>
            </a:r>
            <a:r>
              <a:rPr sz="1650" i="1" spc="-254" baseline="50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Symbol"/>
                <a:cs typeface="Symbol"/>
              </a:rPr>
              <a:t>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76957" y="5956866"/>
            <a:ext cx="5676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Times New Roman"/>
                <a:cs typeface="Times New Roman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650" spc="-37" baseline="32828" dirty="0">
                <a:latin typeface="Symbol"/>
                <a:cs typeface="Symbol"/>
              </a:rPr>
              <a:t></a:t>
            </a:r>
            <a:endParaRPr sz="1650" baseline="32828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23030" y="5871242"/>
            <a:ext cx="274320" cy="123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50" i="1" dirty="0">
                <a:latin typeface="Times New Roman"/>
                <a:cs typeface="Times New Roman"/>
              </a:rPr>
              <a:t>x</a:t>
            </a:r>
            <a:r>
              <a:rPr sz="650" i="1" spc="190" dirty="0">
                <a:latin typeface="Times New Roman"/>
                <a:cs typeface="Times New Roman"/>
              </a:rPr>
              <a:t>  </a:t>
            </a:r>
            <a:r>
              <a:rPr sz="650" i="1" dirty="0">
                <a:latin typeface="Times New Roman"/>
                <a:cs typeface="Times New Roman"/>
              </a:rPr>
              <a:t>n</a:t>
            </a:r>
            <a:r>
              <a:rPr sz="650" dirty="0">
                <a:latin typeface="Symbol"/>
                <a:cs typeface="Symbol"/>
              </a:rPr>
              <a:t></a:t>
            </a:r>
            <a:r>
              <a:rPr sz="650" spc="-90" dirty="0">
                <a:latin typeface="Times New Roman"/>
                <a:cs typeface="Times New Roman"/>
              </a:rPr>
              <a:t> </a:t>
            </a:r>
            <a:r>
              <a:rPr sz="650" i="1" spc="-50" dirty="0">
                <a:latin typeface="Times New Roman"/>
                <a:cs typeface="Times New Roman"/>
              </a:rPr>
              <a:t>x</a:t>
            </a:r>
            <a:endParaRPr sz="65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58214" y="4589145"/>
            <a:ext cx="4572000" cy="3429000"/>
            <a:chOff x="958214" y="4589145"/>
            <a:chExt cx="4572000" cy="3429000"/>
          </a:xfrm>
        </p:grpSpPr>
        <p:sp>
          <p:nvSpPr>
            <p:cNvPr id="38" name="object 38"/>
            <p:cNvSpPr/>
            <p:nvPr/>
          </p:nvSpPr>
          <p:spPr>
            <a:xfrm>
              <a:off x="2825495" y="6113526"/>
              <a:ext cx="304800" cy="114300"/>
            </a:xfrm>
            <a:custGeom>
              <a:avLst/>
              <a:gdLst/>
              <a:ahLst/>
              <a:cxnLst/>
              <a:rect l="l" t="t" r="r" b="b"/>
              <a:pathLst>
                <a:path w="304800" h="114300">
                  <a:moveTo>
                    <a:pt x="0" y="0"/>
                  </a:moveTo>
                  <a:lnTo>
                    <a:pt x="2000" y="22109"/>
                  </a:lnTo>
                  <a:lnTo>
                    <a:pt x="7429" y="40290"/>
                  </a:lnTo>
                  <a:lnTo>
                    <a:pt x="15430" y="52613"/>
                  </a:lnTo>
                  <a:lnTo>
                    <a:pt x="25145" y="57150"/>
                  </a:lnTo>
                  <a:lnTo>
                    <a:pt x="127253" y="57150"/>
                  </a:lnTo>
                  <a:lnTo>
                    <a:pt x="136969" y="61686"/>
                  </a:lnTo>
                  <a:lnTo>
                    <a:pt x="144970" y="74009"/>
                  </a:lnTo>
                  <a:lnTo>
                    <a:pt x="150399" y="92190"/>
                  </a:lnTo>
                  <a:lnTo>
                    <a:pt x="152400" y="114300"/>
                  </a:lnTo>
                  <a:lnTo>
                    <a:pt x="154400" y="92190"/>
                  </a:lnTo>
                  <a:lnTo>
                    <a:pt x="159829" y="74009"/>
                  </a:lnTo>
                  <a:lnTo>
                    <a:pt x="167830" y="61686"/>
                  </a:lnTo>
                  <a:lnTo>
                    <a:pt x="177545" y="57150"/>
                  </a:lnTo>
                  <a:lnTo>
                    <a:pt x="279653" y="57150"/>
                  </a:lnTo>
                  <a:lnTo>
                    <a:pt x="289369" y="52613"/>
                  </a:lnTo>
                  <a:lnTo>
                    <a:pt x="297370" y="40290"/>
                  </a:lnTo>
                  <a:lnTo>
                    <a:pt x="302799" y="22109"/>
                  </a:lnTo>
                  <a:lnTo>
                    <a:pt x="304800" y="0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64691" y="459562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١٩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976115" y="1051810"/>
            <a:ext cx="90296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7C"/>
                </a:solidFill>
                <a:latin typeface="Arial"/>
                <a:cs typeface="Arial"/>
              </a:rPr>
              <a:t>[Discrete</a:t>
            </a:r>
            <a:r>
              <a:rPr sz="1000" spc="-10" dirty="0">
                <a:solidFill>
                  <a:srgbClr val="00007C"/>
                </a:solidFill>
                <a:latin typeface="Arial"/>
                <a:cs typeface="Arial"/>
              </a:rPr>
              <a:t> Dist’n]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2916" y="731770"/>
            <a:ext cx="1999614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Geometric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&amp;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Negative </a:t>
            </a:r>
            <a:r>
              <a:rPr sz="1600" dirty="0">
                <a:latin typeface="Arial"/>
                <a:cs typeface="Arial"/>
              </a:rPr>
              <a:t>Binomial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  <a:p>
            <a:pPr marL="170815" indent="-170815">
              <a:lnSpc>
                <a:spcPct val="100000"/>
              </a:lnSpc>
              <a:spcBef>
                <a:spcPts val="73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Geometric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6116" y="2104892"/>
            <a:ext cx="16967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43510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168910" algn="l"/>
              </a:tabLst>
            </a:pPr>
            <a:r>
              <a:rPr sz="1000" i="1" dirty="0">
                <a:latin typeface="Arial"/>
                <a:cs typeface="Arial"/>
              </a:rPr>
              <a:t>E(x)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1/p,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V(X)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q/p</a:t>
            </a:r>
            <a:r>
              <a:rPr sz="975" i="1" spc="-30" baseline="25641" dirty="0">
                <a:latin typeface="Arial"/>
                <a:cs typeface="Arial"/>
              </a:rPr>
              <a:t>2</a:t>
            </a:r>
            <a:endParaRPr sz="975" baseline="25641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7516" y="2409694"/>
            <a:ext cx="395477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70815">
              <a:lnSpc>
                <a:spcPts val="144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Negative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binomial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 marL="397510" lvl="1" indent="-143510">
              <a:lnSpc>
                <a:spcPts val="1200"/>
              </a:lnSpc>
              <a:buClr>
                <a:srgbClr val="9A9ACC"/>
              </a:buClr>
              <a:buSzPct val="80000"/>
              <a:buChar char="□"/>
              <a:tabLst>
                <a:tab pos="3975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Bernoulli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trials,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until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975" baseline="25641" dirty="0">
                <a:latin typeface="Arial"/>
                <a:cs typeface="Arial"/>
              </a:rPr>
              <a:t>th</a:t>
            </a:r>
            <a:r>
              <a:rPr sz="975" spc="104" baseline="25641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success</a:t>
            </a:r>
            <a:endParaRPr sz="1000">
              <a:latin typeface="Arial"/>
              <a:cs typeface="Arial"/>
            </a:endParaRPr>
          </a:p>
          <a:p>
            <a:pPr marL="396875" marR="30480" lvl="1" indent="-143510">
              <a:lnSpc>
                <a:spcPts val="969"/>
              </a:lnSpc>
              <a:spcBef>
                <a:spcPts val="225"/>
              </a:spcBef>
              <a:buClr>
                <a:srgbClr val="9A9ACC"/>
              </a:buClr>
              <a:buSzPct val="80000"/>
              <a:buChar char="□"/>
              <a:tabLst>
                <a:tab pos="396875" algn="l"/>
              </a:tabLst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negative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binomial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parameters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k, </a:t>
            </a:r>
            <a:r>
              <a:rPr sz="1000" spc="-10" dirty="0">
                <a:latin typeface="Arial"/>
                <a:cs typeface="Arial"/>
              </a:rPr>
              <a:t>then: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3660" y="1868033"/>
            <a:ext cx="119697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98805" algn="l"/>
              </a:tabLst>
            </a:pPr>
            <a:r>
              <a:rPr sz="1650" spc="-37" baseline="-12626" dirty="0">
                <a:latin typeface="Symbol"/>
                <a:cs typeface="Symbol"/>
              </a:rPr>
              <a:t></a:t>
            </a:r>
            <a:r>
              <a:rPr sz="1100" spc="-25" dirty="0">
                <a:latin typeface="Times New Roman"/>
                <a:cs typeface="Times New Roman"/>
              </a:rPr>
              <a:t>0,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otherwise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0123" y="1748395"/>
            <a:ext cx="5308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100" i="1" spc="50" dirty="0">
                <a:latin typeface="Times New Roman"/>
                <a:cs typeface="Times New Roman"/>
              </a:rPr>
              <a:t>p</a:t>
            </a:r>
            <a:r>
              <a:rPr sz="1100" spc="50" dirty="0">
                <a:latin typeface="Times New Roman"/>
                <a:cs typeface="Times New Roman"/>
              </a:rPr>
              <a:t>(</a:t>
            </a:r>
            <a:r>
              <a:rPr sz="1100" i="1" spc="50" dirty="0">
                <a:latin typeface="Times New Roman"/>
                <a:cs typeface="Times New Roman"/>
              </a:rPr>
              <a:t>x</a:t>
            </a:r>
            <a:r>
              <a:rPr sz="1100" spc="50" dirty="0">
                <a:latin typeface="Times New Roman"/>
                <a:cs typeface="Times New Roman"/>
              </a:rPr>
              <a:t>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650" spc="-75" baseline="-10101" dirty="0">
                <a:latin typeface="Symbol"/>
                <a:cs typeface="Symbol"/>
              </a:rPr>
              <a:t></a:t>
            </a:r>
            <a:endParaRPr sz="1650" baseline="-10101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6116" y="1495294"/>
            <a:ext cx="3580129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" indent="-143510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80000"/>
              <a:buChar char="□"/>
              <a:tabLst>
                <a:tab pos="1689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Bernoulli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trials,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achieve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975" baseline="25641" dirty="0">
                <a:latin typeface="Arial"/>
                <a:cs typeface="Arial"/>
              </a:rPr>
              <a:t>st</a:t>
            </a:r>
            <a:r>
              <a:rPr sz="975" spc="104" baseline="25641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success:</a:t>
            </a:r>
            <a:endParaRPr sz="1000">
              <a:latin typeface="Arial"/>
              <a:cs typeface="Arial"/>
            </a:endParaRPr>
          </a:p>
          <a:p>
            <a:pPr marL="1215390">
              <a:lnSpc>
                <a:spcPct val="100000"/>
              </a:lnSpc>
              <a:spcBef>
                <a:spcPts val="70"/>
              </a:spcBef>
            </a:pPr>
            <a:r>
              <a:rPr sz="1650" baseline="2525" dirty="0">
                <a:latin typeface="Symbol"/>
                <a:cs typeface="Symbol"/>
              </a:rPr>
              <a:t></a:t>
            </a:r>
            <a:r>
              <a:rPr sz="1650" spc="89" baseline="25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q</a:t>
            </a:r>
            <a:r>
              <a:rPr sz="975" i="1" baseline="42735" dirty="0">
                <a:latin typeface="Times New Roman"/>
                <a:cs typeface="Times New Roman"/>
              </a:rPr>
              <a:t>x</a:t>
            </a:r>
            <a:r>
              <a:rPr sz="975" baseline="42735" dirty="0">
                <a:latin typeface="Symbol"/>
                <a:cs typeface="Symbol"/>
              </a:rPr>
              <a:t></a:t>
            </a:r>
            <a:r>
              <a:rPr sz="975" baseline="42735" dirty="0">
                <a:latin typeface="Times New Roman"/>
                <a:cs typeface="Times New Roman"/>
              </a:rPr>
              <a:t>1</a:t>
            </a:r>
            <a:r>
              <a:rPr sz="975" spc="7" baseline="427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204" dirty="0">
                <a:latin typeface="Times New Roman"/>
                <a:cs typeface="Times New Roman"/>
              </a:rPr>
              <a:t>  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0,1,2,...,</a:t>
            </a:r>
            <a:r>
              <a:rPr sz="1100" spc="-12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1572" y="3029383"/>
            <a:ext cx="120014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Symbol"/>
                <a:cs typeface="Symbol"/>
              </a:rPr>
              <a:t></a:t>
            </a:r>
            <a:endParaRPr sz="9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6116" y="3236446"/>
            <a:ext cx="1773555" cy="4184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R="376555" algn="r">
              <a:lnSpc>
                <a:spcPct val="100000"/>
              </a:lnSpc>
              <a:spcBef>
                <a:spcPts val="484"/>
              </a:spcBef>
            </a:pPr>
            <a:r>
              <a:rPr sz="1425" spc="-30" baseline="17543" dirty="0">
                <a:latin typeface="Symbol"/>
                <a:cs typeface="Symbol"/>
              </a:rPr>
              <a:t></a:t>
            </a:r>
            <a:r>
              <a:rPr sz="1425" spc="-30" baseline="-14619" dirty="0">
                <a:latin typeface="Symbol"/>
                <a:cs typeface="Symbol"/>
              </a:rPr>
              <a:t></a:t>
            </a:r>
            <a:r>
              <a:rPr sz="950" spc="-20" dirty="0">
                <a:latin typeface="Times New Roman"/>
                <a:cs typeface="Times New Roman"/>
              </a:rPr>
              <a:t>0,</a:t>
            </a:r>
            <a:endParaRPr sz="950">
              <a:latin typeface="Times New Roman"/>
              <a:cs typeface="Times New Roman"/>
            </a:endParaRPr>
          </a:p>
          <a:p>
            <a:pPr marL="168910" indent="-143510">
              <a:lnSpc>
                <a:spcPct val="100000"/>
              </a:lnSpc>
              <a:spcBef>
                <a:spcPts val="365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168910" algn="l"/>
              </a:tabLst>
            </a:pPr>
            <a:r>
              <a:rPr sz="1000" i="1" dirty="0">
                <a:latin typeface="Arial"/>
                <a:cs typeface="Arial"/>
              </a:rPr>
              <a:t>E(Y)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k/p,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V(X)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kq/p</a:t>
            </a:r>
            <a:r>
              <a:rPr sz="975" i="1" spc="-15" baseline="25641" dirty="0">
                <a:latin typeface="Arial"/>
                <a:cs typeface="Arial"/>
              </a:rPr>
              <a:t>2</a:t>
            </a:r>
            <a:endParaRPr sz="975" baseline="25641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67684" y="3029381"/>
            <a:ext cx="97345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35"/>
              </a:spcBef>
            </a:pPr>
            <a:r>
              <a:rPr sz="950" i="1" dirty="0">
                <a:latin typeface="Times New Roman"/>
                <a:cs typeface="Times New Roman"/>
              </a:rPr>
              <a:t>y</a:t>
            </a:r>
            <a:r>
              <a:rPr sz="950" i="1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k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-9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k</a:t>
            </a:r>
            <a:r>
              <a:rPr sz="950" i="1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</a:t>
            </a:r>
            <a:r>
              <a:rPr sz="950" dirty="0">
                <a:latin typeface="Times New Roman"/>
                <a:cs typeface="Times New Roman"/>
              </a:rPr>
              <a:t>1,</a:t>
            </a:r>
            <a:r>
              <a:rPr sz="950" spc="-10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k</a:t>
            </a:r>
            <a:r>
              <a:rPr sz="950" i="1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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2,...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950" spc="-10" dirty="0">
                <a:latin typeface="Times New Roman"/>
                <a:cs typeface="Times New Roman"/>
              </a:rPr>
              <a:t>otherwise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71572" y="2946330"/>
            <a:ext cx="414020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425" baseline="5847" dirty="0">
                <a:latin typeface="Symbol"/>
                <a:cs typeface="Symbol"/>
              </a:rPr>
              <a:t></a:t>
            </a:r>
            <a:r>
              <a:rPr sz="950" dirty="0">
                <a:latin typeface="Symbol"/>
                <a:cs typeface="Symbol"/>
              </a:rPr>
              <a:t>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1425" i="1" baseline="2923" dirty="0">
                <a:latin typeface="Times New Roman"/>
                <a:cs typeface="Times New Roman"/>
              </a:rPr>
              <a:t>y</a:t>
            </a:r>
            <a:r>
              <a:rPr sz="1425" i="1" spc="-60" baseline="2923" dirty="0">
                <a:latin typeface="Times New Roman"/>
                <a:cs typeface="Times New Roman"/>
              </a:rPr>
              <a:t> </a:t>
            </a:r>
            <a:r>
              <a:rPr sz="1425" spc="-37" baseline="2923" dirty="0">
                <a:latin typeface="Symbol"/>
                <a:cs typeface="Symbol"/>
              </a:rPr>
              <a:t></a:t>
            </a:r>
            <a:r>
              <a:rPr sz="1425" spc="-37" baseline="2923" dirty="0">
                <a:latin typeface="Times New Roman"/>
                <a:cs typeface="Times New Roman"/>
              </a:rPr>
              <a:t>1</a:t>
            </a:r>
            <a:r>
              <a:rPr sz="950" spc="-25" dirty="0">
                <a:latin typeface="Symbol"/>
                <a:cs typeface="Symbol"/>
              </a:rPr>
              <a:t></a:t>
            </a:r>
            <a:endParaRPr sz="9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00999" y="3101775"/>
            <a:ext cx="810260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950" i="1" dirty="0">
                <a:latin typeface="Times New Roman"/>
                <a:cs typeface="Times New Roman"/>
              </a:rPr>
              <a:t>p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1425" spc="-15" baseline="-8771" dirty="0">
                <a:latin typeface="Symbol"/>
                <a:cs typeface="Symbol"/>
              </a:rPr>
              <a:t></a:t>
            </a:r>
            <a:r>
              <a:rPr sz="1425" spc="-15" baseline="-26315" dirty="0">
                <a:latin typeface="Symbol"/>
                <a:cs typeface="Symbol"/>
              </a:rPr>
              <a:t></a:t>
            </a:r>
            <a:r>
              <a:rPr sz="1425" spc="-82" baseline="-26315" dirty="0">
                <a:latin typeface="Times New Roman"/>
                <a:cs typeface="Times New Roman"/>
              </a:rPr>
              <a:t> </a:t>
            </a:r>
            <a:r>
              <a:rPr sz="1425" i="1" baseline="-11695" dirty="0">
                <a:latin typeface="Times New Roman"/>
                <a:cs typeface="Times New Roman"/>
              </a:rPr>
              <a:t>k</a:t>
            </a:r>
            <a:r>
              <a:rPr sz="1425" i="1" spc="97" baseline="-11695" dirty="0">
                <a:latin typeface="Times New Roman"/>
                <a:cs typeface="Times New Roman"/>
              </a:rPr>
              <a:t> </a:t>
            </a:r>
            <a:r>
              <a:rPr sz="1425" spc="-37" baseline="-11695" dirty="0">
                <a:latin typeface="Symbol"/>
                <a:cs typeface="Symbol"/>
              </a:rPr>
              <a:t></a:t>
            </a:r>
            <a:r>
              <a:rPr sz="1425" spc="-37" baseline="-11695" dirty="0">
                <a:latin typeface="Times New Roman"/>
                <a:cs typeface="Times New Roman"/>
              </a:rPr>
              <a:t>1</a:t>
            </a:r>
            <a:r>
              <a:rPr sz="1425" spc="-37" baseline="-26315" dirty="0">
                <a:latin typeface="Symbol"/>
                <a:cs typeface="Symbol"/>
              </a:rPr>
              <a:t></a:t>
            </a:r>
            <a:endParaRPr sz="1425" baseline="-26315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98961" y="2972989"/>
            <a:ext cx="544195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25" baseline="-26315" dirty="0">
                <a:latin typeface="Symbol"/>
                <a:cs typeface="Symbol"/>
              </a:rPr>
              <a:t></a:t>
            </a:r>
            <a:r>
              <a:rPr sz="1425" spc="427" baseline="-26315" dirty="0">
                <a:latin typeface="Times New Roman"/>
                <a:cs typeface="Times New Roman"/>
              </a:rPr>
              <a:t> </a:t>
            </a:r>
            <a:r>
              <a:rPr sz="1425" i="1" spc="97" baseline="-26315" dirty="0">
                <a:latin typeface="Times New Roman"/>
                <a:cs typeface="Times New Roman"/>
              </a:rPr>
              <a:t>q</a:t>
            </a:r>
            <a:r>
              <a:rPr sz="550" i="1" spc="65" dirty="0">
                <a:latin typeface="Times New Roman"/>
                <a:cs typeface="Times New Roman"/>
              </a:rPr>
              <a:t>y</a:t>
            </a:r>
            <a:r>
              <a:rPr sz="550" i="1" spc="-80" dirty="0">
                <a:latin typeface="Times New Roman"/>
                <a:cs typeface="Times New Roman"/>
              </a:rPr>
              <a:t> </a:t>
            </a:r>
            <a:r>
              <a:rPr sz="550" dirty="0">
                <a:latin typeface="Symbol"/>
                <a:cs typeface="Symbol"/>
              </a:rPr>
              <a:t></a:t>
            </a:r>
            <a:r>
              <a:rPr sz="550" i="1" dirty="0">
                <a:latin typeface="Times New Roman"/>
                <a:cs typeface="Times New Roman"/>
              </a:rPr>
              <a:t>k</a:t>
            </a:r>
            <a:r>
              <a:rPr sz="550" i="1" spc="114" dirty="0">
                <a:latin typeface="Times New Roman"/>
                <a:cs typeface="Times New Roman"/>
              </a:rPr>
              <a:t> </a:t>
            </a:r>
            <a:r>
              <a:rPr sz="1425" i="1" baseline="-26315" dirty="0">
                <a:latin typeface="Times New Roman"/>
                <a:cs typeface="Times New Roman"/>
              </a:rPr>
              <a:t>p</a:t>
            </a:r>
            <a:r>
              <a:rPr sz="550" i="1" dirty="0">
                <a:latin typeface="Times New Roman"/>
                <a:cs typeface="Times New Roman"/>
              </a:rPr>
              <a:t>k</a:t>
            </a:r>
            <a:r>
              <a:rPr sz="550" i="1" spc="35" dirty="0">
                <a:latin typeface="Times New Roman"/>
                <a:cs typeface="Times New Roman"/>
              </a:rPr>
              <a:t> </a:t>
            </a:r>
            <a:r>
              <a:rPr sz="1425" spc="-75" baseline="-26315" dirty="0">
                <a:latin typeface="Times New Roman"/>
                <a:cs typeface="Times New Roman"/>
              </a:rPr>
              <a:t>,</a:t>
            </a:r>
            <a:endParaRPr sz="1425" baseline="-26315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٢٠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32916" y="4867906"/>
            <a:ext cx="18065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Poisson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76115" y="4931914"/>
            <a:ext cx="99186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[Discrete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2916" y="5303770"/>
            <a:ext cx="3915410" cy="5429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71450" marR="5080" indent="-171450">
              <a:lnSpc>
                <a:spcPts val="1290"/>
              </a:lnSpc>
              <a:spcBef>
                <a:spcPts val="265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Poisson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describes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many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processes </a:t>
            </a:r>
            <a:r>
              <a:rPr sz="1200" dirty="0">
                <a:latin typeface="Arial"/>
                <a:cs typeface="Arial"/>
              </a:rPr>
              <a:t>quite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well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mathematically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quite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simple.</a:t>
            </a:r>
            <a:endParaRPr sz="12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125"/>
              </a:spcBef>
            </a:pPr>
            <a:r>
              <a:rPr sz="800" spc="215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800" spc="195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dirty="0">
                <a:latin typeface="Symbol"/>
                <a:cs typeface="Symbol"/>
              </a:rPr>
              <a:t>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&gt;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</a:t>
            </a:r>
            <a:r>
              <a:rPr sz="1000" spc="2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cdf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are: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61516" y="6498207"/>
            <a:ext cx="103124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510" indent="-143510">
              <a:lnSpc>
                <a:spcPct val="100000"/>
              </a:lnSpc>
              <a:spcBef>
                <a:spcPts val="105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143510" algn="l"/>
              </a:tabLst>
            </a:pPr>
            <a:r>
              <a:rPr sz="1000" i="1" dirty="0">
                <a:latin typeface="Arial"/>
                <a:cs typeface="Arial"/>
              </a:rPr>
              <a:t>E(X)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</a:t>
            </a:r>
            <a:r>
              <a:rPr sz="1050" spc="-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V(X)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084832" y="6092190"/>
            <a:ext cx="339090" cy="0"/>
          </a:xfrm>
          <a:custGeom>
            <a:avLst/>
            <a:gdLst/>
            <a:ahLst/>
            <a:cxnLst/>
            <a:rect l="l" t="t" r="r" b="b"/>
            <a:pathLst>
              <a:path w="339089">
                <a:moveTo>
                  <a:pt x="0" y="0"/>
                </a:moveTo>
                <a:lnTo>
                  <a:pt x="339090" y="0"/>
                </a:lnTo>
              </a:path>
            </a:pathLst>
          </a:custGeom>
          <a:ln w="56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989327" y="6210358"/>
            <a:ext cx="22860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1575" spc="-120" baseline="7936" dirty="0">
                <a:latin typeface="Symbol"/>
                <a:cs typeface="Symbol"/>
              </a:rPr>
              <a:t></a:t>
            </a:r>
            <a:r>
              <a:rPr sz="1575" spc="-120" baseline="-13227" dirty="0">
                <a:latin typeface="Symbol"/>
                <a:cs typeface="Symbol"/>
              </a:rPr>
              <a:t></a:t>
            </a:r>
            <a:r>
              <a:rPr sz="1050" spc="-80" dirty="0">
                <a:latin typeface="Times New Roman"/>
                <a:cs typeface="Times New Roman"/>
              </a:rPr>
              <a:t>0,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17420" y="6083884"/>
            <a:ext cx="110489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050" i="1" spc="-25" dirty="0">
                <a:latin typeface="Times New Roman"/>
                <a:cs typeface="Times New Roman"/>
              </a:rPr>
              <a:t>x</a:t>
            </a:r>
            <a:r>
              <a:rPr sz="1050" spc="-25" dirty="0">
                <a:latin typeface="Times New Roman"/>
                <a:cs typeface="Times New Roman"/>
              </a:rPr>
              <a:t>!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18239" y="6041216"/>
            <a:ext cx="501650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1050" i="1" dirty="0">
                <a:latin typeface="Times New Roman"/>
                <a:cs typeface="Times New Roman"/>
              </a:rPr>
              <a:t>p</a:t>
            </a:r>
            <a:r>
              <a:rPr sz="1050" dirty="0">
                <a:latin typeface="Times New Roman"/>
                <a:cs typeface="Times New Roman"/>
              </a:rPr>
              <a:t>(</a:t>
            </a:r>
            <a:r>
              <a:rPr sz="1050" i="1" dirty="0">
                <a:latin typeface="Times New Roman"/>
                <a:cs typeface="Times New Roman"/>
              </a:rPr>
              <a:t>x</a:t>
            </a:r>
            <a:r>
              <a:rPr sz="1050" dirty="0">
                <a:latin typeface="Times New Roman"/>
                <a:cs typeface="Times New Roman"/>
              </a:rPr>
              <a:t>)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Symbol"/>
                <a:cs typeface="Symbol"/>
              </a:rPr>
              <a:t>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575" spc="-75" baseline="-10582" dirty="0">
                <a:latin typeface="Symbol"/>
                <a:cs typeface="Symbol"/>
              </a:rPr>
              <a:t></a:t>
            </a:r>
            <a:endParaRPr sz="1575" baseline="-10582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89327" y="5825487"/>
            <a:ext cx="451484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1575" spc="-104" baseline="-21164" dirty="0">
                <a:latin typeface="Symbol"/>
                <a:cs typeface="Symbol"/>
              </a:rPr>
              <a:t></a:t>
            </a:r>
            <a:r>
              <a:rPr sz="1575" spc="-104" baseline="-52910" dirty="0">
                <a:latin typeface="Symbol"/>
                <a:cs typeface="Symbol"/>
              </a:rPr>
              <a:t></a:t>
            </a:r>
            <a:r>
              <a:rPr sz="1575" i="1" spc="-104" baseline="-23809" dirty="0">
                <a:latin typeface="Times New Roman"/>
                <a:cs typeface="Times New Roman"/>
              </a:rPr>
              <a:t>e</a:t>
            </a:r>
            <a:r>
              <a:rPr sz="600" spc="-70" dirty="0">
                <a:latin typeface="Symbol"/>
                <a:cs typeface="Symbol"/>
              </a:rPr>
              <a:t></a:t>
            </a:r>
            <a:r>
              <a:rPr sz="650" i="1" spc="-70" dirty="0">
                <a:latin typeface="Symbol"/>
                <a:cs typeface="Symbol"/>
              </a:rPr>
              <a:t></a:t>
            </a:r>
            <a:r>
              <a:rPr sz="1650" i="1" spc="-104" baseline="-22727" dirty="0">
                <a:latin typeface="Symbol"/>
                <a:cs typeface="Symbol"/>
              </a:rPr>
              <a:t></a:t>
            </a:r>
            <a:r>
              <a:rPr sz="1650" spc="-75" baseline="-22727" dirty="0">
                <a:latin typeface="Times New Roman"/>
                <a:cs typeface="Times New Roman"/>
              </a:rPr>
              <a:t> </a:t>
            </a:r>
            <a:r>
              <a:rPr sz="600" i="1" spc="-50" dirty="0">
                <a:latin typeface="Times New Roman"/>
                <a:cs typeface="Times New Roman"/>
              </a:rPr>
              <a:t>x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12741" y="6091428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898" y="0"/>
                </a:lnTo>
              </a:path>
            </a:pathLst>
          </a:custGeom>
          <a:ln w="5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442978" y="5905706"/>
            <a:ext cx="1783714" cy="4921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  <a:tabLst>
                <a:tab pos="1397635" algn="l"/>
              </a:tabLst>
            </a:pPr>
            <a:r>
              <a:rPr sz="1050" dirty="0">
                <a:latin typeface="Times New Roman"/>
                <a:cs typeface="Times New Roman"/>
              </a:rPr>
              <a:t>,</a:t>
            </a:r>
            <a:r>
              <a:rPr sz="1050" spc="130" dirty="0">
                <a:latin typeface="Times New Roman"/>
                <a:cs typeface="Times New Roman"/>
              </a:rPr>
              <a:t>  </a:t>
            </a:r>
            <a:r>
              <a:rPr sz="1050" i="1" dirty="0">
                <a:latin typeface="Times New Roman"/>
                <a:cs typeface="Times New Roman"/>
              </a:rPr>
              <a:t>x</a:t>
            </a:r>
            <a:r>
              <a:rPr sz="1050" i="1" spc="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Symbol"/>
                <a:cs typeface="Symbol"/>
              </a:rPr>
              <a:t></a:t>
            </a:r>
            <a:r>
              <a:rPr sz="1050" spc="-3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0,1,...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i="1" dirty="0">
                <a:latin typeface="Times New Roman"/>
                <a:cs typeface="Times New Roman"/>
              </a:rPr>
              <a:t>F</a:t>
            </a:r>
            <a:r>
              <a:rPr sz="1050" i="1" spc="-9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</a:t>
            </a:r>
            <a:r>
              <a:rPr sz="1050" i="1" dirty="0">
                <a:latin typeface="Times New Roman"/>
                <a:cs typeface="Times New Roman"/>
              </a:rPr>
              <a:t>x</a:t>
            </a:r>
            <a:r>
              <a:rPr sz="1050" dirty="0">
                <a:latin typeface="Times New Roman"/>
                <a:cs typeface="Times New Roman"/>
              </a:rPr>
              <a:t>)</a:t>
            </a:r>
            <a:r>
              <a:rPr sz="1050" spc="90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Symbol"/>
                <a:cs typeface="Symbol"/>
              </a:rPr>
              <a:t></a:t>
            </a:r>
            <a:endParaRPr sz="1050">
              <a:latin typeface="Symbol"/>
              <a:cs typeface="Symbol"/>
            </a:endParaRPr>
          </a:p>
          <a:p>
            <a:pPr marL="97155">
              <a:lnSpc>
                <a:spcPct val="100000"/>
              </a:lnSpc>
              <a:spcBef>
                <a:spcPts val="565"/>
              </a:spcBef>
            </a:pPr>
            <a:r>
              <a:rPr sz="1050" spc="-10" dirty="0">
                <a:latin typeface="Times New Roman"/>
                <a:cs typeface="Times New Roman"/>
              </a:rPr>
              <a:t>otherwise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06240" y="5819625"/>
            <a:ext cx="506730" cy="4781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955"/>
              </a:lnSpc>
              <a:spcBef>
                <a:spcPts val="125"/>
              </a:spcBef>
            </a:pPr>
            <a:r>
              <a:rPr sz="2400" baseline="-32986" dirty="0">
                <a:latin typeface="Symbol"/>
                <a:cs typeface="Symbol"/>
              </a:rPr>
              <a:t></a:t>
            </a:r>
            <a:r>
              <a:rPr sz="2400" spc="-262" baseline="-32986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e</a:t>
            </a:r>
            <a:r>
              <a:rPr sz="1050" i="1" spc="170" dirty="0">
                <a:latin typeface="Times New Roman"/>
                <a:cs typeface="Times New Roman"/>
              </a:rPr>
              <a:t>  </a:t>
            </a:r>
            <a:r>
              <a:rPr sz="1150" i="1" spc="-50" dirty="0">
                <a:latin typeface="Symbol"/>
                <a:cs typeface="Symbol"/>
              </a:rPr>
              <a:t></a:t>
            </a:r>
            <a:endParaRPr sz="1150">
              <a:latin typeface="Symbol"/>
              <a:cs typeface="Symbol"/>
            </a:endParaRPr>
          </a:p>
          <a:p>
            <a:pPr marL="95250">
              <a:lnSpc>
                <a:spcPts val="350"/>
              </a:lnSpc>
            </a:pPr>
            <a:r>
              <a:rPr sz="600" i="1" spc="-50" dirty="0">
                <a:latin typeface="Times New Roman"/>
                <a:cs typeface="Times New Roman"/>
              </a:rPr>
              <a:t>x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600">
              <a:latin typeface="Times New Roman"/>
              <a:cs typeface="Times New Roman"/>
            </a:endParaRPr>
          </a:p>
          <a:p>
            <a:pPr marL="53340">
              <a:lnSpc>
                <a:spcPct val="100000"/>
              </a:lnSpc>
              <a:tabLst>
                <a:tab pos="337185" algn="l"/>
              </a:tabLst>
            </a:pPr>
            <a:r>
              <a:rPr sz="600" i="1" spc="-25" dirty="0">
                <a:latin typeface="Times New Roman"/>
                <a:cs typeface="Times New Roman"/>
              </a:rPr>
              <a:t>i</a:t>
            </a:r>
            <a:r>
              <a:rPr sz="600" spc="-25" dirty="0">
                <a:latin typeface="Symbol"/>
                <a:cs typeface="Symbol"/>
              </a:rPr>
              <a:t></a:t>
            </a:r>
            <a:r>
              <a:rPr sz="600" spc="-25" dirty="0">
                <a:latin typeface="Times New Roman"/>
                <a:cs typeface="Times New Roman"/>
              </a:rPr>
              <a:t>0</a:t>
            </a:r>
            <a:r>
              <a:rPr sz="600" dirty="0">
                <a:latin typeface="Times New Roman"/>
                <a:cs typeface="Times New Roman"/>
              </a:rPr>
              <a:t>	</a:t>
            </a:r>
            <a:r>
              <a:rPr sz="1575" i="1" spc="-37" baseline="10582" dirty="0">
                <a:latin typeface="Times New Roman"/>
                <a:cs typeface="Times New Roman"/>
              </a:rPr>
              <a:t>i</a:t>
            </a:r>
            <a:r>
              <a:rPr sz="1575" spc="-37" baseline="10582" dirty="0">
                <a:latin typeface="Times New Roman"/>
                <a:cs typeface="Times New Roman"/>
              </a:rPr>
              <a:t>!</a:t>
            </a:r>
            <a:endParaRPr sz="1575" baseline="10582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87417" y="5879544"/>
            <a:ext cx="24257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600" dirty="0">
                <a:latin typeface="Symbol"/>
                <a:cs typeface="Symbol"/>
              </a:rPr>
              <a:t></a:t>
            </a:r>
            <a:r>
              <a:rPr sz="650" i="1" dirty="0">
                <a:latin typeface="Symbol"/>
                <a:cs typeface="Symbol"/>
              </a:rPr>
              <a:t></a:t>
            </a:r>
            <a:r>
              <a:rPr sz="650" spc="280" dirty="0">
                <a:latin typeface="Times New Roman"/>
                <a:cs typeface="Times New Roman"/>
              </a:rPr>
              <a:t>  </a:t>
            </a:r>
            <a:r>
              <a:rPr sz="600" i="1" spc="-50" dirty="0"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58214" y="4589145"/>
            <a:ext cx="4572000" cy="3429000"/>
            <a:chOff x="958214" y="4589145"/>
            <a:chExt cx="4572000" cy="3429000"/>
          </a:xfrm>
        </p:grpSpPr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9295" y="6494522"/>
              <a:ext cx="2431185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9295" y="6723122"/>
              <a:ext cx="2431185" cy="2286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9295" y="6951722"/>
              <a:ext cx="2431185" cy="2286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9295" y="7180322"/>
              <a:ext cx="2431185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9295" y="7408922"/>
              <a:ext cx="2431185" cy="2286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49295" y="7637522"/>
              <a:ext cx="2431185" cy="2286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64691" y="459562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٢١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18065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Poisson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6115" y="955035"/>
            <a:ext cx="99186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[Discrete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7516" y="1326891"/>
            <a:ext cx="4049395" cy="20453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6215" marR="30480" indent="-171450">
              <a:lnSpc>
                <a:spcPct val="90400"/>
              </a:lnSpc>
              <a:spcBef>
                <a:spcPts val="235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Example: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computer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repair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person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“beeped”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each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call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service.</a:t>
            </a:r>
            <a:r>
              <a:rPr sz="1200" spc="3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number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beeps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per </a:t>
            </a:r>
            <a:r>
              <a:rPr sz="1200" dirty="0">
                <a:latin typeface="Arial"/>
                <a:cs typeface="Arial"/>
              </a:rPr>
              <a:t>hour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~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Poisson(</a:t>
            </a:r>
            <a:r>
              <a:rPr sz="1200" dirty="0">
                <a:latin typeface="Symbol"/>
                <a:cs typeface="Symbol"/>
              </a:rPr>
              <a:t>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per</a:t>
            </a:r>
            <a:r>
              <a:rPr sz="1200" spc="-10" dirty="0">
                <a:latin typeface="Arial"/>
                <a:cs typeface="Arial"/>
              </a:rPr>
              <a:t> hour).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007C"/>
              </a:buClr>
              <a:buFont typeface="Arial"/>
              <a:buChar char="■"/>
            </a:pPr>
            <a:endParaRPr sz="1200">
              <a:latin typeface="Arial"/>
              <a:cs typeface="Arial"/>
            </a:endParaRPr>
          </a:p>
          <a:p>
            <a:pPr marL="143510" marR="765810" lvl="1" indent="-143510" algn="ctr">
              <a:lnSpc>
                <a:spcPct val="100000"/>
              </a:lnSpc>
              <a:buClr>
                <a:srgbClr val="9A9ACC"/>
              </a:buClr>
              <a:buSzPct val="80000"/>
              <a:buChar char="□"/>
              <a:tabLst>
                <a:tab pos="1435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three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beeps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next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hour:</a:t>
            </a:r>
            <a:endParaRPr sz="1000">
              <a:latin typeface="Arial"/>
              <a:cs typeface="Arial"/>
            </a:endParaRPr>
          </a:p>
          <a:p>
            <a:pPr marR="802640" algn="ctr">
              <a:lnSpc>
                <a:spcPct val="100000"/>
              </a:lnSpc>
              <a:spcBef>
                <a:spcPts val="114"/>
              </a:spcBef>
              <a:tabLst>
                <a:tab pos="457200" algn="l"/>
              </a:tabLst>
            </a:pPr>
            <a:r>
              <a:rPr sz="1000" i="1" spc="-20" dirty="0">
                <a:latin typeface="Arial"/>
                <a:cs typeface="Arial"/>
              </a:rPr>
              <a:t>p(3)</a:t>
            </a:r>
            <a:r>
              <a:rPr sz="1000" i="1" dirty="0">
                <a:latin typeface="Arial"/>
                <a:cs typeface="Arial"/>
              </a:rPr>
              <a:t>	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975" i="1" baseline="25641" dirty="0">
                <a:latin typeface="Arial"/>
                <a:cs typeface="Arial"/>
              </a:rPr>
              <a:t>-2</a:t>
            </a:r>
            <a:r>
              <a:rPr sz="1000" i="1" dirty="0">
                <a:latin typeface="Arial"/>
                <a:cs typeface="Arial"/>
              </a:rPr>
              <a:t>2</a:t>
            </a:r>
            <a:r>
              <a:rPr sz="975" i="1" baseline="25641" dirty="0">
                <a:latin typeface="Arial"/>
                <a:cs typeface="Arial"/>
              </a:rPr>
              <a:t>3</a:t>
            </a:r>
            <a:r>
              <a:rPr sz="1000" i="1" dirty="0">
                <a:latin typeface="Arial"/>
                <a:cs typeface="Arial"/>
              </a:rPr>
              <a:t>/3!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0.18</a:t>
            </a:r>
            <a:endParaRPr sz="1000">
              <a:latin typeface="Arial"/>
              <a:cs typeface="Arial"/>
            </a:endParaRPr>
          </a:p>
          <a:p>
            <a:pPr marR="304165" algn="ctr">
              <a:lnSpc>
                <a:spcPct val="100000"/>
              </a:lnSpc>
              <a:spcBef>
                <a:spcPts val="120"/>
              </a:spcBef>
              <a:tabLst>
                <a:tab pos="456565" algn="l"/>
                <a:tab pos="913765" algn="l"/>
              </a:tabLst>
            </a:pPr>
            <a:r>
              <a:rPr sz="1000" spc="-10" dirty="0">
                <a:latin typeface="Arial"/>
                <a:cs typeface="Arial"/>
              </a:rPr>
              <a:t>also,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000" i="1" spc="-20" dirty="0">
                <a:latin typeface="Arial"/>
                <a:cs typeface="Arial"/>
              </a:rPr>
              <a:t>p(3)</a:t>
            </a:r>
            <a:r>
              <a:rPr sz="1000" i="1" dirty="0">
                <a:latin typeface="Arial"/>
                <a:cs typeface="Arial"/>
              </a:rPr>
              <a:t>	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F(3)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–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F(2)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0.857-</a:t>
            </a:r>
            <a:r>
              <a:rPr sz="1000" i="1" spc="-10" dirty="0">
                <a:latin typeface="Arial"/>
                <a:cs typeface="Arial"/>
              </a:rPr>
              <a:t>0.677=0.18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Arial"/>
              <a:cs typeface="Arial"/>
            </a:endParaRPr>
          </a:p>
          <a:p>
            <a:pPr marL="397510" lvl="1" indent="-143510">
              <a:lnSpc>
                <a:spcPct val="100000"/>
              </a:lnSpc>
              <a:buClr>
                <a:srgbClr val="9A9ACC"/>
              </a:buClr>
              <a:buSzPct val="80000"/>
              <a:buChar char="□"/>
              <a:tabLst>
                <a:tab pos="39751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two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beeps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1-</a:t>
            </a:r>
            <a:r>
              <a:rPr sz="1000" dirty="0">
                <a:latin typeface="Arial"/>
                <a:cs typeface="Arial"/>
              </a:rPr>
              <a:t>hour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period:</a:t>
            </a:r>
            <a:endParaRPr sz="10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120"/>
              </a:spcBef>
              <a:tabLst>
                <a:tab pos="1854200" algn="l"/>
              </a:tabLst>
            </a:pPr>
            <a:r>
              <a:rPr sz="1000" i="1" dirty="0">
                <a:latin typeface="Arial"/>
                <a:cs typeface="Arial"/>
              </a:rPr>
              <a:t>p(2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or </a:t>
            </a:r>
            <a:r>
              <a:rPr sz="1000" i="1" spc="-10" dirty="0">
                <a:latin typeface="Arial"/>
                <a:cs typeface="Arial"/>
              </a:rPr>
              <a:t>more)</a:t>
            </a:r>
            <a:r>
              <a:rPr sz="1000" i="1" dirty="0">
                <a:latin typeface="Arial"/>
                <a:cs typeface="Arial"/>
              </a:rPr>
              <a:t>	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–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p(0)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–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p(1)</a:t>
            </a:r>
            <a:endParaRPr sz="1000">
              <a:latin typeface="Arial"/>
              <a:cs typeface="Arial"/>
            </a:endParaRPr>
          </a:p>
          <a:p>
            <a:pPr marL="1853564">
              <a:lnSpc>
                <a:spcPct val="100000"/>
              </a:lnSpc>
              <a:spcBef>
                <a:spcPts val="114"/>
              </a:spcBef>
            </a:pP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 – </a:t>
            </a:r>
            <a:r>
              <a:rPr sz="1000" i="1" spc="-20" dirty="0">
                <a:latin typeface="Arial"/>
                <a:cs typeface="Arial"/>
              </a:rPr>
              <a:t>F(1)</a:t>
            </a:r>
            <a:endParaRPr sz="1000">
              <a:latin typeface="Arial"/>
              <a:cs typeface="Arial"/>
            </a:endParaRPr>
          </a:p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0" dirty="0">
                <a:latin typeface="Arial"/>
                <a:cs typeface="Arial"/>
              </a:rPr>
              <a:t> 0.594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64691" y="4595621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Continuous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Distributions</a:t>
            </a:r>
            <a:endParaRPr sz="1600">
              <a:latin typeface="Arial"/>
              <a:cs typeface="Arial"/>
            </a:endParaRPr>
          </a:p>
          <a:p>
            <a:pPr marL="437515" marR="359410" indent="-169545">
              <a:lnSpc>
                <a:spcPct val="100000"/>
              </a:lnSpc>
              <a:spcBef>
                <a:spcPts val="163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400" dirty="0">
                <a:latin typeface="Arial"/>
                <a:cs typeface="Arial"/>
              </a:rPr>
              <a:t>Continuous random variables can be used </a:t>
            </a:r>
            <a:r>
              <a:rPr sz="1400" spc="-25" dirty="0">
                <a:latin typeface="Arial"/>
                <a:cs typeface="Arial"/>
              </a:rPr>
              <a:t>to 	</a:t>
            </a:r>
            <a:r>
              <a:rPr sz="1400" dirty="0">
                <a:latin typeface="Arial"/>
                <a:cs typeface="Arial"/>
              </a:rPr>
              <a:t>describe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random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phenomena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which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dirty="0">
                <a:latin typeface="Arial"/>
                <a:cs typeface="Arial"/>
              </a:rPr>
              <a:t>variable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take on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any value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 some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interval.</a:t>
            </a:r>
            <a:endParaRPr sz="1400">
              <a:latin typeface="Arial"/>
              <a:cs typeface="Arial"/>
            </a:endParaRPr>
          </a:p>
          <a:p>
            <a:pPr marL="437515" indent="-169545">
              <a:lnSpc>
                <a:spcPct val="100000"/>
              </a:lnSpc>
              <a:spcBef>
                <a:spcPts val="340"/>
              </a:spcBef>
              <a:buClr>
                <a:srgbClr val="00007C"/>
              </a:buClr>
              <a:buSzPct val="75000"/>
              <a:buChar char="■"/>
              <a:tabLst>
                <a:tab pos="437515" algn="l"/>
              </a:tabLst>
            </a:pPr>
            <a:r>
              <a:rPr sz="1400" dirty="0">
                <a:latin typeface="Arial"/>
                <a:cs typeface="Arial"/>
              </a:rPr>
              <a:t>In this section, the distributions studied </a:t>
            </a:r>
            <a:r>
              <a:rPr sz="1400" spc="-20" dirty="0">
                <a:latin typeface="Arial"/>
                <a:cs typeface="Arial"/>
              </a:rPr>
              <a:t>are:</a:t>
            </a:r>
            <a:endParaRPr sz="14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spc="-10" dirty="0">
                <a:latin typeface="Arial"/>
                <a:cs typeface="Arial"/>
              </a:rPr>
              <a:t>Uniform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spc="-10" dirty="0">
                <a:latin typeface="Arial"/>
                <a:cs typeface="Arial"/>
              </a:rPr>
              <a:t>Exponential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spc="-10" dirty="0">
                <a:latin typeface="Arial"/>
                <a:cs typeface="Arial"/>
              </a:rPr>
              <a:t>Normal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8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spc="-10" dirty="0">
                <a:latin typeface="Arial"/>
                <a:cs typeface="Arial"/>
              </a:rPr>
              <a:t>Weibull</a:t>
            </a:r>
            <a:endParaRPr sz="1200">
              <a:latin typeface="Arial"/>
              <a:cs typeface="Arial"/>
            </a:endParaRPr>
          </a:p>
          <a:p>
            <a:pPr marL="638810" lvl="1" indent="-142240">
              <a:lnSpc>
                <a:spcPct val="100000"/>
              </a:lnSpc>
              <a:spcBef>
                <a:spcPts val="290"/>
              </a:spcBef>
              <a:buClr>
                <a:srgbClr val="9A9ACC"/>
              </a:buClr>
              <a:buSzPct val="79166"/>
              <a:buChar char="□"/>
              <a:tabLst>
                <a:tab pos="638810" algn="l"/>
              </a:tabLst>
            </a:pPr>
            <a:r>
              <a:rPr sz="1200" spc="-10" dirty="0">
                <a:latin typeface="Arial"/>
                <a:cs typeface="Arial"/>
              </a:rPr>
              <a:t>Lognormal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200">
              <a:latin typeface="Arial"/>
              <a:cs typeface="Arial"/>
            </a:endParaRPr>
          </a:p>
          <a:p>
            <a:pPr marR="260350" algn="r">
              <a:lnSpc>
                <a:spcPct val="100000"/>
              </a:lnSpc>
            </a:pPr>
            <a:r>
              <a:rPr sz="600" spc="-25" dirty="0">
                <a:latin typeface="Arial"/>
                <a:cs typeface="Arial"/>
              </a:rPr>
              <a:t>٢٢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٢٣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17945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Uniform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6115" y="955035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916" y="1342132"/>
            <a:ext cx="359156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uniformly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interval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a,b</a:t>
            </a:r>
            <a:r>
              <a:rPr sz="1200" dirty="0">
                <a:latin typeface="Arial"/>
                <a:cs typeface="Arial"/>
              </a:rPr>
              <a:t>),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U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a,b</a:t>
            </a:r>
            <a:r>
              <a:rPr sz="1200" dirty="0">
                <a:latin typeface="Arial"/>
                <a:cs typeface="Arial"/>
              </a:rPr>
              <a:t>),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pdf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cdf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7516" y="2436286"/>
            <a:ext cx="4084320" cy="11652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96215" indent="-170815">
              <a:lnSpc>
                <a:spcPct val="100000"/>
              </a:lnSpc>
              <a:spcBef>
                <a:spcPts val="395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spc="-10" dirty="0">
                <a:latin typeface="Arial"/>
                <a:cs typeface="Arial"/>
              </a:rPr>
              <a:t>Properties</a:t>
            </a:r>
            <a:endParaRPr sz="1200">
              <a:latin typeface="Arial"/>
              <a:cs typeface="Arial"/>
            </a:endParaRPr>
          </a:p>
          <a:p>
            <a:pPr marL="396875" marR="75565" lvl="1" indent="-143510">
              <a:lnSpc>
                <a:spcPct val="100000"/>
              </a:lnSpc>
              <a:spcBef>
                <a:spcPts val="245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396875" algn="l"/>
              </a:tabLst>
            </a:pPr>
            <a:r>
              <a:rPr sz="1000" i="1" dirty="0">
                <a:latin typeface="Arial"/>
                <a:cs typeface="Arial"/>
              </a:rPr>
              <a:t>P(x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975" i="1" spc="112" baseline="-2136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&lt;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&lt;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975" i="1" baseline="-21367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proportional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length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interval</a:t>
            </a:r>
            <a:r>
              <a:rPr sz="1000" spc="2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F(x</a:t>
            </a:r>
            <a:r>
              <a:rPr sz="975" i="1" baseline="-21367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– </a:t>
            </a:r>
            <a:r>
              <a:rPr sz="1000" i="1" dirty="0">
                <a:latin typeface="Arial"/>
                <a:cs typeface="Arial"/>
              </a:rPr>
              <a:t>F(x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(x</a:t>
            </a:r>
            <a:r>
              <a:rPr sz="975" i="1" spc="-15" baseline="-21367" dirty="0">
                <a:latin typeface="Arial"/>
                <a:cs typeface="Arial"/>
              </a:rPr>
              <a:t>2</a:t>
            </a:r>
            <a:r>
              <a:rPr sz="1000" i="1" spc="-10" dirty="0">
                <a:latin typeface="Arial"/>
                <a:cs typeface="Arial"/>
              </a:rPr>
              <a:t>-x</a:t>
            </a:r>
            <a:r>
              <a:rPr sz="975" i="1" spc="-15" baseline="-21367" dirty="0">
                <a:latin typeface="Arial"/>
                <a:cs typeface="Arial"/>
              </a:rPr>
              <a:t>1</a:t>
            </a:r>
            <a:r>
              <a:rPr sz="1000" i="1" spc="-10" dirty="0">
                <a:latin typeface="Arial"/>
                <a:cs typeface="Arial"/>
              </a:rPr>
              <a:t>)/(b-</a:t>
            </a:r>
            <a:r>
              <a:rPr sz="1000" i="1" spc="-25" dirty="0">
                <a:latin typeface="Arial"/>
                <a:cs typeface="Arial"/>
              </a:rPr>
              <a:t>a)</a:t>
            </a:r>
            <a:r>
              <a:rPr sz="1000" spc="-25" dirty="0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 marL="397510" lvl="1" indent="-143510">
              <a:lnSpc>
                <a:spcPct val="100000"/>
              </a:lnSpc>
              <a:spcBef>
                <a:spcPts val="235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397510" algn="l"/>
                <a:tab pos="1854200" algn="l"/>
              </a:tabLst>
            </a:pPr>
            <a:r>
              <a:rPr sz="1000" i="1" dirty="0">
                <a:latin typeface="Arial"/>
                <a:cs typeface="Arial"/>
              </a:rPr>
              <a:t>E(X)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(a+b)/2</a:t>
            </a:r>
            <a:r>
              <a:rPr sz="1000" i="1" dirty="0">
                <a:latin typeface="Arial"/>
                <a:cs typeface="Arial"/>
              </a:rPr>
              <a:t>	V(X)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(b-a)</a:t>
            </a:r>
            <a:r>
              <a:rPr sz="975" i="1" spc="-15" baseline="25641" dirty="0">
                <a:latin typeface="Arial"/>
                <a:cs typeface="Arial"/>
              </a:rPr>
              <a:t>2</a:t>
            </a:r>
            <a:r>
              <a:rPr sz="1000" i="1" spc="-10" dirty="0">
                <a:latin typeface="Arial"/>
                <a:cs typeface="Arial"/>
              </a:rPr>
              <a:t>/12</a:t>
            </a:r>
            <a:endParaRPr sz="1000">
              <a:latin typeface="Arial"/>
              <a:cs typeface="Arial"/>
            </a:endParaRPr>
          </a:p>
          <a:p>
            <a:pPr marL="196215" marR="30480" indent="-171450">
              <a:lnSpc>
                <a:spcPct val="100000"/>
              </a:lnSpc>
              <a:spcBef>
                <a:spcPts val="280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U(0,1)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provides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means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generate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10" dirty="0">
                <a:latin typeface="Arial"/>
                <a:cs typeface="Arial"/>
              </a:rPr>
              <a:t> numbers,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which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variates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generated.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39111" y="1994916"/>
            <a:ext cx="261620" cy="0"/>
          </a:xfrm>
          <a:custGeom>
            <a:avLst/>
            <a:gdLst/>
            <a:ahLst/>
            <a:cxnLst/>
            <a:rect l="l" t="t" r="r" b="b"/>
            <a:pathLst>
              <a:path w="261619">
                <a:moveTo>
                  <a:pt x="0" y="0"/>
                </a:moveTo>
                <a:lnTo>
                  <a:pt x="261365" y="0"/>
                </a:lnTo>
              </a:path>
            </a:pathLst>
          </a:custGeom>
          <a:ln w="54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45894" y="1811333"/>
            <a:ext cx="128905" cy="183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000" spc="-125" dirty="0">
                <a:latin typeface="Symbol"/>
                <a:cs typeface="Symbol"/>
              </a:rPr>
              <a:t></a:t>
            </a:r>
            <a:r>
              <a:rPr sz="1500" spc="-187" baseline="-27777" dirty="0">
                <a:latin typeface="Symbol"/>
                <a:cs typeface="Symbol"/>
              </a:rPr>
              <a:t></a:t>
            </a:r>
            <a:endParaRPr sz="1500" baseline="-27777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8777" y="1816440"/>
            <a:ext cx="652780" cy="47688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R="64769" algn="r">
              <a:lnSpc>
                <a:spcPct val="100000"/>
              </a:lnSpc>
              <a:spcBef>
                <a:spcPts val="670"/>
              </a:spcBef>
            </a:pP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b</a:t>
            </a:r>
            <a:endParaRPr sz="1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1000" spc="-10" dirty="0">
                <a:latin typeface="Times New Roman"/>
                <a:cs typeface="Times New Roman"/>
              </a:rPr>
              <a:t>otherwise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6991" y="1953823"/>
            <a:ext cx="742950" cy="3397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000" i="1" dirty="0">
                <a:latin typeface="Times New Roman"/>
                <a:cs typeface="Times New Roman"/>
              </a:rPr>
              <a:t>f</a:t>
            </a:r>
            <a:r>
              <a:rPr sz="1000" i="1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500" baseline="-8333" dirty="0">
                <a:latin typeface="Symbol"/>
                <a:cs typeface="Symbol"/>
              </a:rPr>
              <a:t></a:t>
            </a:r>
            <a:r>
              <a:rPr sz="1500" i="1" baseline="-13888" dirty="0">
                <a:latin typeface="Times New Roman"/>
                <a:cs typeface="Times New Roman"/>
              </a:rPr>
              <a:t>b</a:t>
            </a:r>
            <a:r>
              <a:rPr sz="1500" i="1" spc="-60" baseline="-13888" dirty="0">
                <a:latin typeface="Times New Roman"/>
                <a:cs typeface="Times New Roman"/>
              </a:rPr>
              <a:t> </a:t>
            </a:r>
            <a:r>
              <a:rPr sz="1500" baseline="-13888" dirty="0">
                <a:latin typeface="Symbol"/>
                <a:cs typeface="Symbol"/>
              </a:rPr>
              <a:t></a:t>
            </a:r>
            <a:r>
              <a:rPr sz="1500" spc="-52" baseline="-13888" dirty="0">
                <a:latin typeface="Times New Roman"/>
                <a:cs typeface="Times New Roman"/>
              </a:rPr>
              <a:t> </a:t>
            </a:r>
            <a:r>
              <a:rPr sz="1500" i="1" spc="-75" baseline="-13888" dirty="0">
                <a:latin typeface="Times New Roman"/>
                <a:cs typeface="Times New Roman"/>
              </a:rPr>
              <a:t>a</a:t>
            </a:r>
            <a:endParaRPr sz="1500" baseline="-13888">
              <a:latin typeface="Times New Roman"/>
              <a:cs typeface="Times New Roman"/>
            </a:endParaRPr>
          </a:p>
          <a:p>
            <a:pPr marL="384175">
              <a:lnSpc>
                <a:spcPct val="100000"/>
              </a:lnSpc>
              <a:spcBef>
                <a:spcPts val="30"/>
              </a:spcBef>
            </a:pPr>
            <a:r>
              <a:rPr sz="1500" spc="-30" baseline="2777" dirty="0">
                <a:latin typeface="Symbol"/>
                <a:cs typeface="Symbol"/>
              </a:rPr>
              <a:t></a:t>
            </a:r>
            <a:r>
              <a:rPr sz="1500" spc="-30" baseline="-13888" dirty="0">
                <a:latin typeface="Symbol"/>
                <a:cs typeface="Symbol"/>
              </a:rPr>
              <a:t></a:t>
            </a:r>
            <a:r>
              <a:rPr sz="1000" spc="-20" dirty="0">
                <a:latin typeface="Times New Roman"/>
                <a:cs typeface="Times New Roman"/>
              </a:rPr>
              <a:t>0,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58767" y="2073401"/>
            <a:ext cx="257810" cy="0"/>
          </a:xfrm>
          <a:custGeom>
            <a:avLst/>
            <a:gdLst/>
            <a:ahLst/>
            <a:cxnLst/>
            <a:rect l="l" t="t" r="r" b="b"/>
            <a:pathLst>
              <a:path w="257810">
                <a:moveTo>
                  <a:pt x="0" y="0"/>
                </a:moveTo>
                <a:lnTo>
                  <a:pt x="257556" y="0"/>
                </a:lnTo>
              </a:path>
            </a:pathLst>
          </a:custGeom>
          <a:ln w="52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93235" y="2108246"/>
            <a:ext cx="755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Symbol"/>
                <a:cs typeface="Symbol"/>
              </a:rPr>
              <a:t>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67835" y="2064056"/>
            <a:ext cx="3759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500" baseline="33333" dirty="0">
                <a:latin typeface="Symbol"/>
                <a:cs typeface="Symbol"/>
              </a:rPr>
              <a:t></a:t>
            </a:r>
            <a:r>
              <a:rPr sz="1000" i="1" dirty="0">
                <a:latin typeface="Times New Roman"/>
                <a:cs typeface="Times New Roman"/>
              </a:rPr>
              <a:t>b</a:t>
            </a:r>
            <a:r>
              <a:rPr sz="1000" i="1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Symbol"/>
                <a:cs typeface="Symbol"/>
              </a:rPr>
              <a:t>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55135" y="2183692"/>
            <a:ext cx="8007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7525" algn="l"/>
              </a:tabLst>
            </a:pPr>
            <a:r>
              <a:rPr sz="1500" spc="-37" baseline="-16666" dirty="0">
                <a:latin typeface="Symbol"/>
                <a:cs typeface="Symbol"/>
              </a:rPr>
              <a:t></a:t>
            </a:r>
            <a:r>
              <a:rPr sz="1000" spc="-25" dirty="0">
                <a:latin typeface="Times New Roman"/>
                <a:cs typeface="Times New Roman"/>
              </a:rPr>
              <a:t>1,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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b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4456" y="1964998"/>
            <a:ext cx="13474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739140" algn="l"/>
              </a:tabLst>
            </a:pPr>
            <a:r>
              <a:rPr sz="1000" i="1" spc="-10" dirty="0">
                <a:latin typeface="Times New Roman"/>
                <a:cs typeface="Times New Roman"/>
              </a:rPr>
              <a:t>F</a:t>
            </a:r>
            <a:r>
              <a:rPr sz="1000" i="1" spc="-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dirty="0">
                <a:latin typeface="Times New Roman"/>
                <a:cs typeface="Times New Roman"/>
              </a:rPr>
              <a:t>) </a:t>
            </a:r>
            <a:r>
              <a:rPr sz="1000" dirty="0">
                <a:latin typeface="Symbol"/>
                <a:cs typeface="Symbol"/>
              </a:rPr>
              <a:t>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500" spc="-15" baseline="38888" dirty="0">
                <a:latin typeface="Symbol"/>
                <a:cs typeface="Symbol"/>
              </a:rPr>
              <a:t></a:t>
            </a:r>
            <a:r>
              <a:rPr sz="1500" spc="-150" baseline="38888" dirty="0">
                <a:latin typeface="Times New Roman"/>
                <a:cs typeface="Times New Roman"/>
              </a:rPr>
              <a:t> </a:t>
            </a:r>
            <a:r>
              <a:rPr sz="1500" i="1" spc="-75" baseline="36111" dirty="0">
                <a:latin typeface="Times New Roman"/>
                <a:cs typeface="Times New Roman"/>
              </a:rPr>
              <a:t>x</a:t>
            </a:r>
            <a:r>
              <a:rPr sz="1500" i="1" baseline="36111" dirty="0"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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x</a:t>
            </a:r>
            <a:r>
              <a:rPr sz="1000" i="1" spc="-15" dirty="0">
                <a:latin typeface="Times New Roman"/>
                <a:cs typeface="Times New Roman"/>
              </a:rPr>
              <a:t> </a:t>
            </a:r>
            <a:r>
              <a:rPr sz="1000" spc="-380" dirty="0">
                <a:latin typeface="MT Extra"/>
                <a:cs typeface="MT Extra"/>
              </a:rPr>
              <a:t>--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b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98561" y="1755445"/>
            <a:ext cx="2459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94180" algn="l"/>
                <a:tab pos="2164715" algn="l"/>
              </a:tabLst>
            </a:pPr>
            <a:r>
              <a:rPr sz="1500" spc="-75" baseline="-22222" dirty="0">
                <a:latin typeface="Times New Roman"/>
                <a:cs typeface="Times New Roman"/>
              </a:rPr>
              <a:t>1</a:t>
            </a:r>
            <a:r>
              <a:rPr sz="1500" baseline="-22222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Symbol"/>
                <a:cs typeface="Symbol"/>
              </a:rPr>
              <a:t></a:t>
            </a:r>
            <a:r>
              <a:rPr sz="1500" spc="-15" baseline="2777" dirty="0">
                <a:latin typeface="Times New Roman"/>
                <a:cs typeface="Times New Roman"/>
              </a:rPr>
              <a:t>0,</a:t>
            </a:r>
            <a:r>
              <a:rPr sz="1500" spc="-15" baseline="-55555" dirty="0">
                <a:latin typeface="Symbol"/>
                <a:cs typeface="Symbol"/>
              </a:rPr>
              <a:t></a:t>
            </a:r>
            <a:r>
              <a:rPr sz="1500" spc="-82" baseline="-55555" dirty="0">
                <a:latin typeface="Times New Roman"/>
                <a:cs typeface="Times New Roman"/>
              </a:rPr>
              <a:t> </a:t>
            </a:r>
            <a:r>
              <a:rPr sz="1500" i="1" spc="-75" baseline="-55555" dirty="0">
                <a:latin typeface="Times New Roman"/>
                <a:cs typeface="Times New Roman"/>
              </a:rPr>
              <a:t>a</a:t>
            </a:r>
            <a:r>
              <a:rPr sz="1500" i="1" baseline="-55555" dirty="0">
                <a:latin typeface="Times New Roman"/>
                <a:cs typeface="Times New Roman"/>
              </a:rPr>
              <a:t>	</a:t>
            </a:r>
            <a:r>
              <a:rPr sz="1500" i="1" baseline="2777" dirty="0">
                <a:latin typeface="Times New Roman"/>
                <a:cs typeface="Times New Roman"/>
              </a:rPr>
              <a:t>x</a:t>
            </a:r>
            <a:r>
              <a:rPr sz="1500" i="1" spc="-30" baseline="2777" dirty="0">
                <a:latin typeface="Times New Roman"/>
                <a:cs typeface="Times New Roman"/>
              </a:rPr>
              <a:t> </a:t>
            </a:r>
            <a:r>
              <a:rPr sz="1500" spc="-569" baseline="2777" dirty="0">
                <a:latin typeface="MT Extra"/>
                <a:cs typeface="MT Extra"/>
              </a:rPr>
              <a:t>--</a:t>
            </a:r>
            <a:r>
              <a:rPr sz="1500" spc="-37" baseline="2777" dirty="0">
                <a:latin typeface="Times New Roman"/>
                <a:cs typeface="Times New Roman"/>
              </a:rPr>
              <a:t> </a:t>
            </a:r>
            <a:r>
              <a:rPr sz="1500" i="1" spc="-75" baseline="2777" dirty="0">
                <a:latin typeface="Times New Roman"/>
                <a:cs typeface="Times New Roman"/>
              </a:rPr>
              <a:t>a</a:t>
            </a:r>
            <a:endParaRPr sz="1500" baseline="2777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٢٤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58596" y="5122926"/>
            <a:ext cx="4497070" cy="2466340"/>
            <a:chOff x="958596" y="5122926"/>
            <a:chExt cx="4497070" cy="246634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3196" y="6290306"/>
              <a:ext cx="1969137" cy="25984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3196" y="6550148"/>
              <a:ext cx="1969137" cy="25984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3196" y="6809990"/>
              <a:ext cx="1969137" cy="25984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73196" y="7069832"/>
              <a:ext cx="1969137" cy="25984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73196" y="7329674"/>
              <a:ext cx="1969137" cy="2590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232916" y="4867906"/>
            <a:ext cx="21443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Exponential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76115" y="4931914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2916" y="5319009"/>
            <a:ext cx="3710940" cy="3930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71450" marR="5080" indent="-171450">
              <a:lnSpc>
                <a:spcPct val="100800"/>
              </a:lnSpc>
              <a:spcBef>
                <a:spcPts val="85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exponentially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with </a:t>
            </a:r>
            <a:r>
              <a:rPr sz="1200" dirty="0">
                <a:latin typeface="Arial"/>
                <a:cs typeface="Arial"/>
              </a:rPr>
              <a:t>parameter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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Arial"/>
                <a:cs typeface="Arial"/>
              </a:rPr>
              <a:t>&gt;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pdf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cdf </a:t>
            </a:r>
            <a:r>
              <a:rPr sz="1200" spc="-20" dirty="0"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60151" y="5821608"/>
            <a:ext cx="45974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950" i="1" dirty="0">
                <a:latin typeface="Times New Roman"/>
                <a:cs typeface="Times New Roman"/>
              </a:rPr>
              <a:t>f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1425" spc="-75" baseline="-8771" dirty="0">
                <a:latin typeface="Symbol"/>
                <a:cs typeface="Symbol"/>
              </a:rPr>
              <a:t></a:t>
            </a:r>
            <a:endParaRPr sz="1425" baseline="-8771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95423" y="5696344"/>
            <a:ext cx="412115" cy="39878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5"/>
              </a:spcBef>
            </a:pPr>
            <a:r>
              <a:rPr sz="1425" baseline="2923" dirty="0">
                <a:latin typeface="Symbol"/>
                <a:cs typeface="Symbol"/>
              </a:rPr>
              <a:t></a:t>
            </a:r>
            <a:r>
              <a:rPr sz="1000" i="1" dirty="0">
                <a:latin typeface="Symbol"/>
                <a:cs typeface="Symbol"/>
              </a:rPr>
              <a:t></a:t>
            </a:r>
            <a:r>
              <a:rPr sz="950" i="1" dirty="0">
                <a:latin typeface="Times New Roman"/>
                <a:cs typeface="Times New Roman"/>
              </a:rPr>
              <a:t>e</a:t>
            </a:r>
            <a:r>
              <a:rPr sz="825" baseline="45454" dirty="0">
                <a:latin typeface="Symbol"/>
                <a:cs typeface="Symbol"/>
              </a:rPr>
              <a:t></a:t>
            </a:r>
            <a:r>
              <a:rPr sz="900" i="1" baseline="41666" dirty="0">
                <a:latin typeface="Symbol"/>
                <a:cs typeface="Symbol"/>
              </a:rPr>
              <a:t></a:t>
            </a:r>
            <a:r>
              <a:rPr sz="825" i="1" baseline="45454" dirty="0">
                <a:latin typeface="Times New Roman"/>
                <a:cs typeface="Times New Roman"/>
              </a:rPr>
              <a:t>x</a:t>
            </a:r>
            <a:r>
              <a:rPr sz="825" i="1" spc="15" baseline="45454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Times New Roman"/>
                <a:cs typeface="Times New Roman"/>
              </a:rPr>
              <a:t>,</a:t>
            </a:r>
            <a:endParaRPr sz="9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290"/>
              </a:spcBef>
            </a:pPr>
            <a:r>
              <a:rPr sz="1425" spc="-37" baseline="-14619" dirty="0">
                <a:latin typeface="Symbol"/>
                <a:cs typeface="Symbol"/>
              </a:rPr>
              <a:t></a:t>
            </a:r>
            <a:r>
              <a:rPr sz="950" spc="-25" dirty="0">
                <a:latin typeface="Times New Roman"/>
                <a:cs typeface="Times New Roman"/>
              </a:rPr>
              <a:t>0,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25926" y="5887682"/>
            <a:ext cx="18923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350" spc="-120" baseline="6172" dirty="0">
                <a:latin typeface="Symbol"/>
                <a:cs typeface="Symbol"/>
              </a:rPr>
              <a:t></a:t>
            </a:r>
            <a:r>
              <a:rPr sz="1350" spc="-120" baseline="-12345" dirty="0">
                <a:latin typeface="Symbol"/>
                <a:cs typeface="Symbol"/>
              </a:rPr>
              <a:t></a:t>
            </a:r>
            <a:r>
              <a:rPr sz="1350" spc="-80" dirty="0">
                <a:latin typeface="Symbol"/>
                <a:cs typeface="Symbol"/>
              </a:rPr>
              <a:t></a:t>
            </a:r>
            <a:r>
              <a:rPr sz="750" spc="-120" baseline="-16666" dirty="0">
                <a:latin typeface="Times New Roman"/>
                <a:cs typeface="Times New Roman"/>
              </a:rPr>
              <a:t>0</a:t>
            </a:r>
            <a:endParaRPr sz="750" baseline="-16666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92157" y="5897655"/>
            <a:ext cx="163004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350" i="1" spc="-15" baseline="33950" dirty="0">
                <a:latin typeface="Times New Roman"/>
                <a:cs typeface="Times New Roman"/>
              </a:rPr>
              <a:t>F</a:t>
            </a:r>
            <a:r>
              <a:rPr sz="1350" i="1" spc="-187" baseline="33950" dirty="0">
                <a:latin typeface="Times New Roman"/>
                <a:cs typeface="Times New Roman"/>
              </a:rPr>
              <a:t> </a:t>
            </a:r>
            <a:r>
              <a:rPr sz="1350" baseline="33950" dirty="0">
                <a:latin typeface="Times New Roman"/>
                <a:cs typeface="Times New Roman"/>
              </a:rPr>
              <a:t>(</a:t>
            </a:r>
            <a:r>
              <a:rPr sz="1350" i="1" baseline="33950" dirty="0">
                <a:latin typeface="Times New Roman"/>
                <a:cs typeface="Times New Roman"/>
              </a:rPr>
              <a:t>x</a:t>
            </a:r>
            <a:r>
              <a:rPr sz="1350" baseline="33950" dirty="0">
                <a:latin typeface="Times New Roman"/>
                <a:cs typeface="Times New Roman"/>
              </a:rPr>
              <a:t>)</a:t>
            </a:r>
            <a:r>
              <a:rPr sz="1350" spc="-7" baseline="33950" dirty="0">
                <a:latin typeface="Times New Roman"/>
                <a:cs typeface="Times New Roman"/>
              </a:rPr>
              <a:t> </a:t>
            </a:r>
            <a:r>
              <a:rPr sz="1350" baseline="33950" dirty="0">
                <a:latin typeface="Symbol"/>
                <a:cs typeface="Symbol"/>
              </a:rPr>
              <a:t></a:t>
            </a:r>
            <a:r>
              <a:rPr sz="1350" spc="-22" baseline="33950" dirty="0">
                <a:latin typeface="Times New Roman"/>
                <a:cs typeface="Times New Roman"/>
              </a:rPr>
              <a:t> </a:t>
            </a:r>
            <a:r>
              <a:rPr sz="1350" baseline="24691" dirty="0">
                <a:latin typeface="Symbol"/>
                <a:cs typeface="Symbol"/>
              </a:rPr>
              <a:t></a:t>
            </a:r>
            <a:r>
              <a:rPr sz="1350" spc="382" baseline="24691" dirty="0">
                <a:latin typeface="Times New Roman"/>
                <a:cs typeface="Times New Roman"/>
              </a:rPr>
              <a:t> </a:t>
            </a:r>
            <a:r>
              <a:rPr sz="750" i="1" baseline="77777" dirty="0">
                <a:latin typeface="Times New Roman"/>
                <a:cs typeface="Times New Roman"/>
              </a:rPr>
              <a:t>x</a:t>
            </a:r>
            <a:r>
              <a:rPr sz="750" i="1" spc="7" baseline="77777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Symbol"/>
                <a:cs typeface="Symbol"/>
              </a:rPr>
              <a:t></a:t>
            </a:r>
            <a:r>
              <a:rPr sz="900" i="1" dirty="0">
                <a:latin typeface="Times New Roman"/>
                <a:cs typeface="Times New Roman"/>
              </a:rPr>
              <a:t>e</a:t>
            </a:r>
            <a:r>
              <a:rPr sz="750" baseline="44444" dirty="0">
                <a:latin typeface="Symbol"/>
                <a:cs typeface="Symbol"/>
              </a:rPr>
              <a:t></a:t>
            </a:r>
            <a:r>
              <a:rPr sz="825" i="1" baseline="40404" dirty="0">
                <a:latin typeface="Symbol"/>
                <a:cs typeface="Symbol"/>
              </a:rPr>
              <a:t></a:t>
            </a:r>
            <a:r>
              <a:rPr sz="750" i="1" baseline="44444" dirty="0">
                <a:latin typeface="Times New Roman"/>
                <a:cs typeface="Times New Roman"/>
              </a:rPr>
              <a:t>t</a:t>
            </a:r>
            <a:r>
              <a:rPr sz="750" i="1" spc="-67" baseline="44444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dt</a:t>
            </a:r>
            <a:r>
              <a:rPr sz="900" i="1" spc="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Symbol"/>
                <a:cs typeface="Symbol"/>
              </a:rPr>
              <a:t></a:t>
            </a:r>
            <a:r>
              <a:rPr sz="900" spc="-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1</a:t>
            </a:r>
            <a:r>
              <a:rPr sz="900" dirty="0">
                <a:latin typeface="Symbol"/>
                <a:cs typeface="Symbol"/>
              </a:rPr>
              <a:t></a:t>
            </a:r>
            <a:r>
              <a:rPr sz="900" spc="-8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e</a:t>
            </a:r>
            <a:r>
              <a:rPr sz="750" baseline="44444" dirty="0">
                <a:latin typeface="Symbol"/>
                <a:cs typeface="Symbol"/>
              </a:rPr>
              <a:t></a:t>
            </a:r>
            <a:r>
              <a:rPr sz="825" i="1" baseline="40404" dirty="0">
                <a:latin typeface="Symbol"/>
                <a:cs typeface="Symbol"/>
              </a:rPr>
              <a:t></a:t>
            </a:r>
            <a:r>
              <a:rPr sz="750" i="1" baseline="44444" dirty="0">
                <a:latin typeface="Times New Roman"/>
                <a:cs typeface="Times New Roman"/>
              </a:rPr>
              <a:t>x</a:t>
            </a:r>
            <a:r>
              <a:rPr sz="750" i="1" spc="-30" baseline="4444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,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x</a:t>
            </a:r>
            <a:r>
              <a:rPr sz="900" i="1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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13226" y="5738763"/>
            <a:ext cx="1294765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8065" algn="l"/>
              </a:tabLst>
            </a:pPr>
            <a:r>
              <a:rPr sz="900" spc="-20" dirty="0">
                <a:latin typeface="Symbol"/>
                <a:cs typeface="Symbol"/>
              </a:rPr>
              <a:t></a:t>
            </a:r>
            <a:r>
              <a:rPr sz="1350" spc="-30" baseline="-15432" dirty="0">
                <a:latin typeface="Symbol"/>
                <a:cs typeface="Symbol"/>
              </a:rPr>
              <a:t></a:t>
            </a:r>
            <a:r>
              <a:rPr sz="1350" spc="-30" baseline="3086" dirty="0">
                <a:latin typeface="Times New Roman"/>
                <a:cs typeface="Times New Roman"/>
              </a:rPr>
              <a:t>0,</a:t>
            </a:r>
            <a:r>
              <a:rPr sz="1350" baseline="3086" dirty="0">
                <a:latin typeface="Times New Roman"/>
                <a:cs typeface="Times New Roman"/>
              </a:rPr>
              <a:t>	</a:t>
            </a:r>
            <a:r>
              <a:rPr sz="1350" i="1" baseline="3086" dirty="0">
                <a:latin typeface="Times New Roman"/>
                <a:cs typeface="Times New Roman"/>
              </a:rPr>
              <a:t>x</a:t>
            </a:r>
            <a:r>
              <a:rPr sz="1350" i="1" spc="-15" baseline="3086" dirty="0">
                <a:latin typeface="Times New Roman"/>
                <a:cs typeface="Times New Roman"/>
              </a:rPr>
              <a:t> </a:t>
            </a:r>
            <a:r>
              <a:rPr sz="1350" spc="-509" baseline="3086" dirty="0">
                <a:latin typeface="MT Extra"/>
                <a:cs typeface="MT Extra"/>
              </a:rPr>
              <a:t>--</a:t>
            </a:r>
            <a:r>
              <a:rPr sz="1350" spc="-60" baseline="3086" dirty="0">
                <a:latin typeface="Times New Roman"/>
                <a:cs typeface="Times New Roman"/>
              </a:rPr>
              <a:t> </a:t>
            </a:r>
            <a:r>
              <a:rPr sz="1350" spc="-75" baseline="3086" dirty="0">
                <a:latin typeface="Times New Roman"/>
                <a:cs typeface="Times New Roman"/>
              </a:rPr>
              <a:t>0</a:t>
            </a:r>
            <a:endParaRPr sz="1350" baseline="3086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09951" y="5703879"/>
            <a:ext cx="776605" cy="674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254000" indent="23495">
              <a:lnSpc>
                <a:spcPct val="126299"/>
              </a:lnSpc>
              <a:spcBef>
                <a:spcPts val="95"/>
              </a:spcBef>
            </a:pP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i="1" spc="-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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Times New Roman"/>
                <a:cs typeface="Times New Roman"/>
              </a:rPr>
              <a:t>0</a:t>
            </a:r>
            <a:r>
              <a:rPr sz="950" spc="-10" dirty="0">
                <a:latin typeface="Times New Roman"/>
                <a:cs typeface="Times New Roman"/>
              </a:rPr>
              <a:t> elsewhere</a:t>
            </a:r>
            <a:endParaRPr sz="950">
              <a:latin typeface="Times New Roman"/>
              <a:cs typeface="Times New Roman"/>
            </a:endParaRPr>
          </a:p>
          <a:p>
            <a:pPr marL="118110">
              <a:lnSpc>
                <a:spcPct val="100000"/>
              </a:lnSpc>
              <a:spcBef>
                <a:spcPts val="969"/>
              </a:spcBef>
            </a:pPr>
            <a:r>
              <a:rPr sz="1000" i="1" dirty="0">
                <a:latin typeface="Arial"/>
                <a:cs typeface="Arial"/>
              </a:rPr>
              <a:t>V(X)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1/</a:t>
            </a:r>
            <a:r>
              <a:rPr sz="1050" i="1" spc="-20" dirty="0">
                <a:latin typeface="Symbol"/>
                <a:cs typeface="Symbol"/>
              </a:rPr>
              <a:t></a:t>
            </a:r>
            <a:r>
              <a:rPr sz="975" i="1" spc="-30" baseline="25641" dirty="0">
                <a:latin typeface="Arial"/>
                <a:cs typeface="Arial"/>
              </a:rPr>
              <a:t>2</a:t>
            </a:r>
            <a:endParaRPr sz="975" baseline="25641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85316" y="6163176"/>
            <a:ext cx="2009775" cy="15214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43510" indent="-143510">
              <a:lnSpc>
                <a:spcPct val="100000"/>
              </a:lnSpc>
              <a:spcBef>
                <a:spcPts val="330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143510" algn="l"/>
              </a:tabLst>
            </a:pPr>
            <a:r>
              <a:rPr sz="1000" i="1" dirty="0">
                <a:latin typeface="Arial"/>
                <a:cs typeface="Arial"/>
              </a:rPr>
              <a:t>E(X)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1/</a:t>
            </a:r>
            <a:r>
              <a:rPr sz="1050" i="1" spc="-25" dirty="0">
                <a:latin typeface="Symbol"/>
                <a:cs typeface="Symbol"/>
              </a:rPr>
              <a:t></a:t>
            </a:r>
            <a:endParaRPr sz="1050">
              <a:latin typeface="Symbol"/>
              <a:cs typeface="Symbol"/>
            </a:endParaRPr>
          </a:p>
          <a:p>
            <a:pPr marL="142875" marR="73660" indent="-143510">
              <a:lnSpc>
                <a:spcPct val="100000"/>
              </a:lnSpc>
              <a:spcBef>
                <a:spcPts val="210"/>
              </a:spcBef>
              <a:buClr>
                <a:srgbClr val="9A9ACC"/>
              </a:buClr>
              <a:buSzPct val="80000"/>
              <a:buChar char="□"/>
              <a:tabLst>
                <a:tab pos="142875" algn="l"/>
              </a:tabLst>
            </a:pPr>
            <a:r>
              <a:rPr sz="1000" dirty="0">
                <a:latin typeface="Arial"/>
                <a:cs typeface="Arial"/>
              </a:rPr>
              <a:t>Used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interarrival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times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completely </a:t>
            </a:r>
            <a:r>
              <a:rPr sz="1000" dirty="0">
                <a:latin typeface="Arial"/>
                <a:cs typeface="Arial"/>
              </a:rPr>
              <a:t>random,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model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service </a:t>
            </a:r>
            <a:r>
              <a:rPr sz="1000" dirty="0">
                <a:latin typeface="Arial"/>
                <a:cs typeface="Arial"/>
              </a:rPr>
              <a:t>times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</a:t>
            </a:r>
            <a:endParaRPr sz="1000">
              <a:latin typeface="Arial"/>
              <a:cs typeface="Arial"/>
            </a:endParaRPr>
          </a:p>
          <a:p>
            <a:pPr marL="142875" marR="5080" indent="-143510">
              <a:lnSpc>
                <a:spcPct val="100000"/>
              </a:lnSpc>
              <a:spcBef>
                <a:spcPts val="235"/>
              </a:spcBef>
              <a:buClr>
                <a:srgbClr val="9A9ACC"/>
              </a:buClr>
              <a:buSzPct val="80000"/>
              <a:buChar char="□"/>
              <a:tabLst>
                <a:tab pos="142875" algn="l"/>
              </a:tabLst>
            </a:pPr>
            <a:r>
              <a:rPr sz="1000" dirty="0">
                <a:latin typeface="Arial"/>
                <a:cs typeface="Arial"/>
              </a:rPr>
              <a:t>For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several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different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exponential </a:t>
            </a:r>
            <a:r>
              <a:rPr sz="1000" dirty="0">
                <a:latin typeface="Arial"/>
                <a:cs typeface="Arial"/>
              </a:rPr>
              <a:t>pdf’s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(see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figure),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of </a:t>
            </a:r>
            <a:r>
              <a:rPr sz="1000" dirty="0">
                <a:latin typeface="Arial"/>
                <a:cs typeface="Arial"/>
              </a:rPr>
              <a:t>intercept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vertical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axis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Symbol"/>
                <a:cs typeface="Symbol"/>
              </a:rPr>
              <a:t></a:t>
            </a:r>
            <a:r>
              <a:rPr sz="1000" spc="-25" dirty="0">
                <a:latin typeface="Arial"/>
                <a:cs typeface="Arial"/>
              </a:rPr>
              <a:t>,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pdf’s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eventually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intersect.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٢٥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21443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Exponential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6115" y="955035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7516" y="1313176"/>
            <a:ext cx="4076700" cy="208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70815">
              <a:lnSpc>
                <a:spcPts val="1435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Memoryless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property</a:t>
            </a:r>
            <a:endParaRPr sz="1200">
              <a:latin typeface="Arial"/>
              <a:cs typeface="Arial"/>
            </a:endParaRPr>
          </a:p>
          <a:p>
            <a:pPr marL="142240" marR="1290955" lvl="1" indent="-142240" algn="r">
              <a:lnSpc>
                <a:spcPts val="1435"/>
              </a:lnSpc>
              <a:buClr>
                <a:srgbClr val="9A9ACC"/>
              </a:buClr>
              <a:buSzPct val="79166"/>
              <a:buChar char="□"/>
              <a:tabLst>
                <a:tab pos="142240" algn="l"/>
              </a:tabLst>
            </a:pPr>
            <a:r>
              <a:rPr sz="1200" dirty="0">
                <a:latin typeface="Arial"/>
                <a:cs typeface="Arial"/>
              </a:rPr>
              <a:t>For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greater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equal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0:</a:t>
            </a:r>
            <a:endParaRPr sz="1200">
              <a:latin typeface="Arial"/>
              <a:cs typeface="Arial"/>
            </a:endParaRPr>
          </a:p>
          <a:p>
            <a:pPr marR="1275715" algn="r">
              <a:lnSpc>
                <a:spcPct val="100000"/>
              </a:lnSpc>
            </a:pPr>
            <a:r>
              <a:rPr sz="1200" i="1" dirty="0">
                <a:latin typeface="Arial"/>
                <a:cs typeface="Arial"/>
              </a:rPr>
              <a:t>P(X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&gt;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s+t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|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&gt;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s)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=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P(X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&gt;</a:t>
            </a:r>
            <a:r>
              <a:rPr sz="1200" i="1" spc="-1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t)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200">
              <a:latin typeface="Arial"/>
              <a:cs typeface="Arial"/>
            </a:endParaRPr>
          </a:p>
          <a:p>
            <a:pPr marL="395605" marR="164465" lvl="1" indent="-142240">
              <a:lnSpc>
                <a:spcPct val="79200"/>
              </a:lnSpc>
              <a:buClr>
                <a:srgbClr val="9A9ACC"/>
              </a:buClr>
              <a:buSzPct val="79166"/>
              <a:buChar char="□"/>
              <a:tabLst>
                <a:tab pos="396875" algn="l"/>
              </a:tabLst>
            </a:pPr>
            <a:r>
              <a:rPr sz="1200" dirty="0">
                <a:latin typeface="Arial"/>
                <a:cs typeface="Arial"/>
              </a:rPr>
              <a:t>Example: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lamp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~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exp(</a:t>
            </a:r>
            <a:r>
              <a:rPr sz="1200" dirty="0">
                <a:latin typeface="Symbol"/>
                <a:cs typeface="Symbol"/>
              </a:rPr>
              <a:t>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Arial"/>
                <a:cs typeface="Arial"/>
              </a:rPr>
              <a:t>=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1/3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hour),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hence,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on 	</a:t>
            </a:r>
            <a:r>
              <a:rPr sz="1200" dirty="0">
                <a:latin typeface="Arial"/>
                <a:cs typeface="Arial"/>
              </a:rPr>
              <a:t>average,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failure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3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hours.</a:t>
            </a:r>
            <a:endParaRPr sz="1200">
              <a:latin typeface="Arial"/>
              <a:cs typeface="Arial"/>
            </a:endParaRPr>
          </a:p>
          <a:p>
            <a:pPr marL="594995" lvl="2" indent="-112395">
              <a:lnSpc>
                <a:spcPts val="1125"/>
              </a:lnSpc>
              <a:buClr>
                <a:srgbClr val="00007C"/>
              </a:buClr>
              <a:buSzPct val="65000"/>
              <a:buChar char="■"/>
              <a:tabLst>
                <a:tab pos="594995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lamp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lasts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longer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life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is:</a:t>
            </a:r>
            <a:endParaRPr sz="1000">
              <a:latin typeface="Arial"/>
              <a:cs typeface="Arial"/>
            </a:endParaRPr>
          </a:p>
          <a:p>
            <a:pPr marL="939800">
              <a:lnSpc>
                <a:spcPts val="1010"/>
              </a:lnSpc>
            </a:pPr>
            <a:r>
              <a:rPr sz="900" i="1" dirty="0">
                <a:latin typeface="Arial"/>
                <a:cs typeface="Arial"/>
              </a:rPr>
              <a:t>P(X &gt; 3)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1-(1-e</a:t>
            </a:r>
            <a:r>
              <a:rPr sz="900" spc="-15" baseline="23148" dirty="0">
                <a:latin typeface="Arial"/>
                <a:cs typeface="Arial"/>
              </a:rPr>
              <a:t>-</a:t>
            </a:r>
            <a:r>
              <a:rPr sz="900" baseline="23148" dirty="0">
                <a:latin typeface="Arial"/>
                <a:cs typeface="Arial"/>
              </a:rPr>
              <a:t>3/3</a:t>
            </a:r>
            <a:r>
              <a:rPr sz="900" i="1" dirty="0">
                <a:latin typeface="Arial"/>
                <a:cs typeface="Arial"/>
              </a:rPr>
              <a:t>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5" baseline="23148" dirty="0">
                <a:latin typeface="Arial"/>
                <a:cs typeface="Arial"/>
              </a:rPr>
              <a:t>-</a:t>
            </a:r>
            <a:r>
              <a:rPr sz="900" i="1" baseline="23148" dirty="0">
                <a:latin typeface="Arial"/>
                <a:cs typeface="Arial"/>
              </a:rPr>
              <a:t>1</a:t>
            </a:r>
            <a:r>
              <a:rPr sz="900" i="1" spc="127" baseline="23148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 </a:t>
            </a:r>
            <a:r>
              <a:rPr sz="900" i="1" spc="-10" dirty="0">
                <a:latin typeface="Arial"/>
                <a:cs typeface="Arial"/>
              </a:rPr>
              <a:t>0.368</a:t>
            </a:r>
            <a:endParaRPr sz="900">
              <a:latin typeface="Arial"/>
              <a:cs typeface="Arial"/>
            </a:endParaRPr>
          </a:p>
          <a:p>
            <a:pPr marL="594995" lvl="2" indent="-112395">
              <a:lnSpc>
                <a:spcPct val="100000"/>
              </a:lnSpc>
              <a:spcBef>
                <a:spcPts val="20"/>
              </a:spcBef>
              <a:buClr>
                <a:srgbClr val="00007C"/>
              </a:buClr>
              <a:buSzPct val="65000"/>
              <a:buChar char="■"/>
              <a:tabLst>
                <a:tab pos="594995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lamp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lasts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3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hours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is:</a:t>
            </a:r>
            <a:endParaRPr sz="10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Arial"/>
                <a:cs typeface="Arial"/>
              </a:rPr>
              <a:t>P(2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&lt;=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&lt;=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F(3)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–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F(2)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0.145</a:t>
            </a:r>
            <a:endParaRPr sz="900">
              <a:latin typeface="Arial"/>
              <a:cs typeface="Arial"/>
            </a:endParaRPr>
          </a:p>
          <a:p>
            <a:pPr marL="594995" marR="495300" lvl="2" indent="-112395">
              <a:lnSpc>
                <a:spcPts val="969"/>
              </a:lnSpc>
              <a:spcBef>
                <a:spcPts val="244"/>
              </a:spcBef>
              <a:buClr>
                <a:srgbClr val="00007C"/>
              </a:buClr>
              <a:buSzPct val="65000"/>
              <a:buChar char="■"/>
              <a:tabLst>
                <a:tab pos="59690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lasts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another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hour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given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 	</a:t>
            </a:r>
            <a:r>
              <a:rPr sz="1000" dirty="0">
                <a:latin typeface="Arial"/>
                <a:cs typeface="Arial"/>
              </a:rPr>
              <a:t>operating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2.5 </a:t>
            </a:r>
            <a:r>
              <a:rPr sz="1000" spc="-10" dirty="0">
                <a:latin typeface="Arial"/>
                <a:cs typeface="Arial"/>
              </a:rPr>
              <a:t>hours:</a:t>
            </a:r>
            <a:endParaRPr sz="10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latin typeface="Arial"/>
                <a:cs typeface="Arial"/>
              </a:rPr>
              <a:t>P(X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&gt; 3.5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| X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&gt;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2.5)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 P(X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&gt; 1)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5" baseline="23148" dirty="0">
                <a:latin typeface="Arial"/>
                <a:cs typeface="Arial"/>
              </a:rPr>
              <a:t>-</a:t>
            </a:r>
            <a:r>
              <a:rPr sz="900" i="1" baseline="23148" dirty="0">
                <a:latin typeface="Arial"/>
                <a:cs typeface="Arial"/>
              </a:rPr>
              <a:t>1/3</a:t>
            </a:r>
            <a:r>
              <a:rPr sz="900" i="1" spc="120" baseline="23148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0.717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٢٦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32916" y="4867906"/>
            <a:ext cx="173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Normal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6115" y="4931914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2916" y="5319009"/>
            <a:ext cx="39223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indent="-170815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normally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pdf: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05507" y="5753608"/>
            <a:ext cx="1097915" cy="148590"/>
            <a:chOff x="1905507" y="5753608"/>
            <a:chExt cx="1097915" cy="148590"/>
          </a:xfrm>
        </p:grpSpPr>
        <p:sp>
          <p:nvSpPr>
            <p:cNvPr id="20" name="object 20"/>
            <p:cNvSpPr/>
            <p:nvPr/>
          </p:nvSpPr>
          <p:spPr>
            <a:xfrm>
              <a:off x="2006345" y="5852922"/>
              <a:ext cx="16510" cy="9525"/>
            </a:xfrm>
            <a:custGeom>
              <a:avLst/>
              <a:gdLst/>
              <a:ahLst/>
              <a:cxnLst/>
              <a:rect l="l" t="t" r="r" b="b"/>
              <a:pathLst>
                <a:path w="16510" h="9525">
                  <a:moveTo>
                    <a:pt x="0" y="9143"/>
                  </a:moveTo>
                  <a:lnTo>
                    <a:pt x="16002" y="0"/>
                  </a:lnTo>
                </a:path>
              </a:pathLst>
            </a:custGeom>
            <a:ln w="50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2347" y="5855970"/>
              <a:ext cx="22860" cy="41275"/>
            </a:xfrm>
            <a:custGeom>
              <a:avLst/>
              <a:gdLst/>
              <a:ahLst/>
              <a:cxnLst/>
              <a:rect l="l" t="t" r="r" b="b"/>
              <a:pathLst>
                <a:path w="22860" h="41275">
                  <a:moveTo>
                    <a:pt x="0" y="0"/>
                  </a:moveTo>
                  <a:lnTo>
                    <a:pt x="22859" y="41147"/>
                  </a:lnTo>
                </a:path>
              </a:pathLst>
            </a:custGeom>
            <a:ln w="101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08047" y="5756148"/>
              <a:ext cx="1092835" cy="140970"/>
            </a:xfrm>
            <a:custGeom>
              <a:avLst/>
              <a:gdLst/>
              <a:ahLst/>
              <a:cxnLst/>
              <a:rect l="l" t="t" r="r" b="b"/>
              <a:pathLst>
                <a:path w="1092835" h="140970">
                  <a:moveTo>
                    <a:pt x="139445" y="140969"/>
                  </a:moveTo>
                  <a:lnTo>
                    <a:pt x="169163" y="17525"/>
                  </a:lnTo>
                  <a:lnTo>
                    <a:pt x="323088" y="17525"/>
                  </a:lnTo>
                </a:path>
                <a:path w="1092835" h="140970">
                  <a:moveTo>
                    <a:pt x="0" y="0"/>
                  </a:moveTo>
                  <a:lnTo>
                    <a:pt x="332994" y="0"/>
                  </a:lnTo>
                </a:path>
                <a:path w="1092835" h="140970">
                  <a:moveTo>
                    <a:pt x="673607" y="0"/>
                  </a:moveTo>
                  <a:lnTo>
                    <a:pt x="747521" y="0"/>
                  </a:lnTo>
                </a:path>
                <a:path w="1092835" h="140970">
                  <a:moveTo>
                    <a:pt x="827531" y="0"/>
                  </a:moveTo>
                  <a:lnTo>
                    <a:pt x="1092707" y="0"/>
                  </a:lnTo>
                </a:path>
              </a:pathLst>
            </a:custGeom>
            <a:ln w="50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41449" y="5796579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latin typeface="Symbol"/>
                <a:cs typeface="Symbol"/>
              </a:rPr>
              <a:t></a:t>
            </a:r>
            <a:endParaRPr sz="9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1449" y="5548934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latin typeface="Symbol"/>
                <a:cs typeface="Symbol"/>
              </a:rPr>
              <a:t></a:t>
            </a:r>
            <a:endParaRPr sz="9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46937" y="5651810"/>
            <a:ext cx="1238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368935" algn="l"/>
              </a:tabLst>
            </a:pPr>
            <a:r>
              <a:rPr sz="1425" spc="-75" baseline="-5847" dirty="0">
                <a:latin typeface="Symbol"/>
                <a:cs typeface="Symbol"/>
              </a:rPr>
              <a:t></a:t>
            </a:r>
            <a:r>
              <a:rPr sz="1425" baseline="-5847" dirty="0">
                <a:latin typeface="Times New Roman"/>
                <a:cs typeface="Times New Roman"/>
              </a:rPr>
              <a:t>	</a:t>
            </a:r>
            <a:r>
              <a:rPr sz="1425" baseline="-5847" dirty="0">
                <a:latin typeface="Symbol"/>
                <a:cs typeface="Symbol"/>
              </a:rPr>
              <a:t></a:t>
            </a:r>
            <a:r>
              <a:rPr sz="1425" spc="322" baseline="-5847" dirty="0">
                <a:latin typeface="Times New Roman"/>
                <a:cs typeface="Times New Roman"/>
              </a:rPr>
              <a:t> </a:t>
            </a:r>
            <a:r>
              <a:rPr sz="1425" baseline="-5847" dirty="0">
                <a:latin typeface="Symbol"/>
                <a:cs typeface="Symbol"/>
              </a:rPr>
              <a:t>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</a:t>
            </a:r>
            <a:r>
              <a:rPr sz="950" spc="-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</a:t>
            </a:r>
            <a:r>
              <a:rPr sz="950" dirty="0">
                <a:latin typeface="Times New Roman"/>
                <a:cs typeface="Times New Roman"/>
              </a:rPr>
              <a:t> </a:t>
            </a:r>
            <a:r>
              <a:rPr sz="950" spc="-365" dirty="0">
                <a:latin typeface="MT Extra"/>
                <a:cs typeface="MT Extra"/>
              </a:rPr>
              <a:t>--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x </a:t>
            </a:r>
            <a:r>
              <a:rPr sz="950" spc="-365" dirty="0">
                <a:latin typeface="MT Extra"/>
                <a:cs typeface="MT Extra"/>
              </a:rPr>
              <a:t>--</a:t>
            </a:r>
            <a:r>
              <a:rPr sz="950" spc="-25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Symbol"/>
                <a:cs typeface="Symbol"/>
              </a:rPr>
              <a:t></a:t>
            </a:r>
            <a:endParaRPr sz="9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60076" y="5651810"/>
            <a:ext cx="31178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latin typeface="Times New Roman"/>
                <a:cs typeface="Times New Roman"/>
              </a:rPr>
              <a:t>exp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Symbol"/>
                <a:cs typeface="Symbol"/>
              </a:rPr>
              <a:t></a:t>
            </a:r>
            <a:endParaRPr sz="9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43673" y="5574851"/>
            <a:ext cx="7429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latin typeface="Times New Roman"/>
                <a:cs typeface="Times New Roman"/>
              </a:rPr>
              <a:t>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89259" y="5740119"/>
            <a:ext cx="31623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229235" algn="l"/>
              </a:tabLst>
            </a:pPr>
            <a:r>
              <a:rPr sz="950" spc="-50" dirty="0">
                <a:latin typeface="Times New Roman"/>
                <a:cs typeface="Times New Roman"/>
              </a:rPr>
              <a:t>2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1000" i="1" spc="-50" dirty="0">
                <a:latin typeface="Symbol"/>
                <a:cs typeface="Symbol"/>
              </a:rPr>
              <a:t>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16049" y="5551800"/>
            <a:ext cx="788670" cy="205104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5400">
              <a:lnSpc>
                <a:spcPts val="135"/>
              </a:lnSpc>
              <a:spcBef>
                <a:spcPts val="309"/>
              </a:spcBef>
            </a:pPr>
            <a:r>
              <a:rPr sz="1425" baseline="-38011" dirty="0">
                <a:latin typeface="Symbol"/>
                <a:cs typeface="Symbol"/>
              </a:rPr>
              <a:t></a:t>
            </a:r>
            <a:r>
              <a:rPr sz="1425" spc="225" baseline="-38011" dirty="0">
                <a:latin typeface="Times New Roman"/>
                <a:cs typeface="Times New Roman"/>
              </a:rPr>
              <a:t>  </a:t>
            </a:r>
            <a:r>
              <a:rPr sz="1425" baseline="2923" dirty="0">
                <a:latin typeface="Times New Roman"/>
                <a:cs typeface="Times New Roman"/>
              </a:rPr>
              <a:t>1</a:t>
            </a:r>
            <a:r>
              <a:rPr sz="1425" spc="-82" baseline="2923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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1425" i="1" baseline="2923" dirty="0">
                <a:latin typeface="Times New Roman"/>
                <a:cs typeface="Times New Roman"/>
              </a:rPr>
              <a:t>x</a:t>
            </a:r>
            <a:r>
              <a:rPr sz="1425" i="1" spc="-89" baseline="2923" dirty="0">
                <a:latin typeface="Times New Roman"/>
                <a:cs typeface="Times New Roman"/>
              </a:rPr>
              <a:t> </a:t>
            </a:r>
            <a:r>
              <a:rPr sz="1425" baseline="2923" dirty="0">
                <a:latin typeface="Symbol"/>
                <a:cs typeface="Symbol"/>
              </a:rPr>
              <a:t></a:t>
            </a:r>
            <a:r>
              <a:rPr sz="1425" spc="-97" baseline="2923" dirty="0">
                <a:latin typeface="Times New Roman"/>
                <a:cs typeface="Times New Roman"/>
              </a:rPr>
              <a:t> </a:t>
            </a:r>
            <a:r>
              <a:rPr sz="1500" i="1" baseline="2777" dirty="0">
                <a:latin typeface="Symbol"/>
                <a:cs typeface="Symbol"/>
              </a:rPr>
              <a:t></a:t>
            </a:r>
            <a:r>
              <a:rPr sz="1500" spc="-22" baseline="2777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</a:t>
            </a:r>
            <a:r>
              <a:rPr sz="950" spc="204" dirty="0">
                <a:latin typeface="Times New Roman"/>
                <a:cs typeface="Times New Roman"/>
              </a:rPr>
              <a:t> </a:t>
            </a:r>
            <a:r>
              <a:rPr sz="1425" spc="-75" baseline="14619" dirty="0">
                <a:latin typeface="Symbol"/>
                <a:cs typeface="Symbol"/>
              </a:rPr>
              <a:t></a:t>
            </a:r>
            <a:endParaRPr sz="1425" baseline="14619">
              <a:latin typeface="Symbol"/>
              <a:cs typeface="Symbol"/>
            </a:endParaRPr>
          </a:p>
          <a:p>
            <a:pPr marR="92710" algn="r">
              <a:lnSpc>
                <a:spcPts val="325"/>
              </a:lnSpc>
            </a:pPr>
            <a:r>
              <a:rPr sz="550" spc="-50" dirty="0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84821" y="5748497"/>
            <a:ext cx="13589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950" spc="-25" dirty="0">
                <a:latin typeface="Times New Roman"/>
                <a:cs typeface="Times New Roman"/>
              </a:rPr>
              <a:t>2</a:t>
            </a:r>
            <a:r>
              <a:rPr sz="1000" i="1" spc="-25" dirty="0">
                <a:latin typeface="Symbol"/>
                <a:cs typeface="Symbol"/>
              </a:rPr>
              <a:t></a:t>
            </a:r>
            <a:endParaRPr sz="10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36116" y="5644863"/>
            <a:ext cx="582295" cy="5784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14"/>
              </a:spcBef>
            </a:pPr>
            <a:r>
              <a:rPr sz="950" i="1" dirty="0">
                <a:latin typeface="Times New Roman"/>
                <a:cs typeface="Times New Roman"/>
              </a:rPr>
              <a:t>f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1500" i="1" spc="-75" baseline="-44444" dirty="0">
                <a:latin typeface="Symbol"/>
                <a:cs typeface="Symbol"/>
              </a:rPr>
              <a:t></a:t>
            </a:r>
            <a:endParaRPr sz="1500" baseline="-44444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950">
              <a:latin typeface="Symbol"/>
              <a:cs typeface="Symbol"/>
            </a:endParaRPr>
          </a:p>
          <a:p>
            <a:pPr marL="168910" indent="-143510">
              <a:lnSpc>
                <a:spcPct val="100000"/>
              </a:lnSpc>
              <a:buClr>
                <a:srgbClr val="9A9ACC"/>
              </a:buClr>
              <a:buSzPct val="80000"/>
              <a:buChar char="□"/>
              <a:tabLst>
                <a:tab pos="168910" algn="l"/>
              </a:tabLst>
            </a:pPr>
            <a:r>
              <a:rPr sz="1000" spc="-10" dirty="0">
                <a:latin typeface="Arial"/>
                <a:cs typeface="Arial"/>
              </a:rPr>
              <a:t>Mean: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07516" y="5761538"/>
            <a:ext cx="3851910" cy="1746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419734" algn="ctr">
              <a:lnSpc>
                <a:spcPct val="100000"/>
              </a:lnSpc>
              <a:spcBef>
                <a:spcPts val="110"/>
              </a:spcBef>
              <a:tabLst>
                <a:tab pos="343535" algn="l"/>
              </a:tabLst>
            </a:pPr>
            <a:r>
              <a:rPr sz="950" spc="-50" dirty="0">
                <a:latin typeface="Symbol"/>
                <a:cs typeface="Symbol"/>
              </a:rPr>
              <a:t>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dirty="0">
                <a:latin typeface="Symbol"/>
                <a:cs typeface="Symbol"/>
              </a:rPr>
              <a:t></a:t>
            </a:r>
            <a:r>
              <a:rPr sz="950" spc="204" dirty="0">
                <a:latin typeface="Times New Roman"/>
                <a:cs typeface="Times New Roman"/>
              </a:rPr>
              <a:t> </a:t>
            </a:r>
            <a:r>
              <a:rPr sz="1425" spc="-37" baseline="-5847" dirty="0">
                <a:latin typeface="Symbol"/>
                <a:cs typeface="Symbol"/>
              </a:rPr>
              <a:t></a:t>
            </a:r>
            <a:r>
              <a:rPr sz="1425" spc="-37" baseline="-17543" dirty="0">
                <a:latin typeface="Symbol"/>
                <a:cs typeface="Symbol"/>
              </a:rPr>
              <a:t></a:t>
            </a:r>
            <a:endParaRPr sz="1425" baseline="-17543">
              <a:latin typeface="Symbol"/>
              <a:cs typeface="Symbol"/>
            </a:endParaRPr>
          </a:p>
          <a:p>
            <a:pPr marL="989965">
              <a:lnSpc>
                <a:spcPct val="100000"/>
              </a:lnSpc>
              <a:spcBef>
                <a:spcPts val="994"/>
              </a:spcBef>
              <a:tabLst>
                <a:tab pos="1430020" algn="l"/>
              </a:tabLst>
            </a:pPr>
            <a:r>
              <a:rPr sz="1000" dirty="0">
                <a:latin typeface="Symbol"/>
                <a:cs typeface="Symbol"/>
              </a:rPr>
              <a:t></a:t>
            </a:r>
            <a:r>
              <a:rPr sz="1000" spc="-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Symbol"/>
                <a:cs typeface="Symbol"/>
              </a:rPr>
              <a:t>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375" dirty="0">
                <a:latin typeface="MT Extra"/>
                <a:cs typeface="MT Extra"/>
              </a:rPr>
              <a:t>-</a:t>
            </a:r>
            <a:r>
              <a:rPr sz="1000" spc="-425" dirty="0">
                <a:latin typeface="MT Extra"/>
                <a:cs typeface="MT Extra"/>
              </a:rPr>
              <a:t>-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375" dirty="0">
                <a:latin typeface="MT Extra"/>
                <a:cs typeface="MT Extra"/>
              </a:rPr>
              <a:t>--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Symbol"/>
                <a:cs typeface="Symbol"/>
              </a:rPr>
              <a:t></a:t>
            </a:r>
            <a:endParaRPr sz="1000">
              <a:latin typeface="Symbol"/>
              <a:cs typeface="Symbol"/>
            </a:endParaRPr>
          </a:p>
          <a:p>
            <a:pPr marL="397510" indent="-143510">
              <a:lnSpc>
                <a:spcPct val="100000"/>
              </a:lnSpc>
              <a:spcBef>
                <a:spcPts val="180"/>
              </a:spcBef>
              <a:buClr>
                <a:srgbClr val="9A9ACC"/>
              </a:buClr>
              <a:buSzPct val="80000"/>
              <a:buChar char="□"/>
              <a:tabLst>
                <a:tab pos="397510" algn="l"/>
                <a:tab pos="1101725" algn="l"/>
              </a:tabLst>
            </a:pPr>
            <a:r>
              <a:rPr sz="1000" spc="-10" dirty="0">
                <a:latin typeface="Arial"/>
                <a:cs typeface="Arial"/>
              </a:rPr>
              <a:t>Variance: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725" i="1" spc="-60" baseline="-7246" dirty="0">
                <a:latin typeface="Symbol"/>
                <a:cs typeface="Symbol"/>
              </a:rPr>
              <a:t></a:t>
            </a:r>
            <a:r>
              <a:rPr sz="1725" spc="-97" baseline="-7246" dirty="0">
                <a:latin typeface="Times New Roman"/>
                <a:cs typeface="Times New Roman"/>
              </a:rPr>
              <a:t> </a:t>
            </a:r>
            <a:r>
              <a:rPr sz="900" baseline="32407" dirty="0">
                <a:latin typeface="Times New Roman"/>
                <a:cs typeface="Times New Roman"/>
              </a:rPr>
              <a:t>2</a:t>
            </a:r>
            <a:r>
              <a:rPr sz="900" spc="307" baseline="32407" dirty="0">
                <a:latin typeface="Times New Roman"/>
                <a:cs typeface="Times New Roman"/>
              </a:rPr>
              <a:t> </a:t>
            </a:r>
            <a:r>
              <a:rPr sz="1575" baseline="-7936" dirty="0">
                <a:latin typeface="MT Extra"/>
                <a:cs typeface="MT Extra"/>
              </a:rPr>
              <a:t>&gt;</a:t>
            </a:r>
            <a:r>
              <a:rPr sz="1575" spc="-7" baseline="-7936" dirty="0">
                <a:latin typeface="Times New Roman"/>
                <a:cs typeface="Times New Roman"/>
              </a:rPr>
              <a:t> </a:t>
            </a:r>
            <a:r>
              <a:rPr sz="1575" spc="-75" baseline="-7936" dirty="0">
                <a:latin typeface="Times New Roman"/>
                <a:cs typeface="Times New Roman"/>
              </a:rPr>
              <a:t>0</a:t>
            </a:r>
            <a:endParaRPr sz="1575" baseline="-7936">
              <a:latin typeface="Times New Roman"/>
              <a:cs typeface="Times New Roman"/>
            </a:endParaRPr>
          </a:p>
          <a:p>
            <a:pPr marL="397510" indent="-143510">
              <a:lnSpc>
                <a:spcPct val="100000"/>
              </a:lnSpc>
              <a:spcBef>
                <a:spcPts val="170"/>
              </a:spcBef>
              <a:buClr>
                <a:srgbClr val="9A9ACC"/>
              </a:buClr>
              <a:buSzPct val="80000"/>
              <a:buChar char="□"/>
              <a:tabLst>
                <a:tab pos="397510" algn="l"/>
              </a:tabLst>
            </a:pPr>
            <a:r>
              <a:rPr sz="1000" dirty="0">
                <a:latin typeface="Arial"/>
                <a:cs typeface="Arial"/>
              </a:rPr>
              <a:t>Denoted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~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N(</a:t>
            </a:r>
            <a:r>
              <a:rPr sz="1050" i="1" spc="-10" dirty="0">
                <a:latin typeface="Symbol"/>
                <a:cs typeface="Symbol"/>
              </a:rPr>
              <a:t></a:t>
            </a:r>
            <a:r>
              <a:rPr sz="1000" i="1" spc="-10" dirty="0">
                <a:latin typeface="Arial"/>
                <a:cs typeface="Arial"/>
              </a:rPr>
              <a:t>,</a:t>
            </a:r>
            <a:r>
              <a:rPr sz="1050" i="1" spc="-10" dirty="0">
                <a:latin typeface="Symbol"/>
                <a:cs typeface="Symbol"/>
              </a:rPr>
              <a:t></a:t>
            </a:r>
            <a:r>
              <a:rPr sz="975" i="1" spc="-15" baseline="25641" dirty="0">
                <a:latin typeface="Arial"/>
                <a:cs typeface="Arial"/>
              </a:rPr>
              <a:t>2</a:t>
            </a:r>
            <a:r>
              <a:rPr sz="1000" i="1" spc="-1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196215" indent="-170815">
              <a:lnSpc>
                <a:spcPts val="1425"/>
              </a:lnSpc>
              <a:spcBef>
                <a:spcPts val="254"/>
              </a:spcBef>
              <a:buClr>
                <a:srgbClr val="00007C"/>
              </a:buClr>
              <a:buSzPct val="75000"/>
              <a:buChar char="■"/>
              <a:tabLst>
                <a:tab pos="196215" algn="l"/>
              </a:tabLst>
            </a:pPr>
            <a:r>
              <a:rPr sz="1200" dirty="0">
                <a:latin typeface="Arial"/>
                <a:cs typeface="Arial"/>
              </a:rPr>
              <a:t>Special</a:t>
            </a:r>
            <a:r>
              <a:rPr sz="1200" spc="-10" dirty="0">
                <a:latin typeface="Arial"/>
                <a:cs typeface="Arial"/>
              </a:rPr>
              <a:t> properties:</a:t>
            </a:r>
            <a:endParaRPr sz="1200">
              <a:latin typeface="Arial"/>
              <a:cs typeface="Arial"/>
            </a:endParaRPr>
          </a:p>
          <a:p>
            <a:pPr marL="417830" lvl="1" indent="-163830">
              <a:lnSpc>
                <a:spcPts val="1245"/>
              </a:lnSpc>
              <a:buClr>
                <a:srgbClr val="9A9ACC"/>
              </a:buClr>
              <a:buSzPct val="76190"/>
              <a:buFont typeface="Arial"/>
              <a:buChar char="□"/>
              <a:tabLst>
                <a:tab pos="417830" algn="l"/>
              </a:tabLst>
            </a:pPr>
            <a:r>
              <a:rPr sz="1050" dirty="0">
                <a:latin typeface="Times New Roman"/>
                <a:cs typeface="Times New Roman"/>
              </a:rPr>
              <a:t>lim</a:t>
            </a:r>
            <a:r>
              <a:rPr sz="900" i="1" baseline="-23148" dirty="0">
                <a:latin typeface="Times New Roman"/>
                <a:cs typeface="Times New Roman"/>
              </a:rPr>
              <a:t>x</a:t>
            </a:r>
            <a:r>
              <a:rPr sz="900" baseline="-23148" dirty="0">
                <a:latin typeface="Symbol"/>
                <a:cs typeface="Symbol"/>
              </a:rPr>
              <a:t></a:t>
            </a:r>
            <a:r>
              <a:rPr sz="900" spc="577" baseline="-23148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f</a:t>
            </a:r>
            <a:r>
              <a:rPr sz="1050" i="1" spc="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</a:t>
            </a:r>
            <a:r>
              <a:rPr sz="1050" i="1" dirty="0">
                <a:latin typeface="Times New Roman"/>
                <a:cs typeface="Times New Roman"/>
              </a:rPr>
              <a:t>x</a:t>
            </a:r>
            <a:r>
              <a:rPr sz="1050" dirty="0">
                <a:latin typeface="Times New Roman"/>
                <a:cs typeface="Times New Roman"/>
              </a:rPr>
              <a:t>)</a:t>
            </a:r>
            <a:r>
              <a:rPr sz="1050" spc="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Symbol"/>
                <a:cs typeface="Symbol"/>
              </a:rPr>
              <a:t></a:t>
            </a:r>
            <a:r>
              <a:rPr sz="105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Times New Roman"/>
                <a:cs typeface="Times New Roman"/>
              </a:rPr>
              <a:t>0,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and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lim</a:t>
            </a:r>
            <a:r>
              <a:rPr sz="1050" spc="-165" dirty="0">
                <a:latin typeface="Times New Roman"/>
                <a:cs typeface="Times New Roman"/>
              </a:rPr>
              <a:t> </a:t>
            </a:r>
            <a:r>
              <a:rPr sz="900" i="1" baseline="-23148" dirty="0">
                <a:latin typeface="Times New Roman"/>
                <a:cs typeface="Times New Roman"/>
              </a:rPr>
              <a:t>x</a:t>
            </a:r>
            <a:r>
              <a:rPr sz="900" baseline="-23148" dirty="0">
                <a:latin typeface="Symbol"/>
                <a:cs typeface="Symbol"/>
              </a:rPr>
              <a:t></a:t>
            </a:r>
            <a:r>
              <a:rPr sz="900" spc="562" baseline="-23148" dirty="0">
                <a:latin typeface="Times New Roman"/>
                <a:cs typeface="Times New Roman"/>
              </a:rPr>
              <a:t> </a:t>
            </a:r>
            <a:r>
              <a:rPr sz="1050" i="1" dirty="0">
                <a:latin typeface="Times New Roman"/>
                <a:cs typeface="Times New Roman"/>
              </a:rPr>
              <a:t>f</a:t>
            </a:r>
            <a:r>
              <a:rPr sz="1050" i="1" spc="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(</a:t>
            </a:r>
            <a:r>
              <a:rPr sz="1050" i="1" dirty="0">
                <a:latin typeface="Times New Roman"/>
                <a:cs typeface="Times New Roman"/>
              </a:rPr>
              <a:t>x</a:t>
            </a:r>
            <a:r>
              <a:rPr sz="1050" dirty="0">
                <a:latin typeface="Times New Roman"/>
                <a:cs typeface="Times New Roman"/>
              </a:rPr>
              <a:t>)</a:t>
            </a:r>
            <a:r>
              <a:rPr sz="1050" spc="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Symbol"/>
                <a:cs typeface="Symbol"/>
              </a:rPr>
              <a:t></a:t>
            </a:r>
            <a:r>
              <a:rPr sz="1050" spc="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Times New Roman"/>
                <a:cs typeface="Times New Roman"/>
              </a:rPr>
              <a:t>0</a:t>
            </a:r>
            <a:r>
              <a:rPr sz="1500" spc="-37" baseline="-13888" dirty="0">
                <a:latin typeface="Arial"/>
                <a:cs typeface="Arial"/>
              </a:rPr>
              <a:t>.</a:t>
            </a:r>
            <a:endParaRPr sz="1500" baseline="-13888">
              <a:latin typeface="Arial"/>
              <a:cs typeface="Arial"/>
            </a:endParaRPr>
          </a:p>
          <a:p>
            <a:pPr marL="397510" lvl="1" indent="-143510">
              <a:lnSpc>
                <a:spcPct val="100000"/>
              </a:lnSpc>
              <a:spcBef>
                <a:spcPts val="420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397510" algn="l"/>
              </a:tabLst>
            </a:pPr>
            <a:r>
              <a:rPr sz="1000" i="1" spc="-20" dirty="0">
                <a:latin typeface="Arial"/>
                <a:cs typeface="Arial"/>
              </a:rPr>
              <a:t>f(</a:t>
            </a:r>
            <a:r>
              <a:rPr sz="1050" i="1" spc="-20" dirty="0">
                <a:latin typeface="Symbol"/>
                <a:cs typeface="Symbol"/>
              </a:rPr>
              <a:t></a:t>
            </a:r>
            <a:r>
              <a:rPr sz="1000" i="1" spc="-20" dirty="0">
                <a:latin typeface="Arial"/>
                <a:cs typeface="Arial"/>
              </a:rPr>
              <a:t>-</a:t>
            </a:r>
            <a:r>
              <a:rPr sz="1000" i="1" spc="-10" dirty="0">
                <a:latin typeface="Arial"/>
                <a:cs typeface="Arial"/>
              </a:rPr>
              <a:t>x)=f(</a:t>
            </a:r>
            <a:r>
              <a:rPr sz="1050" i="1" spc="-10" dirty="0">
                <a:latin typeface="Symbol"/>
                <a:cs typeface="Symbol"/>
              </a:rPr>
              <a:t></a:t>
            </a:r>
            <a:r>
              <a:rPr sz="1000" i="1" spc="-10" dirty="0">
                <a:latin typeface="Arial"/>
                <a:cs typeface="Arial"/>
              </a:rPr>
              <a:t>+x)</a:t>
            </a:r>
            <a:r>
              <a:rPr sz="1000" spc="-10" dirty="0">
                <a:latin typeface="Arial"/>
                <a:cs typeface="Arial"/>
              </a:rPr>
              <a:t>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 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symmetric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about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50" i="1" spc="-25" dirty="0">
                <a:latin typeface="Symbol"/>
                <a:cs typeface="Symbol"/>
              </a:rPr>
              <a:t>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96875" marR="30480" lvl="1" indent="-143510">
              <a:lnSpc>
                <a:spcPts val="1180"/>
              </a:lnSpc>
              <a:spcBef>
                <a:spcPts val="285"/>
              </a:spcBef>
              <a:buClr>
                <a:srgbClr val="9A9ACC"/>
              </a:buClr>
              <a:buSzPct val="80000"/>
              <a:buChar char="□"/>
              <a:tabLst>
                <a:tab pos="396875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maximum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occurs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</a:t>
            </a:r>
            <a:r>
              <a:rPr sz="1000" dirty="0">
                <a:latin typeface="Arial"/>
                <a:cs typeface="Arial"/>
              </a:rPr>
              <a:t>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mode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equal.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58214" y="4589145"/>
            <a:ext cx="4572000" cy="3429000"/>
            <a:chOff x="958214" y="4589145"/>
            <a:chExt cx="4572000" cy="342900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3195" y="5999221"/>
              <a:ext cx="1793154" cy="67513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64691" y="459562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٢٧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173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Normal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6115" y="955035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916" y="1305628"/>
            <a:ext cx="3916045" cy="9798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70815" indent="-170815">
              <a:lnSpc>
                <a:spcPct val="100000"/>
              </a:lnSpc>
              <a:spcBef>
                <a:spcPts val="38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Evaluating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244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Use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numerical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methods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(no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closed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form)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254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Independent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Symbol"/>
                <a:cs typeface="Symbol"/>
              </a:rPr>
              <a:t>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Symbol"/>
                <a:cs typeface="Symbol"/>
              </a:rPr>
              <a:t>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using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standard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normal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distribution:</a:t>
            </a:r>
            <a:endParaRPr sz="1000">
              <a:latin typeface="Arial"/>
              <a:cs typeface="Arial"/>
            </a:endParaRPr>
          </a:p>
          <a:p>
            <a:pPr marL="1370965">
              <a:lnSpc>
                <a:spcPct val="100000"/>
              </a:lnSpc>
              <a:spcBef>
                <a:spcPts val="22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~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N(0,1)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200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spc="-10" dirty="0">
                <a:latin typeface="Arial"/>
                <a:cs typeface="Arial"/>
              </a:rPr>
              <a:t>Transformation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variables: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Z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(X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</a:t>
            </a:r>
            <a:r>
              <a:rPr sz="1000" i="1" dirty="0">
                <a:latin typeface="Arial"/>
                <a:cs typeface="Arial"/>
              </a:rPr>
              <a:t>)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/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50" i="1" spc="-25" dirty="0">
                <a:latin typeface="Symbol"/>
                <a:cs typeface="Symbol"/>
              </a:rPr>
              <a:t></a:t>
            </a:r>
            <a:r>
              <a:rPr sz="1000" spc="-25" dirty="0"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53597" y="3280473"/>
            <a:ext cx="198120" cy="113664"/>
            <a:chOff x="4653597" y="3280473"/>
            <a:chExt cx="198120" cy="113664"/>
          </a:xfrm>
        </p:grpSpPr>
        <p:sp>
          <p:nvSpPr>
            <p:cNvPr id="11" name="object 11"/>
            <p:cNvSpPr/>
            <p:nvPr/>
          </p:nvSpPr>
          <p:spPr>
            <a:xfrm>
              <a:off x="4655819" y="3351275"/>
              <a:ext cx="13970" cy="7620"/>
            </a:xfrm>
            <a:custGeom>
              <a:avLst/>
              <a:gdLst/>
              <a:ahLst/>
              <a:cxnLst/>
              <a:rect l="l" t="t" r="r" b="b"/>
              <a:pathLst>
                <a:path w="13970" h="7620">
                  <a:moveTo>
                    <a:pt x="0" y="7620"/>
                  </a:moveTo>
                  <a:lnTo>
                    <a:pt x="13715" y="0"/>
                  </a:lnTo>
                </a:path>
              </a:pathLst>
            </a:custGeom>
            <a:ln w="4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69535" y="3353561"/>
              <a:ext cx="20320" cy="36195"/>
            </a:xfrm>
            <a:custGeom>
              <a:avLst/>
              <a:gdLst/>
              <a:ahLst/>
              <a:cxnLst/>
              <a:rect l="l" t="t" r="r" b="b"/>
              <a:pathLst>
                <a:path w="20320" h="36195">
                  <a:moveTo>
                    <a:pt x="0" y="0"/>
                  </a:moveTo>
                  <a:lnTo>
                    <a:pt x="19812" y="35813"/>
                  </a:lnTo>
                </a:path>
              </a:pathLst>
            </a:custGeom>
            <a:ln w="8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90871" y="3282695"/>
              <a:ext cx="158750" cy="106680"/>
            </a:xfrm>
            <a:custGeom>
              <a:avLst/>
              <a:gdLst/>
              <a:ahLst/>
              <a:cxnLst/>
              <a:rect l="l" t="t" r="r" b="b"/>
              <a:pathLst>
                <a:path w="158750" h="106679">
                  <a:moveTo>
                    <a:pt x="0" y="106679"/>
                  </a:moveTo>
                  <a:lnTo>
                    <a:pt x="25907" y="0"/>
                  </a:lnTo>
                  <a:lnTo>
                    <a:pt x="158495" y="0"/>
                  </a:lnTo>
                </a:path>
              </a:pathLst>
            </a:custGeom>
            <a:ln w="4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514850" y="3160820"/>
            <a:ext cx="5651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50" spc="-50" dirty="0">
                <a:latin typeface="Symbol"/>
                <a:cs typeface="Symbol"/>
              </a:rPr>
              <a:t>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46853" y="3277151"/>
            <a:ext cx="92710" cy="99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50" spc="-25" dirty="0">
                <a:latin typeface="Symbol"/>
                <a:cs typeface="Symbol"/>
              </a:rPr>
              <a:t></a:t>
            </a:r>
            <a:endParaRPr sz="4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65141" y="3139991"/>
            <a:ext cx="36830" cy="99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50" i="1" spc="-50" dirty="0">
                <a:latin typeface="Times New Roman"/>
                <a:cs typeface="Times New Roman"/>
              </a:rPr>
              <a:t>z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4513" y="3176129"/>
            <a:ext cx="305435" cy="1517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10185" algn="l"/>
              </a:tabLst>
            </a:pPr>
            <a:r>
              <a:rPr sz="800" i="1" spc="-50" dirty="0">
                <a:latin typeface="Times New Roman"/>
                <a:cs typeface="Times New Roman"/>
              </a:rPr>
              <a:t>e</a:t>
            </a:r>
            <a:r>
              <a:rPr sz="800" i="1" dirty="0">
                <a:latin typeface="Times New Roman"/>
                <a:cs typeface="Times New Roman"/>
              </a:rPr>
              <a:t>	</a:t>
            </a:r>
            <a:r>
              <a:rPr sz="800" i="1" spc="-25" dirty="0">
                <a:latin typeface="Times New Roman"/>
                <a:cs typeface="Times New Roman"/>
              </a:rPr>
              <a:t>dt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330" y="3172759"/>
            <a:ext cx="166370" cy="99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50" dirty="0">
                <a:latin typeface="Symbol"/>
                <a:cs typeface="Symbol"/>
              </a:rPr>
              <a:t></a:t>
            </a:r>
            <a:r>
              <a:rPr sz="450" i="1" dirty="0">
                <a:latin typeface="Times New Roman"/>
                <a:cs typeface="Times New Roman"/>
              </a:rPr>
              <a:t>t</a:t>
            </a:r>
            <a:r>
              <a:rPr sz="450" i="1" spc="260" dirty="0">
                <a:latin typeface="Times New Roman"/>
                <a:cs typeface="Times New Roman"/>
              </a:rPr>
              <a:t> </a:t>
            </a:r>
            <a:r>
              <a:rPr sz="450" dirty="0">
                <a:latin typeface="Times New Roman"/>
                <a:cs typeface="Times New Roman"/>
              </a:rPr>
              <a:t>/</a:t>
            </a:r>
            <a:r>
              <a:rPr sz="450" spc="-30" dirty="0">
                <a:latin typeface="Times New Roman"/>
                <a:cs typeface="Times New Roman"/>
              </a:rPr>
              <a:t> </a:t>
            </a:r>
            <a:r>
              <a:rPr sz="450" spc="-50" dirty="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86528" y="3162875"/>
            <a:ext cx="3492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50" spc="-50" dirty="0">
                <a:latin typeface="Times New Roman"/>
                <a:cs typeface="Times New Roman"/>
              </a:rPr>
              <a:t>2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29046" y="3176131"/>
            <a:ext cx="671830" cy="1517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latin typeface="Times New Roman"/>
                <a:cs typeface="Times New Roman"/>
              </a:rPr>
              <a:t>,</a:t>
            </a:r>
            <a:r>
              <a:rPr sz="800" spc="-75" dirty="0">
                <a:latin typeface="Times New Roman"/>
                <a:cs typeface="Times New Roman"/>
              </a:rPr>
              <a:t> </a:t>
            </a:r>
            <a:r>
              <a:rPr sz="800" spc="10" dirty="0">
                <a:latin typeface="Times New Roman"/>
                <a:cs typeface="Times New Roman"/>
              </a:rPr>
              <a:t>where</a:t>
            </a:r>
            <a:r>
              <a:rPr sz="800" spc="420" dirty="0">
                <a:latin typeface="Times New Roman"/>
                <a:cs typeface="Times New Roman"/>
              </a:rPr>
              <a:t> </a:t>
            </a:r>
            <a:r>
              <a:rPr sz="800" spc="10" dirty="0">
                <a:latin typeface="Symbol"/>
                <a:cs typeface="Symbol"/>
              </a:rPr>
              <a:t></a:t>
            </a:r>
            <a:r>
              <a:rPr sz="800" spc="10" dirty="0">
                <a:latin typeface="Times New Roman"/>
                <a:cs typeface="Times New Roman"/>
              </a:rPr>
              <a:t>(</a:t>
            </a:r>
            <a:r>
              <a:rPr sz="800" spc="-140" dirty="0">
                <a:latin typeface="Times New Roman"/>
                <a:cs typeface="Times New Roman"/>
              </a:rPr>
              <a:t> </a:t>
            </a:r>
            <a:r>
              <a:rPr sz="800" i="1" spc="10" dirty="0">
                <a:latin typeface="Times New Roman"/>
                <a:cs typeface="Times New Roman"/>
              </a:rPr>
              <a:t>z</a:t>
            </a:r>
            <a:r>
              <a:rPr sz="800" spc="10" dirty="0">
                <a:latin typeface="Times New Roman"/>
                <a:cs typeface="Times New Roman"/>
              </a:rPr>
              <a:t>)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-50" dirty="0">
                <a:latin typeface="Symbol"/>
                <a:cs typeface="Symbol"/>
              </a:rPr>
              <a:t></a:t>
            </a:r>
            <a:endParaRPr sz="8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45152" y="3087977"/>
            <a:ext cx="226060" cy="3308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8105" marR="5080" indent="-78740">
              <a:lnSpc>
                <a:spcPct val="122300"/>
              </a:lnSpc>
              <a:spcBef>
                <a:spcPts val="85"/>
              </a:spcBef>
            </a:pPr>
            <a:r>
              <a:rPr sz="800" u="sng" spc="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800" u="sng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spc="35" dirty="0">
                <a:latin typeface="Times New Roman"/>
                <a:cs typeface="Times New Roman"/>
              </a:rPr>
              <a:t> </a:t>
            </a:r>
            <a:r>
              <a:rPr sz="800" spc="-25" dirty="0">
                <a:latin typeface="Times New Roman"/>
                <a:cs typeface="Times New Roman"/>
              </a:rPr>
              <a:t>2</a:t>
            </a:r>
            <a:r>
              <a:rPr sz="850" i="1" spc="-25" dirty="0">
                <a:latin typeface="Symbol"/>
                <a:cs typeface="Symbol"/>
              </a:rPr>
              <a:t></a:t>
            </a:r>
            <a:endParaRPr sz="850">
              <a:latin typeface="Symbol"/>
              <a:cs typeface="Symbo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545714" y="2883280"/>
            <a:ext cx="267335" cy="153035"/>
            <a:chOff x="2545714" y="2883280"/>
            <a:chExt cx="267335" cy="153035"/>
          </a:xfrm>
        </p:grpSpPr>
        <p:sp>
          <p:nvSpPr>
            <p:cNvPr id="23" name="object 23"/>
            <p:cNvSpPr/>
            <p:nvPr/>
          </p:nvSpPr>
          <p:spPr>
            <a:xfrm>
              <a:off x="2548889" y="2979419"/>
              <a:ext cx="18415" cy="10160"/>
            </a:xfrm>
            <a:custGeom>
              <a:avLst/>
              <a:gdLst/>
              <a:ahLst/>
              <a:cxnLst/>
              <a:rect l="l" t="t" r="r" b="b"/>
              <a:pathLst>
                <a:path w="18414" h="10160">
                  <a:moveTo>
                    <a:pt x="0" y="9905"/>
                  </a:moveTo>
                  <a:lnTo>
                    <a:pt x="18287" y="0"/>
                  </a:lnTo>
                </a:path>
              </a:pathLst>
            </a:custGeom>
            <a:ln w="5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67177" y="2981705"/>
              <a:ext cx="26034" cy="48260"/>
            </a:xfrm>
            <a:custGeom>
              <a:avLst/>
              <a:gdLst/>
              <a:ahLst/>
              <a:cxnLst/>
              <a:rect l="l" t="t" r="r" b="b"/>
              <a:pathLst>
                <a:path w="26035" h="48260">
                  <a:moveTo>
                    <a:pt x="0" y="0"/>
                  </a:moveTo>
                  <a:lnTo>
                    <a:pt x="25908" y="48005"/>
                  </a:lnTo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96133" y="2886455"/>
              <a:ext cx="213360" cy="143510"/>
            </a:xfrm>
            <a:custGeom>
              <a:avLst/>
              <a:gdLst/>
              <a:ahLst/>
              <a:cxnLst/>
              <a:rect l="l" t="t" r="r" b="b"/>
              <a:pathLst>
                <a:path w="213360" h="143510">
                  <a:moveTo>
                    <a:pt x="0" y="143255"/>
                  </a:moveTo>
                  <a:lnTo>
                    <a:pt x="35052" y="0"/>
                  </a:lnTo>
                  <a:lnTo>
                    <a:pt x="213360" y="0"/>
                  </a:lnTo>
                </a:path>
              </a:pathLst>
            </a:custGeom>
            <a:ln w="5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007614" y="2729275"/>
            <a:ext cx="4254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50" spc="-50" dirty="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68979" y="3218311"/>
            <a:ext cx="62865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i="1" spc="-50" dirty="0">
                <a:latin typeface="Symbol"/>
                <a:cs typeface="Symbol"/>
              </a:rPr>
              <a:t></a:t>
            </a:r>
            <a:endParaRPr sz="6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39568" y="2859389"/>
            <a:ext cx="15557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Times New Roman"/>
                <a:cs typeface="Times New Roman"/>
              </a:rPr>
              <a:t>2</a:t>
            </a:r>
            <a:r>
              <a:rPr sz="1150" i="1" spc="-25" dirty="0">
                <a:latin typeface="Symbol"/>
                <a:cs typeface="Symbol"/>
              </a:rPr>
              <a:t>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83464" y="2441810"/>
            <a:ext cx="984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150" i="1" spc="-50" dirty="0">
                <a:latin typeface="Symbol"/>
                <a:cs typeface="Symbol"/>
              </a:rPr>
              <a:t>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70938" y="3259594"/>
            <a:ext cx="12065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Symbol"/>
                <a:cs typeface="Symbol"/>
              </a:rPr>
              <a:t></a:t>
            </a:r>
            <a:endParaRPr sz="6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70938" y="2883921"/>
            <a:ext cx="12065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50" spc="-25" dirty="0">
                <a:latin typeface="Symbol"/>
                <a:cs typeface="Symbol"/>
              </a:rPr>
              <a:t></a:t>
            </a:r>
            <a:endParaRPr sz="6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12821" y="2466642"/>
            <a:ext cx="6731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Symbol"/>
                <a:cs typeface="Symbol"/>
              </a:rPr>
              <a:t>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76554" y="2350819"/>
            <a:ext cx="70358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635635" algn="l"/>
              </a:tabLst>
            </a:pPr>
            <a:r>
              <a:rPr sz="1100" spc="-50" dirty="0">
                <a:latin typeface="Symbol"/>
                <a:cs typeface="Symbol"/>
              </a:rPr>
              <a:t>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Symbol"/>
                <a:cs typeface="Symbol"/>
              </a:rPr>
              <a:t>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76554" y="2466642"/>
            <a:ext cx="6731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latin typeface="Symbol"/>
                <a:cs typeface="Symbol"/>
              </a:rPr>
              <a:t>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89329" y="2676105"/>
            <a:ext cx="23495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Symbol"/>
                <a:cs typeface="Symbol"/>
              </a:rPr>
              <a:t>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2475" spc="-75" baseline="-13468" dirty="0">
                <a:latin typeface="Symbol"/>
                <a:cs typeface="Symbol"/>
              </a:rPr>
              <a:t></a:t>
            </a:r>
            <a:endParaRPr sz="2475" baseline="-13468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90748" y="3069720"/>
            <a:ext cx="32004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dirty="0">
                <a:latin typeface="Times New Roman"/>
                <a:cs typeface="Times New Roman"/>
              </a:rPr>
              <a:t>(</a:t>
            </a:r>
            <a:r>
              <a:rPr sz="650" spc="-5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x</a:t>
            </a:r>
            <a:r>
              <a:rPr sz="650" dirty="0">
                <a:latin typeface="Symbol"/>
                <a:cs typeface="Symbol"/>
              </a:rPr>
              <a:t></a:t>
            </a:r>
            <a:r>
              <a:rPr sz="650" i="1" dirty="0">
                <a:latin typeface="Symbol"/>
                <a:cs typeface="Symbol"/>
              </a:rPr>
              <a:t></a:t>
            </a:r>
            <a:r>
              <a:rPr sz="650" spc="-5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)</a:t>
            </a:r>
            <a:r>
              <a:rPr sz="650" spc="-50" dirty="0">
                <a:latin typeface="Times New Roman"/>
                <a:cs typeface="Times New Roman"/>
              </a:rPr>
              <a:t> </a:t>
            </a:r>
            <a:r>
              <a:rPr sz="650" spc="-25" dirty="0">
                <a:latin typeface="Times New Roman"/>
                <a:cs typeface="Times New Roman"/>
              </a:rPr>
              <a:t>/</a:t>
            </a:r>
            <a:r>
              <a:rPr sz="650" i="1" spc="-25" dirty="0">
                <a:latin typeface="Symbol"/>
                <a:cs typeface="Symbol"/>
              </a:rPr>
              <a:t></a:t>
            </a:r>
            <a:endParaRPr sz="6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65348" y="2639628"/>
            <a:ext cx="6940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50" dirty="0">
                <a:latin typeface="Times New Roman"/>
                <a:cs typeface="Times New Roman"/>
              </a:rPr>
              <a:t>(</a:t>
            </a:r>
            <a:r>
              <a:rPr sz="650" spc="-75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x</a:t>
            </a:r>
            <a:r>
              <a:rPr sz="650" dirty="0">
                <a:latin typeface="Symbol"/>
                <a:cs typeface="Symbol"/>
              </a:rPr>
              <a:t></a:t>
            </a:r>
            <a:r>
              <a:rPr sz="650" i="1" dirty="0">
                <a:latin typeface="Symbol"/>
                <a:cs typeface="Symbol"/>
              </a:rPr>
              <a:t></a:t>
            </a:r>
            <a:r>
              <a:rPr sz="650" spc="-7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)</a:t>
            </a:r>
            <a:r>
              <a:rPr sz="650" spc="-7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/</a:t>
            </a:r>
            <a:r>
              <a:rPr sz="650" i="1" dirty="0">
                <a:latin typeface="Symbol"/>
                <a:cs typeface="Symbol"/>
              </a:rPr>
              <a:t></a:t>
            </a:r>
            <a:r>
              <a:rPr sz="650" spc="155" dirty="0">
                <a:latin typeface="Times New Roman"/>
                <a:cs typeface="Times New Roman"/>
              </a:rPr>
              <a:t> </a:t>
            </a:r>
            <a:r>
              <a:rPr sz="1650" u="sng" spc="277" baseline="-75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650" u="sng" spc="-75" baseline="-75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50" u="sng" spc="750" baseline="-75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650" baseline="-7575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76629" y="3051774"/>
            <a:ext cx="151638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43560" algn="l"/>
              </a:tabLst>
            </a:pPr>
            <a:r>
              <a:rPr sz="1100" dirty="0">
                <a:latin typeface="Symbol"/>
                <a:cs typeface="Symbol"/>
              </a:rPr>
              <a:t>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2475" spc="-75" baseline="-13468" dirty="0">
                <a:latin typeface="Symbol"/>
                <a:cs typeface="Symbol"/>
              </a:rPr>
              <a:t></a:t>
            </a:r>
            <a:r>
              <a:rPr sz="2475" baseline="-13468" dirty="0">
                <a:latin typeface="Times New Roman"/>
                <a:cs typeface="Times New Roman"/>
              </a:rPr>
              <a:t>	</a:t>
            </a:r>
            <a:r>
              <a:rPr sz="1150" i="1" spc="-110" dirty="0">
                <a:latin typeface="Symbol"/>
                <a:cs typeface="Symbol"/>
              </a:rPr>
              <a:t></a:t>
            </a:r>
            <a:r>
              <a:rPr sz="1150" spc="-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z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dz</a:t>
            </a:r>
            <a:r>
              <a:rPr sz="1100" i="1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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975" u="sng" spc="-7" baseline="427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75" i="1" u="sng" baseline="427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975" u="sng" baseline="4273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975" i="1" u="sng" baseline="4273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</a:t>
            </a:r>
            <a:r>
              <a:rPr sz="975" spc="104" baseline="427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17611" y="2683053"/>
            <a:ext cx="48704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650" i="1" baseline="-25252" dirty="0">
                <a:latin typeface="Times New Roman"/>
                <a:cs typeface="Times New Roman"/>
              </a:rPr>
              <a:t>e</a:t>
            </a:r>
            <a:r>
              <a:rPr sz="650" dirty="0">
                <a:latin typeface="Symbol"/>
                <a:cs typeface="Symbol"/>
              </a:rPr>
              <a:t></a:t>
            </a:r>
            <a:r>
              <a:rPr sz="650" spc="-90" dirty="0">
                <a:latin typeface="Times New Roman"/>
                <a:cs typeface="Times New Roman"/>
              </a:rPr>
              <a:t> </a:t>
            </a:r>
            <a:r>
              <a:rPr sz="650" i="1" dirty="0">
                <a:latin typeface="Times New Roman"/>
                <a:cs typeface="Times New Roman"/>
              </a:rPr>
              <a:t>z</a:t>
            </a:r>
            <a:r>
              <a:rPr sz="650" i="1" spc="32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/</a:t>
            </a:r>
            <a:r>
              <a:rPr sz="650" spc="-6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2</a:t>
            </a:r>
            <a:r>
              <a:rPr sz="650" spc="-100" dirty="0">
                <a:latin typeface="Times New Roman"/>
                <a:cs typeface="Times New Roman"/>
              </a:rPr>
              <a:t> </a:t>
            </a:r>
            <a:r>
              <a:rPr sz="1650" i="1" spc="-37" baseline="-25252" dirty="0">
                <a:latin typeface="Times New Roman"/>
                <a:cs typeface="Times New Roman"/>
              </a:rPr>
              <a:t>dz</a:t>
            </a:r>
            <a:endParaRPr sz="1650" baseline="-25252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2997" y="2293184"/>
            <a:ext cx="192278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1100" i="1" dirty="0">
                <a:latin typeface="Times New Roman"/>
                <a:cs typeface="Times New Roman"/>
              </a:rPr>
              <a:t>F</a:t>
            </a:r>
            <a:r>
              <a:rPr sz="1100" i="1" spc="-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</a:t>
            </a:r>
            <a:r>
              <a:rPr sz="1450" dirty="0">
                <a:latin typeface="Symbol"/>
                <a:cs typeface="Symbol"/>
              </a:rPr>
              <a:t></a:t>
            </a:r>
            <a:r>
              <a:rPr sz="1100" i="1" dirty="0">
                <a:latin typeface="Times New Roman"/>
                <a:cs typeface="Times New Roman"/>
              </a:rPr>
              <a:t>X</a:t>
            </a:r>
            <a:r>
              <a:rPr sz="1100" i="1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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i="1" spc="-35" dirty="0">
                <a:latin typeface="Times New Roman"/>
                <a:cs typeface="Times New Roman"/>
              </a:rPr>
              <a:t>x</a:t>
            </a:r>
            <a:r>
              <a:rPr sz="1450" spc="-35" dirty="0">
                <a:latin typeface="Symbol"/>
                <a:cs typeface="Symbol"/>
              </a:rPr>
              <a:t>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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</a:t>
            </a:r>
            <a:r>
              <a:rPr sz="1650" baseline="30303" dirty="0">
                <a:latin typeface="Symbol"/>
                <a:cs typeface="Symbol"/>
              </a:rPr>
              <a:t></a:t>
            </a:r>
            <a:r>
              <a:rPr sz="1650" spc="-179" baseline="30303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Z</a:t>
            </a:r>
            <a:r>
              <a:rPr sz="1100" i="1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Symbol"/>
                <a:cs typeface="Symbol"/>
              </a:rPr>
              <a:t>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650" i="1" u="sng" baseline="3535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1650" i="1" u="sng" spc="-97" baseline="3535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u="sng" baseline="35353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1650" u="sng" spc="-82" baseline="3535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25" i="1" u="sng" baseline="33816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</a:t>
            </a:r>
            <a:r>
              <a:rPr sz="1725" baseline="33816" dirty="0">
                <a:latin typeface="Times New Roman"/>
                <a:cs typeface="Times New Roman"/>
              </a:rPr>
              <a:t> </a:t>
            </a:r>
            <a:r>
              <a:rPr sz="1650" spc="-75" baseline="30303" dirty="0">
                <a:latin typeface="Symbol"/>
                <a:cs typeface="Symbol"/>
              </a:rPr>
              <a:t></a:t>
            </a:r>
            <a:endParaRPr sz="1650" baseline="30303">
              <a:latin typeface="Symbol"/>
              <a:cs typeface="Symbo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٢٨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232916" y="4867906"/>
            <a:ext cx="173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Normal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76115" y="4931914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32916" y="5319009"/>
            <a:ext cx="3855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259079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Example: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required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load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oceangoing </a:t>
            </a:r>
            <a:r>
              <a:rPr sz="1200" dirty="0">
                <a:latin typeface="Arial"/>
                <a:cs typeface="Arial"/>
              </a:rPr>
              <a:t>vessel,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N(12,4)</a:t>
            </a:r>
            <a:endParaRPr sz="12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240"/>
              </a:spcBef>
            </a:pPr>
            <a:r>
              <a:rPr sz="800" spc="215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800" spc="180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vessel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 loaded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less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10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hours: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2823" y="6053328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898" y="0"/>
                </a:lnTo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918475" y="6043936"/>
            <a:ext cx="72390" cy="168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690116" y="5993682"/>
            <a:ext cx="3292475" cy="432434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30605">
              <a:lnSpc>
                <a:spcPct val="100000"/>
              </a:lnSpc>
              <a:spcBef>
                <a:spcPts val="640"/>
              </a:spcBef>
              <a:tabLst>
                <a:tab pos="1434465" algn="l"/>
              </a:tabLst>
            </a:pPr>
            <a:r>
              <a:rPr sz="900" spc="-50" dirty="0">
                <a:latin typeface="Symbol"/>
                <a:cs typeface="Symbol"/>
              </a:rPr>
              <a:t>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50" dirty="0">
                <a:latin typeface="Symbol"/>
                <a:cs typeface="Symbol"/>
              </a:rPr>
              <a:t></a:t>
            </a:r>
            <a:endParaRPr sz="900">
              <a:latin typeface="Symbol"/>
              <a:cs typeface="Symbol"/>
            </a:endParaRPr>
          </a:p>
          <a:p>
            <a:pPr marL="112395" indent="-112395">
              <a:lnSpc>
                <a:spcPct val="100000"/>
              </a:lnSpc>
              <a:spcBef>
                <a:spcPts val="500"/>
              </a:spcBef>
              <a:buClr>
                <a:srgbClr val="00007C"/>
              </a:buClr>
              <a:buSzPct val="66666"/>
              <a:buChar char="■"/>
              <a:tabLst>
                <a:tab pos="112395" algn="l"/>
              </a:tabLst>
            </a:pPr>
            <a:r>
              <a:rPr sz="900" dirty="0">
                <a:latin typeface="Arial"/>
                <a:cs typeface="Arial"/>
              </a:rPr>
              <a:t>Using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symmetry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property,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Symbol"/>
                <a:cs typeface="Symbol"/>
              </a:rPr>
              <a:t></a:t>
            </a:r>
            <a:r>
              <a:rPr sz="900" dirty="0">
                <a:latin typeface="Arial"/>
                <a:cs typeface="Arial"/>
              </a:rPr>
              <a:t>(1)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Symbol"/>
                <a:cs typeface="Symbol"/>
              </a:rPr>
              <a:t>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rial"/>
                <a:cs typeface="Arial"/>
              </a:rPr>
              <a:t>(-</a:t>
            </a:r>
            <a:r>
              <a:rPr sz="900" spc="-2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186429" y="5950977"/>
            <a:ext cx="1901189" cy="177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580"/>
              </a:lnSpc>
              <a:spcBef>
                <a:spcPts val="130"/>
              </a:spcBef>
            </a:pPr>
            <a:r>
              <a:rPr sz="900" i="1" dirty="0">
                <a:latin typeface="Times New Roman"/>
                <a:cs typeface="Times New Roman"/>
              </a:rPr>
              <a:t>F</a:t>
            </a:r>
            <a:r>
              <a:rPr sz="900" i="1" spc="-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(10)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</a:t>
            </a:r>
            <a:r>
              <a:rPr sz="1350" baseline="30864" dirty="0">
                <a:latin typeface="Symbol"/>
                <a:cs typeface="Symbol"/>
              </a:rPr>
              <a:t></a:t>
            </a:r>
            <a:r>
              <a:rPr sz="1350" spc="-195" baseline="30864" dirty="0">
                <a:latin typeface="Times New Roman"/>
                <a:cs typeface="Times New Roman"/>
              </a:rPr>
              <a:t> </a:t>
            </a:r>
            <a:r>
              <a:rPr sz="1350" baseline="37037" dirty="0">
                <a:latin typeface="Times New Roman"/>
                <a:cs typeface="Times New Roman"/>
              </a:rPr>
              <a:t>10</a:t>
            </a:r>
            <a:r>
              <a:rPr sz="1350" spc="-97" baseline="37037" dirty="0">
                <a:latin typeface="Times New Roman"/>
                <a:cs typeface="Times New Roman"/>
              </a:rPr>
              <a:t> </a:t>
            </a:r>
            <a:r>
              <a:rPr sz="1350" baseline="37037" dirty="0">
                <a:latin typeface="Symbol"/>
                <a:cs typeface="Symbol"/>
              </a:rPr>
              <a:t></a:t>
            </a:r>
            <a:r>
              <a:rPr sz="1350" baseline="37037" dirty="0">
                <a:latin typeface="Times New Roman"/>
                <a:cs typeface="Times New Roman"/>
              </a:rPr>
              <a:t>12</a:t>
            </a:r>
            <a:r>
              <a:rPr sz="1350" spc="-82" baseline="37037" dirty="0">
                <a:latin typeface="Times New Roman"/>
                <a:cs typeface="Times New Roman"/>
              </a:rPr>
              <a:t> </a:t>
            </a:r>
            <a:r>
              <a:rPr sz="1350" baseline="30864" dirty="0">
                <a:latin typeface="Symbol"/>
                <a:cs typeface="Symbol"/>
              </a:rPr>
              <a:t></a:t>
            </a:r>
            <a:r>
              <a:rPr sz="1350" spc="15" baseline="3086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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dirty="0">
                <a:latin typeface="Symbol"/>
                <a:cs typeface="Symbol"/>
              </a:rPr>
              <a:t></a:t>
            </a:r>
            <a:r>
              <a:rPr sz="900" dirty="0">
                <a:latin typeface="Times New Roman"/>
                <a:cs typeface="Times New Roman"/>
              </a:rPr>
              <a:t>1)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0.1587</a:t>
            </a:r>
            <a:endParaRPr sz="900">
              <a:latin typeface="Times New Roman"/>
              <a:cs typeface="Times New Roman"/>
            </a:endParaRPr>
          </a:p>
          <a:p>
            <a:pPr marL="534670">
              <a:lnSpc>
                <a:spcPts val="580"/>
              </a:lnSpc>
              <a:tabLst>
                <a:tab pos="937894" algn="l"/>
              </a:tabLst>
            </a:pPr>
            <a:r>
              <a:rPr sz="900" spc="-50" dirty="0">
                <a:latin typeface="Symbol"/>
                <a:cs typeface="Symbol"/>
              </a:rPr>
              <a:t>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50" dirty="0">
                <a:latin typeface="Symbol"/>
                <a:cs typeface="Symbol"/>
              </a:rPr>
              <a:t></a:t>
            </a:r>
            <a:endParaRPr sz="900">
              <a:latin typeface="Symbol"/>
              <a:cs typeface="Symbo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58214" y="4589145"/>
            <a:ext cx="4572000" cy="3429000"/>
            <a:chOff x="958214" y="4589145"/>
            <a:chExt cx="4572000" cy="3429000"/>
          </a:xfrm>
        </p:grpSpPr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1495" y="6646922"/>
              <a:ext cx="1747319" cy="5334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1495" y="7180322"/>
              <a:ext cx="1747319" cy="5334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35095" y="6589772"/>
              <a:ext cx="1752779" cy="54330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35095" y="7133077"/>
              <a:ext cx="1752779" cy="54254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64691" y="459562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٢٩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696210"/>
            <a:chOff x="958596" y="1146047"/>
            <a:chExt cx="4497070" cy="26962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0796" y="2540504"/>
              <a:ext cx="2011714" cy="2606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0796" y="2801108"/>
              <a:ext cx="2011714" cy="2606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20796" y="3061710"/>
              <a:ext cx="2011714" cy="2606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20796" y="3322316"/>
              <a:ext cx="2011714" cy="2606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0796" y="3582920"/>
              <a:ext cx="2011714" cy="2590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32916" y="891028"/>
            <a:ext cx="17500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Weibull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6115" y="955035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2916" y="1342894"/>
            <a:ext cx="40265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indent="-17272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random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Weibull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pdf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form: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58211" y="1767839"/>
            <a:ext cx="1138555" cy="0"/>
          </a:xfrm>
          <a:custGeom>
            <a:avLst/>
            <a:gdLst/>
            <a:ahLst/>
            <a:cxnLst/>
            <a:rect l="l" t="t" r="r" b="b"/>
            <a:pathLst>
              <a:path w="1138554">
                <a:moveTo>
                  <a:pt x="0" y="0"/>
                </a:moveTo>
                <a:lnTo>
                  <a:pt x="88392" y="0"/>
                </a:lnTo>
              </a:path>
              <a:path w="1138554">
                <a:moveTo>
                  <a:pt x="160781" y="0"/>
                </a:moveTo>
                <a:lnTo>
                  <a:pt x="383286" y="0"/>
                </a:lnTo>
              </a:path>
              <a:path w="1138554">
                <a:moveTo>
                  <a:pt x="915924" y="0"/>
                </a:moveTo>
                <a:lnTo>
                  <a:pt x="1138427" y="0"/>
                </a:lnTo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01061" y="1939230"/>
            <a:ext cx="67310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latin typeface="Symbol"/>
                <a:cs typeface="Symbol"/>
              </a:rPr>
              <a:t></a:t>
            </a:r>
            <a:endParaRPr sz="8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71947" y="1783776"/>
            <a:ext cx="625475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438150" algn="l"/>
              </a:tabLst>
            </a:pPr>
            <a:r>
              <a:rPr sz="850" spc="-60" dirty="0">
                <a:latin typeface="Symbol"/>
                <a:cs typeface="Symbol"/>
              </a:rPr>
              <a:t></a:t>
            </a:r>
            <a:r>
              <a:rPr sz="1275" spc="-89" baseline="-9803" dirty="0">
                <a:latin typeface="Symbol"/>
                <a:cs typeface="Symbol"/>
              </a:rPr>
              <a:t></a:t>
            </a:r>
            <a:r>
              <a:rPr sz="1275" spc="300" baseline="-9803" dirty="0">
                <a:latin typeface="Times New Roman"/>
                <a:cs typeface="Times New Roman"/>
              </a:rPr>
              <a:t> </a:t>
            </a:r>
            <a:r>
              <a:rPr sz="1275" spc="-75" baseline="6535" dirty="0">
                <a:latin typeface="Symbol"/>
                <a:cs typeface="Symbol"/>
              </a:rPr>
              <a:t></a:t>
            </a:r>
            <a:r>
              <a:rPr sz="1275" baseline="6535" dirty="0">
                <a:latin typeface="Times New Roman"/>
                <a:cs typeface="Times New Roman"/>
              </a:rPr>
              <a:t>	</a:t>
            </a:r>
            <a:r>
              <a:rPr sz="1275" baseline="6535" dirty="0">
                <a:latin typeface="Symbol"/>
                <a:cs typeface="Symbol"/>
              </a:rPr>
              <a:t></a:t>
            </a:r>
            <a:r>
              <a:rPr sz="1275" spc="442" baseline="6535" dirty="0">
                <a:latin typeface="Times New Roman"/>
                <a:cs typeface="Times New Roman"/>
              </a:rPr>
              <a:t> </a:t>
            </a:r>
            <a:r>
              <a:rPr sz="850" spc="-35" dirty="0">
                <a:latin typeface="Symbol"/>
                <a:cs typeface="Symbol"/>
              </a:rPr>
              <a:t></a:t>
            </a:r>
            <a:r>
              <a:rPr sz="1275" spc="-52" baseline="-9803" dirty="0">
                <a:latin typeface="Symbol"/>
                <a:cs typeface="Symbol"/>
              </a:rPr>
              <a:t></a:t>
            </a:r>
            <a:endParaRPr sz="1275" baseline="-9803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55220" y="1771573"/>
            <a:ext cx="55244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latin typeface="Symbol"/>
                <a:cs typeface="Symbol"/>
              </a:rPr>
              <a:t></a:t>
            </a:r>
            <a:endParaRPr sz="8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1711" y="1912557"/>
            <a:ext cx="440690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50" spc="-10" dirty="0">
                <a:latin typeface="Times New Roman"/>
                <a:cs typeface="Times New Roman"/>
              </a:rPr>
              <a:t>otherwise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75661" y="1912557"/>
            <a:ext cx="198120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1275" spc="-37" baseline="26143" dirty="0">
                <a:latin typeface="Symbol"/>
                <a:cs typeface="Symbol"/>
              </a:rPr>
              <a:t></a:t>
            </a:r>
            <a:r>
              <a:rPr sz="850" spc="-25" dirty="0">
                <a:latin typeface="Times New Roman"/>
                <a:cs typeface="Times New Roman"/>
              </a:rPr>
              <a:t>0,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5661" y="1751616"/>
            <a:ext cx="41910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850" dirty="0">
                <a:latin typeface="Symbol"/>
                <a:cs typeface="Symbol"/>
              </a:rPr>
              <a:t></a:t>
            </a:r>
            <a:r>
              <a:rPr sz="900" i="1" dirty="0">
                <a:latin typeface="Symbol"/>
                <a:cs typeface="Symbol"/>
              </a:rPr>
              <a:t>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1275" baseline="-6535" dirty="0">
                <a:latin typeface="Symbol"/>
                <a:cs typeface="Symbol"/>
              </a:rPr>
              <a:t></a:t>
            </a:r>
            <a:r>
              <a:rPr sz="1275" spc="660" baseline="-6535" dirty="0">
                <a:latin typeface="Times New Roman"/>
                <a:cs typeface="Times New Roman"/>
              </a:rPr>
              <a:t> </a:t>
            </a:r>
            <a:r>
              <a:rPr sz="900" i="1" spc="-60" dirty="0">
                <a:latin typeface="Symbol"/>
                <a:cs typeface="Symbol"/>
              </a:rPr>
              <a:t></a:t>
            </a:r>
            <a:endParaRPr sz="9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37212" y="1666268"/>
            <a:ext cx="158369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317500" algn="l"/>
                <a:tab pos="496570" algn="l"/>
              </a:tabLst>
            </a:pPr>
            <a:r>
              <a:rPr sz="1275" spc="-75" baseline="-3267" dirty="0">
                <a:latin typeface="Symbol"/>
                <a:cs typeface="Symbol"/>
              </a:rPr>
              <a:t></a:t>
            </a:r>
            <a:r>
              <a:rPr sz="1275" baseline="-3267" dirty="0">
                <a:latin typeface="Times New Roman"/>
                <a:cs typeface="Times New Roman"/>
              </a:rPr>
              <a:t>	</a:t>
            </a:r>
            <a:r>
              <a:rPr sz="1275" spc="-75" baseline="-3267" dirty="0">
                <a:latin typeface="Symbol"/>
                <a:cs typeface="Symbol"/>
              </a:rPr>
              <a:t></a:t>
            </a:r>
            <a:r>
              <a:rPr sz="1275" baseline="-3267" dirty="0">
                <a:latin typeface="Times New Roman"/>
                <a:cs typeface="Times New Roman"/>
              </a:rPr>
              <a:t>	</a:t>
            </a:r>
            <a:r>
              <a:rPr sz="850" dirty="0">
                <a:latin typeface="Times New Roman"/>
                <a:cs typeface="Times New Roman"/>
              </a:rPr>
              <a:t>exp</a:t>
            </a:r>
            <a:r>
              <a:rPr sz="1275" baseline="-6535" dirty="0">
                <a:latin typeface="Symbol"/>
                <a:cs typeface="Symbol"/>
              </a:rPr>
              <a:t></a:t>
            </a:r>
            <a:r>
              <a:rPr sz="850" dirty="0">
                <a:latin typeface="Symbol"/>
                <a:cs typeface="Symbol"/>
              </a:rPr>
              <a:t></a:t>
            </a:r>
            <a:r>
              <a:rPr sz="850" spc="-90" dirty="0">
                <a:latin typeface="Times New Roman"/>
                <a:cs typeface="Times New Roman"/>
              </a:rPr>
              <a:t> </a:t>
            </a:r>
            <a:r>
              <a:rPr sz="1275" baseline="-3267" dirty="0">
                <a:latin typeface="Symbol"/>
                <a:cs typeface="Symbol"/>
              </a:rPr>
              <a:t></a:t>
            </a:r>
            <a:r>
              <a:rPr sz="1275" spc="690" baseline="-3267" dirty="0">
                <a:latin typeface="Times New Roman"/>
                <a:cs typeface="Times New Roman"/>
              </a:rPr>
              <a:t> </a:t>
            </a:r>
            <a:r>
              <a:rPr sz="1350" i="1" baseline="-40123" dirty="0">
                <a:latin typeface="Symbol"/>
                <a:cs typeface="Symbol"/>
              </a:rPr>
              <a:t></a:t>
            </a:r>
            <a:r>
              <a:rPr sz="1350" spc="262" baseline="-40123" dirty="0">
                <a:latin typeface="Times New Roman"/>
                <a:cs typeface="Times New Roman"/>
              </a:rPr>
              <a:t>  </a:t>
            </a:r>
            <a:r>
              <a:rPr sz="1275" baseline="-3267" dirty="0">
                <a:latin typeface="Symbol"/>
                <a:cs typeface="Symbol"/>
              </a:rPr>
              <a:t></a:t>
            </a:r>
            <a:r>
              <a:rPr sz="1275" spc="472" baseline="-3267" dirty="0">
                <a:latin typeface="Times New Roman"/>
                <a:cs typeface="Times New Roman"/>
              </a:rPr>
              <a:t> </a:t>
            </a:r>
            <a:r>
              <a:rPr sz="1275" baseline="-6535" dirty="0">
                <a:latin typeface="Symbol"/>
                <a:cs typeface="Symbol"/>
              </a:rPr>
              <a:t></a:t>
            </a:r>
            <a:r>
              <a:rPr sz="850" dirty="0">
                <a:latin typeface="Times New Roman"/>
                <a:cs typeface="Times New Roman"/>
              </a:rPr>
              <a:t>,</a:t>
            </a:r>
            <a:r>
              <a:rPr sz="850" spc="45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x</a:t>
            </a:r>
            <a:r>
              <a:rPr sz="850" i="1" spc="-20" dirty="0">
                <a:latin typeface="Times New Roman"/>
                <a:cs typeface="Times New Roman"/>
              </a:rPr>
              <a:t> </a:t>
            </a:r>
            <a:r>
              <a:rPr sz="850" spc="-25" dirty="0">
                <a:latin typeface="Symbol"/>
                <a:cs typeface="Symbol"/>
              </a:rPr>
              <a:t></a:t>
            </a:r>
            <a:r>
              <a:rPr sz="900" i="1" spc="-25" dirty="0">
                <a:latin typeface="Symbol"/>
                <a:cs typeface="Symbol"/>
              </a:rPr>
              <a:t></a:t>
            </a:r>
            <a:endParaRPr sz="9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62961" y="1604535"/>
            <a:ext cx="144716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833755" algn="l"/>
              </a:tabLst>
            </a:pPr>
            <a:r>
              <a:rPr sz="1275" baseline="19607" dirty="0">
                <a:latin typeface="Symbol"/>
                <a:cs typeface="Symbol"/>
              </a:rPr>
              <a:t></a:t>
            </a:r>
            <a:r>
              <a:rPr sz="1275" spc="-179" baseline="19607" dirty="0">
                <a:latin typeface="Times New Roman"/>
                <a:cs typeface="Times New Roman"/>
              </a:rPr>
              <a:t> </a:t>
            </a:r>
            <a:r>
              <a:rPr sz="1350" i="1" baseline="3086" dirty="0">
                <a:latin typeface="Symbol"/>
                <a:cs typeface="Symbol"/>
              </a:rPr>
              <a:t></a:t>
            </a:r>
            <a:r>
              <a:rPr sz="1350" spc="82" baseline="3086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</a:t>
            </a:r>
            <a:r>
              <a:rPr sz="850" spc="10" dirty="0">
                <a:latin typeface="Times New Roman"/>
                <a:cs typeface="Times New Roman"/>
              </a:rPr>
              <a:t> </a:t>
            </a:r>
            <a:r>
              <a:rPr sz="1275" i="1" baseline="3267" dirty="0">
                <a:latin typeface="Times New Roman"/>
                <a:cs typeface="Times New Roman"/>
              </a:rPr>
              <a:t>x</a:t>
            </a:r>
            <a:r>
              <a:rPr sz="1275" i="1" spc="-82" baseline="3267" dirty="0">
                <a:latin typeface="Times New Roman"/>
                <a:cs typeface="Times New Roman"/>
              </a:rPr>
              <a:t> </a:t>
            </a:r>
            <a:r>
              <a:rPr sz="1275" baseline="3267" dirty="0">
                <a:latin typeface="Symbol"/>
                <a:cs typeface="Symbol"/>
              </a:rPr>
              <a:t></a:t>
            </a:r>
            <a:r>
              <a:rPr sz="1350" i="1" baseline="3086" dirty="0">
                <a:latin typeface="Symbol"/>
                <a:cs typeface="Symbol"/>
              </a:rPr>
              <a:t></a:t>
            </a:r>
            <a:r>
              <a:rPr sz="1350" spc="97" baseline="3086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</a:t>
            </a:r>
            <a:r>
              <a:rPr sz="750" i="1" baseline="66666" dirty="0">
                <a:latin typeface="Symbol"/>
                <a:cs typeface="Symbol"/>
              </a:rPr>
              <a:t></a:t>
            </a:r>
            <a:r>
              <a:rPr sz="750" spc="-52" baseline="66666" dirty="0">
                <a:latin typeface="Times New Roman"/>
                <a:cs typeface="Times New Roman"/>
              </a:rPr>
              <a:t> </a:t>
            </a:r>
            <a:r>
              <a:rPr sz="750" spc="-37" baseline="66666" dirty="0">
                <a:latin typeface="Symbol"/>
                <a:cs typeface="Symbol"/>
              </a:rPr>
              <a:t></a:t>
            </a:r>
            <a:r>
              <a:rPr sz="750" spc="-37" baseline="66666" dirty="0">
                <a:latin typeface="Times New Roman"/>
                <a:cs typeface="Times New Roman"/>
              </a:rPr>
              <a:t>1</a:t>
            </a:r>
            <a:r>
              <a:rPr sz="750" baseline="66666" dirty="0">
                <a:latin typeface="Times New Roman"/>
                <a:cs typeface="Times New Roman"/>
              </a:rPr>
              <a:t>	</a:t>
            </a:r>
            <a:r>
              <a:rPr sz="1275" baseline="16339" dirty="0">
                <a:latin typeface="Symbol"/>
                <a:cs typeface="Symbol"/>
              </a:rPr>
              <a:t></a:t>
            </a:r>
            <a:r>
              <a:rPr sz="1275" spc="644" baseline="16339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</a:t>
            </a:r>
            <a:r>
              <a:rPr sz="850" spc="10" dirty="0">
                <a:latin typeface="Times New Roman"/>
                <a:cs typeface="Times New Roman"/>
              </a:rPr>
              <a:t> </a:t>
            </a:r>
            <a:r>
              <a:rPr sz="1275" i="1" baseline="3267" dirty="0">
                <a:latin typeface="Times New Roman"/>
                <a:cs typeface="Times New Roman"/>
              </a:rPr>
              <a:t>x</a:t>
            </a:r>
            <a:r>
              <a:rPr sz="1275" i="1" spc="-82" baseline="3267" dirty="0">
                <a:latin typeface="Times New Roman"/>
                <a:cs typeface="Times New Roman"/>
              </a:rPr>
              <a:t> </a:t>
            </a:r>
            <a:r>
              <a:rPr sz="1275" baseline="3267" dirty="0">
                <a:latin typeface="Symbol"/>
                <a:cs typeface="Symbol"/>
              </a:rPr>
              <a:t></a:t>
            </a:r>
            <a:r>
              <a:rPr sz="1350" i="1" baseline="3086" dirty="0">
                <a:latin typeface="Symbol"/>
                <a:cs typeface="Symbol"/>
              </a:rPr>
              <a:t></a:t>
            </a:r>
            <a:r>
              <a:rPr sz="1350" spc="104" baseline="3086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</a:t>
            </a:r>
            <a:r>
              <a:rPr sz="750" i="1" baseline="66666" dirty="0">
                <a:latin typeface="Symbol"/>
                <a:cs typeface="Symbol"/>
              </a:rPr>
              <a:t></a:t>
            </a:r>
            <a:r>
              <a:rPr sz="750" spc="89" baseline="66666" dirty="0">
                <a:latin typeface="Times New Roman"/>
                <a:cs typeface="Times New Roman"/>
              </a:rPr>
              <a:t> </a:t>
            </a:r>
            <a:r>
              <a:rPr sz="1275" spc="-75" baseline="16339" dirty="0">
                <a:latin typeface="Symbol"/>
                <a:cs typeface="Symbol"/>
              </a:rPr>
              <a:t></a:t>
            </a:r>
            <a:endParaRPr sz="1275" baseline="16339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75436" y="1735778"/>
            <a:ext cx="418465" cy="157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2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</a:t>
            </a:r>
            <a:r>
              <a:rPr sz="850" i="1" dirty="0">
                <a:latin typeface="Times New Roman"/>
                <a:cs typeface="Times New Roman"/>
              </a:rPr>
              <a:t>x</a:t>
            </a:r>
            <a:r>
              <a:rPr sz="850" dirty="0">
                <a:latin typeface="Times New Roman"/>
                <a:cs typeface="Times New Roman"/>
              </a:rPr>
              <a:t>)</a:t>
            </a:r>
            <a:r>
              <a:rPr sz="850" spc="1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</a:t>
            </a:r>
            <a:r>
              <a:rPr sz="850" spc="10" dirty="0">
                <a:latin typeface="Times New Roman"/>
                <a:cs typeface="Times New Roman"/>
              </a:rPr>
              <a:t> </a:t>
            </a:r>
            <a:r>
              <a:rPr sz="1275" spc="-75" baseline="32679" dirty="0">
                <a:latin typeface="Symbol"/>
                <a:cs typeface="Symbol"/>
              </a:rPr>
              <a:t></a:t>
            </a:r>
            <a:endParaRPr sz="1275" baseline="32679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2916" y="2044698"/>
            <a:ext cx="2163445" cy="8883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72720" indent="-172720">
              <a:lnSpc>
                <a:spcPct val="100000"/>
              </a:lnSpc>
              <a:spcBef>
                <a:spcPts val="330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3 </a:t>
            </a:r>
            <a:r>
              <a:rPr sz="1000" spc="-10" dirty="0">
                <a:latin typeface="Arial"/>
                <a:cs typeface="Arial"/>
              </a:rPr>
              <a:t>parameters:</a:t>
            </a:r>
            <a:endParaRPr sz="1000">
              <a:latin typeface="Arial"/>
              <a:cs typeface="Arial"/>
            </a:endParaRPr>
          </a:p>
          <a:p>
            <a:pPr marL="373380" lvl="1" indent="-144780">
              <a:lnSpc>
                <a:spcPct val="100000"/>
              </a:lnSpc>
              <a:spcBef>
                <a:spcPts val="215"/>
              </a:spcBef>
              <a:buClr>
                <a:srgbClr val="9A9ACC"/>
              </a:buClr>
              <a:buSzPct val="77777"/>
              <a:buChar char="□"/>
              <a:tabLst>
                <a:tab pos="373380" algn="l"/>
              </a:tabLst>
            </a:pPr>
            <a:r>
              <a:rPr sz="1350" baseline="3086" dirty="0">
                <a:latin typeface="Arial"/>
                <a:cs typeface="Arial"/>
              </a:rPr>
              <a:t>Location</a:t>
            </a:r>
            <a:r>
              <a:rPr sz="1350" spc="-67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parameter:</a:t>
            </a:r>
            <a:r>
              <a:rPr sz="1350" spc="-22" baseline="3086" dirty="0">
                <a:latin typeface="Arial"/>
                <a:cs typeface="Arial"/>
              </a:rPr>
              <a:t> </a:t>
            </a:r>
            <a:r>
              <a:rPr sz="1425" i="1" baseline="2923" dirty="0">
                <a:latin typeface="Symbol"/>
                <a:cs typeface="Symbol"/>
              </a:rPr>
              <a:t></a:t>
            </a:r>
            <a:r>
              <a:rPr sz="1425" spc="382" baseline="2923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</a:t>
            </a:r>
            <a:r>
              <a:rPr sz="850" dirty="0">
                <a:latin typeface="Symbol"/>
                <a:cs typeface="Symbol"/>
              </a:rPr>
              <a:t></a:t>
            </a:r>
            <a:r>
              <a:rPr sz="850" spc="-30" dirty="0">
                <a:latin typeface="Times New Roman"/>
                <a:cs typeface="Times New Roman"/>
              </a:rPr>
              <a:t> </a:t>
            </a:r>
            <a:r>
              <a:rPr sz="850" spc="-325" dirty="0">
                <a:latin typeface="MT Extra"/>
                <a:cs typeface="MT Extra"/>
              </a:rPr>
              <a:t>-</a:t>
            </a:r>
            <a:r>
              <a:rPr sz="850" spc="-260" dirty="0">
                <a:latin typeface="MT Extra"/>
                <a:cs typeface="MT Extra"/>
              </a:rPr>
              <a:t>&lt;</a:t>
            </a:r>
            <a:r>
              <a:rPr sz="900" i="1" spc="-260" dirty="0">
                <a:latin typeface="Symbol"/>
                <a:cs typeface="Symbol"/>
              </a:rPr>
              <a:t>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850" spc="-325" dirty="0">
                <a:latin typeface="MT Extra"/>
                <a:cs typeface="MT Extra"/>
              </a:rPr>
              <a:t>-</a:t>
            </a:r>
            <a:r>
              <a:rPr sz="850" spc="-540" dirty="0">
                <a:latin typeface="MT Extra"/>
                <a:cs typeface="MT Extra"/>
              </a:rPr>
              <a:t>&lt;</a:t>
            </a:r>
            <a:r>
              <a:rPr sz="850" spc="-35" dirty="0">
                <a:latin typeface="Times New Roman"/>
                <a:cs typeface="Times New Roman"/>
              </a:rPr>
              <a:t> </a:t>
            </a:r>
            <a:r>
              <a:rPr sz="850" spc="-25" dirty="0">
                <a:latin typeface="Symbol"/>
                <a:cs typeface="Symbol"/>
              </a:rPr>
              <a:t></a:t>
            </a:r>
            <a:r>
              <a:rPr sz="850" spc="-25" dirty="0">
                <a:latin typeface="Times New Roman"/>
                <a:cs typeface="Times New Roman"/>
              </a:rPr>
              <a:t>)</a:t>
            </a:r>
            <a:endParaRPr sz="850">
              <a:latin typeface="Times New Roman"/>
              <a:cs typeface="Times New Roman"/>
            </a:endParaRPr>
          </a:p>
          <a:p>
            <a:pPr marL="373380" lvl="1" indent="-144780">
              <a:lnSpc>
                <a:spcPct val="100000"/>
              </a:lnSpc>
              <a:spcBef>
                <a:spcPts val="125"/>
              </a:spcBef>
              <a:buClr>
                <a:srgbClr val="9A9ACC"/>
              </a:buClr>
              <a:buSzPct val="77777"/>
              <a:buChar char="□"/>
              <a:tabLst>
                <a:tab pos="373380" algn="l"/>
              </a:tabLst>
            </a:pPr>
            <a:r>
              <a:rPr sz="900" dirty="0">
                <a:latin typeface="Arial"/>
                <a:cs typeface="Arial"/>
              </a:rPr>
              <a:t>Scale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parameter: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50" i="1" dirty="0">
                <a:latin typeface="Symbol"/>
                <a:cs typeface="Symbol"/>
              </a:rPr>
              <a:t></a:t>
            </a:r>
            <a:r>
              <a:rPr sz="950" spc="-4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Symbol"/>
                <a:cs typeface="Symbol"/>
              </a:rPr>
              <a:t></a:t>
            </a:r>
            <a:r>
              <a:rPr sz="950" spc="-3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Symbol"/>
                <a:cs typeface="Symbol"/>
              </a:rPr>
              <a:t></a:t>
            </a:r>
            <a:r>
              <a:rPr sz="950" spc="-4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Symbol"/>
                <a:cs typeface="Symbol"/>
              </a:rPr>
              <a:t></a:t>
            </a:r>
            <a:r>
              <a:rPr sz="950" spc="-40" dirty="0">
                <a:latin typeface="Times New Roman"/>
                <a:cs typeface="Times New Roman"/>
              </a:rPr>
              <a:t> </a:t>
            </a:r>
            <a:r>
              <a:rPr sz="950" i="1" spc="-25" dirty="0">
                <a:latin typeface="Symbol"/>
                <a:cs typeface="Symbol"/>
              </a:rPr>
              <a:t></a:t>
            </a:r>
            <a:endParaRPr sz="950">
              <a:latin typeface="Symbol"/>
              <a:cs typeface="Symbol"/>
            </a:endParaRPr>
          </a:p>
          <a:p>
            <a:pPr marL="373380" lvl="1" indent="-144780">
              <a:lnSpc>
                <a:spcPct val="100000"/>
              </a:lnSpc>
              <a:spcBef>
                <a:spcPts val="165"/>
              </a:spcBef>
              <a:buClr>
                <a:srgbClr val="9A9ACC"/>
              </a:buClr>
              <a:buSzPct val="77777"/>
              <a:buChar char="□"/>
              <a:tabLst>
                <a:tab pos="373380" algn="l"/>
              </a:tabLst>
            </a:pPr>
            <a:r>
              <a:rPr sz="900" dirty="0">
                <a:latin typeface="Arial"/>
                <a:cs typeface="Arial"/>
              </a:rPr>
              <a:t>Shape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parameter.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50" i="1" dirty="0">
                <a:latin typeface="Symbol"/>
                <a:cs typeface="Symbol"/>
              </a:rPr>
              <a:t></a:t>
            </a:r>
            <a:r>
              <a:rPr sz="950" spc="165" dirty="0">
                <a:latin typeface="Times New Roman"/>
                <a:cs typeface="Times New Roman"/>
              </a:rPr>
              <a:t> </a:t>
            </a:r>
            <a:r>
              <a:rPr sz="950" i="1" spc="-20" dirty="0">
                <a:latin typeface="Symbol"/>
                <a:cs typeface="Symbol"/>
              </a:rPr>
              <a:t></a:t>
            </a:r>
            <a:r>
              <a:rPr sz="950" spc="-40" dirty="0">
                <a:latin typeface="Times New Roman"/>
                <a:cs typeface="Times New Roman"/>
              </a:rPr>
              <a:t> </a:t>
            </a:r>
            <a:r>
              <a:rPr sz="950" i="1" spc="-25" dirty="0">
                <a:latin typeface="Symbol"/>
                <a:cs typeface="Symbol"/>
              </a:rPr>
              <a:t></a:t>
            </a:r>
            <a:endParaRPr sz="950">
              <a:latin typeface="Symbol"/>
              <a:cs typeface="Symbol"/>
            </a:endParaRPr>
          </a:p>
          <a:p>
            <a:pPr marL="172720" indent="-172720">
              <a:lnSpc>
                <a:spcPct val="100000"/>
              </a:lnSpc>
              <a:spcBef>
                <a:spcPts val="175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Example: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</a:t>
            </a:r>
            <a:r>
              <a:rPr sz="1050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0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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1</a:t>
            </a:r>
            <a:r>
              <a:rPr sz="1000" spc="-25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215895" y="3373373"/>
            <a:ext cx="1313180" cy="401955"/>
          </a:xfrm>
          <a:custGeom>
            <a:avLst/>
            <a:gdLst/>
            <a:ahLst/>
            <a:cxnLst/>
            <a:rect l="l" t="t" r="r" b="b"/>
            <a:pathLst>
              <a:path w="1313179" h="401954">
                <a:moveTo>
                  <a:pt x="152400" y="20574"/>
                </a:moveTo>
                <a:lnTo>
                  <a:pt x="93225" y="25526"/>
                </a:lnTo>
                <a:lnTo>
                  <a:pt x="44767" y="39052"/>
                </a:lnTo>
                <a:lnTo>
                  <a:pt x="12025" y="59150"/>
                </a:lnTo>
                <a:lnTo>
                  <a:pt x="0" y="83820"/>
                </a:lnTo>
                <a:lnTo>
                  <a:pt x="0" y="338327"/>
                </a:lnTo>
                <a:lnTo>
                  <a:pt x="12025" y="362997"/>
                </a:lnTo>
                <a:lnTo>
                  <a:pt x="44767" y="383095"/>
                </a:lnTo>
                <a:lnTo>
                  <a:pt x="93225" y="396620"/>
                </a:lnTo>
                <a:lnTo>
                  <a:pt x="152400" y="401574"/>
                </a:lnTo>
                <a:lnTo>
                  <a:pt x="762000" y="401574"/>
                </a:lnTo>
                <a:lnTo>
                  <a:pt x="821174" y="396621"/>
                </a:lnTo>
                <a:lnTo>
                  <a:pt x="869632" y="383095"/>
                </a:lnTo>
                <a:lnTo>
                  <a:pt x="902374" y="362997"/>
                </a:lnTo>
                <a:lnTo>
                  <a:pt x="914400" y="338327"/>
                </a:lnTo>
                <a:lnTo>
                  <a:pt x="914400" y="179070"/>
                </a:lnTo>
                <a:lnTo>
                  <a:pt x="1312926" y="0"/>
                </a:lnTo>
                <a:lnTo>
                  <a:pt x="914400" y="83820"/>
                </a:lnTo>
                <a:lnTo>
                  <a:pt x="902374" y="59150"/>
                </a:lnTo>
                <a:lnTo>
                  <a:pt x="869632" y="39052"/>
                </a:lnTo>
                <a:lnTo>
                  <a:pt x="821174" y="25527"/>
                </a:lnTo>
                <a:lnTo>
                  <a:pt x="762000" y="20574"/>
                </a:lnTo>
                <a:lnTo>
                  <a:pt x="533400" y="20574"/>
                </a:lnTo>
                <a:lnTo>
                  <a:pt x="152400" y="20574"/>
                </a:lnTo>
                <a:close/>
              </a:path>
            </a:pathLst>
          </a:custGeom>
          <a:ln w="476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305049" y="3443298"/>
            <a:ext cx="749935" cy="27622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 indent="92710">
              <a:lnSpc>
                <a:spcPts val="960"/>
              </a:lnSpc>
              <a:spcBef>
                <a:spcPts val="175"/>
              </a:spcBef>
            </a:pPr>
            <a:r>
              <a:rPr sz="800" dirty="0">
                <a:latin typeface="Arial"/>
                <a:cs typeface="Arial"/>
              </a:rPr>
              <a:t>When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50" i="1" dirty="0">
                <a:latin typeface="Symbol"/>
                <a:cs typeface="Symbol"/>
              </a:rPr>
              <a:t></a:t>
            </a:r>
            <a:r>
              <a:rPr sz="850" spc="-10" dirty="0">
                <a:latin typeface="Times New Roman"/>
                <a:cs typeface="Times New Roman"/>
              </a:rPr>
              <a:t> </a:t>
            </a:r>
            <a:r>
              <a:rPr sz="800" i="1" dirty="0">
                <a:latin typeface="Arial"/>
                <a:cs typeface="Arial"/>
              </a:rPr>
              <a:t>=</a:t>
            </a:r>
            <a:r>
              <a:rPr sz="800" i="1" spc="-15" dirty="0">
                <a:latin typeface="Arial"/>
                <a:cs typeface="Arial"/>
              </a:rPr>
              <a:t> </a:t>
            </a:r>
            <a:r>
              <a:rPr sz="800" i="1" spc="-25" dirty="0">
                <a:latin typeface="Arial"/>
                <a:cs typeface="Arial"/>
              </a:rPr>
              <a:t>1</a:t>
            </a:r>
            <a:r>
              <a:rPr sz="800" spc="-25" dirty="0">
                <a:latin typeface="Arial"/>
                <a:cs typeface="Arial"/>
              </a:rPr>
              <a:t>,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800" i="1" spc="-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~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exp(</a:t>
            </a:r>
            <a:r>
              <a:rPr sz="850" i="1" dirty="0">
                <a:latin typeface="Symbol"/>
                <a:cs typeface="Symbol"/>
              </a:rPr>
              <a:t></a:t>
            </a:r>
            <a:r>
              <a:rPr sz="850" dirty="0">
                <a:latin typeface="Times New Roman"/>
                <a:cs typeface="Times New Roman"/>
              </a:rPr>
              <a:t> </a:t>
            </a:r>
            <a:r>
              <a:rPr sz="800" i="1" dirty="0">
                <a:latin typeface="Arial"/>
                <a:cs typeface="Arial"/>
              </a:rPr>
              <a:t>=</a:t>
            </a:r>
            <a:r>
              <a:rPr sz="800" i="1" spc="-10" dirty="0">
                <a:latin typeface="Arial"/>
                <a:cs typeface="Arial"/>
              </a:rPr>
              <a:t> </a:t>
            </a:r>
            <a:r>
              <a:rPr sz="800" i="1" spc="-20" dirty="0">
                <a:latin typeface="Arial"/>
                <a:cs typeface="Arial"/>
              </a:rPr>
              <a:t>1/</a:t>
            </a:r>
            <a:r>
              <a:rPr sz="850" i="1" spc="-20" dirty="0">
                <a:latin typeface="Symbol"/>
                <a:cs typeface="Symbol"/>
              </a:rPr>
              <a:t></a:t>
            </a:r>
            <a:r>
              <a:rPr sz="800" i="1" spc="-20" dirty="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٣٠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232916" y="4867906"/>
            <a:ext cx="2041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Lognormal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76115" y="4931914"/>
            <a:ext cx="1186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[Continuous</a:t>
            </a:r>
            <a:r>
              <a:rPr sz="1100" spc="-6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94816" y="6554974"/>
            <a:ext cx="3735704" cy="113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 indent="-143510">
              <a:lnSpc>
                <a:spcPct val="100000"/>
              </a:lnSpc>
              <a:spcBef>
                <a:spcPts val="100"/>
              </a:spcBef>
              <a:buClr>
                <a:srgbClr val="9A9ACC"/>
              </a:buClr>
              <a:buSzPct val="80000"/>
              <a:buChar char="□"/>
              <a:tabLst>
                <a:tab pos="410209" algn="l"/>
              </a:tabLst>
            </a:pPr>
            <a:r>
              <a:rPr sz="1000" dirty="0">
                <a:latin typeface="Arial"/>
                <a:cs typeface="Arial"/>
              </a:rPr>
              <a:t>Variance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V(X)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</a:t>
            </a:r>
            <a:r>
              <a:rPr sz="975" baseline="25641" dirty="0">
                <a:latin typeface="Symbol"/>
                <a:cs typeface="Symbol"/>
              </a:rPr>
              <a:t></a:t>
            </a:r>
            <a:r>
              <a:rPr sz="975" baseline="25641" dirty="0">
                <a:latin typeface="Arial"/>
                <a:cs typeface="Arial"/>
              </a:rPr>
              <a:t>+</a:t>
            </a:r>
            <a:r>
              <a:rPr sz="975" baseline="25641" dirty="0">
                <a:latin typeface="Symbol"/>
                <a:cs typeface="Symbol"/>
              </a:rPr>
              <a:t></a:t>
            </a:r>
            <a:r>
              <a:rPr sz="825" baseline="55555" dirty="0">
                <a:latin typeface="Arial"/>
                <a:cs typeface="Arial"/>
              </a:rPr>
              <a:t>2</a:t>
            </a:r>
            <a:r>
              <a:rPr sz="975" baseline="25641" dirty="0">
                <a:latin typeface="Arial"/>
                <a:cs typeface="Arial"/>
              </a:rPr>
              <a:t>/2 (</a:t>
            </a:r>
            <a:r>
              <a:rPr sz="1000" dirty="0">
                <a:latin typeface="Arial"/>
                <a:cs typeface="Arial"/>
              </a:rPr>
              <a:t>e</a:t>
            </a:r>
            <a:r>
              <a:rPr sz="975" baseline="25641" dirty="0">
                <a:latin typeface="Symbol"/>
                <a:cs typeface="Symbol"/>
              </a:rPr>
              <a:t></a:t>
            </a:r>
            <a:r>
              <a:rPr sz="825" baseline="55555" dirty="0">
                <a:latin typeface="Arial"/>
                <a:cs typeface="Arial"/>
              </a:rPr>
              <a:t>2</a:t>
            </a:r>
            <a:r>
              <a:rPr sz="825" spc="37" baseline="555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1)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>
              <a:latin typeface="Arial"/>
              <a:cs typeface="Arial"/>
            </a:endParaRPr>
          </a:p>
          <a:p>
            <a:pPr marL="208915" indent="-170815">
              <a:lnSpc>
                <a:spcPct val="100000"/>
              </a:lnSpc>
              <a:spcBef>
                <a:spcPts val="5"/>
              </a:spcBef>
              <a:buClr>
                <a:srgbClr val="00007C"/>
              </a:buClr>
              <a:buSzPct val="75000"/>
              <a:buChar char="■"/>
              <a:tabLst>
                <a:tab pos="208915" algn="l"/>
              </a:tabLst>
            </a:pPr>
            <a:r>
              <a:rPr sz="1200" dirty="0">
                <a:latin typeface="Arial"/>
                <a:cs typeface="Arial"/>
              </a:rPr>
              <a:t>Relationship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normal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</a:t>
            </a:r>
            <a:endParaRPr sz="1200">
              <a:latin typeface="Arial"/>
              <a:cs typeface="Arial"/>
            </a:endParaRPr>
          </a:p>
          <a:p>
            <a:pPr marL="410209" lvl="1" indent="-143510">
              <a:lnSpc>
                <a:spcPct val="100000"/>
              </a:lnSpc>
              <a:spcBef>
                <a:spcPts val="215"/>
              </a:spcBef>
              <a:buClr>
                <a:srgbClr val="9A9ACC"/>
              </a:buClr>
              <a:buSzPct val="80000"/>
              <a:buChar char="□"/>
              <a:tabLst>
                <a:tab pos="410209" algn="l"/>
              </a:tabLst>
            </a:pPr>
            <a:r>
              <a:rPr sz="1000" dirty="0">
                <a:latin typeface="Arial"/>
                <a:cs typeface="Arial"/>
              </a:rPr>
              <a:t>When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~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N(</a:t>
            </a:r>
            <a:r>
              <a:rPr sz="1050" i="1" dirty="0">
                <a:latin typeface="Symbol"/>
                <a:cs typeface="Symbol"/>
              </a:rPr>
              <a:t>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</a:t>
            </a:r>
            <a:r>
              <a:rPr sz="975" i="1" baseline="25641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),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975" i="1" baseline="25641" dirty="0">
                <a:latin typeface="Arial"/>
                <a:cs typeface="Arial"/>
              </a:rPr>
              <a:t>Y</a:t>
            </a:r>
            <a:r>
              <a:rPr sz="975" i="1" spc="112" baseline="25641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~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lognormal(</a:t>
            </a:r>
            <a:r>
              <a:rPr sz="1000" dirty="0">
                <a:latin typeface="Symbol"/>
                <a:cs typeface="Symbol"/>
              </a:rPr>
              <a:t>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Symbol"/>
                <a:cs typeface="Symbol"/>
              </a:rPr>
              <a:t></a:t>
            </a:r>
            <a:r>
              <a:rPr sz="975" spc="-37" baseline="25641" dirty="0">
                <a:latin typeface="Arial"/>
                <a:cs typeface="Arial"/>
              </a:rPr>
              <a:t>2</a:t>
            </a:r>
            <a:r>
              <a:rPr sz="1000" spc="-25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409575" marR="43180" lvl="1" indent="-143510">
              <a:lnSpc>
                <a:spcPts val="1180"/>
              </a:lnSpc>
              <a:spcBef>
                <a:spcPts val="280"/>
              </a:spcBef>
              <a:buClr>
                <a:srgbClr val="9A9ACC"/>
              </a:buClr>
              <a:buSzPct val="80000"/>
              <a:buChar char="□"/>
              <a:tabLst>
                <a:tab pos="409575" algn="l"/>
              </a:tabLst>
            </a:pPr>
            <a:r>
              <a:rPr sz="1000" dirty="0">
                <a:latin typeface="Arial"/>
                <a:cs typeface="Arial"/>
              </a:rPr>
              <a:t>Parameters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Symbol"/>
                <a:cs typeface="Symbol"/>
              </a:rPr>
              <a:t>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Symbol"/>
                <a:cs typeface="Symbol"/>
              </a:rPr>
              <a:t></a:t>
            </a:r>
            <a:r>
              <a:rPr sz="975" baseline="25641" dirty="0">
                <a:latin typeface="Arial"/>
                <a:cs typeface="Arial"/>
              </a:rPr>
              <a:t>2</a:t>
            </a:r>
            <a:r>
              <a:rPr sz="975" spc="120" baseline="25641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lognormal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905190" y="5952934"/>
            <a:ext cx="1044575" cy="146685"/>
            <a:chOff x="1905190" y="5952934"/>
            <a:chExt cx="1044575" cy="146685"/>
          </a:xfrm>
        </p:grpSpPr>
        <p:sp>
          <p:nvSpPr>
            <p:cNvPr id="38" name="object 38"/>
            <p:cNvSpPr/>
            <p:nvPr/>
          </p:nvSpPr>
          <p:spPr>
            <a:xfrm>
              <a:off x="1921763" y="6052565"/>
              <a:ext cx="13970" cy="8890"/>
            </a:xfrm>
            <a:custGeom>
              <a:avLst/>
              <a:gdLst/>
              <a:ahLst/>
              <a:cxnLst/>
              <a:rect l="l" t="t" r="r" b="b"/>
              <a:pathLst>
                <a:path w="13969" h="8889">
                  <a:moveTo>
                    <a:pt x="0" y="8382"/>
                  </a:moveTo>
                  <a:lnTo>
                    <a:pt x="13716" y="0"/>
                  </a:lnTo>
                </a:path>
              </a:pathLst>
            </a:custGeom>
            <a:ln w="5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35479" y="6054851"/>
              <a:ext cx="20320" cy="39370"/>
            </a:xfrm>
            <a:custGeom>
              <a:avLst/>
              <a:gdLst/>
              <a:ahLst/>
              <a:cxnLst/>
              <a:rect l="l" t="t" r="r" b="b"/>
              <a:pathLst>
                <a:path w="20319" h="39370">
                  <a:moveTo>
                    <a:pt x="0" y="0"/>
                  </a:moveTo>
                  <a:lnTo>
                    <a:pt x="19812" y="38862"/>
                  </a:lnTo>
                </a:path>
              </a:pathLst>
            </a:custGeom>
            <a:ln w="111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08047" y="5955791"/>
              <a:ext cx="1038860" cy="138430"/>
            </a:xfrm>
            <a:custGeom>
              <a:avLst/>
              <a:gdLst/>
              <a:ahLst/>
              <a:cxnLst/>
              <a:rect l="l" t="t" r="r" b="b"/>
              <a:pathLst>
                <a:path w="1038860" h="138429">
                  <a:moveTo>
                    <a:pt x="50291" y="137922"/>
                  </a:moveTo>
                  <a:lnTo>
                    <a:pt x="77724" y="19812"/>
                  </a:lnTo>
                  <a:lnTo>
                    <a:pt x="209550" y="19812"/>
                  </a:lnTo>
                </a:path>
                <a:path w="1038860" h="138429">
                  <a:moveTo>
                    <a:pt x="0" y="0"/>
                  </a:moveTo>
                  <a:lnTo>
                    <a:pt x="320801" y="0"/>
                  </a:lnTo>
                </a:path>
                <a:path w="1038860" h="138429">
                  <a:moveTo>
                    <a:pt x="632459" y="0"/>
                  </a:moveTo>
                  <a:lnTo>
                    <a:pt x="1038605" y="0"/>
                  </a:lnTo>
                </a:path>
              </a:pathLst>
            </a:custGeom>
            <a:ln w="5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36116" y="6132110"/>
            <a:ext cx="1280795" cy="4184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130"/>
              </a:spcBef>
            </a:pPr>
            <a:r>
              <a:rPr sz="850" spc="-50" dirty="0">
                <a:latin typeface="Symbol"/>
                <a:cs typeface="Symbol"/>
              </a:rPr>
              <a:t></a:t>
            </a:r>
            <a:endParaRPr sz="850">
              <a:latin typeface="Symbol"/>
              <a:cs typeface="Symbol"/>
            </a:endParaRPr>
          </a:p>
          <a:p>
            <a:pPr marL="168910" indent="-143510">
              <a:lnSpc>
                <a:spcPct val="100000"/>
              </a:lnSpc>
              <a:spcBef>
                <a:spcPts val="840"/>
              </a:spcBef>
              <a:buClr>
                <a:srgbClr val="9A9ACC"/>
              </a:buClr>
              <a:buSzPct val="80000"/>
              <a:buChar char="□"/>
              <a:tabLst>
                <a:tab pos="168910" algn="l"/>
              </a:tabLst>
            </a:pPr>
            <a:r>
              <a:rPr sz="1000" dirty="0">
                <a:latin typeface="Arial"/>
                <a:cs typeface="Arial"/>
              </a:rPr>
              <a:t>Mean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E(X)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</a:t>
            </a:r>
            <a:r>
              <a:rPr sz="975" spc="-15" baseline="25641" dirty="0">
                <a:latin typeface="Symbol"/>
                <a:cs typeface="Symbol"/>
              </a:rPr>
              <a:t></a:t>
            </a:r>
            <a:r>
              <a:rPr sz="975" spc="-15" baseline="25641" dirty="0">
                <a:latin typeface="Arial"/>
                <a:cs typeface="Arial"/>
              </a:rPr>
              <a:t>+</a:t>
            </a:r>
            <a:r>
              <a:rPr sz="975" spc="-15" baseline="25641" dirty="0">
                <a:latin typeface="Symbol"/>
                <a:cs typeface="Symbol"/>
              </a:rPr>
              <a:t></a:t>
            </a:r>
            <a:r>
              <a:rPr sz="825" spc="-15" baseline="55555" dirty="0">
                <a:latin typeface="Arial"/>
                <a:cs typeface="Arial"/>
              </a:rPr>
              <a:t>2</a:t>
            </a:r>
            <a:r>
              <a:rPr sz="975" spc="-15" baseline="25641" dirty="0">
                <a:latin typeface="Arial"/>
                <a:cs typeface="Arial"/>
              </a:rPr>
              <a:t>/2</a:t>
            </a:r>
            <a:endParaRPr sz="975" baseline="25641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32916" y="5319009"/>
            <a:ext cx="3787140" cy="59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080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random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variable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lognormal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its </a:t>
            </a:r>
            <a:r>
              <a:rPr sz="1200" dirty="0">
                <a:latin typeface="Arial"/>
                <a:cs typeface="Arial"/>
              </a:rPr>
              <a:t>pdf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form:</a:t>
            </a:r>
            <a:endParaRPr sz="1200">
              <a:latin typeface="Arial"/>
              <a:cs typeface="Arial"/>
            </a:endParaRPr>
          </a:p>
          <a:p>
            <a:pPr marL="616585">
              <a:lnSpc>
                <a:spcPct val="100000"/>
              </a:lnSpc>
              <a:spcBef>
                <a:spcPts val="575"/>
              </a:spcBef>
            </a:pPr>
            <a:r>
              <a:rPr sz="850" spc="-50" dirty="0">
                <a:latin typeface="Symbol"/>
                <a:cs typeface="Symbol"/>
              </a:rPr>
              <a:t></a:t>
            </a:r>
            <a:endParaRPr sz="8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12490" y="5764825"/>
            <a:ext cx="5588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50" spc="-50" dirty="0">
                <a:latin typeface="Symbol"/>
                <a:cs typeface="Symbol"/>
              </a:rPr>
              <a:t></a:t>
            </a:r>
            <a:endParaRPr sz="85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24735" y="6103917"/>
            <a:ext cx="20256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275" spc="-37" baseline="29411" dirty="0">
                <a:latin typeface="Symbol"/>
                <a:cs typeface="Symbol"/>
              </a:rPr>
              <a:t></a:t>
            </a:r>
            <a:r>
              <a:rPr sz="850" spc="-25" dirty="0">
                <a:latin typeface="Times New Roman"/>
                <a:cs typeface="Times New Roman"/>
              </a:rPr>
              <a:t>0,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220942" y="5871507"/>
            <a:ext cx="337185" cy="261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ts val="910"/>
              </a:lnSpc>
              <a:spcBef>
                <a:spcPts val="130"/>
              </a:spcBef>
            </a:pPr>
            <a:r>
              <a:rPr sz="1275" spc="-15" baseline="6535" dirty="0">
                <a:latin typeface="Times New Roman"/>
                <a:cs typeface="Times New Roman"/>
              </a:rPr>
              <a:t>exp</a:t>
            </a:r>
            <a:r>
              <a:rPr sz="850" spc="-10" dirty="0">
                <a:latin typeface="Symbol"/>
                <a:cs typeface="Symbol"/>
              </a:rPr>
              <a:t></a:t>
            </a:r>
            <a:r>
              <a:rPr sz="1275" spc="-15" baseline="6535" dirty="0">
                <a:latin typeface="Symbol"/>
                <a:cs typeface="Symbol"/>
              </a:rPr>
              <a:t></a:t>
            </a:r>
            <a:endParaRPr sz="1275" baseline="6535">
              <a:latin typeface="Symbol"/>
              <a:cs typeface="Symbol"/>
            </a:endParaRPr>
          </a:p>
          <a:p>
            <a:pPr marL="191135">
              <a:lnSpc>
                <a:spcPts val="910"/>
              </a:lnSpc>
            </a:pPr>
            <a:r>
              <a:rPr sz="850" spc="-25" dirty="0">
                <a:latin typeface="Symbol"/>
                <a:cs typeface="Symbol"/>
              </a:rPr>
              <a:t></a:t>
            </a:r>
            <a:r>
              <a:rPr sz="1275" spc="-37" baseline="-9803" dirty="0">
                <a:latin typeface="Symbol"/>
                <a:cs typeface="Symbol"/>
              </a:rPr>
              <a:t></a:t>
            </a:r>
            <a:endParaRPr sz="1275" baseline="-9803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82060" y="5941678"/>
            <a:ext cx="52069" cy="12001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600" spc="-50" dirty="0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87546" y="5871507"/>
            <a:ext cx="612775" cy="3924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ts val="910"/>
              </a:lnSpc>
              <a:spcBef>
                <a:spcPts val="130"/>
              </a:spcBef>
            </a:pPr>
            <a:r>
              <a:rPr sz="850" dirty="0">
                <a:latin typeface="Symbol"/>
                <a:cs typeface="Symbol"/>
              </a:rPr>
              <a:t></a:t>
            </a:r>
            <a:r>
              <a:rPr sz="1275" baseline="6535" dirty="0">
                <a:latin typeface="Times New Roman"/>
                <a:cs typeface="Times New Roman"/>
              </a:rPr>
              <a:t>,</a:t>
            </a:r>
            <a:r>
              <a:rPr sz="1275" spc="367" baseline="6535" dirty="0">
                <a:latin typeface="Times New Roman"/>
                <a:cs typeface="Times New Roman"/>
              </a:rPr>
              <a:t> </a:t>
            </a:r>
            <a:r>
              <a:rPr sz="1275" i="1" baseline="6535" dirty="0">
                <a:latin typeface="Times New Roman"/>
                <a:cs typeface="Times New Roman"/>
              </a:rPr>
              <a:t>x</a:t>
            </a:r>
            <a:r>
              <a:rPr sz="1275" i="1" spc="22" baseline="6535" dirty="0">
                <a:latin typeface="Times New Roman"/>
                <a:cs typeface="Times New Roman"/>
              </a:rPr>
              <a:t> </a:t>
            </a:r>
            <a:r>
              <a:rPr sz="1275" baseline="6535" dirty="0">
                <a:latin typeface="MT Extra"/>
                <a:cs typeface="MT Extra"/>
              </a:rPr>
              <a:t>&gt;</a:t>
            </a:r>
            <a:r>
              <a:rPr sz="1275" spc="37" baseline="6535" dirty="0">
                <a:latin typeface="Times New Roman"/>
                <a:cs typeface="Times New Roman"/>
              </a:rPr>
              <a:t> </a:t>
            </a:r>
            <a:r>
              <a:rPr sz="1275" spc="-75" baseline="6535" dirty="0">
                <a:latin typeface="Times New Roman"/>
                <a:cs typeface="Times New Roman"/>
              </a:rPr>
              <a:t>0</a:t>
            </a:r>
            <a:endParaRPr sz="1275" baseline="6535">
              <a:latin typeface="Times New Roman"/>
              <a:cs typeface="Times New Roman"/>
            </a:endParaRPr>
          </a:p>
          <a:p>
            <a:pPr marL="25400">
              <a:lnSpc>
                <a:spcPts val="910"/>
              </a:lnSpc>
            </a:pPr>
            <a:r>
              <a:rPr sz="850" spc="-25" dirty="0">
                <a:latin typeface="Symbol"/>
                <a:cs typeface="Symbol"/>
              </a:rPr>
              <a:t></a:t>
            </a:r>
            <a:r>
              <a:rPr sz="1275" spc="-37" baseline="-9803" dirty="0">
                <a:latin typeface="Symbol"/>
                <a:cs typeface="Symbol"/>
              </a:rPr>
              <a:t></a:t>
            </a:r>
            <a:endParaRPr sz="1275" baseline="-9803">
              <a:latin typeface="Symbol"/>
              <a:cs typeface="Symbol"/>
            </a:endParaRPr>
          </a:p>
          <a:p>
            <a:pPr marL="138430">
              <a:lnSpc>
                <a:spcPct val="100000"/>
              </a:lnSpc>
              <a:spcBef>
                <a:spcPts val="10"/>
              </a:spcBef>
            </a:pPr>
            <a:r>
              <a:rPr sz="850" spc="-10" dirty="0">
                <a:latin typeface="Times New Roman"/>
                <a:cs typeface="Times New Roman"/>
              </a:rPr>
              <a:t>otherwise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55537" y="5958371"/>
            <a:ext cx="123825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850" spc="-25" dirty="0">
                <a:latin typeface="Times New Roman"/>
                <a:cs typeface="Times New Roman"/>
              </a:rPr>
              <a:t>2</a:t>
            </a:r>
            <a:r>
              <a:rPr sz="850" i="1" spc="-25" dirty="0">
                <a:latin typeface="Times New Roman"/>
                <a:cs typeface="Times New Roman"/>
              </a:rPr>
              <a:t>σ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22727" y="5747797"/>
            <a:ext cx="5715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spc="-45" dirty="0">
                <a:latin typeface="Symbol"/>
                <a:cs typeface="Symbol"/>
              </a:rPr>
              <a:t></a:t>
            </a:r>
            <a:r>
              <a:rPr sz="850" spc="-45" dirty="0">
                <a:latin typeface="Times New Roman"/>
                <a:cs typeface="Times New Roman"/>
              </a:rPr>
              <a:t>ln</a:t>
            </a:r>
            <a:r>
              <a:rPr sz="850" spc="-20" dirty="0">
                <a:latin typeface="Times New Roman"/>
                <a:cs typeface="Times New Roman"/>
              </a:rPr>
              <a:t> </a:t>
            </a:r>
            <a:r>
              <a:rPr sz="850" i="1" dirty="0">
                <a:latin typeface="Times New Roman"/>
                <a:cs typeface="Times New Roman"/>
              </a:rPr>
              <a:t>x</a:t>
            </a:r>
            <a:r>
              <a:rPr sz="850" i="1" spc="-3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</a:t>
            </a:r>
            <a:r>
              <a:rPr sz="850" spc="15" dirty="0">
                <a:latin typeface="Times New Roman"/>
                <a:cs typeface="Times New Roman"/>
              </a:rPr>
              <a:t> </a:t>
            </a:r>
            <a:r>
              <a:rPr sz="850" i="1" spc="-20" dirty="0">
                <a:latin typeface="Times New Roman"/>
                <a:cs typeface="Times New Roman"/>
              </a:rPr>
              <a:t>µ</a:t>
            </a:r>
            <a:r>
              <a:rPr sz="1200" spc="-20" dirty="0">
                <a:latin typeface="Symbol"/>
                <a:cs typeface="Symbol"/>
              </a:rPr>
              <a:t></a:t>
            </a:r>
            <a:r>
              <a:rPr sz="900" spc="-30" baseline="41666" dirty="0">
                <a:latin typeface="Times New Roman"/>
                <a:cs typeface="Times New Roman"/>
              </a:rPr>
              <a:t>2 </a:t>
            </a:r>
            <a:r>
              <a:rPr sz="1275" spc="-75" baseline="13071" dirty="0">
                <a:latin typeface="Symbol"/>
                <a:cs typeface="Symbol"/>
              </a:rPr>
              <a:t></a:t>
            </a:r>
            <a:endParaRPr sz="1275" baseline="13071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824735" y="5748287"/>
            <a:ext cx="433070" cy="37338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53340" algn="ctr">
              <a:lnSpc>
                <a:spcPct val="100000"/>
              </a:lnSpc>
              <a:spcBef>
                <a:spcPts val="440"/>
              </a:spcBef>
            </a:pPr>
            <a:r>
              <a:rPr sz="850" spc="-50" dirty="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50"/>
              </a:spcBef>
            </a:pPr>
            <a:r>
              <a:rPr sz="1275" baseline="9803" dirty="0">
                <a:latin typeface="Symbol"/>
                <a:cs typeface="Symbol"/>
              </a:rPr>
              <a:t></a:t>
            </a:r>
            <a:r>
              <a:rPr sz="1275" spc="719" baseline="9803" dirty="0">
                <a:latin typeface="Times New Roman"/>
                <a:cs typeface="Times New Roman"/>
              </a:rPr>
              <a:t> </a:t>
            </a:r>
            <a:r>
              <a:rPr sz="850" spc="-20" dirty="0">
                <a:latin typeface="Times New Roman"/>
                <a:cs typeface="Times New Roman"/>
              </a:rPr>
              <a:t>2</a:t>
            </a:r>
            <a:r>
              <a:rPr sz="850" i="1" spc="-20" dirty="0">
                <a:latin typeface="Times New Roman"/>
                <a:cs typeface="Times New Roman"/>
              </a:rPr>
              <a:t>πσx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14588" y="5924076"/>
            <a:ext cx="429259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850" i="1" dirty="0">
                <a:latin typeface="Times New Roman"/>
                <a:cs typeface="Times New Roman"/>
              </a:rPr>
              <a:t>f</a:t>
            </a:r>
            <a:r>
              <a:rPr sz="850" i="1" spc="30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Times New Roman"/>
                <a:cs typeface="Times New Roman"/>
              </a:rPr>
              <a:t>(</a:t>
            </a:r>
            <a:r>
              <a:rPr sz="850" i="1" dirty="0">
                <a:latin typeface="Times New Roman"/>
                <a:cs typeface="Times New Roman"/>
              </a:rPr>
              <a:t>x</a:t>
            </a:r>
            <a:r>
              <a:rPr sz="850" dirty="0">
                <a:latin typeface="Times New Roman"/>
                <a:cs typeface="Times New Roman"/>
              </a:rPr>
              <a:t>)</a:t>
            </a:r>
            <a:r>
              <a:rPr sz="850" spc="45" dirty="0">
                <a:latin typeface="Times New Roman"/>
                <a:cs typeface="Times New Roman"/>
              </a:rPr>
              <a:t> </a:t>
            </a:r>
            <a:r>
              <a:rPr sz="850" dirty="0">
                <a:latin typeface="Symbol"/>
                <a:cs typeface="Symbol"/>
              </a:rPr>
              <a:t></a:t>
            </a:r>
            <a:r>
              <a:rPr sz="850" spc="60" dirty="0">
                <a:latin typeface="Times New Roman"/>
                <a:cs typeface="Times New Roman"/>
              </a:rPr>
              <a:t> </a:t>
            </a:r>
            <a:r>
              <a:rPr sz="1275" spc="-75" baseline="32679" dirty="0">
                <a:latin typeface="Symbol"/>
                <a:cs typeface="Symbol"/>
              </a:rPr>
              <a:t></a:t>
            </a:r>
            <a:endParaRPr sz="1275" baseline="32679">
              <a:latin typeface="Symbol"/>
              <a:cs typeface="Symbo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816096" y="5580121"/>
            <a:ext cx="1410970" cy="1315720"/>
            <a:chOff x="3816096" y="5580121"/>
            <a:chExt cx="1410970" cy="1315720"/>
          </a:xfrm>
        </p:grpSpPr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16096" y="5580121"/>
              <a:ext cx="1410808" cy="43891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16096" y="6019034"/>
              <a:ext cx="1410808" cy="43891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6096" y="6457946"/>
              <a:ext cx="1410808" cy="437388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4626609" y="5813118"/>
            <a:ext cx="56197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ts val="990"/>
              </a:lnSpc>
              <a:spcBef>
                <a:spcPts val="90"/>
              </a:spcBef>
            </a:pPr>
            <a:r>
              <a:rPr sz="850" i="1" spc="-20" dirty="0">
                <a:latin typeface="Symbol"/>
                <a:cs typeface="Symbol"/>
              </a:rPr>
              <a:t></a:t>
            </a:r>
            <a:r>
              <a:rPr sz="800" i="1" spc="-20" dirty="0">
                <a:latin typeface="Arial"/>
                <a:cs typeface="Arial"/>
              </a:rPr>
              <a:t>=1,</a:t>
            </a:r>
            <a:endParaRPr sz="800">
              <a:latin typeface="Arial"/>
              <a:cs typeface="Arial"/>
            </a:endParaRPr>
          </a:p>
          <a:p>
            <a:pPr marR="5080" algn="ctr">
              <a:lnSpc>
                <a:spcPts val="990"/>
              </a:lnSpc>
            </a:pPr>
            <a:r>
              <a:rPr sz="850" i="1" spc="-10" dirty="0">
                <a:latin typeface="Symbol"/>
                <a:cs typeface="Symbol"/>
              </a:rPr>
              <a:t></a:t>
            </a:r>
            <a:r>
              <a:rPr sz="825" i="1" spc="-15" baseline="25252" dirty="0">
                <a:latin typeface="Arial"/>
                <a:cs typeface="Arial"/>
              </a:rPr>
              <a:t>2</a:t>
            </a:r>
            <a:r>
              <a:rPr sz="800" i="1" spc="-10" dirty="0">
                <a:latin typeface="Arial"/>
                <a:cs typeface="Arial"/>
              </a:rPr>
              <a:t>=0.5,1,2.</a:t>
            </a:r>
            <a:endParaRPr sz="8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٣١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3707765" cy="187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Poisson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  <a:p>
            <a:pPr marL="171450" marR="20320" indent="-171450">
              <a:lnSpc>
                <a:spcPts val="1290"/>
              </a:lnSpc>
              <a:spcBef>
                <a:spcPts val="168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Definition: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N(t)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counting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function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represents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number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events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occurred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spc="-10" dirty="0">
                <a:latin typeface="Arial"/>
                <a:cs typeface="Arial"/>
              </a:rPr>
              <a:t>[0,t].</a:t>
            </a:r>
            <a:endParaRPr sz="1200">
              <a:latin typeface="Arial"/>
              <a:cs typeface="Arial"/>
            </a:endParaRPr>
          </a:p>
          <a:p>
            <a:pPr marL="170815" marR="5080" indent="-171450">
              <a:lnSpc>
                <a:spcPts val="1300"/>
              </a:lnSpc>
              <a:spcBef>
                <a:spcPts val="28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counting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process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{</a:t>
            </a:r>
            <a:r>
              <a:rPr sz="1200" i="1" dirty="0">
                <a:latin typeface="Arial"/>
                <a:cs typeface="Arial"/>
              </a:rPr>
              <a:t>N(t),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t&gt;=0</a:t>
            </a:r>
            <a:r>
              <a:rPr sz="1200" dirty="0">
                <a:latin typeface="Arial"/>
                <a:cs typeface="Arial"/>
              </a:rPr>
              <a:t>}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Poisson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process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mean rate </a:t>
            </a:r>
            <a:r>
              <a:rPr sz="1000" dirty="0">
                <a:latin typeface="Symbol"/>
                <a:cs typeface="Symbol"/>
              </a:rPr>
              <a:t>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Arial"/>
                <a:cs typeface="Arial"/>
              </a:rPr>
              <a:t>if: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95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Arrivals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occur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time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120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{</a:t>
            </a:r>
            <a:r>
              <a:rPr sz="1000" i="1" dirty="0">
                <a:latin typeface="Arial"/>
                <a:cs typeface="Arial"/>
              </a:rPr>
              <a:t>N(t),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t&gt;=0</a:t>
            </a:r>
            <a:r>
              <a:rPr sz="1000" dirty="0">
                <a:latin typeface="Arial"/>
                <a:cs typeface="Arial"/>
              </a:rPr>
              <a:t>}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stationary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increments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125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{</a:t>
            </a:r>
            <a:r>
              <a:rPr sz="1000" i="1" dirty="0">
                <a:latin typeface="Arial"/>
                <a:cs typeface="Arial"/>
              </a:rPr>
              <a:t>N(t),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t&gt;=0</a:t>
            </a:r>
            <a:r>
              <a:rPr sz="1000" dirty="0">
                <a:latin typeface="Arial"/>
                <a:cs typeface="Arial"/>
              </a:rPr>
              <a:t>}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independent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increments</a:t>
            </a:r>
            <a:endParaRPr sz="1000">
              <a:latin typeface="Arial"/>
              <a:cs typeface="Arial"/>
            </a:endParaRPr>
          </a:p>
          <a:p>
            <a:pPr marL="170815" indent="-170815">
              <a:lnSpc>
                <a:spcPct val="100000"/>
              </a:lnSpc>
              <a:spcBef>
                <a:spcPts val="13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spc="-10" dirty="0">
                <a:latin typeface="Arial"/>
                <a:cs typeface="Arial"/>
              </a:rPr>
              <a:t>Properties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1516" y="3141145"/>
            <a:ext cx="3504565" cy="5048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43510" indent="-143510">
              <a:lnSpc>
                <a:spcPct val="100000"/>
              </a:lnSpc>
              <a:spcBef>
                <a:spcPts val="204"/>
              </a:spcBef>
              <a:buClr>
                <a:srgbClr val="9A9ACC"/>
              </a:buClr>
              <a:buSzPct val="80000"/>
              <a:buChar char="□"/>
              <a:tabLst>
                <a:tab pos="143510" algn="l"/>
              </a:tabLst>
            </a:pPr>
            <a:r>
              <a:rPr sz="1000" dirty="0">
                <a:latin typeface="Arial"/>
                <a:cs typeface="Arial"/>
              </a:rPr>
              <a:t>Equal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variance: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E[N(t)]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V[N(t)]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50" i="1" spc="-25" dirty="0">
                <a:latin typeface="Symbol"/>
                <a:cs typeface="Symbol"/>
              </a:rPr>
              <a:t></a:t>
            </a:r>
            <a:r>
              <a:rPr sz="1000" i="1" spc="-25" dirty="0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  <a:p>
            <a:pPr marL="142875" marR="5080" indent="-143510">
              <a:lnSpc>
                <a:spcPts val="1090"/>
              </a:lnSpc>
              <a:spcBef>
                <a:spcPts val="229"/>
              </a:spcBef>
              <a:buClr>
                <a:srgbClr val="9A9ACC"/>
              </a:buClr>
              <a:buSzPct val="80000"/>
              <a:buChar char="□"/>
              <a:tabLst>
                <a:tab pos="142875" algn="l"/>
              </a:tabLst>
            </a:pPr>
            <a:r>
              <a:rPr sz="1000" dirty="0">
                <a:latin typeface="Arial"/>
                <a:cs typeface="Arial"/>
              </a:rPr>
              <a:t>Stationary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increment: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s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 </a:t>
            </a:r>
            <a:r>
              <a:rPr sz="1000" dirty="0">
                <a:latin typeface="Arial"/>
                <a:cs typeface="Arial"/>
              </a:rPr>
              <a:t>also</a:t>
            </a:r>
            <a:r>
              <a:rPr sz="1000" spc="-10" dirty="0">
                <a:latin typeface="Arial"/>
                <a:cs typeface="Arial"/>
              </a:rPr>
              <a:t> Poisson-</a:t>
            </a:r>
            <a:r>
              <a:rPr sz="1000" dirty="0">
                <a:latin typeface="Arial"/>
                <a:cs typeface="Arial"/>
              </a:rPr>
              <a:t>distributed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50" i="1" spc="-25" dirty="0">
                <a:latin typeface="Symbol"/>
                <a:cs typeface="Symbol"/>
              </a:rPr>
              <a:t></a:t>
            </a:r>
            <a:r>
              <a:rPr sz="1000" i="1" spc="-25" dirty="0">
                <a:latin typeface="Arial"/>
                <a:cs typeface="Arial"/>
              </a:rPr>
              <a:t>(t-s)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29305" y="2919222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438" y="0"/>
                </a:lnTo>
              </a:path>
            </a:pathLst>
          </a:custGeom>
          <a:ln w="5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03278" y="2812238"/>
            <a:ext cx="1422400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241300" algn="l"/>
              </a:tabLst>
            </a:pPr>
            <a:r>
              <a:rPr sz="950" spc="-50" dirty="0">
                <a:latin typeface="Times New Roman"/>
                <a:cs typeface="Times New Roman"/>
              </a:rPr>
              <a:t>,</a:t>
            </a:r>
            <a:r>
              <a:rPr sz="950" dirty="0">
                <a:latin typeface="Times New Roman"/>
                <a:cs typeface="Times New Roman"/>
              </a:rPr>
              <a:t>	for</a:t>
            </a:r>
            <a:r>
              <a:rPr sz="950" spc="-3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t</a:t>
            </a:r>
            <a:r>
              <a:rPr sz="950" i="1" spc="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</a:t>
            </a:r>
            <a:r>
              <a:rPr sz="950" dirty="0">
                <a:latin typeface="Times New Roman"/>
                <a:cs typeface="Times New Roman"/>
              </a:rPr>
              <a:t> 0</a:t>
            </a:r>
            <a:r>
              <a:rPr sz="950" spc="-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 </a:t>
            </a:r>
            <a:r>
              <a:rPr sz="950" i="1" dirty="0">
                <a:latin typeface="Times New Roman"/>
                <a:cs typeface="Times New Roman"/>
              </a:rPr>
              <a:t>n</a:t>
            </a:r>
            <a:r>
              <a:rPr sz="950" i="1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0,1,2,...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24469" y="2812238"/>
            <a:ext cx="687070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50" i="1" dirty="0">
                <a:latin typeface="Times New Roman"/>
                <a:cs typeface="Times New Roman"/>
              </a:rPr>
              <a:t>P</a:t>
            </a:r>
            <a:r>
              <a:rPr sz="950" dirty="0">
                <a:latin typeface="Times New Roman"/>
                <a:cs typeface="Times New Roman"/>
              </a:rPr>
              <a:t>[</a:t>
            </a:r>
            <a:r>
              <a:rPr sz="950" i="1" dirty="0">
                <a:latin typeface="Times New Roman"/>
                <a:cs typeface="Times New Roman"/>
              </a:rPr>
              <a:t>N</a:t>
            </a:r>
            <a:r>
              <a:rPr sz="950" i="1" spc="-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t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6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n</a:t>
            </a:r>
            <a:r>
              <a:rPr sz="950" dirty="0">
                <a:latin typeface="Times New Roman"/>
                <a:cs typeface="Times New Roman"/>
              </a:rPr>
              <a:t>] </a:t>
            </a:r>
            <a:r>
              <a:rPr sz="950" spc="-50" dirty="0">
                <a:latin typeface="Symbol"/>
                <a:cs typeface="Symbol"/>
              </a:rPr>
              <a:t></a:t>
            </a:r>
            <a:endParaRPr sz="9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765" y="2698899"/>
            <a:ext cx="492759" cy="3879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05"/>
              </a:spcBef>
            </a:pPr>
            <a:r>
              <a:rPr sz="950" i="1" dirty="0">
                <a:latin typeface="Times New Roman"/>
                <a:cs typeface="Times New Roman"/>
              </a:rPr>
              <a:t>e</a:t>
            </a:r>
            <a:r>
              <a:rPr sz="825" baseline="45454" dirty="0">
                <a:latin typeface="Symbol"/>
                <a:cs typeface="Symbol"/>
              </a:rPr>
              <a:t></a:t>
            </a:r>
            <a:r>
              <a:rPr sz="900" i="1" baseline="41666" dirty="0">
                <a:latin typeface="Symbol"/>
                <a:cs typeface="Symbol"/>
              </a:rPr>
              <a:t></a:t>
            </a:r>
            <a:r>
              <a:rPr sz="825" i="1" baseline="45454" dirty="0">
                <a:latin typeface="Times New Roman"/>
                <a:cs typeface="Times New Roman"/>
              </a:rPr>
              <a:t>t</a:t>
            </a:r>
            <a:r>
              <a:rPr sz="825" i="1" spc="179" baseline="45454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(</a:t>
            </a:r>
            <a:r>
              <a:rPr sz="1050" i="1" spc="-10" dirty="0">
                <a:latin typeface="Symbol"/>
                <a:cs typeface="Symbol"/>
              </a:rPr>
              <a:t></a:t>
            </a:r>
            <a:r>
              <a:rPr sz="950" i="1" spc="-10" dirty="0">
                <a:latin typeface="Times New Roman"/>
                <a:cs typeface="Times New Roman"/>
              </a:rPr>
              <a:t>t</a:t>
            </a:r>
            <a:r>
              <a:rPr sz="950" spc="-10" dirty="0">
                <a:latin typeface="Times New Roman"/>
                <a:cs typeface="Times New Roman"/>
              </a:rPr>
              <a:t>)</a:t>
            </a:r>
            <a:r>
              <a:rPr sz="825" i="1" spc="-15" baseline="45454" dirty="0">
                <a:latin typeface="Times New Roman"/>
                <a:cs typeface="Times New Roman"/>
              </a:rPr>
              <a:t>n</a:t>
            </a:r>
            <a:endParaRPr sz="825" baseline="45454">
              <a:latin typeface="Times New Roman"/>
              <a:cs typeface="Times New Roman"/>
            </a:endParaRPr>
          </a:p>
          <a:p>
            <a:pPr marL="16510" algn="ctr">
              <a:lnSpc>
                <a:spcPct val="100000"/>
              </a:lnSpc>
              <a:spcBef>
                <a:spcPts val="240"/>
              </a:spcBef>
            </a:pPr>
            <a:r>
              <a:rPr sz="950" i="1" spc="-25" dirty="0">
                <a:latin typeface="Times New Roman"/>
                <a:cs typeface="Times New Roman"/>
              </a:rPr>
              <a:t>n</a:t>
            </a:r>
            <a:r>
              <a:rPr sz="950" spc="-25" dirty="0">
                <a:latin typeface="Times New Roman"/>
                <a:cs typeface="Times New Roman"/>
              </a:rPr>
              <a:t>!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٣٢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58596" y="5122926"/>
            <a:ext cx="4497070" cy="2628900"/>
            <a:chOff x="958596" y="5122926"/>
            <a:chExt cx="4497070" cy="262890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7296" y="7614666"/>
              <a:ext cx="952500" cy="13716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34539" y="7623298"/>
            <a:ext cx="86995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00007C"/>
                </a:solidFill>
                <a:latin typeface="Arial"/>
                <a:cs typeface="Arial"/>
              </a:rPr>
              <a:t>Stationary</a:t>
            </a:r>
            <a:r>
              <a:rPr sz="600" spc="-2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00007C"/>
                </a:solidFill>
                <a:latin typeface="Arial"/>
                <a:cs typeface="Arial"/>
              </a:rPr>
              <a:t>&amp;</a:t>
            </a:r>
            <a:r>
              <a:rPr sz="600" spc="-20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00007C"/>
                </a:solidFill>
                <a:latin typeface="Arial"/>
                <a:cs typeface="Arial"/>
              </a:rPr>
              <a:t>Independent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8896" y="7614666"/>
            <a:ext cx="533400" cy="13716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419855" y="7623298"/>
            <a:ext cx="422909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00007C"/>
                </a:solidFill>
                <a:latin typeface="Arial"/>
                <a:cs typeface="Arial"/>
              </a:rPr>
              <a:t>Memoryless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2916" y="4867906"/>
            <a:ext cx="15792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Interarrival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Times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2503" y="4931914"/>
            <a:ext cx="97599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[Poisson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07516" y="5307579"/>
            <a:ext cx="3817620" cy="3162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96850" marR="30480" indent="-171450">
              <a:lnSpc>
                <a:spcPts val="1090"/>
              </a:lnSpc>
              <a:spcBef>
                <a:spcPts val="229"/>
              </a:spcBef>
              <a:buSzPct val="75000"/>
              <a:buFont typeface="Arial"/>
              <a:buChar char="■"/>
              <a:tabLst>
                <a:tab pos="196850" algn="l"/>
                <a:tab pos="198120" algn="l"/>
              </a:tabLst>
            </a:pPr>
            <a:r>
              <a:rPr sz="1000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1000" dirty="0">
                <a:latin typeface="Arial"/>
                <a:cs typeface="Arial"/>
              </a:rPr>
              <a:t>Consider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interarrival </a:t>
            </a:r>
            <a:r>
              <a:rPr sz="1000" dirty="0">
                <a:latin typeface="Arial"/>
                <a:cs typeface="Arial"/>
              </a:rPr>
              <a:t>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Possion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975" i="1" baseline="-21367" dirty="0">
                <a:latin typeface="Arial"/>
                <a:cs typeface="Arial"/>
              </a:rPr>
              <a:t>2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…</a:t>
            </a:r>
            <a:r>
              <a:rPr sz="1000" spc="-25" dirty="0">
                <a:latin typeface="Arial"/>
                <a:cs typeface="Arial"/>
              </a:rPr>
              <a:t>),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975" baseline="-21367" dirty="0">
                <a:latin typeface="Arial"/>
                <a:cs typeface="Arial"/>
              </a:rPr>
              <a:t>i</a:t>
            </a:r>
            <a:r>
              <a:rPr sz="975" spc="104" baseline="-21367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elapsed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i+1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10716" y="6180832"/>
            <a:ext cx="3770629" cy="86804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93675" marR="55880" indent="-143510">
              <a:lnSpc>
                <a:spcPts val="980"/>
              </a:lnSpc>
              <a:spcBef>
                <a:spcPts val="215"/>
              </a:spcBef>
              <a:buSzPct val="77777"/>
              <a:buFont typeface="Arial"/>
              <a:buChar char="□"/>
              <a:tabLst>
                <a:tab pos="193675" algn="l"/>
                <a:tab pos="194945" algn="l"/>
              </a:tabLst>
            </a:pPr>
            <a:r>
              <a:rPr sz="900" dirty="0">
                <a:solidFill>
                  <a:srgbClr val="9A9ACC"/>
                </a:solidFill>
                <a:latin typeface="Times New Roman"/>
                <a:cs typeface="Times New Roman"/>
              </a:rPr>
              <a:t>	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baseline="23148" dirty="0">
                <a:latin typeface="Arial"/>
                <a:cs typeface="Arial"/>
              </a:rPr>
              <a:t>st</a:t>
            </a:r>
            <a:r>
              <a:rPr sz="900" spc="89" baseline="23148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arrival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occurs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arrivals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interval </a:t>
            </a:r>
            <a:r>
              <a:rPr sz="900" dirty="0">
                <a:latin typeface="Arial"/>
                <a:cs typeface="Arial"/>
              </a:rPr>
              <a:t>[0,t],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hence:</a:t>
            </a:r>
            <a:endParaRPr sz="900">
              <a:latin typeface="Arial"/>
              <a:cs typeface="Arial"/>
            </a:endParaRPr>
          </a:p>
          <a:p>
            <a:pPr marL="7366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P{A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975" i="1" spc="97" baseline="-21367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&gt;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t}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P{N(t)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0} 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5" baseline="23148" dirty="0">
                <a:latin typeface="Arial"/>
                <a:cs typeface="Arial"/>
              </a:rPr>
              <a:t>-</a:t>
            </a:r>
            <a:r>
              <a:rPr sz="900" i="1" spc="-37" baseline="23148" dirty="0">
                <a:latin typeface="Symbol"/>
                <a:cs typeface="Symbol"/>
              </a:rPr>
              <a:t></a:t>
            </a:r>
            <a:r>
              <a:rPr sz="900" i="1" spc="-37" baseline="23148" dirty="0">
                <a:latin typeface="Arial"/>
                <a:cs typeface="Arial"/>
              </a:rPr>
              <a:t>t</a:t>
            </a:r>
            <a:endParaRPr sz="900" baseline="23148">
              <a:latin typeface="Arial"/>
              <a:cs typeface="Arial"/>
            </a:endParaRPr>
          </a:p>
          <a:p>
            <a:pPr marL="736600">
              <a:lnSpc>
                <a:spcPct val="100000"/>
              </a:lnSpc>
              <a:spcBef>
                <a:spcPts val="125"/>
              </a:spcBef>
              <a:tabLst>
                <a:tab pos="2564765" algn="l"/>
              </a:tabLst>
            </a:pPr>
            <a:r>
              <a:rPr sz="900" i="1" dirty="0">
                <a:latin typeface="Arial"/>
                <a:cs typeface="Arial"/>
              </a:rPr>
              <a:t>P{A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975" i="1" spc="97" baseline="-21367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&lt;=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t}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–</a:t>
            </a:r>
            <a:r>
              <a:rPr sz="900" i="1" spc="-10" dirty="0">
                <a:latin typeface="Arial"/>
                <a:cs typeface="Arial"/>
              </a:rPr>
              <a:t> e</a:t>
            </a:r>
            <a:r>
              <a:rPr sz="900" i="1" spc="-15" baseline="23148" dirty="0">
                <a:latin typeface="Arial"/>
                <a:cs typeface="Arial"/>
              </a:rPr>
              <a:t>-</a:t>
            </a:r>
            <a:r>
              <a:rPr sz="900" i="1" spc="-37" baseline="23148" dirty="0">
                <a:latin typeface="Symbol"/>
                <a:cs typeface="Symbol"/>
              </a:rPr>
              <a:t></a:t>
            </a:r>
            <a:r>
              <a:rPr sz="900" i="1" spc="-37" baseline="23148" dirty="0">
                <a:latin typeface="Arial"/>
                <a:cs typeface="Arial"/>
              </a:rPr>
              <a:t>t</a:t>
            </a:r>
            <a:r>
              <a:rPr sz="900" i="1" baseline="23148" dirty="0">
                <a:latin typeface="Arial"/>
                <a:cs typeface="Arial"/>
              </a:rPr>
              <a:t>	</a:t>
            </a:r>
            <a:r>
              <a:rPr sz="900" dirty="0">
                <a:latin typeface="Arial"/>
                <a:cs typeface="Arial"/>
              </a:rPr>
              <a:t>[cdf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exp(</a:t>
            </a:r>
            <a:r>
              <a:rPr sz="900" spc="-10" dirty="0">
                <a:latin typeface="Symbol"/>
                <a:cs typeface="Symbol"/>
              </a:rPr>
              <a:t></a:t>
            </a:r>
            <a:r>
              <a:rPr sz="900" spc="-10" dirty="0">
                <a:latin typeface="Arial"/>
                <a:cs typeface="Arial"/>
              </a:rPr>
              <a:t>)]</a:t>
            </a:r>
            <a:endParaRPr sz="900">
              <a:latin typeface="Arial"/>
              <a:cs typeface="Arial"/>
            </a:endParaRPr>
          </a:p>
          <a:p>
            <a:pPr marL="193675" marR="467995" indent="-143510">
              <a:lnSpc>
                <a:spcPts val="980"/>
              </a:lnSpc>
              <a:spcBef>
                <a:spcPts val="220"/>
              </a:spcBef>
              <a:buSzPct val="77777"/>
              <a:buFont typeface="Arial"/>
              <a:buChar char="□"/>
              <a:tabLst>
                <a:tab pos="193675" algn="l"/>
                <a:tab pos="194945" algn="l"/>
              </a:tabLst>
            </a:pPr>
            <a:r>
              <a:rPr sz="900" dirty="0">
                <a:solidFill>
                  <a:srgbClr val="9A9ACC"/>
                </a:solidFill>
                <a:latin typeface="Times New Roman"/>
                <a:cs typeface="Times New Roman"/>
              </a:rPr>
              <a:t>	</a:t>
            </a:r>
            <a:r>
              <a:rPr sz="900" dirty="0">
                <a:latin typeface="Arial"/>
                <a:cs typeface="Arial"/>
              </a:rPr>
              <a:t>Interarrival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75" i="1" baseline="-21367" dirty="0">
                <a:latin typeface="Arial"/>
                <a:cs typeface="Arial"/>
              </a:rPr>
              <a:t>2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…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exponentially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independent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1/</a:t>
            </a:r>
            <a:r>
              <a:rPr sz="950" i="1" spc="-25" dirty="0">
                <a:latin typeface="Symbol"/>
                <a:cs typeface="Symbol"/>
              </a:rPr>
              <a:t></a:t>
            </a:r>
            <a:endParaRPr sz="9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3062" y="7453569"/>
            <a:ext cx="147320" cy="113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0"/>
              </a:lnSpc>
            </a:pPr>
            <a:r>
              <a:rPr sz="800" i="1" spc="-25" dirty="0">
                <a:latin typeface="Arial"/>
                <a:cs typeface="Arial"/>
              </a:rPr>
              <a:t>Poi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06495" y="7294626"/>
            <a:ext cx="914400" cy="300355"/>
          </a:xfrm>
          <a:prstGeom prst="rect">
            <a:avLst/>
          </a:prstGeom>
          <a:ln w="9525">
            <a:solidFill>
              <a:srgbClr val="00007D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ts val="940"/>
              </a:lnSpc>
              <a:spcBef>
                <a:spcPts val="200"/>
              </a:spcBef>
            </a:pPr>
            <a:r>
              <a:rPr sz="800" dirty="0">
                <a:latin typeface="Arial"/>
                <a:cs typeface="Arial"/>
              </a:rPr>
              <a:t>Interarrival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time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1000"/>
              </a:lnSpc>
            </a:pPr>
            <a:r>
              <a:rPr sz="800" dirty="0">
                <a:latin typeface="Arial"/>
                <a:cs typeface="Arial"/>
              </a:rPr>
              <a:t>~ </a:t>
            </a:r>
            <a:r>
              <a:rPr sz="800" i="1" spc="-10" dirty="0">
                <a:latin typeface="Arial"/>
                <a:cs typeface="Arial"/>
              </a:rPr>
              <a:t>Exp(1/</a:t>
            </a:r>
            <a:r>
              <a:rPr sz="850" i="1" spc="-10" dirty="0">
                <a:latin typeface="Symbol"/>
                <a:cs typeface="Symbol"/>
              </a:rPr>
              <a:t></a:t>
            </a:r>
            <a:r>
              <a:rPr sz="800" i="1" spc="-10" dirty="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15895" y="5694421"/>
            <a:ext cx="1679575" cy="1859280"/>
            <a:chOff x="2215895" y="5694421"/>
            <a:chExt cx="1679575" cy="1859280"/>
          </a:xfrm>
        </p:grpSpPr>
        <p:sp>
          <p:nvSpPr>
            <p:cNvPr id="30" name="object 30"/>
            <p:cNvSpPr/>
            <p:nvPr/>
          </p:nvSpPr>
          <p:spPr>
            <a:xfrm>
              <a:off x="2825495" y="7370826"/>
              <a:ext cx="381000" cy="152400"/>
            </a:xfrm>
            <a:custGeom>
              <a:avLst/>
              <a:gdLst/>
              <a:ahLst/>
              <a:cxnLst/>
              <a:rect l="l" t="t" r="r" b="b"/>
              <a:pathLst>
                <a:path w="381000" h="152400">
                  <a:moveTo>
                    <a:pt x="0" y="76200"/>
                  </a:moveTo>
                  <a:lnTo>
                    <a:pt x="76200" y="152400"/>
                  </a:lnTo>
                  <a:lnTo>
                    <a:pt x="76200" y="114300"/>
                  </a:lnTo>
                  <a:lnTo>
                    <a:pt x="304800" y="114300"/>
                  </a:lnTo>
                  <a:lnTo>
                    <a:pt x="304800" y="152400"/>
                  </a:lnTo>
                  <a:lnTo>
                    <a:pt x="381000" y="76200"/>
                  </a:lnTo>
                  <a:lnTo>
                    <a:pt x="304800" y="0"/>
                  </a:lnTo>
                  <a:lnTo>
                    <a:pt x="304800" y="38100"/>
                  </a:lnTo>
                  <a:lnTo>
                    <a:pt x="76200" y="38100"/>
                  </a:lnTo>
                  <a:lnTo>
                    <a:pt x="76200" y="0"/>
                  </a:lnTo>
                  <a:lnTo>
                    <a:pt x="0" y="76200"/>
                  </a:lnTo>
                  <a:close/>
                </a:path>
              </a:pathLst>
            </a:custGeom>
            <a:ln w="4762">
              <a:solidFill>
                <a:srgbClr val="000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5895" y="5694421"/>
              <a:ext cx="1679092" cy="41452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324861" y="7434072"/>
              <a:ext cx="162560" cy="120014"/>
            </a:xfrm>
            <a:custGeom>
              <a:avLst/>
              <a:gdLst/>
              <a:ahLst/>
              <a:cxnLst/>
              <a:rect l="l" t="t" r="r" b="b"/>
              <a:pathLst>
                <a:path w="162560" h="120015">
                  <a:moveTo>
                    <a:pt x="162306" y="0"/>
                  </a:moveTo>
                  <a:lnTo>
                    <a:pt x="0" y="0"/>
                  </a:lnTo>
                  <a:lnTo>
                    <a:pt x="0" y="119633"/>
                  </a:lnTo>
                  <a:lnTo>
                    <a:pt x="162306" y="119633"/>
                  </a:lnTo>
                  <a:lnTo>
                    <a:pt x="162306" y="0"/>
                  </a:lnTo>
                  <a:close/>
                </a:path>
              </a:pathLst>
            </a:custGeom>
            <a:solidFill>
              <a:srgbClr val="FFFF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063495" y="7294626"/>
            <a:ext cx="762000" cy="300355"/>
          </a:xfrm>
          <a:prstGeom prst="rect">
            <a:avLst/>
          </a:prstGeom>
          <a:ln w="9525">
            <a:solidFill>
              <a:srgbClr val="00007D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algn="ctr">
              <a:lnSpc>
                <a:spcPts val="940"/>
              </a:lnSpc>
              <a:spcBef>
                <a:spcPts val="200"/>
              </a:spcBef>
            </a:pPr>
            <a:r>
              <a:rPr sz="800" dirty="0">
                <a:latin typeface="Arial"/>
                <a:cs typeface="Arial"/>
              </a:rPr>
              <a:t>Arrival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counts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1000"/>
              </a:lnSpc>
            </a:pPr>
            <a:r>
              <a:rPr sz="800" dirty="0">
                <a:latin typeface="Arial"/>
                <a:cs typeface="Arial"/>
              </a:rPr>
              <a:t>~</a:t>
            </a:r>
            <a:r>
              <a:rPr sz="1050" baseline="11904" dirty="0">
                <a:latin typeface="Tahoma"/>
                <a:cs typeface="Tahoma"/>
              </a:rPr>
              <a:t>B42</a:t>
            </a:r>
            <a:r>
              <a:rPr sz="1050" spc="-52" baseline="11904" dirty="0">
                <a:latin typeface="Tahoma"/>
                <a:cs typeface="Tahoma"/>
              </a:rPr>
              <a:t> </a:t>
            </a:r>
            <a:r>
              <a:rPr sz="800" i="1" spc="-25" dirty="0">
                <a:latin typeface="Arial"/>
                <a:cs typeface="Arial"/>
              </a:rPr>
              <a:t>(</a:t>
            </a:r>
            <a:r>
              <a:rPr sz="850" i="1" spc="-25" dirty="0">
                <a:latin typeface="Symbol"/>
                <a:cs typeface="Symbol"/>
              </a:rPr>
              <a:t></a:t>
            </a:r>
            <a:r>
              <a:rPr sz="800" i="1" spc="-25" dirty="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58214" y="4589145"/>
            <a:ext cx="4572000" cy="3429000"/>
            <a:chOff x="958214" y="4589145"/>
            <a:chExt cx="4572000" cy="3429000"/>
          </a:xfrm>
        </p:grpSpPr>
        <p:sp>
          <p:nvSpPr>
            <p:cNvPr id="35" name="object 35"/>
            <p:cNvSpPr/>
            <p:nvPr/>
          </p:nvSpPr>
          <p:spPr>
            <a:xfrm>
              <a:off x="2326386" y="7435596"/>
              <a:ext cx="159385" cy="116839"/>
            </a:xfrm>
            <a:custGeom>
              <a:avLst/>
              <a:gdLst/>
              <a:ahLst/>
              <a:cxnLst/>
              <a:rect l="l" t="t" r="r" b="b"/>
              <a:pathLst>
                <a:path w="159385" h="116840">
                  <a:moveTo>
                    <a:pt x="0" y="116585"/>
                  </a:moveTo>
                  <a:lnTo>
                    <a:pt x="159257" y="116585"/>
                  </a:lnTo>
                  <a:lnTo>
                    <a:pt x="159257" y="0"/>
                  </a:lnTo>
                  <a:lnTo>
                    <a:pt x="0" y="0"/>
                  </a:lnTo>
                  <a:lnTo>
                    <a:pt x="0" y="116585"/>
                  </a:lnTo>
                  <a:close/>
                </a:path>
              </a:pathLst>
            </a:custGeom>
            <a:ln w="3175">
              <a:solidFill>
                <a:srgbClr val="A4A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4691" y="4595622"/>
              <a:ext cx="4559300" cy="3416300"/>
            </a:xfrm>
            <a:custGeom>
              <a:avLst/>
              <a:gdLst/>
              <a:ahLst/>
              <a:cxnLst/>
              <a:rect l="l" t="t" r="r" b="b"/>
              <a:pathLst>
                <a:path w="4559300" h="3416300">
                  <a:moveTo>
                    <a:pt x="0" y="3416046"/>
                  </a:moveTo>
                  <a:lnTo>
                    <a:pt x="4559046" y="3416046"/>
                  </a:lnTo>
                  <a:lnTo>
                    <a:pt x="4559046" y="0"/>
                  </a:lnTo>
                  <a:lnTo>
                    <a:pt x="0" y="0"/>
                  </a:lnTo>
                  <a:lnTo>
                    <a:pt x="0" y="3416046"/>
                  </a:lnTo>
                  <a:close/>
                </a:path>
              </a:pathLst>
            </a:custGeom>
            <a:ln w="129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٣٣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32916" y="891028"/>
            <a:ext cx="18624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Splitting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Pooling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6115" y="955035"/>
            <a:ext cx="97599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[Poisson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372" y="3204081"/>
            <a:ext cx="43942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Symbol"/>
                <a:cs typeface="Symbol"/>
              </a:rPr>
              <a:t>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975" i="1" spc="97" baseline="-2136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50" i="1" spc="-25" dirty="0">
                <a:latin typeface="Symbol"/>
                <a:cs typeface="Symbol"/>
              </a:rPr>
              <a:t></a:t>
            </a:r>
            <a:r>
              <a:rPr sz="975" i="1" spc="-37" baseline="-21367" dirty="0">
                <a:latin typeface="Arial"/>
                <a:cs typeface="Arial"/>
              </a:rPr>
              <a:t>2</a:t>
            </a:r>
            <a:endParaRPr sz="975" baseline="-21367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9796" y="2212847"/>
            <a:ext cx="914400" cy="386715"/>
          </a:xfrm>
          <a:custGeom>
            <a:avLst/>
            <a:gdLst/>
            <a:ahLst/>
            <a:cxnLst/>
            <a:rect l="l" t="t" r="r" b="b"/>
            <a:pathLst>
              <a:path w="914400" h="386714">
                <a:moveTo>
                  <a:pt x="914400" y="0"/>
                </a:moveTo>
                <a:lnTo>
                  <a:pt x="866394" y="1524"/>
                </a:lnTo>
                <a:lnTo>
                  <a:pt x="873150" y="14058"/>
                </a:lnTo>
                <a:lnTo>
                  <a:pt x="491490" y="222504"/>
                </a:lnTo>
                <a:lnTo>
                  <a:pt x="494766" y="228346"/>
                </a:lnTo>
                <a:lnTo>
                  <a:pt x="481584" y="221742"/>
                </a:lnTo>
                <a:lnTo>
                  <a:pt x="452628" y="207264"/>
                </a:lnTo>
                <a:lnTo>
                  <a:pt x="452628" y="221742"/>
                </a:lnTo>
                <a:lnTo>
                  <a:pt x="0" y="221742"/>
                </a:lnTo>
                <a:lnTo>
                  <a:pt x="0" y="235470"/>
                </a:lnTo>
                <a:lnTo>
                  <a:pt x="452628" y="235470"/>
                </a:lnTo>
                <a:lnTo>
                  <a:pt x="452628" y="249936"/>
                </a:lnTo>
                <a:lnTo>
                  <a:pt x="481571" y="235470"/>
                </a:lnTo>
                <a:lnTo>
                  <a:pt x="494995" y="228752"/>
                </a:lnTo>
                <a:lnTo>
                  <a:pt x="495147" y="229044"/>
                </a:lnTo>
                <a:lnTo>
                  <a:pt x="493014" y="235458"/>
                </a:lnTo>
                <a:lnTo>
                  <a:pt x="871397" y="373062"/>
                </a:lnTo>
                <a:lnTo>
                  <a:pt x="866394" y="386334"/>
                </a:lnTo>
                <a:lnTo>
                  <a:pt x="914400" y="381000"/>
                </a:lnTo>
                <a:lnTo>
                  <a:pt x="909408" y="375666"/>
                </a:lnTo>
                <a:lnTo>
                  <a:pt x="881634" y="345948"/>
                </a:lnTo>
                <a:lnTo>
                  <a:pt x="876503" y="359537"/>
                </a:lnTo>
                <a:lnTo>
                  <a:pt x="512305" y="227101"/>
                </a:lnTo>
                <a:lnTo>
                  <a:pt x="880110" y="26936"/>
                </a:lnTo>
                <a:lnTo>
                  <a:pt x="886968" y="39624"/>
                </a:lnTo>
                <a:lnTo>
                  <a:pt x="907008" y="10668"/>
                </a:lnTo>
                <a:lnTo>
                  <a:pt x="914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15895" y="2324100"/>
            <a:ext cx="723900" cy="177800"/>
          </a:xfrm>
          <a:prstGeom prst="rect">
            <a:avLst/>
          </a:prstGeom>
          <a:ln w="9525">
            <a:solidFill>
              <a:srgbClr val="666699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800" b="1" i="1" dirty="0">
                <a:latin typeface="Arial"/>
                <a:cs typeface="Arial"/>
              </a:rPr>
              <a:t>N(t)</a:t>
            </a:r>
            <a:r>
              <a:rPr sz="800" b="1" i="1" spc="-5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~ </a:t>
            </a:r>
            <a:r>
              <a:rPr sz="800" b="1" i="1" spc="-10" dirty="0">
                <a:latin typeface="Arial"/>
                <a:cs typeface="Arial"/>
              </a:rPr>
              <a:t>Poi(</a:t>
            </a:r>
            <a:r>
              <a:rPr sz="850" b="1" i="1" spc="-10" dirty="0">
                <a:latin typeface="Symbol"/>
                <a:cs typeface="Symbol"/>
              </a:rPr>
              <a:t></a:t>
            </a:r>
            <a:r>
              <a:rPr sz="800" b="1" i="1" spc="-10" dirty="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196" y="2158745"/>
            <a:ext cx="838200" cy="177800"/>
          </a:xfrm>
          <a:prstGeom prst="rect">
            <a:avLst/>
          </a:prstGeom>
          <a:ln w="9525">
            <a:solidFill>
              <a:srgbClr val="666699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800" b="1" i="1" dirty="0">
                <a:latin typeface="Arial"/>
                <a:cs typeface="Arial"/>
              </a:rPr>
              <a:t>N1(t)</a:t>
            </a:r>
            <a:r>
              <a:rPr sz="800" b="1" i="1" spc="-1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~</a:t>
            </a:r>
            <a:r>
              <a:rPr sz="800" b="1" i="1" spc="-5" dirty="0">
                <a:latin typeface="Arial"/>
                <a:cs typeface="Arial"/>
              </a:rPr>
              <a:t> </a:t>
            </a:r>
            <a:r>
              <a:rPr sz="800" b="1" i="1" spc="-10" dirty="0">
                <a:latin typeface="Arial"/>
                <a:cs typeface="Arial"/>
              </a:rPr>
              <a:t>Poi[</a:t>
            </a:r>
            <a:r>
              <a:rPr sz="850" b="1" i="1" spc="-10" dirty="0">
                <a:latin typeface="Symbol"/>
                <a:cs typeface="Symbol"/>
              </a:rPr>
              <a:t></a:t>
            </a:r>
            <a:r>
              <a:rPr sz="800" b="1" i="1" spc="-10" dirty="0">
                <a:latin typeface="Arial"/>
                <a:cs typeface="Arial"/>
              </a:rPr>
              <a:t>p]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54196" y="2501645"/>
            <a:ext cx="952500" cy="177800"/>
          </a:xfrm>
          <a:prstGeom prst="rect">
            <a:avLst/>
          </a:prstGeom>
          <a:ln w="9525">
            <a:solidFill>
              <a:srgbClr val="666699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800" b="1" i="1" dirty="0">
                <a:latin typeface="Arial"/>
                <a:cs typeface="Arial"/>
              </a:rPr>
              <a:t>N2(t)</a:t>
            </a:r>
            <a:r>
              <a:rPr sz="800" b="1" i="1" spc="1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~</a:t>
            </a:r>
            <a:r>
              <a:rPr sz="800" b="1" i="1" spc="10" dirty="0">
                <a:latin typeface="Arial"/>
                <a:cs typeface="Arial"/>
              </a:rPr>
              <a:t> </a:t>
            </a:r>
            <a:r>
              <a:rPr sz="800" b="1" i="1" spc="-10" dirty="0">
                <a:latin typeface="Arial"/>
                <a:cs typeface="Arial"/>
              </a:rPr>
              <a:t>Poi[</a:t>
            </a:r>
            <a:r>
              <a:rPr sz="850" b="1" i="1" spc="-10" dirty="0">
                <a:latin typeface="Symbol"/>
                <a:cs typeface="Symbol"/>
              </a:rPr>
              <a:t></a:t>
            </a:r>
            <a:r>
              <a:rPr sz="800" b="1" i="1" spc="-10" dirty="0">
                <a:latin typeface="Arial"/>
                <a:cs typeface="Arial"/>
              </a:rPr>
              <a:t>(1-</a:t>
            </a:r>
            <a:r>
              <a:rPr sz="800" b="1" i="1" spc="-25" dirty="0">
                <a:latin typeface="Arial"/>
                <a:cs typeface="Arial"/>
              </a:rPr>
              <a:t>p)]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2916" y="1307726"/>
            <a:ext cx="4020185" cy="1943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70815" indent="-170815">
              <a:lnSpc>
                <a:spcPct val="100000"/>
              </a:lnSpc>
              <a:spcBef>
                <a:spcPts val="250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spc="-10" dirty="0">
                <a:latin typeface="Arial"/>
                <a:cs typeface="Arial"/>
              </a:rPr>
              <a:t>Splitting:</a:t>
            </a:r>
            <a:endParaRPr sz="1200">
              <a:latin typeface="Arial"/>
              <a:cs typeface="Arial"/>
            </a:endParaRPr>
          </a:p>
          <a:p>
            <a:pPr marL="371475" marR="126364" lvl="1" indent="-143510">
              <a:lnSpc>
                <a:spcPts val="1080"/>
              </a:lnSpc>
              <a:spcBef>
                <a:spcPts val="265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Suppose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each event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 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Poisson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 can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as </a:t>
            </a:r>
            <a:r>
              <a:rPr sz="1000" dirty="0">
                <a:latin typeface="Arial"/>
                <a:cs typeface="Arial"/>
              </a:rPr>
              <a:t>Type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II,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1-</a:t>
            </a:r>
            <a:r>
              <a:rPr sz="1000" i="1" spc="-25" dirty="0">
                <a:latin typeface="Arial"/>
                <a:cs typeface="Arial"/>
              </a:rPr>
              <a:t>p.</a:t>
            </a:r>
            <a:endParaRPr sz="1000">
              <a:latin typeface="Arial"/>
              <a:cs typeface="Arial"/>
            </a:endParaRPr>
          </a:p>
          <a:p>
            <a:pPr marL="371475" marR="294640" lvl="1" indent="-143510">
              <a:lnSpc>
                <a:spcPts val="1090"/>
              </a:lnSpc>
              <a:spcBef>
                <a:spcPts val="229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371475" algn="l"/>
              </a:tabLst>
            </a:pPr>
            <a:r>
              <a:rPr sz="1000" i="1" dirty="0">
                <a:latin typeface="Arial"/>
                <a:cs typeface="Arial"/>
              </a:rPr>
              <a:t>N(t)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N1(t)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N2(t)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N1(t)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N2(t)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Poisson </a:t>
            </a:r>
            <a:r>
              <a:rPr sz="1000" dirty="0">
                <a:latin typeface="Arial"/>
                <a:cs typeface="Arial"/>
              </a:rPr>
              <a:t>processes with rates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</a:t>
            </a:r>
            <a:r>
              <a:rPr sz="1000" i="1" dirty="0">
                <a:latin typeface="Arial"/>
                <a:cs typeface="Arial"/>
              </a:rPr>
              <a:t>p </a:t>
            </a:r>
            <a:r>
              <a:rPr sz="1000" dirty="0">
                <a:latin typeface="Arial"/>
                <a:cs typeface="Arial"/>
              </a:rPr>
              <a:t>and </a:t>
            </a:r>
            <a:r>
              <a:rPr sz="1050" i="1" dirty="0">
                <a:latin typeface="Symbol"/>
                <a:cs typeface="Symbol"/>
              </a:rPr>
              <a:t></a:t>
            </a:r>
            <a:r>
              <a:rPr sz="1000" i="1" dirty="0">
                <a:latin typeface="Arial"/>
                <a:cs typeface="Arial"/>
              </a:rPr>
              <a:t>(1-</a:t>
            </a:r>
            <a:r>
              <a:rPr sz="1000" i="1" spc="-25" dirty="0">
                <a:latin typeface="Arial"/>
                <a:cs typeface="Arial"/>
              </a:rPr>
              <a:t>p)</a:t>
            </a:r>
            <a:endParaRPr sz="1000">
              <a:latin typeface="Arial"/>
              <a:cs typeface="Arial"/>
            </a:endParaRPr>
          </a:p>
          <a:p>
            <a:pPr marL="687070" algn="ctr">
              <a:lnSpc>
                <a:spcPts val="930"/>
              </a:lnSpc>
              <a:spcBef>
                <a:spcPts val="480"/>
              </a:spcBef>
            </a:pPr>
            <a:r>
              <a:rPr sz="800" spc="-25" dirty="0">
                <a:latin typeface="Symbol"/>
                <a:cs typeface="Symbol"/>
              </a:rPr>
              <a:t></a:t>
            </a:r>
            <a:r>
              <a:rPr sz="800" spc="-25" dirty="0"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  <a:p>
            <a:pPr marR="67310" algn="ctr">
              <a:lnSpc>
                <a:spcPts val="930"/>
              </a:lnSpc>
            </a:pPr>
            <a:r>
              <a:rPr sz="800" spc="-50" dirty="0">
                <a:latin typeface="Symbol"/>
                <a:cs typeface="Symbol"/>
              </a:rPr>
              <a:t></a:t>
            </a:r>
            <a:endParaRPr sz="8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Symbol"/>
              <a:cs typeface="Symbol"/>
            </a:endParaRPr>
          </a:p>
          <a:p>
            <a:pPr marL="687070" algn="ctr">
              <a:lnSpc>
                <a:spcPct val="100000"/>
              </a:lnSpc>
            </a:pPr>
            <a:r>
              <a:rPr sz="800" spc="-10" dirty="0">
                <a:latin typeface="Symbol"/>
                <a:cs typeface="Symbol"/>
              </a:rPr>
              <a:t></a:t>
            </a:r>
            <a:r>
              <a:rPr sz="800" spc="-10" dirty="0">
                <a:latin typeface="Arial"/>
                <a:cs typeface="Arial"/>
              </a:rPr>
              <a:t>(1-</a:t>
            </a:r>
            <a:r>
              <a:rPr sz="800" spc="-25" dirty="0">
                <a:latin typeface="Arial"/>
                <a:cs typeface="Arial"/>
              </a:rPr>
              <a:t>p)</a:t>
            </a:r>
            <a:endParaRPr sz="800">
              <a:latin typeface="Arial"/>
              <a:cs typeface="Arial"/>
            </a:endParaRPr>
          </a:p>
          <a:p>
            <a:pPr marL="170815" indent="-170815">
              <a:lnSpc>
                <a:spcPct val="100000"/>
              </a:lnSpc>
              <a:spcBef>
                <a:spcPts val="275"/>
              </a:spcBef>
              <a:buClr>
                <a:srgbClr val="00007C"/>
              </a:buClr>
              <a:buSzPct val="75000"/>
              <a:buChar char="■"/>
              <a:tabLst>
                <a:tab pos="170815" algn="l"/>
              </a:tabLst>
            </a:pPr>
            <a:r>
              <a:rPr sz="1200" spc="-10" dirty="0">
                <a:latin typeface="Arial"/>
                <a:cs typeface="Arial"/>
              </a:rPr>
              <a:t>Pooling:</a:t>
            </a:r>
            <a:endParaRPr sz="12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125"/>
              </a:spcBef>
              <a:buClr>
                <a:srgbClr val="9A9ACC"/>
              </a:buClr>
              <a:buSzPct val="80000"/>
              <a:buChar char="□"/>
              <a:tabLst>
                <a:tab pos="372110" algn="l"/>
              </a:tabLst>
            </a:pPr>
            <a:r>
              <a:rPr sz="1000" dirty="0">
                <a:latin typeface="Arial"/>
                <a:cs typeface="Arial"/>
              </a:rPr>
              <a:t>Suppose two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Poisson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processes are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pooled </a:t>
            </a:r>
            <a:r>
              <a:rPr sz="1000" spc="-10" dirty="0">
                <a:latin typeface="Arial"/>
                <a:cs typeface="Arial"/>
              </a:rPr>
              <a:t>together</a:t>
            </a:r>
            <a:endParaRPr sz="1000">
              <a:latin typeface="Arial"/>
              <a:cs typeface="Arial"/>
            </a:endParaRPr>
          </a:p>
          <a:p>
            <a:pPr marL="372110" lvl="1" indent="-143510">
              <a:lnSpc>
                <a:spcPct val="100000"/>
              </a:lnSpc>
              <a:spcBef>
                <a:spcPts val="120"/>
              </a:spcBef>
              <a:buClr>
                <a:srgbClr val="9A9ACC"/>
              </a:buClr>
              <a:buSzPct val="80000"/>
              <a:buFont typeface="Arial"/>
              <a:buChar char="□"/>
              <a:tabLst>
                <a:tab pos="372110" algn="l"/>
              </a:tabLst>
            </a:pPr>
            <a:r>
              <a:rPr sz="1000" i="1" dirty="0">
                <a:latin typeface="Arial"/>
                <a:cs typeface="Arial"/>
              </a:rPr>
              <a:t>N1(t)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+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N2(t)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N(t)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N(t)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Poisson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rates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89148" y="3387089"/>
            <a:ext cx="955675" cy="394335"/>
          </a:xfrm>
          <a:custGeom>
            <a:avLst/>
            <a:gdLst/>
            <a:ahLst/>
            <a:cxnLst/>
            <a:rect l="l" t="t" r="r" b="b"/>
            <a:pathLst>
              <a:path w="955675" h="394335">
                <a:moveTo>
                  <a:pt x="460248" y="159258"/>
                </a:moveTo>
                <a:lnTo>
                  <a:pt x="455676" y="154686"/>
                </a:lnTo>
                <a:lnTo>
                  <a:pt x="425958" y="124968"/>
                </a:lnTo>
                <a:lnTo>
                  <a:pt x="421614" y="138772"/>
                </a:lnTo>
                <a:lnTo>
                  <a:pt x="5334" y="0"/>
                </a:lnTo>
                <a:lnTo>
                  <a:pt x="762" y="13716"/>
                </a:lnTo>
                <a:lnTo>
                  <a:pt x="417334" y="152336"/>
                </a:lnTo>
                <a:lnTo>
                  <a:pt x="415150" y="159258"/>
                </a:lnTo>
                <a:lnTo>
                  <a:pt x="412242" y="159258"/>
                </a:lnTo>
                <a:lnTo>
                  <a:pt x="414032" y="162852"/>
                </a:lnTo>
                <a:lnTo>
                  <a:pt x="413004" y="166116"/>
                </a:lnTo>
                <a:lnTo>
                  <a:pt x="415480" y="165760"/>
                </a:lnTo>
                <a:lnTo>
                  <a:pt x="418795" y="172364"/>
                </a:lnTo>
                <a:lnTo>
                  <a:pt x="0" y="381762"/>
                </a:lnTo>
                <a:lnTo>
                  <a:pt x="6096" y="393954"/>
                </a:lnTo>
                <a:lnTo>
                  <a:pt x="424878" y="184556"/>
                </a:lnTo>
                <a:lnTo>
                  <a:pt x="431292" y="197358"/>
                </a:lnTo>
                <a:lnTo>
                  <a:pt x="452716" y="169164"/>
                </a:lnTo>
                <a:lnTo>
                  <a:pt x="460248" y="159258"/>
                </a:lnTo>
                <a:close/>
              </a:path>
              <a:path w="955675" h="394335">
                <a:moveTo>
                  <a:pt x="955548" y="159258"/>
                </a:moveTo>
                <a:lnTo>
                  <a:pt x="941832" y="152400"/>
                </a:lnTo>
                <a:lnTo>
                  <a:pt x="912876" y="137922"/>
                </a:lnTo>
                <a:lnTo>
                  <a:pt x="912876" y="152400"/>
                </a:lnTo>
                <a:lnTo>
                  <a:pt x="460248" y="152400"/>
                </a:lnTo>
                <a:lnTo>
                  <a:pt x="460248" y="159258"/>
                </a:lnTo>
                <a:lnTo>
                  <a:pt x="460248" y="166116"/>
                </a:lnTo>
                <a:lnTo>
                  <a:pt x="912876" y="166116"/>
                </a:lnTo>
                <a:lnTo>
                  <a:pt x="912876" y="180594"/>
                </a:lnTo>
                <a:lnTo>
                  <a:pt x="941832" y="166116"/>
                </a:lnTo>
                <a:lnTo>
                  <a:pt x="955548" y="1592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44696" y="3445002"/>
            <a:ext cx="952500" cy="177800"/>
          </a:xfrm>
          <a:prstGeom prst="rect">
            <a:avLst/>
          </a:prstGeom>
          <a:ln w="9525">
            <a:solidFill>
              <a:srgbClr val="666699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800" b="1" i="1" dirty="0">
                <a:latin typeface="Arial"/>
                <a:cs typeface="Arial"/>
              </a:rPr>
              <a:t>N(t)</a:t>
            </a:r>
            <a:r>
              <a:rPr sz="800" b="1" i="1" spc="-2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~</a:t>
            </a:r>
            <a:r>
              <a:rPr sz="800" b="1" i="1" spc="-2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Poi(</a:t>
            </a:r>
            <a:r>
              <a:rPr sz="850" b="1" i="1" dirty="0">
                <a:latin typeface="Symbol"/>
                <a:cs typeface="Symbol"/>
              </a:rPr>
              <a:t></a:t>
            </a:r>
            <a:r>
              <a:rPr sz="825" b="1" i="1" baseline="-20202" dirty="0">
                <a:latin typeface="Arial"/>
                <a:cs typeface="Arial"/>
              </a:rPr>
              <a:t>1</a:t>
            </a:r>
            <a:r>
              <a:rPr sz="825" b="1" i="1" spc="52" baseline="-20202" dirty="0">
                <a:latin typeface="Arial"/>
                <a:cs typeface="Arial"/>
              </a:rPr>
              <a:t> </a:t>
            </a:r>
            <a:r>
              <a:rPr sz="850" b="1" i="1" dirty="0">
                <a:latin typeface="Symbol"/>
                <a:cs typeface="Symbol"/>
              </a:rPr>
              <a:t></a:t>
            </a:r>
            <a:r>
              <a:rPr sz="850" spc="-25" dirty="0">
                <a:latin typeface="Times New Roman"/>
                <a:cs typeface="Times New Roman"/>
              </a:rPr>
              <a:t> </a:t>
            </a:r>
            <a:r>
              <a:rPr sz="850" b="1" i="1" spc="-25" dirty="0">
                <a:latin typeface="Symbol"/>
                <a:cs typeface="Symbol"/>
              </a:rPr>
              <a:t></a:t>
            </a:r>
            <a:r>
              <a:rPr sz="825" b="1" i="1" spc="-37" baseline="-20202" dirty="0">
                <a:latin typeface="Arial"/>
                <a:cs typeface="Arial"/>
              </a:rPr>
              <a:t>2</a:t>
            </a:r>
            <a:r>
              <a:rPr sz="800" b="1" i="1" spc="-25" dirty="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15895" y="3292602"/>
            <a:ext cx="876300" cy="177800"/>
          </a:xfrm>
          <a:prstGeom prst="rect">
            <a:avLst/>
          </a:prstGeom>
          <a:ln w="9525">
            <a:solidFill>
              <a:srgbClr val="666699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800" b="1" i="1" dirty="0">
                <a:latin typeface="Arial"/>
                <a:cs typeface="Arial"/>
              </a:rPr>
              <a:t>N1(t)</a:t>
            </a:r>
            <a:r>
              <a:rPr sz="800" b="1" i="1" spc="-1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~</a:t>
            </a:r>
            <a:r>
              <a:rPr sz="800" b="1" i="1" spc="-5" dirty="0">
                <a:latin typeface="Arial"/>
                <a:cs typeface="Arial"/>
              </a:rPr>
              <a:t> </a:t>
            </a:r>
            <a:r>
              <a:rPr sz="800" b="1" i="1" spc="-10" dirty="0">
                <a:latin typeface="Arial"/>
                <a:cs typeface="Arial"/>
              </a:rPr>
              <a:t>Poi[</a:t>
            </a:r>
            <a:r>
              <a:rPr sz="850" b="1" i="1" spc="-10" dirty="0">
                <a:latin typeface="Symbol"/>
                <a:cs typeface="Symbol"/>
              </a:rPr>
              <a:t></a:t>
            </a:r>
            <a:r>
              <a:rPr sz="825" b="1" i="1" spc="-15" baseline="-20202" dirty="0">
                <a:latin typeface="Symbol"/>
                <a:cs typeface="Symbol"/>
              </a:rPr>
              <a:t></a:t>
            </a:r>
            <a:r>
              <a:rPr sz="800" b="1" i="1" spc="-10" dirty="0">
                <a:latin typeface="Arial"/>
                <a:cs typeface="Arial"/>
              </a:rPr>
              <a:t>]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15895" y="3635502"/>
            <a:ext cx="876300" cy="177800"/>
          </a:xfrm>
          <a:prstGeom prst="rect">
            <a:avLst/>
          </a:prstGeom>
          <a:ln w="9525">
            <a:solidFill>
              <a:srgbClr val="666699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60"/>
              </a:spcBef>
            </a:pPr>
            <a:r>
              <a:rPr sz="800" b="1" i="1" dirty="0">
                <a:latin typeface="Arial"/>
                <a:cs typeface="Arial"/>
              </a:rPr>
              <a:t>N2(t)</a:t>
            </a:r>
            <a:r>
              <a:rPr sz="800" b="1" i="1" spc="-10" dirty="0">
                <a:latin typeface="Arial"/>
                <a:cs typeface="Arial"/>
              </a:rPr>
              <a:t> </a:t>
            </a:r>
            <a:r>
              <a:rPr sz="800" b="1" i="1" dirty="0">
                <a:latin typeface="Arial"/>
                <a:cs typeface="Arial"/>
              </a:rPr>
              <a:t>~</a:t>
            </a:r>
            <a:r>
              <a:rPr sz="800" b="1" i="1" spc="-5" dirty="0">
                <a:latin typeface="Arial"/>
                <a:cs typeface="Arial"/>
              </a:rPr>
              <a:t> </a:t>
            </a:r>
            <a:r>
              <a:rPr sz="800" b="1" i="1" spc="-10" dirty="0">
                <a:latin typeface="Arial"/>
                <a:cs typeface="Arial"/>
              </a:rPr>
              <a:t>Poi[</a:t>
            </a:r>
            <a:r>
              <a:rPr sz="850" b="1" i="1" spc="-10" dirty="0">
                <a:latin typeface="Symbol"/>
                <a:cs typeface="Symbol"/>
              </a:rPr>
              <a:t></a:t>
            </a:r>
            <a:r>
              <a:rPr sz="825" b="1" i="1" spc="-15" baseline="-20202" dirty="0">
                <a:latin typeface="Symbol"/>
                <a:cs typeface="Symbol"/>
              </a:rPr>
              <a:t></a:t>
            </a:r>
            <a:r>
              <a:rPr sz="800" b="1" i="1" spc="-10" dirty="0">
                <a:latin typeface="Arial"/>
                <a:cs typeface="Arial"/>
              </a:rPr>
              <a:t>]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88769" y="3350002"/>
            <a:ext cx="3517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Symbol"/>
                <a:cs typeface="Symbol"/>
              </a:rPr>
              <a:t></a:t>
            </a:r>
            <a:r>
              <a:rPr sz="825" baseline="-20202" dirty="0">
                <a:latin typeface="Symbol"/>
                <a:cs typeface="Symbol"/>
              </a:rPr>
              <a:t></a:t>
            </a:r>
            <a:r>
              <a:rPr sz="825" spc="89" baseline="-20202" dirty="0">
                <a:latin typeface="Times New Roman"/>
                <a:cs typeface="Times New Roman"/>
              </a:rPr>
              <a:t> </a:t>
            </a:r>
            <a:r>
              <a:rPr sz="800" dirty="0">
                <a:latin typeface="Symbol"/>
                <a:cs typeface="Symbol"/>
              </a:rPr>
              <a:t></a:t>
            </a:r>
            <a:r>
              <a:rPr sz="800" spc="-5" dirty="0">
                <a:latin typeface="Times New Roman"/>
                <a:cs typeface="Times New Roman"/>
              </a:rPr>
              <a:t> </a:t>
            </a:r>
            <a:r>
              <a:rPr sz="800" spc="-25" dirty="0">
                <a:latin typeface="Symbol"/>
                <a:cs typeface="Symbol"/>
              </a:rPr>
              <a:t></a:t>
            </a:r>
            <a:r>
              <a:rPr sz="825" spc="-37" baseline="-20202" dirty="0">
                <a:latin typeface="Symbol"/>
                <a:cs typeface="Symbol"/>
              </a:rPr>
              <a:t></a:t>
            </a:r>
            <a:endParaRPr sz="825" baseline="-20202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34689" y="3289804"/>
            <a:ext cx="685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Symbol"/>
                <a:cs typeface="Symbol"/>
              </a:rPr>
              <a:t></a:t>
            </a:r>
            <a:endParaRPr sz="8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91078" y="3346192"/>
            <a:ext cx="52069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550" spc="-50" dirty="0"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09289" y="3654802"/>
            <a:ext cx="1593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Symbol"/>
                <a:cs typeface="Symbol"/>
              </a:rPr>
              <a:t></a:t>
            </a:r>
            <a:r>
              <a:rPr sz="825" spc="-37" baseline="-20202" dirty="0">
                <a:latin typeface="Arial"/>
                <a:cs typeface="Arial"/>
              </a:rPr>
              <a:t>2</a:t>
            </a:r>
            <a:endParaRPr sz="825" baseline="-20202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٣٤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32916" y="4746748"/>
            <a:ext cx="20440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Nonstationary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Poisson </a:t>
            </a:r>
            <a:r>
              <a:rPr sz="1600" dirty="0">
                <a:latin typeface="Arial"/>
                <a:cs typeface="Arial"/>
              </a:rPr>
              <a:t>Process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(NSPP)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76115" y="5054596"/>
            <a:ext cx="97599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[Poisson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07516" y="6197979"/>
            <a:ext cx="4150360" cy="1009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8120" indent="-172720">
              <a:lnSpc>
                <a:spcPts val="1230"/>
              </a:lnSpc>
              <a:spcBef>
                <a:spcPts val="105"/>
              </a:spcBef>
              <a:buClr>
                <a:srgbClr val="00007C"/>
              </a:buClr>
              <a:buSzPct val="75000"/>
              <a:buChar char="■"/>
              <a:tabLst>
                <a:tab pos="198120" algn="l"/>
              </a:tabLst>
            </a:pPr>
            <a:r>
              <a:rPr sz="1000" dirty="0">
                <a:latin typeface="Arial"/>
                <a:cs typeface="Arial"/>
              </a:rPr>
              <a:t>Relating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stationary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Poisson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n(t)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with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rate</a:t>
            </a:r>
            <a:r>
              <a:rPr sz="1000" i="1" spc="-35" dirty="0">
                <a:latin typeface="Arial"/>
                <a:cs typeface="Arial"/>
              </a:rPr>
              <a:t> </a:t>
            </a:r>
            <a:r>
              <a:rPr sz="1050" i="1" spc="-10" dirty="0">
                <a:latin typeface="Symbol"/>
                <a:cs typeface="Symbol"/>
              </a:rPr>
              <a:t>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NSPP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spc="-20" dirty="0">
                <a:latin typeface="Arial"/>
                <a:cs typeface="Arial"/>
              </a:rPr>
              <a:t>N(t)</a:t>
            </a:r>
            <a:endParaRPr sz="1000">
              <a:latin typeface="Arial"/>
              <a:cs typeface="Arial"/>
            </a:endParaRPr>
          </a:p>
          <a:p>
            <a:pPr marL="196215">
              <a:lnSpc>
                <a:spcPts val="1230"/>
              </a:lnSpc>
            </a:pP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50" i="1" spc="-10" dirty="0">
                <a:latin typeface="Symbol"/>
                <a:cs typeface="Symbol"/>
              </a:rPr>
              <a:t></a:t>
            </a:r>
            <a:r>
              <a:rPr sz="1000" i="1" spc="-10" dirty="0">
                <a:latin typeface="Arial"/>
                <a:cs typeface="Arial"/>
              </a:rPr>
              <a:t>(t)</a:t>
            </a:r>
            <a:r>
              <a:rPr sz="1000" spc="-10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  <a:p>
            <a:pPr marL="396875" marR="30480" indent="-143510">
              <a:lnSpc>
                <a:spcPts val="1200"/>
              </a:lnSpc>
              <a:spcBef>
                <a:spcPts val="265"/>
              </a:spcBef>
            </a:pPr>
            <a:r>
              <a:rPr sz="800" spc="215" dirty="0">
                <a:solidFill>
                  <a:srgbClr val="9A9ACC"/>
                </a:solidFill>
                <a:latin typeface="Arial"/>
                <a:cs typeface="Arial"/>
              </a:rPr>
              <a:t>□</a:t>
            </a:r>
            <a:r>
              <a:rPr sz="800" spc="175" dirty="0">
                <a:solidFill>
                  <a:srgbClr val="9A9ACC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stationary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</a:t>
            </a:r>
            <a:r>
              <a:rPr sz="1050" spc="-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1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975" i="1" baseline="-21367" dirty="0">
                <a:latin typeface="Arial"/>
                <a:cs typeface="Arial"/>
              </a:rPr>
              <a:t>2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5" dirty="0">
                <a:latin typeface="Arial"/>
                <a:cs typeface="Arial"/>
              </a:rPr>
              <a:t> …,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NSPP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50" i="1" dirty="0">
                <a:latin typeface="Symbol"/>
                <a:cs typeface="Symbol"/>
              </a:rPr>
              <a:t></a:t>
            </a:r>
            <a:r>
              <a:rPr sz="1000" i="1" dirty="0">
                <a:latin typeface="Arial"/>
                <a:cs typeface="Arial"/>
              </a:rPr>
              <a:t>(t)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975" i="1" baseline="-21367" dirty="0">
                <a:latin typeface="Arial"/>
                <a:cs typeface="Arial"/>
              </a:rPr>
              <a:t>1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975" i="1" baseline="-21367" dirty="0">
                <a:latin typeface="Arial"/>
                <a:cs typeface="Arial"/>
              </a:rPr>
              <a:t>2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…,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know:</a:t>
            </a:r>
            <a:endParaRPr sz="1000">
              <a:latin typeface="Arial"/>
              <a:cs typeface="Arial"/>
            </a:endParaRPr>
          </a:p>
          <a:p>
            <a:pPr marL="1396365">
              <a:lnSpc>
                <a:spcPts val="1170"/>
              </a:lnSpc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975" i="1" baseline="-21367" dirty="0">
                <a:latin typeface="Arial"/>
                <a:cs typeface="Arial"/>
              </a:rPr>
              <a:t>i</a:t>
            </a:r>
            <a:r>
              <a:rPr sz="975" i="1" spc="112" baseline="-2136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50" i="1" spc="-10" dirty="0">
                <a:latin typeface="Symbol"/>
                <a:cs typeface="Symbol"/>
              </a:rPr>
              <a:t></a:t>
            </a:r>
            <a:r>
              <a:rPr sz="1000" i="1" spc="-10" dirty="0">
                <a:latin typeface="Arial"/>
                <a:cs typeface="Arial"/>
              </a:rPr>
              <a:t>(T</a:t>
            </a:r>
            <a:r>
              <a:rPr sz="975" i="1" spc="-15" baseline="-21367" dirty="0">
                <a:latin typeface="Arial"/>
                <a:cs typeface="Arial"/>
              </a:rPr>
              <a:t>i</a:t>
            </a:r>
            <a:r>
              <a:rPr sz="1000" i="1" spc="-1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1396365">
              <a:lnSpc>
                <a:spcPct val="100000"/>
              </a:lnSpc>
              <a:spcBef>
                <a:spcPts val="180"/>
              </a:spcBef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975" i="1" baseline="-21367" dirty="0">
                <a:latin typeface="Arial"/>
                <a:cs typeface="Arial"/>
              </a:rPr>
              <a:t>i</a:t>
            </a:r>
            <a:r>
              <a:rPr sz="975" i="1" spc="112" baseline="-2136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=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50" i="1" spc="-10" dirty="0">
                <a:latin typeface="Symbol"/>
                <a:cs typeface="Symbol"/>
              </a:rPr>
              <a:t></a:t>
            </a:r>
            <a:r>
              <a:rPr sz="975" i="1" spc="-15" baseline="25641" dirty="0">
                <a:latin typeface="Symbol"/>
                <a:cs typeface="Symbol"/>
              </a:rPr>
              <a:t></a:t>
            </a:r>
            <a:r>
              <a:rPr sz="1000" i="1" spc="-10" dirty="0">
                <a:latin typeface="Arial"/>
                <a:cs typeface="Arial"/>
              </a:rPr>
              <a:t>(t</a:t>
            </a:r>
            <a:r>
              <a:rPr sz="975" i="1" spc="-15" baseline="-21367" dirty="0">
                <a:latin typeface="Arial"/>
                <a:cs typeface="Arial"/>
              </a:rPr>
              <a:t>i</a:t>
            </a:r>
            <a:r>
              <a:rPr sz="1000" i="1" spc="-1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26257" y="5877049"/>
            <a:ext cx="558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Symbol"/>
                <a:cs typeface="Symbol"/>
              </a:rPr>
              <a:t>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2916" y="5319772"/>
            <a:ext cx="4019550" cy="64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" indent="-172720">
              <a:lnSpc>
                <a:spcPts val="1185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Poisson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without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stationary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increments,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characterized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by</a:t>
            </a:r>
            <a:endParaRPr sz="1000">
              <a:latin typeface="Arial"/>
              <a:cs typeface="Arial"/>
            </a:endParaRPr>
          </a:p>
          <a:p>
            <a:pPr marL="171450">
              <a:lnSpc>
                <a:spcPts val="1245"/>
              </a:lnSpc>
            </a:pPr>
            <a:r>
              <a:rPr sz="1050" i="1" dirty="0">
                <a:latin typeface="Symbol"/>
                <a:cs typeface="Symbol"/>
              </a:rPr>
              <a:t></a:t>
            </a:r>
            <a:r>
              <a:rPr sz="1000" i="1" dirty="0">
                <a:latin typeface="Arial"/>
                <a:cs typeface="Arial"/>
              </a:rPr>
              <a:t>(t)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t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72720" indent="-172720">
              <a:lnSpc>
                <a:spcPct val="100000"/>
              </a:lnSpc>
              <a:spcBef>
                <a:spcPts val="180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expected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t,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50" i="1" spc="-20" dirty="0">
                <a:latin typeface="Symbol"/>
                <a:cs typeface="Symbol"/>
              </a:rPr>
              <a:t></a:t>
            </a:r>
            <a:r>
              <a:rPr sz="1000" i="1" spc="-20" dirty="0">
                <a:latin typeface="Arial"/>
                <a:cs typeface="Arial"/>
              </a:rPr>
              <a:t>(t)</a:t>
            </a:r>
            <a:r>
              <a:rPr sz="1000" spc="-20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  <a:p>
            <a:pPr marR="685165" algn="ctr">
              <a:lnSpc>
                <a:spcPct val="100000"/>
              </a:lnSpc>
              <a:spcBef>
                <a:spcPts val="310"/>
              </a:spcBef>
            </a:pPr>
            <a:r>
              <a:rPr sz="600" i="1" spc="-50" dirty="0"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36700" y="5913258"/>
            <a:ext cx="670560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89255" algn="l"/>
              </a:tabLst>
            </a:pPr>
            <a:r>
              <a:rPr sz="850" i="1" dirty="0">
                <a:latin typeface="Times New Roman"/>
                <a:cs typeface="Times New Roman"/>
              </a:rPr>
              <a:t>Λ(t)</a:t>
            </a:r>
            <a:r>
              <a:rPr sz="850" i="1" spc="5" dirty="0">
                <a:latin typeface="Times New Roman"/>
                <a:cs typeface="Times New Roman"/>
              </a:rPr>
              <a:t> </a:t>
            </a:r>
            <a:r>
              <a:rPr sz="850" spc="-50" dirty="0">
                <a:latin typeface="Symbol"/>
                <a:cs typeface="Symbol"/>
              </a:rPr>
              <a:t></a:t>
            </a:r>
            <a:r>
              <a:rPr sz="850" dirty="0">
                <a:latin typeface="Times New Roman"/>
                <a:cs typeface="Times New Roman"/>
              </a:rPr>
              <a:t>	</a:t>
            </a:r>
            <a:r>
              <a:rPr sz="850" i="1" spc="-10" dirty="0">
                <a:latin typeface="Times New Roman"/>
                <a:cs typeface="Times New Roman"/>
              </a:rPr>
              <a:t>λ(s)ds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65882" y="6028656"/>
            <a:ext cx="52705" cy="1206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spc="-50" dirty="0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265" y="3833872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٣٥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07516" y="2808218"/>
            <a:ext cx="4027804" cy="7861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6850" marR="30480" indent="-171450">
              <a:lnSpc>
                <a:spcPts val="1080"/>
              </a:lnSpc>
              <a:spcBef>
                <a:spcPts val="235"/>
              </a:spcBef>
              <a:buSzPct val="75000"/>
              <a:buFont typeface="Arial"/>
              <a:buChar char="■"/>
              <a:tabLst>
                <a:tab pos="196850" algn="l"/>
                <a:tab pos="198120" algn="l"/>
              </a:tabLst>
            </a:pPr>
            <a:r>
              <a:rPr sz="1000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1000" dirty="0">
                <a:latin typeface="Arial"/>
                <a:cs typeface="Arial"/>
              </a:rPr>
              <a:t>Hence,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between </a:t>
            </a:r>
            <a:r>
              <a:rPr sz="1000" dirty="0">
                <a:latin typeface="Arial"/>
                <a:cs typeface="Arial"/>
              </a:rPr>
              <a:t>11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am 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pm.</a:t>
            </a:r>
            <a:endParaRPr sz="1000">
              <a:latin typeface="Arial"/>
              <a:cs typeface="Arial"/>
            </a:endParaRPr>
          </a:p>
          <a:p>
            <a:pPr marL="482600">
              <a:lnSpc>
                <a:spcPct val="100000"/>
              </a:lnSpc>
              <a:spcBef>
                <a:spcPts val="155"/>
              </a:spcBef>
              <a:tabLst>
                <a:tab pos="1854200" algn="l"/>
              </a:tabLst>
            </a:pPr>
            <a:r>
              <a:rPr sz="900" i="1" dirty="0">
                <a:latin typeface="Arial"/>
                <a:cs typeface="Arial"/>
              </a:rPr>
              <a:t>P[N(6)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–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N(3) = </a:t>
            </a:r>
            <a:r>
              <a:rPr sz="900" i="1" spc="-25" dirty="0">
                <a:latin typeface="Arial"/>
                <a:cs typeface="Arial"/>
              </a:rPr>
              <a:t>k]</a:t>
            </a:r>
            <a:r>
              <a:rPr sz="900" i="1" dirty="0">
                <a:latin typeface="Arial"/>
                <a:cs typeface="Arial"/>
              </a:rPr>
              <a:t>	= </a:t>
            </a:r>
            <a:r>
              <a:rPr sz="900" i="1" spc="-10" dirty="0">
                <a:latin typeface="Arial"/>
                <a:cs typeface="Arial"/>
              </a:rPr>
              <a:t>P[N(</a:t>
            </a:r>
            <a:r>
              <a:rPr sz="950" i="1" spc="-10" dirty="0">
                <a:latin typeface="Symbol"/>
                <a:cs typeface="Symbol"/>
              </a:rPr>
              <a:t></a:t>
            </a:r>
            <a:r>
              <a:rPr sz="900" i="1" spc="-10" dirty="0">
                <a:latin typeface="Arial"/>
                <a:cs typeface="Arial"/>
              </a:rPr>
              <a:t>(6))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–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N(</a:t>
            </a:r>
            <a:r>
              <a:rPr sz="950" i="1" spc="-10" dirty="0">
                <a:latin typeface="Symbol"/>
                <a:cs typeface="Symbol"/>
              </a:rPr>
              <a:t></a:t>
            </a:r>
            <a:r>
              <a:rPr sz="900" i="1" spc="-10" dirty="0">
                <a:latin typeface="Arial"/>
                <a:cs typeface="Arial"/>
              </a:rPr>
              <a:t>(3))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k]</a:t>
            </a:r>
            <a:endParaRPr sz="900">
              <a:latin typeface="Arial"/>
              <a:cs typeface="Arial"/>
            </a:endParaRPr>
          </a:p>
          <a:p>
            <a:pPr marL="185420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P[N(9) –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N(6) = </a:t>
            </a:r>
            <a:r>
              <a:rPr sz="900" i="1" spc="-25" dirty="0">
                <a:latin typeface="Arial"/>
                <a:cs typeface="Arial"/>
              </a:rPr>
              <a:t>k]</a:t>
            </a:r>
            <a:endParaRPr sz="900">
              <a:latin typeface="Arial"/>
              <a:cs typeface="Arial"/>
            </a:endParaRPr>
          </a:p>
          <a:p>
            <a:pPr marL="1854200">
              <a:lnSpc>
                <a:spcPct val="100000"/>
              </a:lnSpc>
              <a:spcBef>
                <a:spcPts val="110"/>
              </a:spcBef>
              <a:tabLst>
                <a:tab pos="2768600" algn="l"/>
              </a:tabLst>
            </a:pP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5" baseline="23148" dirty="0">
                <a:latin typeface="Arial"/>
                <a:cs typeface="Arial"/>
              </a:rPr>
              <a:t>(9-6)</a:t>
            </a:r>
            <a:r>
              <a:rPr sz="900" i="1" spc="-10" dirty="0">
                <a:latin typeface="Arial"/>
                <a:cs typeface="Arial"/>
              </a:rPr>
              <a:t>(9-6)</a:t>
            </a:r>
            <a:r>
              <a:rPr sz="900" i="1" spc="-15" baseline="23148" dirty="0">
                <a:latin typeface="Arial"/>
                <a:cs typeface="Arial"/>
              </a:rPr>
              <a:t>k</a:t>
            </a:r>
            <a:r>
              <a:rPr sz="900" i="1" spc="-10" dirty="0">
                <a:latin typeface="Arial"/>
                <a:cs typeface="Arial"/>
              </a:rPr>
              <a:t>/k!</a:t>
            </a:r>
            <a:r>
              <a:rPr sz="900" i="1" dirty="0">
                <a:latin typeface="Arial"/>
                <a:cs typeface="Arial"/>
              </a:rPr>
              <a:t>	=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900" i="1" spc="-15" baseline="23148" dirty="0">
                <a:latin typeface="Arial"/>
                <a:cs typeface="Arial"/>
              </a:rPr>
              <a:t>3</a:t>
            </a:r>
            <a:r>
              <a:rPr sz="900" i="1" spc="-10" dirty="0">
                <a:latin typeface="Arial"/>
                <a:cs typeface="Arial"/>
              </a:rPr>
              <a:t>(3)</a:t>
            </a:r>
            <a:r>
              <a:rPr sz="900" i="1" spc="-15" baseline="23148" dirty="0">
                <a:latin typeface="Arial"/>
                <a:cs typeface="Arial"/>
              </a:rPr>
              <a:t>k</a:t>
            </a:r>
            <a:r>
              <a:rPr sz="900" i="1" spc="-10" dirty="0">
                <a:latin typeface="Arial"/>
                <a:cs typeface="Arial"/>
              </a:rPr>
              <a:t>/k!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8627" y="1906011"/>
            <a:ext cx="72390" cy="169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950" spc="-50" dirty="0">
                <a:latin typeface="Symbol"/>
                <a:cs typeface="Symbol"/>
              </a:rPr>
              <a:t></a:t>
            </a:r>
            <a:endParaRPr sz="9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8966" y="1959980"/>
            <a:ext cx="2191385" cy="35687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359535">
              <a:lnSpc>
                <a:spcPct val="100000"/>
              </a:lnSpc>
              <a:spcBef>
                <a:spcPts val="225"/>
              </a:spcBef>
            </a:pPr>
            <a:r>
              <a:rPr sz="1425" baseline="-14619" dirty="0">
                <a:latin typeface="Symbol"/>
                <a:cs typeface="Symbol"/>
              </a:rPr>
              <a:t></a:t>
            </a:r>
            <a:r>
              <a:rPr sz="950" dirty="0">
                <a:latin typeface="Times New Roman"/>
                <a:cs typeface="Times New Roman"/>
              </a:rPr>
              <a:t>0.5,</a:t>
            </a:r>
            <a:r>
              <a:rPr sz="950" spc="3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4</a:t>
            </a:r>
            <a:r>
              <a:rPr sz="950" spc="-5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Symbol"/>
                <a:cs typeface="Symbol"/>
              </a:rPr>
              <a:t></a:t>
            </a:r>
            <a:r>
              <a:rPr sz="950" spc="-5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t</a:t>
            </a:r>
            <a:r>
              <a:rPr sz="950" i="1" spc="10" dirty="0">
                <a:latin typeface="Times New Roman"/>
                <a:cs typeface="Times New Roman"/>
              </a:rPr>
              <a:t> </a:t>
            </a:r>
            <a:r>
              <a:rPr sz="950" spc="-365" dirty="0">
                <a:latin typeface="MT Extra"/>
                <a:cs typeface="MT Extra"/>
              </a:rPr>
              <a:t>-</a:t>
            </a:r>
            <a:r>
              <a:rPr sz="950" spc="-600" dirty="0">
                <a:latin typeface="MT Extra"/>
                <a:cs typeface="MT Extra"/>
              </a:rPr>
              <a:t>&lt;</a:t>
            </a:r>
            <a:r>
              <a:rPr sz="950" spc="-65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Times New Roman"/>
                <a:cs typeface="Times New Roman"/>
              </a:rPr>
              <a:t>8</a:t>
            </a:r>
            <a:endParaRPr sz="9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1000" dirty="0">
                <a:latin typeface="Arial"/>
                <a:cs typeface="Arial"/>
              </a:rPr>
              <a:t>Expected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time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2916" y="1330702"/>
            <a:ext cx="3962400" cy="6356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1450" marR="5080" indent="-171450">
              <a:lnSpc>
                <a:spcPts val="1090"/>
              </a:lnSpc>
              <a:spcBef>
                <a:spcPts val="229"/>
              </a:spcBef>
              <a:buSzPct val="75000"/>
              <a:buFont typeface="Arial"/>
              <a:buChar char="■"/>
              <a:tabLst>
                <a:tab pos="171450" algn="l"/>
                <a:tab pos="172720" algn="l"/>
              </a:tabLst>
            </a:pPr>
            <a:r>
              <a:rPr sz="1000" dirty="0">
                <a:solidFill>
                  <a:srgbClr val="00007C"/>
                </a:solidFill>
                <a:latin typeface="Times New Roman"/>
                <a:cs typeface="Times New Roman"/>
              </a:rPr>
              <a:t>	</a:t>
            </a:r>
            <a:r>
              <a:rPr sz="1000" dirty="0">
                <a:latin typeface="Arial"/>
                <a:cs typeface="Arial"/>
              </a:rPr>
              <a:t>Example: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Suppose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arrivals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Office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have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minute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until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12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pm,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0.5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minute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until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4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pm.</a:t>
            </a:r>
            <a:endParaRPr sz="1000">
              <a:latin typeface="Arial"/>
              <a:cs typeface="Arial"/>
            </a:endParaRPr>
          </a:p>
          <a:p>
            <a:pPr marL="172720" indent="-172720">
              <a:lnSpc>
                <a:spcPct val="100000"/>
              </a:lnSpc>
              <a:spcBef>
                <a:spcPts val="90"/>
              </a:spcBef>
              <a:buClr>
                <a:srgbClr val="00007C"/>
              </a:buClr>
              <a:buSzPct val="75000"/>
              <a:buChar char="■"/>
              <a:tabLst>
                <a:tab pos="172720" algn="l"/>
              </a:tabLst>
            </a:pPr>
            <a:r>
              <a:rPr sz="1000" dirty="0">
                <a:latin typeface="Arial"/>
                <a:cs typeface="Arial"/>
              </a:rPr>
              <a:t>Let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correspond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8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am,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NSPP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N(t)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function:</a:t>
            </a:r>
            <a:endParaRPr sz="1000">
              <a:latin typeface="Arial"/>
              <a:cs typeface="Arial"/>
            </a:endParaRPr>
          </a:p>
          <a:p>
            <a:pPr marL="84455" algn="ctr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latin typeface="Times New Roman"/>
                <a:cs typeface="Times New Roman"/>
              </a:rPr>
              <a:t>0</a:t>
            </a:r>
            <a:r>
              <a:rPr sz="950" spc="-5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Symbol"/>
                <a:cs typeface="Symbol"/>
              </a:rPr>
              <a:t></a:t>
            </a:r>
            <a:r>
              <a:rPr sz="950" spc="-5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t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950" spc="-365" dirty="0">
                <a:latin typeface="MT Extra"/>
                <a:cs typeface="MT Extra"/>
              </a:rPr>
              <a:t>-</a:t>
            </a:r>
            <a:r>
              <a:rPr sz="950" spc="-600" dirty="0">
                <a:latin typeface="MT Extra"/>
                <a:cs typeface="MT Extra"/>
              </a:rPr>
              <a:t>&lt;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50" dirty="0">
                <a:latin typeface="Times New Roman"/>
                <a:cs typeface="Times New Roman"/>
              </a:rPr>
              <a:t>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6998" y="1878634"/>
            <a:ext cx="52705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Symbol"/>
                <a:cs typeface="Symbol"/>
              </a:rPr>
              <a:t></a:t>
            </a:r>
            <a:r>
              <a:rPr sz="950" dirty="0">
                <a:latin typeface="Times New Roman"/>
                <a:cs typeface="Times New Roman"/>
              </a:rPr>
              <a:t>(</a:t>
            </a:r>
            <a:r>
              <a:rPr sz="950" i="1" dirty="0">
                <a:latin typeface="Times New Roman"/>
                <a:cs typeface="Times New Roman"/>
              </a:rPr>
              <a:t>t</a:t>
            </a:r>
            <a:r>
              <a:rPr sz="950" dirty="0">
                <a:latin typeface="Times New Roman"/>
                <a:cs typeface="Times New Roman"/>
              </a:rPr>
              <a:t>)</a:t>
            </a:r>
            <a:r>
              <a:rPr sz="950" spc="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Symbol"/>
                <a:cs typeface="Symbol"/>
              </a:rPr>
              <a:t>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1425" spc="-37" baseline="35087" dirty="0">
                <a:latin typeface="Symbol"/>
                <a:cs typeface="Symbol"/>
              </a:rPr>
              <a:t></a:t>
            </a:r>
            <a:r>
              <a:rPr sz="1425" spc="-37" baseline="40935" dirty="0">
                <a:latin typeface="Times New Roman"/>
                <a:cs typeface="Times New Roman"/>
              </a:rPr>
              <a:t>2,</a:t>
            </a:r>
            <a:endParaRPr sz="1425" baseline="4093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08910" y="2472769"/>
            <a:ext cx="7175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latin typeface="Symbol"/>
                <a:cs typeface="Symbol"/>
              </a:rPr>
              <a:t></a:t>
            </a:r>
            <a:endParaRPr sz="9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9870" y="2507364"/>
            <a:ext cx="4432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81000" algn="l"/>
              </a:tabLst>
            </a:pPr>
            <a:r>
              <a:rPr sz="1400" spc="-50" dirty="0">
                <a:latin typeface="Symbol"/>
                <a:cs typeface="Symbol"/>
              </a:rPr>
              <a:t>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Symbol"/>
                <a:cs typeface="Symbol"/>
              </a:rPr>
              <a:t>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15689" y="2616036"/>
            <a:ext cx="7239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00" spc="-5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3210" y="2483956"/>
            <a:ext cx="47625" cy="10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50" dirty="0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83510" y="2588602"/>
            <a:ext cx="19367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350" spc="-345" baseline="3086" dirty="0">
                <a:latin typeface="Symbol"/>
                <a:cs typeface="Symbol"/>
              </a:rPr>
              <a:t></a:t>
            </a:r>
            <a:r>
              <a:rPr sz="1350" spc="-345" baseline="-12345" dirty="0">
                <a:latin typeface="Symbol"/>
                <a:cs typeface="Symbol"/>
              </a:rPr>
              <a:t></a:t>
            </a:r>
            <a:r>
              <a:rPr sz="1350" spc="112" baseline="-12345" dirty="0">
                <a:latin typeface="Times New Roman"/>
                <a:cs typeface="Times New Roman"/>
              </a:rPr>
              <a:t> </a:t>
            </a:r>
            <a:r>
              <a:rPr sz="550" spc="-50" dirty="0">
                <a:latin typeface="Times New Roman"/>
                <a:cs typeface="Times New Roman"/>
              </a:rPr>
              <a:t>0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8070" y="2449152"/>
            <a:ext cx="6096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00" u="sng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5011" y="2523830"/>
            <a:ext cx="148399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00" dirty="0">
                <a:latin typeface="Times New Roman"/>
                <a:cs typeface="Times New Roman"/>
              </a:rPr>
              <a:t>2</a:t>
            </a:r>
            <a:r>
              <a:rPr sz="900" i="1" dirty="0">
                <a:latin typeface="Times New Roman"/>
                <a:cs typeface="Times New Roman"/>
              </a:rPr>
              <a:t>ds</a:t>
            </a:r>
            <a:r>
              <a:rPr sz="900" i="1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</a:t>
            </a:r>
            <a:r>
              <a:rPr sz="900" spc="2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0.5</a:t>
            </a:r>
            <a:r>
              <a:rPr sz="900" i="1" dirty="0">
                <a:latin typeface="Times New Roman"/>
                <a:cs typeface="Times New Roman"/>
              </a:rPr>
              <a:t>ds</a:t>
            </a:r>
            <a:r>
              <a:rPr sz="900" i="1" spc="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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Symbol"/>
                <a:cs typeface="Symbol"/>
              </a:rPr>
              <a:t></a:t>
            </a:r>
            <a:r>
              <a:rPr sz="900" spc="-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6,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4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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t</a:t>
            </a:r>
            <a:r>
              <a:rPr sz="900" i="1" spc="45" dirty="0">
                <a:latin typeface="Times New Roman"/>
                <a:cs typeface="Times New Roman"/>
              </a:rPr>
              <a:t> </a:t>
            </a:r>
            <a:r>
              <a:rPr sz="900" spc="-335" dirty="0">
                <a:latin typeface="MT Extra"/>
                <a:cs typeface="MT Extra"/>
              </a:rPr>
              <a:t>-</a:t>
            </a:r>
            <a:r>
              <a:rPr sz="900" spc="-560" dirty="0">
                <a:latin typeface="MT Extra"/>
                <a:cs typeface="MT Extra"/>
              </a:rPr>
              <a:t>&lt;</a:t>
            </a:r>
            <a:r>
              <a:rPr sz="900" spc="-50" dirty="0">
                <a:latin typeface="Times New Roman"/>
                <a:cs typeface="Times New Roman"/>
              </a:rPr>
              <a:t> 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8388" y="2320375"/>
            <a:ext cx="40830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00" dirty="0">
                <a:latin typeface="Times New Roman"/>
                <a:cs typeface="Times New Roman"/>
              </a:rPr>
              <a:t>0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ymbol"/>
                <a:cs typeface="Symbol"/>
              </a:rPr>
              <a:t>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t</a:t>
            </a:r>
            <a:r>
              <a:rPr sz="900" i="1" spc="45" dirty="0">
                <a:latin typeface="Times New Roman"/>
                <a:cs typeface="Times New Roman"/>
              </a:rPr>
              <a:t> </a:t>
            </a:r>
            <a:r>
              <a:rPr sz="900" spc="-335" dirty="0">
                <a:latin typeface="MT Extra"/>
                <a:cs typeface="MT Extra"/>
              </a:rPr>
              <a:t>-</a:t>
            </a:r>
            <a:r>
              <a:rPr sz="900" spc="-560" dirty="0">
                <a:latin typeface="MT Extra"/>
                <a:cs typeface="MT Extra"/>
              </a:rPr>
              <a:t>&lt;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59652" y="2328748"/>
            <a:ext cx="584835" cy="2908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9250">
              <a:lnSpc>
                <a:spcPts val="1025"/>
              </a:lnSpc>
              <a:spcBef>
                <a:spcPts val="130"/>
              </a:spcBef>
            </a:pPr>
            <a:r>
              <a:rPr sz="900" spc="-10" dirty="0">
                <a:latin typeface="Symbol"/>
                <a:cs typeface="Symbol"/>
              </a:rPr>
              <a:t></a:t>
            </a:r>
            <a:r>
              <a:rPr sz="1350" spc="-15" baseline="-27777" dirty="0">
                <a:latin typeface="Symbol"/>
                <a:cs typeface="Symbol"/>
              </a:rPr>
              <a:t></a:t>
            </a:r>
            <a:r>
              <a:rPr sz="1350" spc="-15" baseline="3086" dirty="0">
                <a:latin typeface="Times New Roman"/>
                <a:cs typeface="Times New Roman"/>
              </a:rPr>
              <a:t>2</a:t>
            </a:r>
            <a:r>
              <a:rPr sz="1350" i="1" spc="-15" baseline="3086" dirty="0">
                <a:latin typeface="Times New Roman"/>
                <a:cs typeface="Times New Roman"/>
              </a:rPr>
              <a:t>t</a:t>
            </a:r>
            <a:r>
              <a:rPr sz="1350" spc="-15" baseline="3086" dirty="0">
                <a:latin typeface="Times New Roman"/>
                <a:cs typeface="Times New Roman"/>
              </a:rPr>
              <a:t>,</a:t>
            </a:r>
            <a:endParaRPr sz="1350" baseline="3086">
              <a:latin typeface="Times New Roman"/>
              <a:cs typeface="Times New Roman"/>
            </a:endParaRPr>
          </a:p>
          <a:p>
            <a:pPr marL="25400">
              <a:lnSpc>
                <a:spcPts val="1025"/>
              </a:lnSpc>
            </a:pPr>
            <a:r>
              <a:rPr sz="900" dirty="0">
                <a:latin typeface="Symbol"/>
                <a:cs typeface="Symbol"/>
              </a:rPr>
              <a:t></a:t>
            </a:r>
            <a:r>
              <a:rPr sz="900" dirty="0">
                <a:latin typeface="Times New Roman"/>
                <a:cs typeface="Times New Roman"/>
              </a:rPr>
              <a:t>(</a:t>
            </a:r>
            <a:r>
              <a:rPr sz="900" i="1" dirty="0">
                <a:latin typeface="Times New Roman"/>
                <a:cs typeface="Times New Roman"/>
              </a:rPr>
              <a:t>t</a:t>
            </a:r>
            <a:r>
              <a:rPr sz="900" dirty="0">
                <a:latin typeface="Times New Roman"/>
                <a:cs typeface="Times New Roman"/>
              </a:rPr>
              <a:t>)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Symbol"/>
                <a:cs typeface="Symbol"/>
              </a:rPr>
              <a:t></a:t>
            </a:r>
            <a:endParaRPr sz="9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88209" y="2483956"/>
            <a:ext cx="47625" cy="262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0"/>
              </a:spcBef>
            </a:pPr>
            <a:r>
              <a:rPr sz="550" i="1" spc="-50" dirty="0">
                <a:latin typeface="Times New Roman"/>
                <a:cs typeface="Times New Roman"/>
              </a:rPr>
              <a:t>t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r>
              <a:rPr sz="550" spc="-50" dirty="0">
                <a:latin typeface="Times New Roman"/>
                <a:cs typeface="Times New Roman"/>
              </a:rPr>
              <a:t>4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2916" y="769870"/>
            <a:ext cx="20440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Nonstationary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Poisson </a:t>
            </a:r>
            <a:r>
              <a:rPr sz="1600" dirty="0">
                <a:latin typeface="Arial"/>
                <a:cs typeface="Arial"/>
              </a:rPr>
              <a:t>Process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(NSPP)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76115" y="1077718"/>
            <a:ext cx="97599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[Poisson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4691" y="618744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5"/>
                </a:moveTo>
                <a:lnTo>
                  <a:pt x="4559046" y="3416045"/>
                </a:lnTo>
                <a:lnTo>
                  <a:pt x="4559046" y="0"/>
                </a:lnTo>
                <a:lnTo>
                  <a:pt x="0" y="0"/>
                </a:lnTo>
                <a:lnTo>
                  <a:pt x="0" y="3416045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176265" y="7810750"/>
            <a:ext cx="9207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latin typeface="Arial"/>
                <a:cs typeface="Arial"/>
              </a:rPr>
              <a:t>٣٦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58596" y="5122926"/>
            <a:ext cx="4497070" cy="273050"/>
            <a:chOff x="958596" y="5122926"/>
            <a:chExt cx="4497070" cy="2730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5122926"/>
              <a:ext cx="137192" cy="2667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5190744"/>
              <a:ext cx="4290073" cy="137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5122926"/>
              <a:ext cx="278130" cy="27279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32916" y="5319009"/>
            <a:ext cx="41363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110489" indent="-171450">
              <a:lnSpc>
                <a:spcPct val="100000"/>
              </a:lnSpc>
              <a:spcBef>
                <a:spcPts val="100"/>
              </a:spcBef>
              <a:buClr>
                <a:srgbClr val="00007C"/>
              </a:buClr>
              <a:buSzPct val="75000"/>
              <a:buChar char="■"/>
              <a:tabLst>
                <a:tab pos="171450" algn="l"/>
              </a:tabLst>
            </a:pPr>
            <a:r>
              <a:rPr sz="12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distribution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whose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parameters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observed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values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sample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data.</a:t>
            </a:r>
            <a:endParaRPr sz="1200">
              <a:latin typeface="Arial"/>
              <a:cs typeface="Arial"/>
            </a:endParaRPr>
          </a:p>
          <a:p>
            <a:pPr marL="371475" marR="5080" lvl="1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May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impossible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unnecessary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establish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that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random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variable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particular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parametric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distribution.</a:t>
            </a:r>
            <a:endParaRPr sz="1000">
              <a:latin typeface="Arial"/>
              <a:cs typeface="Arial"/>
            </a:endParaRPr>
          </a:p>
          <a:p>
            <a:pPr marL="371475" marR="286385" lvl="1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Advantage: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assumption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beyond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observed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sample.</a:t>
            </a:r>
            <a:endParaRPr sz="1000">
              <a:latin typeface="Arial"/>
              <a:cs typeface="Arial"/>
            </a:endParaRPr>
          </a:p>
          <a:p>
            <a:pPr marL="371475" marR="33655" lvl="1" indent="-143510">
              <a:lnSpc>
                <a:spcPct val="100000"/>
              </a:lnSpc>
              <a:spcBef>
                <a:spcPts val="235"/>
              </a:spcBef>
              <a:buClr>
                <a:srgbClr val="9A9ACC"/>
              </a:buClr>
              <a:buSzPct val="80000"/>
              <a:buChar char="□"/>
              <a:tabLst>
                <a:tab pos="371475" algn="l"/>
              </a:tabLst>
            </a:pPr>
            <a:r>
              <a:rPr sz="1000" dirty="0">
                <a:latin typeface="Arial"/>
                <a:cs typeface="Arial"/>
              </a:rPr>
              <a:t>Disadvantage: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sample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might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cover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entire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range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possible values.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2916" y="4867906"/>
            <a:ext cx="20212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Empirical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Distributions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76115" y="4931914"/>
            <a:ext cx="97599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00007C"/>
                </a:solidFill>
                <a:latin typeface="Arial"/>
                <a:cs typeface="Arial"/>
              </a:rPr>
              <a:t>[Poisson</a:t>
            </a:r>
            <a:r>
              <a:rPr sz="1100" spc="-45" dirty="0">
                <a:solidFill>
                  <a:srgbClr val="00007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7C"/>
                </a:solidFill>
                <a:latin typeface="Arial"/>
                <a:cs typeface="Arial"/>
              </a:rPr>
              <a:t>Dist’n]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64691" y="4595621"/>
            <a:ext cx="4559300" cy="3416300"/>
          </a:xfrm>
          <a:custGeom>
            <a:avLst/>
            <a:gdLst/>
            <a:ahLst/>
            <a:cxnLst/>
            <a:rect l="l" t="t" r="r" b="b"/>
            <a:pathLst>
              <a:path w="4559300" h="3416300">
                <a:moveTo>
                  <a:pt x="0" y="3416046"/>
                </a:moveTo>
                <a:lnTo>
                  <a:pt x="4559046" y="3416046"/>
                </a:lnTo>
                <a:lnTo>
                  <a:pt x="4559046" y="0"/>
                </a:lnTo>
                <a:lnTo>
                  <a:pt x="0" y="0"/>
                </a:lnTo>
                <a:lnTo>
                  <a:pt x="0" y="3416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8596" y="1146047"/>
            <a:ext cx="4497070" cy="273050"/>
            <a:chOff x="958596" y="1146047"/>
            <a:chExt cx="4497070" cy="273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6" y="1146047"/>
              <a:ext cx="137192" cy="266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98" y="1213865"/>
              <a:ext cx="4290073" cy="137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4128" y="1146047"/>
              <a:ext cx="278130" cy="2727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64691" y="618744"/>
            <a:ext cx="4559300" cy="3416300"/>
          </a:xfrm>
          <a:prstGeom prst="rect">
            <a:avLst/>
          </a:prstGeom>
          <a:ln w="12953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imes New Roman"/>
              <a:cs typeface="Times New Roman"/>
            </a:endParaRPr>
          </a:p>
          <a:p>
            <a:pPr marL="26797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Summary</a:t>
            </a:r>
            <a:endParaRPr sz="1600">
              <a:latin typeface="Arial"/>
              <a:cs typeface="Arial"/>
            </a:endParaRPr>
          </a:p>
          <a:p>
            <a:pPr marL="439420" marR="227965" indent="-171450">
              <a:lnSpc>
                <a:spcPct val="100000"/>
              </a:lnSpc>
              <a:spcBef>
                <a:spcPts val="163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world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simulation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analyst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probabilistic, </a:t>
            </a:r>
            <a:r>
              <a:rPr sz="1200" dirty="0">
                <a:latin typeface="Arial"/>
                <a:cs typeface="Arial"/>
              </a:rPr>
              <a:t>not </a:t>
            </a:r>
            <a:r>
              <a:rPr sz="1200" spc="-10" dirty="0">
                <a:latin typeface="Arial"/>
                <a:cs typeface="Arial"/>
              </a:rPr>
              <a:t>deterministic.</a:t>
            </a:r>
            <a:endParaRPr sz="1200">
              <a:latin typeface="Arial"/>
              <a:cs typeface="Arial"/>
            </a:endParaRPr>
          </a:p>
          <a:p>
            <a:pPr marL="438784" indent="-170815">
              <a:lnSpc>
                <a:spcPct val="100000"/>
              </a:lnSpc>
              <a:spcBef>
                <a:spcPts val="280"/>
              </a:spcBef>
              <a:buClr>
                <a:srgbClr val="00007C"/>
              </a:buClr>
              <a:buSzPct val="75000"/>
              <a:buChar char="■"/>
              <a:tabLst>
                <a:tab pos="438784" algn="l"/>
              </a:tabLst>
            </a:pPr>
            <a:r>
              <a:rPr sz="1200" dirty="0">
                <a:latin typeface="Arial"/>
                <a:cs typeface="Arial"/>
              </a:rPr>
              <a:t>In this </a:t>
            </a:r>
            <a:r>
              <a:rPr sz="1200" spc="-10" dirty="0">
                <a:latin typeface="Arial"/>
                <a:cs typeface="Arial"/>
              </a:rPr>
              <a:t>chapter:</a:t>
            </a:r>
            <a:endParaRPr sz="120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245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Reviewed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several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important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distributions.</a:t>
            </a:r>
            <a:endParaRPr sz="1000">
              <a:latin typeface="Arial"/>
              <a:cs typeface="Arial"/>
            </a:endParaRPr>
          </a:p>
          <a:p>
            <a:pPr marL="640080" marR="219710" lvl="1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Showed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applications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probability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distributions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simulation context.</a:t>
            </a:r>
            <a:endParaRPr sz="1000">
              <a:latin typeface="Arial"/>
              <a:cs typeface="Arial"/>
            </a:endParaRPr>
          </a:p>
          <a:p>
            <a:pPr marL="439420" marR="214629" indent="-171450">
              <a:lnSpc>
                <a:spcPct val="100000"/>
              </a:lnSpc>
              <a:spcBef>
                <a:spcPts val="280"/>
              </a:spcBef>
              <a:buClr>
                <a:srgbClr val="00007C"/>
              </a:buClr>
              <a:buSzPct val="75000"/>
              <a:buChar char="■"/>
              <a:tabLst>
                <a:tab pos="439420" algn="l"/>
              </a:tabLst>
            </a:pPr>
            <a:r>
              <a:rPr sz="1200" dirty="0">
                <a:latin typeface="Arial"/>
                <a:cs typeface="Arial"/>
              </a:rPr>
              <a:t>Important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task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simulation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modeling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collection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and </a:t>
            </a:r>
            <a:r>
              <a:rPr sz="1200" dirty="0">
                <a:latin typeface="Arial"/>
                <a:cs typeface="Arial"/>
              </a:rPr>
              <a:t>analysis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input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e.g.,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hypothesize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distributional </a:t>
            </a:r>
            <a:r>
              <a:rPr sz="1200" dirty="0">
                <a:latin typeface="Arial"/>
                <a:cs typeface="Arial"/>
              </a:rPr>
              <a:t>form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input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data.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Reader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should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know:</a:t>
            </a:r>
            <a:endParaRPr sz="1200">
              <a:latin typeface="Arial"/>
              <a:cs typeface="Arial"/>
            </a:endParaRPr>
          </a:p>
          <a:p>
            <a:pPr marL="640080" marR="828040" lvl="1" indent="-143510">
              <a:lnSpc>
                <a:spcPct val="100000"/>
              </a:lnSpc>
              <a:spcBef>
                <a:spcPts val="235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Difference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between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discrete,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continuous,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empirical distributions.</a:t>
            </a:r>
            <a:endParaRPr sz="1000">
              <a:latin typeface="Arial"/>
              <a:cs typeface="Arial"/>
            </a:endParaRPr>
          </a:p>
          <a:p>
            <a:pPr marL="640080" lvl="1" indent="-143510">
              <a:lnSpc>
                <a:spcPct val="100000"/>
              </a:lnSpc>
              <a:spcBef>
                <a:spcPts val="240"/>
              </a:spcBef>
              <a:buClr>
                <a:srgbClr val="9A9ACC"/>
              </a:buClr>
              <a:buSzPct val="80000"/>
              <a:buChar char="□"/>
              <a:tabLst>
                <a:tab pos="640080" algn="l"/>
              </a:tabLst>
            </a:pPr>
            <a:r>
              <a:rPr sz="1000" dirty="0">
                <a:latin typeface="Arial"/>
                <a:cs typeface="Arial"/>
              </a:rPr>
              <a:t>Poisson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process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its</a:t>
            </a:r>
            <a:r>
              <a:rPr sz="1000" spc="-10" dirty="0">
                <a:latin typeface="Arial"/>
                <a:cs typeface="Arial"/>
              </a:rPr>
              <a:t> properties.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000">
              <a:latin typeface="Arial"/>
              <a:cs typeface="Arial"/>
            </a:endParaRPr>
          </a:p>
          <a:p>
            <a:pPr marR="260350" algn="r">
              <a:lnSpc>
                <a:spcPct val="100000"/>
              </a:lnSpc>
            </a:pPr>
            <a:r>
              <a:rPr sz="600" spc="-25" dirty="0">
                <a:latin typeface="Arial"/>
                <a:cs typeface="Arial"/>
              </a:rPr>
              <a:t>٣٧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2950</Words>
  <Application>Microsoft Office PowerPoint</Application>
  <PresentationFormat>Custom</PresentationFormat>
  <Paragraphs>607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MT Extra</vt:lpstr>
      <vt:lpstr>Symbol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Chapter5.ppt</dc:title>
  <dc:creator>mohades</dc:creator>
  <cp:lastModifiedBy>Admin</cp:lastModifiedBy>
  <cp:revision>4</cp:revision>
  <dcterms:created xsi:type="dcterms:W3CDTF">2023-08-30T08:03:05Z</dcterms:created>
  <dcterms:modified xsi:type="dcterms:W3CDTF">2023-08-31T00:41:21Z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2006-02-07T00:00:00Z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2023-08-30T00:00:00Z</vt:filetime>
  </property>
  <property fmtid="{D5CDD505-2E9C-101B-9397-08002B2CF9AE}" pid="5" name="Producer">
    <vt:lpwstr>Acrobat Distiller 5.0 (Windows)</vt:lpwstr>
  </property>
</Properties>
</file>