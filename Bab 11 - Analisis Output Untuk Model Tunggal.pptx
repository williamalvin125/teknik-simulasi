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66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1524000"/>
            <a:ext cx="273590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0204" y="1658873"/>
            <a:ext cx="8581657" cy="27508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67156" y="1523999"/>
            <a:ext cx="277495" cy="271780"/>
          </a:xfrm>
          <a:custGeom>
            <a:avLst/>
            <a:gdLst/>
            <a:ahLst/>
            <a:cxnLst/>
            <a:rect l="l" t="t" r="r" b="b"/>
            <a:pathLst>
              <a:path w="277494" h="271780">
                <a:moveTo>
                  <a:pt x="137922" y="134874"/>
                </a:moveTo>
                <a:lnTo>
                  <a:pt x="0" y="134874"/>
                </a:lnTo>
                <a:lnTo>
                  <a:pt x="0" y="271272"/>
                </a:lnTo>
                <a:lnTo>
                  <a:pt x="137922" y="271272"/>
                </a:lnTo>
                <a:lnTo>
                  <a:pt x="137922" y="134874"/>
                </a:lnTo>
                <a:close/>
              </a:path>
              <a:path w="277494" h="271780">
                <a:moveTo>
                  <a:pt x="277368" y="0"/>
                </a:moveTo>
                <a:lnTo>
                  <a:pt x="137922" y="0"/>
                </a:lnTo>
                <a:lnTo>
                  <a:pt x="137922" y="134874"/>
                </a:lnTo>
                <a:lnTo>
                  <a:pt x="277368" y="134874"/>
                </a:lnTo>
                <a:lnTo>
                  <a:pt x="277368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5077" y="1658873"/>
            <a:ext cx="139700" cy="142240"/>
          </a:xfrm>
          <a:custGeom>
            <a:avLst/>
            <a:gdLst/>
            <a:ahLst/>
            <a:cxnLst/>
            <a:rect l="l" t="t" r="r" b="b"/>
            <a:pathLst>
              <a:path w="139700" h="142239">
                <a:moveTo>
                  <a:pt x="139446" y="141731"/>
                </a:moveTo>
                <a:lnTo>
                  <a:pt x="139446" y="0"/>
                </a:lnTo>
                <a:lnTo>
                  <a:pt x="0" y="0"/>
                </a:lnTo>
                <a:lnTo>
                  <a:pt x="0" y="141731"/>
                </a:lnTo>
                <a:lnTo>
                  <a:pt x="139446" y="141731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520" y="1798320"/>
            <a:ext cx="137160" cy="135890"/>
          </a:xfrm>
          <a:custGeom>
            <a:avLst/>
            <a:gdLst/>
            <a:ahLst/>
            <a:cxnLst/>
            <a:rect l="l" t="t" r="r" b="b"/>
            <a:pathLst>
              <a:path w="137159" h="135889">
                <a:moveTo>
                  <a:pt x="0" y="135635"/>
                </a:moveTo>
                <a:lnTo>
                  <a:pt x="137160" y="135635"/>
                </a:lnTo>
                <a:lnTo>
                  <a:pt x="137160" y="0"/>
                </a:lnTo>
                <a:lnTo>
                  <a:pt x="0" y="0"/>
                </a:lnTo>
                <a:lnTo>
                  <a:pt x="0" y="135635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89026" y="1660397"/>
            <a:ext cx="140970" cy="138430"/>
          </a:xfrm>
          <a:custGeom>
            <a:avLst/>
            <a:gdLst/>
            <a:ahLst/>
            <a:cxnLst/>
            <a:rect l="l" t="t" r="r" b="b"/>
            <a:pathLst>
              <a:path w="140970" h="138430">
                <a:moveTo>
                  <a:pt x="140970" y="137922"/>
                </a:moveTo>
                <a:lnTo>
                  <a:pt x="140970" y="0"/>
                </a:lnTo>
                <a:lnTo>
                  <a:pt x="0" y="0"/>
                </a:lnTo>
                <a:lnTo>
                  <a:pt x="0" y="137922"/>
                </a:lnTo>
                <a:lnTo>
                  <a:pt x="140970" y="137922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31520" y="1795271"/>
            <a:ext cx="273685" cy="275590"/>
          </a:xfrm>
          <a:custGeom>
            <a:avLst/>
            <a:gdLst/>
            <a:ahLst/>
            <a:cxnLst/>
            <a:rect l="l" t="t" r="r" b="b"/>
            <a:pathLst>
              <a:path w="273684" h="275589">
                <a:moveTo>
                  <a:pt x="273558" y="0"/>
                </a:moveTo>
                <a:lnTo>
                  <a:pt x="135636" y="0"/>
                </a:lnTo>
                <a:lnTo>
                  <a:pt x="135636" y="138684"/>
                </a:lnTo>
                <a:lnTo>
                  <a:pt x="0" y="138684"/>
                </a:lnTo>
                <a:lnTo>
                  <a:pt x="0" y="275082"/>
                </a:lnTo>
                <a:lnTo>
                  <a:pt x="137160" y="275082"/>
                </a:lnTo>
                <a:lnTo>
                  <a:pt x="137160" y="138684"/>
                </a:lnTo>
                <a:lnTo>
                  <a:pt x="273558" y="138684"/>
                </a:lnTo>
                <a:lnTo>
                  <a:pt x="273558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902" y="1027430"/>
            <a:ext cx="358965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5802" y="1899158"/>
            <a:ext cx="8161020" cy="3674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1006" y="6897027"/>
            <a:ext cx="29210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6858000"/>
            <a:chOff x="457200" y="45720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3361213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73223" y="2148077"/>
              <a:ext cx="7428230" cy="2533650"/>
            </a:xfrm>
            <a:custGeom>
              <a:avLst/>
              <a:gdLst/>
              <a:ahLst/>
              <a:cxnLst/>
              <a:rect l="l" t="t" r="r" b="b"/>
              <a:pathLst>
                <a:path w="7428230" h="2533650">
                  <a:moveTo>
                    <a:pt x="7427976" y="2533650"/>
                  </a:moveTo>
                  <a:lnTo>
                    <a:pt x="7427976" y="0"/>
                  </a:lnTo>
                  <a:lnTo>
                    <a:pt x="0" y="0"/>
                  </a:lnTo>
                  <a:lnTo>
                    <a:pt x="0" y="2533650"/>
                  </a:lnTo>
                  <a:lnTo>
                    <a:pt x="7427976" y="2533650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0223" y="4050029"/>
              <a:ext cx="568960" cy="631825"/>
            </a:xfrm>
            <a:custGeom>
              <a:avLst/>
              <a:gdLst/>
              <a:ahLst/>
              <a:cxnLst/>
              <a:rect l="l" t="t" r="r" b="b"/>
              <a:pathLst>
                <a:path w="568960" h="631825">
                  <a:moveTo>
                    <a:pt x="0" y="631698"/>
                  </a:moveTo>
                  <a:lnTo>
                    <a:pt x="568451" y="631698"/>
                  </a:lnTo>
                  <a:lnTo>
                    <a:pt x="568451" y="0"/>
                  </a:lnTo>
                  <a:lnTo>
                    <a:pt x="0" y="0"/>
                  </a:lnTo>
                  <a:lnTo>
                    <a:pt x="0" y="631698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73224" y="1523999"/>
              <a:ext cx="1151890" cy="1257300"/>
            </a:xfrm>
            <a:custGeom>
              <a:avLst/>
              <a:gdLst/>
              <a:ahLst/>
              <a:cxnLst/>
              <a:rect l="l" t="t" r="r" b="b"/>
              <a:pathLst>
                <a:path w="1151889" h="1257300">
                  <a:moveTo>
                    <a:pt x="565404" y="624078"/>
                  </a:moveTo>
                  <a:lnTo>
                    <a:pt x="0" y="624078"/>
                  </a:lnTo>
                  <a:lnTo>
                    <a:pt x="0" y="1257300"/>
                  </a:lnTo>
                  <a:lnTo>
                    <a:pt x="565404" y="1257300"/>
                  </a:lnTo>
                  <a:lnTo>
                    <a:pt x="565404" y="624078"/>
                  </a:lnTo>
                  <a:close/>
                </a:path>
                <a:path w="1151889" h="1257300">
                  <a:moveTo>
                    <a:pt x="1151369" y="0"/>
                  </a:moveTo>
                  <a:lnTo>
                    <a:pt x="565404" y="0"/>
                  </a:lnTo>
                  <a:lnTo>
                    <a:pt x="565404" y="624078"/>
                  </a:lnTo>
                  <a:lnTo>
                    <a:pt x="1151369" y="624078"/>
                  </a:lnTo>
                  <a:lnTo>
                    <a:pt x="1151369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98675" y="4050029"/>
              <a:ext cx="584835" cy="631825"/>
            </a:xfrm>
            <a:custGeom>
              <a:avLst/>
              <a:gdLst/>
              <a:ahLst/>
              <a:cxnLst/>
              <a:rect l="l" t="t" r="r" b="b"/>
              <a:pathLst>
                <a:path w="584835" h="631825">
                  <a:moveTo>
                    <a:pt x="0" y="631698"/>
                  </a:moveTo>
                  <a:lnTo>
                    <a:pt x="584454" y="631698"/>
                  </a:lnTo>
                  <a:lnTo>
                    <a:pt x="584454" y="0"/>
                  </a:lnTo>
                  <a:lnTo>
                    <a:pt x="0" y="0"/>
                  </a:lnTo>
                  <a:lnTo>
                    <a:pt x="0" y="631698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38627" y="2148077"/>
              <a:ext cx="586105" cy="643255"/>
            </a:xfrm>
            <a:custGeom>
              <a:avLst/>
              <a:gdLst/>
              <a:ahLst/>
              <a:cxnLst/>
              <a:rect l="l" t="t" r="r" b="b"/>
              <a:pathLst>
                <a:path w="586104" h="643255">
                  <a:moveTo>
                    <a:pt x="585977" y="643127"/>
                  </a:moveTo>
                  <a:lnTo>
                    <a:pt x="585977" y="0"/>
                  </a:lnTo>
                  <a:lnTo>
                    <a:pt x="0" y="0"/>
                  </a:lnTo>
                  <a:lnTo>
                    <a:pt x="0" y="643127"/>
                  </a:lnTo>
                  <a:lnTo>
                    <a:pt x="585977" y="643127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8675" y="2781300"/>
              <a:ext cx="574675" cy="624205"/>
            </a:xfrm>
            <a:custGeom>
              <a:avLst/>
              <a:gdLst/>
              <a:ahLst/>
              <a:cxnLst/>
              <a:rect l="l" t="t" r="r" b="b"/>
              <a:pathLst>
                <a:path w="574675" h="624204">
                  <a:moveTo>
                    <a:pt x="0" y="624077"/>
                  </a:moveTo>
                  <a:lnTo>
                    <a:pt x="574547" y="624077"/>
                  </a:lnTo>
                  <a:lnTo>
                    <a:pt x="574547" y="0"/>
                  </a:lnTo>
                  <a:lnTo>
                    <a:pt x="0" y="0"/>
                  </a:lnTo>
                  <a:lnTo>
                    <a:pt x="0" y="62407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2781300"/>
              <a:ext cx="582930" cy="633730"/>
            </a:xfrm>
            <a:custGeom>
              <a:avLst/>
              <a:gdLst/>
              <a:ahLst/>
              <a:cxnLst/>
              <a:rect l="l" t="t" r="r" b="b"/>
              <a:pathLst>
                <a:path w="582929" h="633729">
                  <a:moveTo>
                    <a:pt x="582930" y="633222"/>
                  </a:moveTo>
                  <a:lnTo>
                    <a:pt x="582930" y="0"/>
                  </a:lnTo>
                  <a:lnTo>
                    <a:pt x="0" y="0"/>
                  </a:lnTo>
                  <a:lnTo>
                    <a:pt x="0" y="633222"/>
                  </a:lnTo>
                  <a:lnTo>
                    <a:pt x="582930" y="633222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73223" y="2781300"/>
              <a:ext cx="574675" cy="633730"/>
            </a:xfrm>
            <a:custGeom>
              <a:avLst/>
              <a:gdLst/>
              <a:ahLst/>
              <a:cxnLst/>
              <a:rect l="l" t="t" r="r" b="b"/>
              <a:pathLst>
                <a:path w="574675" h="633729">
                  <a:moveTo>
                    <a:pt x="574548" y="633222"/>
                  </a:moveTo>
                  <a:lnTo>
                    <a:pt x="574548" y="0"/>
                  </a:lnTo>
                  <a:lnTo>
                    <a:pt x="0" y="0"/>
                  </a:lnTo>
                  <a:lnTo>
                    <a:pt x="0" y="633222"/>
                  </a:lnTo>
                  <a:lnTo>
                    <a:pt x="574548" y="633222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0223" y="3405377"/>
              <a:ext cx="568960" cy="645160"/>
            </a:xfrm>
            <a:custGeom>
              <a:avLst/>
              <a:gdLst/>
              <a:ahLst/>
              <a:cxnLst/>
              <a:rect l="l" t="t" r="r" b="b"/>
              <a:pathLst>
                <a:path w="568960" h="645160">
                  <a:moveTo>
                    <a:pt x="0" y="644651"/>
                  </a:moveTo>
                  <a:lnTo>
                    <a:pt x="568451" y="644651"/>
                  </a:lnTo>
                  <a:lnTo>
                    <a:pt x="568451" y="0"/>
                  </a:lnTo>
                  <a:lnTo>
                    <a:pt x="0" y="0"/>
                  </a:lnTo>
                  <a:lnTo>
                    <a:pt x="0" y="644651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98675" y="3405377"/>
              <a:ext cx="584835" cy="645160"/>
            </a:xfrm>
            <a:custGeom>
              <a:avLst/>
              <a:gdLst/>
              <a:ahLst/>
              <a:cxnLst/>
              <a:rect l="l" t="t" r="r" b="b"/>
              <a:pathLst>
                <a:path w="584835" h="645160">
                  <a:moveTo>
                    <a:pt x="584454" y="644651"/>
                  </a:moveTo>
                  <a:lnTo>
                    <a:pt x="584454" y="0"/>
                  </a:lnTo>
                  <a:lnTo>
                    <a:pt x="0" y="0"/>
                  </a:lnTo>
                  <a:lnTo>
                    <a:pt x="0" y="644651"/>
                  </a:lnTo>
                  <a:lnTo>
                    <a:pt x="584454" y="644651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08502" y="2541523"/>
            <a:ext cx="2286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Chapter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08502" y="3090164"/>
            <a:ext cx="5861050" cy="2623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002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Output</a:t>
            </a:r>
            <a:r>
              <a:rPr sz="3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3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3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"/>
                <a:cs typeface="Arial"/>
              </a:rPr>
              <a:t>Single Model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600">
              <a:latin typeface="Arial"/>
              <a:cs typeface="Arial"/>
            </a:endParaRPr>
          </a:p>
          <a:p>
            <a:pPr marR="7620" algn="r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Banks,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Carson,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Nelson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&amp;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Nicol</a:t>
            </a:r>
            <a:endParaRPr sz="2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680"/>
              </a:spcBef>
            </a:pPr>
            <a:r>
              <a:rPr sz="2800" i="1" spc="-20" dirty="0">
                <a:latin typeface="Arial"/>
                <a:cs typeface="Arial"/>
              </a:rPr>
              <a:t>Discrete-</a:t>
            </a:r>
            <a:r>
              <a:rPr sz="2800" i="1" dirty="0">
                <a:latin typeface="Arial"/>
                <a:cs typeface="Arial"/>
              </a:rPr>
              <a:t>Event</a:t>
            </a:r>
            <a:r>
              <a:rPr sz="2800" i="1" spc="-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System </a:t>
            </a:r>
            <a:r>
              <a:rPr sz="2800" i="1" spc="-10" dirty="0">
                <a:latin typeface="Arial"/>
                <a:cs typeface="Arial"/>
              </a:rPr>
              <a:t>Simulation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Purpose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3102" y="1877346"/>
            <a:ext cx="7934325" cy="47809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270"/>
              </a:spcBef>
              <a:buClr>
                <a:srgbClr val="00007C"/>
              </a:buClr>
              <a:buSzPct val="75000"/>
              <a:buChar char="■"/>
              <a:tabLst>
                <a:tab pos="405765" algn="l"/>
              </a:tabLst>
            </a:pPr>
            <a:r>
              <a:rPr sz="2400" dirty="0">
                <a:latin typeface="Arial"/>
                <a:cs typeface="Arial"/>
              </a:rPr>
              <a:t>Objective: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performance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simulation</a:t>
            </a:r>
            <a:endParaRPr sz="2400">
              <a:latin typeface="Arial"/>
              <a:cs typeface="Arial"/>
            </a:endParaRPr>
          </a:p>
          <a:p>
            <a:pPr marL="405765" marR="706120" indent="-342900">
              <a:lnSpc>
                <a:spcPts val="2550"/>
              </a:lnSpc>
              <a:spcBef>
                <a:spcPts val="680"/>
              </a:spcBef>
              <a:buClr>
                <a:srgbClr val="00007C"/>
              </a:buClr>
              <a:buSzPct val="75000"/>
              <a:buChar char="■"/>
              <a:tabLst>
                <a:tab pos="405765" algn="l"/>
                <a:tab pos="1997710" algn="l"/>
              </a:tabLst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500" i="1" dirty="0">
                <a:latin typeface="Symbol"/>
                <a:cs typeface="Symbol"/>
              </a:rPr>
              <a:t>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performance,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precision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estimator</a:t>
            </a:r>
            <a:r>
              <a:rPr sz="3300" i="1" spc="-15" baseline="-6313" dirty="0">
                <a:latin typeface="Symbol"/>
                <a:cs typeface="Symbol"/>
              </a:rPr>
              <a:t></a:t>
            </a:r>
            <a:r>
              <a:rPr sz="3150" spc="-15" baseline="7936" dirty="0">
                <a:latin typeface="Times New Roman"/>
                <a:cs typeface="Times New Roman"/>
              </a:rPr>
              <a:t>ˆ</a:t>
            </a:r>
            <a:r>
              <a:rPr sz="3150" baseline="7936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by:</a:t>
            </a:r>
            <a:endParaRPr sz="2400">
              <a:latin typeface="Arial"/>
              <a:cs typeface="Arial"/>
            </a:endParaRPr>
          </a:p>
          <a:p>
            <a:pPr marL="807085" lvl="1" indent="-286385">
              <a:lnSpc>
                <a:spcPct val="100000"/>
              </a:lnSpc>
              <a:spcBef>
                <a:spcPts val="10"/>
              </a:spcBef>
              <a:buClr>
                <a:srgbClr val="9A9ACC"/>
              </a:buClr>
              <a:buSzPct val="80000"/>
              <a:buChar char="□"/>
              <a:tabLst>
                <a:tab pos="8070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standard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error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3300" i="1" spc="-382" baseline="1262" dirty="0">
                <a:latin typeface="Symbol"/>
                <a:cs typeface="Symbol"/>
              </a:rPr>
              <a:t></a:t>
            </a:r>
            <a:r>
              <a:rPr sz="3150" spc="-382" baseline="17195" dirty="0">
                <a:latin typeface="Times New Roman"/>
                <a:cs typeface="Times New Roman"/>
              </a:rPr>
              <a:t>ˆ</a:t>
            </a:r>
            <a:r>
              <a:rPr sz="3150" spc="345" baseline="1719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807085" lvl="1" indent="-286385">
              <a:lnSpc>
                <a:spcPct val="100000"/>
              </a:lnSpc>
              <a:spcBef>
                <a:spcPts val="120"/>
              </a:spcBef>
              <a:buClr>
                <a:srgbClr val="9A9ACC"/>
              </a:buClr>
              <a:buSzPct val="80000"/>
              <a:buChar char="□"/>
              <a:tabLst>
                <a:tab pos="8070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width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confidence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(CI)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100" i="1" spc="-25" dirty="0">
                <a:latin typeface="Symbol"/>
                <a:cs typeface="Symbol"/>
              </a:rPr>
              <a:t>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05765" indent="-342265">
              <a:lnSpc>
                <a:spcPct val="100000"/>
              </a:lnSpc>
              <a:spcBef>
                <a:spcPts val="235"/>
              </a:spcBef>
              <a:buClr>
                <a:srgbClr val="00007C"/>
              </a:buClr>
              <a:buSzPct val="75000"/>
              <a:buChar char="■"/>
              <a:tabLst>
                <a:tab pos="405765" algn="l"/>
              </a:tabLst>
            </a:pPr>
            <a:r>
              <a:rPr sz="2400" dirty="0">
                <a:latin typeface="Arial"/>
                <a:cs typeface="Arial"/>
              </a:rPr>
              <a:t>Purpose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statistical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analysis:</a:t>
            </a:r>
            <a:endParaRPr sz="2400">
              <a:latin typeface="Arial"/>
              <a:cs typeface="Arial"/>
            </a:endParaRPr>
          </a:p>
          <a:p>
            <a:pPr marL="807085" lvl="1" indent="-286385">
              <a:lnSpc>
                <a:spcPct val="100000"/>
              </a:lnSpc>
              <a:spcBef>
                <a:spcPts val="244"/>
              </a:spcBef>
              <a:buClr>
                <a:srgbClr val="9A9ACC"/>
              </a:buClr>
              <a:buSzPct val="80000"/>
              <a:buChar char="□"/>
              <a:tabLst>
                <a:tab pos="807085" algn="l"/>
              </a:tabLst>
            </a:pP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standard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error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806450" marR="325120" lvl="1" indent="-285750">
              <a:lnSpc>
                <a:spcPts val="2170"/>
              </a:lnSpc>
              <a:spcBef>
                <a:spcPts val="495"/>
              </a:spcBef>
              <a:buClr>
                <a:srgbClr val="9A9ACC"/>
              </a:buClr>
              <a:buSzPct val="80000"/>
              <a:buChar char="□"/>
              <a:tabLst>
                <a:tab pos="806450" algn="l"/>
              </a:tabLst>
            </a:pPr>
            <a:r>
              <a:rPr sz="2000" dirty="0">
                <a:latin typeface="Arial"/>
                <a:cs typeface="Arial"/>
              </a:rPr>
              <a:t>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figure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number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observations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required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achieve </a:t>
            </a:r>
            <a:r>
              <a:rPr sz="2000" dirty="0">
                <a:latin typeface="Arial"/>
                <a:cs typeface="Arial"/>
              </a:rPr>
              <a:t>desired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error/CI.</a:t>
            </a:r>
            <a:endParaRPr sz="2000">
              <a:latin typeface="Arial"/>
              <a:cs typeface="Arial"/>
            </a:endParaRPr>
          </a:p>
          <a:p>
            <a:pPr marL="405765" indent="-342265">
              <a:lnSpc>
                <a:spcPct val="100000"/>
              </a:lnSpc>
              <a:spcBef>
                <a:spcPts val="240"/>
              </a:spcBef>
              <a:buClr>
                <a:srgbClr val="00007C"/>
              </a:buClr>
              <a:buSzPct val="75000"/>
              <a:buChar char="■"/>
              <a:tabLst>
                <a:tab pos="405765" algn="l"/>
              </a:tabLst>
            </a:pP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issues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overcome:</a:t>
            </a:r>
            <a:endParaRPr sz="2400">
              <a:latin typeface="Arial"/>
              <a:cs typeface="Arial"/>
            </a:endParaRPr>
          </a:p>
          <a:p>
            <a:pPr marL="806450" marR="153670" lvl="1" indent="-285750">
              <a:lnSpc>
                <a:spcPts val="2160"/>
              </a:lnSpc>
              <a:spcBef>
                <a:spcPts val="515"/>
              </a:spcBef>
              <a:buClr>
                <a:srgbClr val="9A9ACC"/>
              </a:buClr>
              <a:buSzPct val="80000"/>
              <a:buChar char="□"/>
              <a:tabLst>
                <a:tab pos="806450" algn="l"/>
              </a:tabLst>
            </a:pPr>
            <a:r>
              <a:rPr sz="2000" spc="-10" dirty="0">
                <a:latin typeface="Arial"/>
                <a:cs typeface="Arial"/>
              </a:rPr>
              <a:t>Autocorrelation,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e.g.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inventory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cost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subsequent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weeks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lack </a:t>
            </a:r>
            <a:r>
              <a:rPr sz="2000" dirty="0">
                <a:latin typeface="Arial"/>
                <a:cs typeface="Arial"/>
              </a:rPr>
              <a:t>statistical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independence.</a:t>
            </a:r>
            <a:endParaRPr sz="2000">
              <a:latin typeface="Arial"/>
              <a:cs typeface="Arial"/>
            </a:endParaRPr>
          </a:p>
          <a:p>
            <a:pPr marL="806450" marR="68580" lvl="1" indent="-285750">
              <a:lnSpc>
                <a:spcPts val="2160"/>
              </a:lnSpc>
              <a:spcBef>
                <a:spcPts val="480"/>
              </a:spcBef>
              <a:buClr>
                <a:srgbClr val="9A9ACC"/>
              </a:buClr>
              <a:buSzPct val="80000"/>
              <a:buChar char="□"/>
              <a:tabLst>
                <a:tab pos="806450" algn="l"/>
              </a:tabLst>
            </a:pPr>
            <a:r>
              <a:rPr sz="2000" dirty="0">
                <a:latin typeface="Arial"/>
                <a:cs typeface="Arial"/>
              </a:rPr>
              <a:t>Initial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conditions,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e.g.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inventory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#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backorders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at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would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most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likely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influence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performance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week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1.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Outline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798195" indent="-34290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spc="-10" dirty="0"/>
              <a:t>Distinguish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types</a:t>
            </a:r>
            <a:r>
              <a:rPr spc="-6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simulation:</a:t>
            </a:r>
            <a:r>
              <a:rPr spc="-65" dirty="0"/>
              <a:t> </a:t>
            </a:r>
            <a:r>
              <a:rPr dirty="0"/>
              <a:t>transient</a:t>
            </a:r>
            <a:r>
              <a:rPr spc="-60" dirty="0"/>
              <a:t> </a:t>
            </a:r>
            <a:r>
              <a:rPr spc="-25" dirty="0"/>
              <a:t>vs. </a:t>
            </a:r>
            <a:r>
              <a:rPr dirty="0"/>
              <a:t>steady</a:t>
            </a:r>
            <a:r>
              <a:rPr spc="-105" dirty="0"/>
              <a:t> </a:t>
            </a:r>
            <a:r>
              <a:rPr spc="-10" dirty="0"/>
              <a:t>state.</a:t>
            </a:r>
          </a:p>
          <a:p>
            <a:pPr marL="393700" marR="304800" indent="-342900">
              <a:lnSpc>
                <a:spcPct val="100000"/>
              </a:lnSpc>
              <a:spcBef>
                <a:spcPts val="560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dirty="0"/>
              <a:t>Illustrate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inherent</a:t>
            </a:r>
            <a:r>
              <a:rPr spc="-65" dirty="0"/>
              <a:t> </a:t>
            </a:r>
            <a:r>
              <a:rPr dirty="0"/>
              <a:t>variability</a:t>
            </a:r>
            <a:r>
              <a:rPr spc="-6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stochastic</a:t>
            </a:r>
            <a:r>
              <a:rPr spc="-65" dirty="0"/>
              <a:t> </a:t>
            </a:r>
            <a:r>
              <a:rPr spc="-10" dirty="0"/>
              <a:t>discrete- </a:t>
            </a:r>
            <a:r>
              <a:rPr dirty="0"/>
              <a:t>event</a:t>
            </a:r>
            <a:r>
              <a:rPr spc="-60" dirty="0"/>
              <a:t> </a:t>
            </a:r>
            <a:r>
              <a:rPr spc="-10" dirty="0"/>
              <a:t>simulation.</a:t>
            </a:r>
          </a:p>
          <a:p>
            <a:pPr marL="393065" indent="-342265">
              <a:lnSpc>
                <a:spcPct val="100000"/>
              </a:lnSpc>
              <a:spcBef>
                <a:spcPts val="56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dirty="0"/>
              <a:t>Cover</a:t>
            </a:r>
            <a:r>
              <a:rPr spc="-9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statistical</a:t>
            </a:r>
            <a:r>
              <a:rPr spc="-85" dirty="0"/>
              <a:t> </a:t>
            </a:r>
            <a:r>
              <a:rPr dirty="0"/>
              <a:t>estimation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performance</a:t>
            </a:r>
            <a:r>
              <a:rPr spc="-90" dirty="0"/>
              <a:t> </a:t>
            </a:r>
            <a:r>
              <a:rPr spc="-10" dirty="0"/>
              <a:t>measures.</a:t>
            </a:r>
          </a:p>
          <a:p>
            <a:pPr marL="393065" indent="-342265">
              <a:lnSpc>
                <a:spcPct val="100000"/>
              </a:lnSpc>
              <a:spcBef>
                <a:spcPts val="57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dirty="0"/>
              <a:t>Discusses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analysis</a:t>
            </a:r>
            <a:r>
              <a:rPr spc="-6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transient</a:t>
            </a:r>
            <a:r>
              <a:rPr spc="-65" dirty="0"/>
              <a:t> </a:t>
            </a:r>
            <a:r>
              <a:rPr spc="-10" dirty="0"/>
              <a:t>simulations.</a:t>
            </a:r>
          </a:p>
          <a:p>
            <a:pPr marL="393065" indent="-342265">
              <a:lnSpc>
                <a:spcPct val="100000"/>
              </a:lnSpc>
              <a:spcBef>
                <a:spcPts val="57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dirty="0"/>
              <a:t>Discusses</a:t>
            </a:r>
            <a:r>
              <a:rPr spc="-5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analysis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steady-</a:t>
            </a:r>
            <a:r>
              <a:rPr dirty="0"/>
              <a:t>state</a:t>
            </a:r>
            <a:r>
              <a:rPr spc="-50" dirty="0"/>
              <a:t> </a:t>
            </a:r>
            <a:r>
              <a:rPr spc="-10" dirty="0"/>
              <a:t>simulations.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Type</a:t>
            </a:r>
            <a:r>
              <a:rPr sz="3200" spc="-15" dirty="0"/>
              <a:t> </a:t>
            </a:r>
            <a:r>
              <a:rPr sz="3200" dirty="0"/>
              <a:t>of</a:t>
            </a:r>
            <a:r>
              <a:rPr sz="3200" spc="-15" dirty="0"/>
              <a:t> </a:t>
            </a:r>
            <a:r>
              <a:rPr sz="3200" spc="-10" dirty="0"/>
              <a:t>Simulations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55802" y="1856486"/>
            <a:ext cx="7946390" cy="394906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67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Terminating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verses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non-</a:t>
            </a:r>
            <a:r>
              <a:rPr sz="2400" dirty="0">
                <a:latin typeface="Arial"/>
                <a:cs typeface="Arial"/>
              </a:rPr>
              <a:t>terminating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simulations</a:t>
            </a:r>
            <a:endParaRPr sz="24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57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Terminating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simulation:</a:t>
            </a:r>
            <a:endParaRPr sz="2400">
              <a:latin typeface="Arial"/>
              <a:cs typeface="Arial"/>
            </a:endParaRPr>
          </a:p>
          <a:p>
            <a:pPr marL="793115" marR="43180" lvl="1" indent="-285750">
              <a:lnSpc>
                <a:spcPct val="100000"/>
              </a:lnSpc>
              <a:spcBef>
                <a:spcPts val="495"/>
              </a:spcBef>
              <a:buClr>
                <a:srgbClr val="9A9ACC"/>
              </a:buClr>
              <a:buSzPct val="80000"/>
              <a:buChar char="□"/>
              <a:tabLst>
                <a:tab pos="793115" algn="l"/>
              </a:tabLst>
            </a:pPr>
            <a:r>
              <a:rPr sz="2000" dirty="0">
                <a:latin typeface="Arial"/>
                <a:cs typeface="Arial"/>
              </a:rPr>
              <a:t>Runs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duration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specified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event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stops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simulation.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Starts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under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well-</a:t>
            </a:r>
            <a:r>
              <a:rPr sz="2000" dirty="0">
                <a:latin typeface="Arial"/>
                <a:cs typeface="Arial"/>
              </a:rPr>
              <a:t>specified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conditions.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Ends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stopping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</a:t>
            </a:r>
            <a:r>
              <a:rPr sz="1950" spc="-37" baseline="-21367" dirty="0">
                <a:latin typeface="Arial"/>
                <a:cs typeface="Arial"/>
              </a:rPr>
              <a:t>E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93750" marR="337185" lvl="1" indent="-285750" algn="just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Bank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example: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Opens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8:30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(time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customers </a:t>
            </a:r>
            <a:r>
              <a:rPr sz="2000" dirty="0">
                <a:latin typeface="Arial"/>
                <a:cs typeface="Arial"/>
              </a:rPr>
              <a:t>present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8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11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teller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working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(initial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conditions),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closes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4:30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950" i="1" baseline="-21367" dirty="0">
                <a:latin typeface="Arial"/>
                <a:cs typeface="Arial"/>
              </a:rPr>
              <a:t>E</a:t>
            </a:r>
            <a:r>
              <a:rPr sz="1950" i="1" spc="240" baseline="-21367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480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minutes).</a:t>
            </a:r>
            <a:endParaRPr sz="2000">
              <a:latin typeface="Arial"/>
              <a:cs typeface="Arial"/>
            </a:endParaRPr>
          </a:p>
          <a:p>
            <a:pPr marL="793750" marR="348615" lvl="1" indent="-285750" algn="just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analyst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chooses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consider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terminating </a:t>
            </a:r>
            <a:r>
              <a:rPr sz="2000" dirty="0">
                <a:latin typeface="Arial"/>
                <a:cs typeface="Arial"/>
              </a:rPr>
              <a:t>system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because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object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interest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day’s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operation.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Type</a:t>
            </a:r>
            <a:r>
              <a:rPr sz="3200" spc="-15" dirty="0"/>
              <a:t> </a:t>
            </a:r>
            <a:r>
              <a:rPr sz="3200" dirty="0"/>
              <a:t>of</a:t>
            </a:r>
            <a:r>
              <a:rPr sz="3200" spc="-15" dirty="0"/>
              <a:t> </a:t>
            </a:r>
            <a:r>
              <a:rPr sz="3200" spc="-10" dirty="0"/>
              <a:t>Simulations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55802" y="1852904"/>
            <a:ext cx="8123555" cy="47434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69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spc="-20" dirty="0">
                <a:latin typeface="Arial"/>
                <a:cs typeface="Arial"/>
              </a:rPr>
              <a:t>Non-</a:t>
            </a:r>
            <a:r>
              <a:rPr sz="2400" dirty="0">
                <a:latin typeface="Arial"/>
                <a:cs typeface="Arial"/>
              </a:rPr>
              <a:t>terminating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simulation: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Runs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continuously,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least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over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very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period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time.</a:t>
            </a:r>
            <a:endParaRPr sz="2000">
              <a:latin typeface="Arial"/>
              <a:cs typeface="Arial"/>
            </a:endParaRPr>
          </a:p>
          <a:p>
            <a:pPr marL="793750" marR="43180" lvl="1" indent="-285750">
              <a:lnSpc>
                <a:spcPct val="100000"/>
              </a:lnSpc>
              <a:spcBef>
                <a:spcPts val="470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Examples: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assembly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lines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shut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down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infrequently,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telephone </a:t>
            </a:r>
            <a:r>
              <a:rPr sz="2000" dirty="0">
                <a:latin typeface="Arial"/>
                <a:cs typeface="Arial"/>
              </a:rPr>
              <a:t>systems,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hospital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emergency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rooms.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Initial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conditions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defined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analyst.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Runs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analyst-</a:t>
            </a:r>
            <a:r>
              <a:rPr sz="2000" dirty="0">
                <a:latin typeface="Arial"/>
                <a:cs typeface="Arial"/>
              </a:rPr>
              <a:t>specified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period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</a:t>
            </a:r>
            <a:r>
              <a:rPr sz="1950" spc="-37" baseline="-21367" dirty="0">
                <a:latin typeface="Arial"/>
                <a:cs typeface="Arial"/>
              </a:rPr>
              <a:t>E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93750" marR="284480" lvl="1" indent="-285750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Study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steady-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20" dirty="0">
                <a:latin typeface="Arial"/>
                <a:cs typeface="Arial"/>
              </a:rPr>
              <a:t> (long-</a:t>
            </a:r>
            <a:r>
              <a:rPr sz="2000" dirty="0">
                <a:latin typeface="Arial"/>
                <a:cs typeface="Arial"/>
              </a:rPr>
              <a:t>run)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properties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system, properties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influenced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conditions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model.</a:t>
            </a:r>
            <a:endParaRPr sz="2000">
              <a:latin typeface="Arial"/>
              <a:cs typeface="Arial"/>
            </a:endParaRPr>
          </a:p>
          <a:p>
            <a:pPr marL="393700" marR="267335" indent="-342900">
              <a:lnSpc>
                <a:spcPct val="100000"/>
              </a:lnSpc>
              <a:spcBef>
                <a:spcPts val="545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Whether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simulation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considered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terminating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or </a:t>
            </a:r>
            <a:r>
              <a:rPr sz="2400" spc="-20" dirty="0">
                <a:latin typeface="Arial"/>
                <a:cs typeface="Arial"/>
              </a:rPr>
              <a:t>non-</a:t>
            </a:r>
            <a:r>
              <a:rPr sz="2400" dirty="0">
                <a:latin typeface="Arial"/>
                <a:cs typeface="Arial"/>
              </a:rPr>
              <a:t>terminating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depends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both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objectives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simulation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nature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system.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1027430"/>
            <a:ext cx="59810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Stochastic</a:t>
            </a:r>
            <a:r>
              <a:rPr sz="3200" spc="-30" dirty="0"/>
              <a:t> </a:t>
            </a:r>
            <a:r>
              <a:rPr sz="3200" dirty="0"/>
              <a:t>Nature</a:t>
            </a:r>
            <a:r>
              <a:rPr sz="3200" spc="-30" dirty="0"/>
              <a:t> </a:t>
            </a:r>
            <a:r>
              <a:rPr sz="3200" dirty="0"/>
              <a:t>of</a:t>
            </a:r>
            <a:r>
              <a:rPr sz="3200" spc="-30" dirty="0"/>
              <a:t> </a:t>
            </a:r>
            <a:r>
              <a:rPr sz="3200" dirty="0"/>
              <a:t>Output</a:t>
            </a:r>
            <a:r>
              <a:rPr sz="3200" spc="-30" dirty="0"/>
              <a:t> </a:t>
            </a:r>
            <a:r>
              <a:rPr sz="3200" spc="-20" dirty="0"/>
              <a:t>Data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55802" y="1928876"/>
            <a:ext cx="8079105" cy="417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17780" indent="-34290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Model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output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random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(r. </a:t>
            </a:r>
            <a:r>
              <a:rPr sz="2400" dirty="0">
                <a:latin typeface="Arial"/>
                <a:cs typeface="Arial"/>
              </a:rPr>
              <a:t>v.)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input-</a:t>
            </a:r>
            <a:r>
              <a:rPr sz="2400" dirty="0">
                <a:latin typeface="Arial"/>
                <a:cs typeface="Arial"/>
              </a:rPr>
              <a:t>output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transformation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r.v.’s.</a:t>
            </a:r>
            <a:endParaRPr sz="24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55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M/G/1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queueing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793115" marR="3124200" lvl="1" indent="-285750">
              <a:lnSpc>
                <a:spcPts val="2420"/>
              </a:lnSpc>
              <a:spcBef>
                <a:spcPts val="560"/>
              </a:spcBef>
              <a:buClr>
                <a:srgbClr val="9A9ACC"/>
              </a:buClr>
              <a:buSzPct val="80000"/>
              <a:buChar char="□"/>
              <a:tabLst>
                <a:tab pos="793115" algn="l"/>
              </a:tabLst>
            </a:pPr>
            <a:r>
              <a:rPr sz="2000" dirty="0">
                <a:latin typeface="Arial"/>
                <a:cs typeface="Arial"/>
              </a:rPr>
              <a:t>Poisson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arrival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rate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0.1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minute; </a:t>
            </a:r>
            <a:r>
              <a:rPr sz="2000" dirty="0">
                <a:latin typeface="Arial"/>
                <a:cs typeface="Arial"/>
              </a:rPr>
              <a:t>service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~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N(</a:t>
            </a:r>
            <a:r>
              <a:rPr sz="2100" i="1" dirty="0">
                <a:latin typeface="Symbol"/>
                <a:cs typeface="Symbol"/>
              </a:rPr>
              <a:t>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9.5,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100" i="1" dirty="0">
                <a:latin typeface="Symbol"/>
                <a:cs typeface="Symbol"/>
              </a:rPr>
              <a:t>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Arial"/>
                <a:cs typeface="Arial"/>
              </a:rPr>
              <a:t>=1.75).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37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System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performance: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long-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queue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length,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L</a:t>
            </a:r>
            <a:r>
              <a:rPr sz="1950" i="1" spc="-15" baseline="-21367" dirty="0">
                <a:latin typeface="Arial"/>
                <a:cs typeface="Arial"/>
              </a:rPr>
              <a:t>Q</a:t>
            </a:r>
            <a:r>
              <a:rPr sz="2000" i="1" spc="-10" dirty="0">
                <a:latin typeface="Arial"/>
                <a:cs typeface="Arial"/>
              </a:rPr>
              <a:t>(t)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Suppose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total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5,000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minutes</a:t>
            </a:r>
            <a:endParaRPr sz="2000">
              <a:latin typeface="Arial"/>
              <a:cs typeface="Arial"/>
            </a:endParaRPr>
          </a:p>
          <a:p>
            <a:pPr marL="1194435" lvl="2" indent="-229235">
              <a:lnSpc>
                <a:spcPct val="100000"/>
              </a:lnSpc>
              <a:spcBef>
                <a:spcPts val="440"/>
              </a:spcBef>
              <a:buClr>
                <a:srgbClr val="00007C"/>
              </a:buClr>
              <a:buSzPct val="66666"/>
              <a:buChar char="■"/>
              <a:tabLst>
                <a:tab pos="1194435" algn="l"/>
              </a:tabLst>
            </a:pPr>
            <a:r>
              <a:rPr sz="1800" dirty="0">
                <a:latin typeface="Arial"/>
                <a:cs typeface="Arial"/>
              </a:rPr>
              <a:t>Divide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interval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[</a:t>
            </a:r>
            <a:r>
              <a:rPr sz="1800" i="1" dirty="0">
                <a:latin typeface="Arial"/>
                <a:cs typeface="Arial"/>
              </a:rPr>
              <a:t>0,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5000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5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equal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subintervals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1000</a:t>
            </a:r>
            <a:endParaRPr sz="1800">
              <a:latin typeface="Arial"/>
              <a:cs typeface="Arial"/>
            </a:endParaRPr>
          </a:p>
          <a:p>
            <a:pPr marL="11938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minutes.</a:t>
            </a:r>
            <a:endParaRPr sz="1800">
              <a:latin typeface="Arial"/>
              <a:cs typeface="Arial"/>
            </a:endParaRPr>
          </a:p>
          <a:p>
            <a:pPr marL="1194435" lvl="2" indent="-229235">
              <a:lnSpc>
                <a:spcPct val="100000"/>
              </a:lnSpc>
              <a:spcBef>
                <a:spcPts val="445"/>
              </a:spcBef>
              <a:buClr>
                <a:srgbClr val="00007C"/>
              </a:buClr>
              <a:buSzPct val="66666"/>
              <a:buChar char="■"/>
              <a:tabLst>
                <a:tab pos="1194435" algn="l"/>
              </a:tabLst>
            </a:pPr>
            <a:r>
              <a:rPr sz="1800" dirty="0">
                <a:latin typeface="Arial"/>
                <a:cs typeface="Arial"/>
              </a:rPr>
              <a:t>Average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number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customers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queue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(j-1)1000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1193800">
              <a:lnSpc>
                <a:spcPct val="100000"/>
              </a:lnSpc>
            </a:pPr>
            <a:r>
              <a:rPr sz="1800" i="1" dirty="0">
                <a:latin typeface="Arial"/>
                <a:cs typeface="Arial"/>
              </a:rPr>
              <a:t>j(1000)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Y</a:t>
            </a:r>
            <a:r>
              <a:rPr sz="1800" i="1" baseline="-23148" dirty="0">
                <a:latin typeface="Arial"/>
                <a:cs typeface="Arial"/>
              </a:rPr>
              <a:t>j </a:t>
            </a:r>
            <a:r>
              <a:rPr sz="1800" spc="-5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1027430"/>
            <a:ext cx="59810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Stochastic</a:t>
            </a:r>
            <a:r>
              <a:rPr sz="3200" spc="-30" dirty="0"/>
              <a:t> </a:t>
            </a:r>
            <a:r>
              <a:rPr sz="3200" dirty="0"/>
              <a:t>Nature</a:t>
            </a:r>
            <a:r>
              <a:rPr sz="3200" spc="-30" dirty="0"/>
              <a:t> </a:t>
            </a:r>
            <a:r>
              <a:rPr sz="3200" dirty="0"/>
              <a:t>of</a:t>
            </a:r>
            <a:r>
              <a:rPr sz="3200" spc="-30" dirty="0"/>
              <a:t> </a:t>
            </a:r>
            <a:r>
              <a:rPr sz="3200" dirty="0"/>
              <a:t>Output</a:t>
            </a:r>
            <a:r>
              <a:rPr sz="3200" spc="-30" dirty="0"/>
              <a:t> </a:t>
            </a:r>
            <a:r>
              <a:rPr sz="3200" spc="-20" dirty="0"/>
              <a:t>Data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902" y="1852904"/>
            <a:ext cx="7696834" cy="8350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M/G/1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queueing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(cont.):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1600" spc="459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1600" spc="290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queue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length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independent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replications: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5702" y="4704079"/>
            <a:ext cx="7601584" cy="1609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215" marR="298450" indent="-285750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323215" algn="l"/>
              </a:tabLst>
            </a:pPr>
            <a:r>
              <a:rPr sz="2000" dirty="0">
                <a:latin typeface="Arial"/>
                <a:cs typeface="Arial"/>
              </a:rPr>
              <a:t>Inherent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variability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stochastic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both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single replication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across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repl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ic</a:t>
            </a:r>
            <a:r>
              <a:rPr sz="2000" spc="-10" dirty="0">
                <a:latin typeface="Arial"/>
                <a:cs typeface="Arial"/>
              </a:rPr>
              <a:t>at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io</a:t>
            </a:r>
            <a:r>
              <a:rPr sz="2000" spc="-10" dirty="0">
                <a:latin typeface="Arial"/>
                <a:cs typeface="Arial"/>
              </a:rPr>
              <a:t>n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23215" marR="30480" indent="-285750">
              <a:lnSpc>
                <a:spcPts val="2360"/>
              </a:lnSpc>
              <a:spcBef>
                <a:spcPts val="630"/>
              </a:spcBef>
              <a:buClr>
                <a:srgbClr val="9A9ACC"/>
              </a:buClr>
              <a:buSzPct val="80000"/>
              <a:buChar char="□"/>
              <a:tabLst>
                <a:tab pos="323215" algn="l"/>
              </a:tabLst>
            </a:pPr>
            <a:r>
              <a:rPr sz="3000" baseline="1388" dirty="0">
                <a:latin typeface="Arial"/>
                <a:cs typeface="Arial"/>
              </a:rPr>
              <a:t>The</a:t>
            </a:r>
            <a:r>
              <a:rPr sz="3000" spc="-127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average</a:t>
            </a:r>
            <a:r>
              <a:rPr sz="3000" spc="-37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across</a:t>
            </a:r>
            <a:r>
              <a:rPr sz="3000" spc="-37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3</a:t>
            </a:r>
            <a:r>
              <a:rPr sz="3000" spc="-37" baseline="1388" dirty="0">
                <a:latin typeface="Arial"/>
                <a:cs typeface="Arial"/>
              </a:rPr>
              <a:t> </a:t>
            </a:r>
            <a:r>
              <a:rPr sz="3000" spc="-30" baseline="1388" dirty="0">
                <a:latin typeface="Arial"/>
                <a:cs typeface="Arial"/>
              </a:rPr>
              <a:t>replications,</a:t>
            </a:r>
            <a:r>
              <a:rPr sz="3000" spc="-390" baseline="1388" dirty="0">
                <a:latin typeface="Arial"/>
                <a:cs typeface="Arial"/>
              </a:rPr>
              <a:t> </a:t>
            </a:r>
            <a:r>
              <a:rPr sz="3300" i="1" spc="-150" baseline="13888" dirty="0">
                <a:latin typeface="Times New Roman"/>
                <a:cs typeface="Times New Roman"/>
              </a:rPr>
              <a:t>Y</a:t>
            </a:r>
            <a:r>
              <a:rPr sz="1250" spc="-100" dirty="0">
                <a:latin typeface="Times New Roman"/>
                <a:cs typeface="Times New Roman"/>
              </a:rPr>
              <a:t>1</a:t>
            </a:r>
            <a:r>
              <a:rPr sz="1875" spc="-150" baseline="-4444" dirty="0">
                <a:latin typeface="Times New Roman"/>
                <a:cs typeface="Times New Roman"/>
              </a:rPr>
              <a:t>.</a:t>
            </a:r>
            <a:r>
              <a:rPr sz="1875" spc="-240" baseline="-4444" dirty="0">
                <a:latin typeface="Times New Roman"/>
                <a:cs typeface="Times New Roman"/>
              </a:rPr>
              <a:t> </a:t>
            </a:r>
            <a:r>
              <a:rPr sz="3300" baseline="13888" dirty="0">
                <a:latin typeface="Times New Roman"/>
                <a:cs typeface="Times New Roman"/>
              </a:rPr>
              <a:t>,</a:t>
            </a:r>
            <a:r>
              <a:rPr sz="3300" i="1" baseline="13888" dirty="0">
                <a:latin typeface="Times New Roman"/>
                <a:cs typeface="Times New Roman"/>
              </a:rPr>
              <a:t>Y</a:t>
            </a:r>
            <a:r>
              <a:rPr sz="1250" dirty="0">
                <a:latin typeface="Times New Roman"/>
                <a:cs typeface="Times New Roman"/>
              </a:rPr>
              <a:t>2.</a:t>
            </a:r>
            <a:r>
              <a:rPr sz="1250" spc="-155" dirty="0">
                <a:latin typeface="Times New Roman"/>
                <a:cs typeface="Times New Roman"/>
              </a:rPr>
              <a:t> </a:t>
            </a:r>
            <a:r>
              <a:rPr sz="3300" baseline="13888" dirty="0">
                <a:latin typeface="Times New Roman"/>
                <a:cs typeface="Times New Roman"/>
              </a:rPr>
              <a:t>,</a:t>
            </a:r>
            <a:r>
              <a:rPr sz="3300" i="1" baseline="13888" dirty="0">
                <a:latin typeface="Times New Roman"/>
                <a:cs typeface="Times New Roman"/>
              </a:rPr>
              <a:t>Y</a:t>
            </a:r>
            <a:r>
              <a:rPr sz="1250" dirty="0">
                <a:latin typeface="Times New Roman"/>
                <a:cs typeface="Times New Roman"/>
              </a:rPr>
              <a:t>3.</a:t>
            </a:r>
            <a:r>
              <a:rPr sz="1250" spc="-155" dirty="0">
                <a:latin typeface="Times New Roman"/>
                <a:cs typeface="Times New Roman"/>
              </a:rPr>
              <a:t> </a:t>
            </a:r>
            <a:r>
              <a:rPr sz="3300" spc="-202" baseline="13888" dirty="0">
                <a:latin typeface="Times New Roman"/>
                <a:cs typeface="Times New Roman"/>
              </a:rPr>
              <a:t>,</a:t>
            </a:r>
            <a:r>
              <a:rPr sz="3000" spc="-202" baseline="1388" dirty="0">
                <a:latin typeface="Arial"/>
                <a:cs typeface="Arial"/>
              </a:rPr>
              <a:t>can</a:t>
            </a:r>
            <a:r>
              <a:rPr sz="3000" spc="-15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be</a:t>
            </a:r>
            <a:r>
              <a:rPr sz="3000" spc="-44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regarded</a:t>
            </a:r>
            <a:r>
              <a:rPr sz="3000" spc="-30" baseline="1388" dirty="0">
                <a:latin typeface="Arial"/>
                <a:cs typeface="Arial"/>
              </a:rPr>
              <a:t> </a:t>
            </a:r>
            <a:r>
              <a:rPr sz="3000" spc="-37" baseline="1388" dirty="0">
                <a:latin typeface="Arial"/>
                <a:cs typeface="Arial"/>
              </a:rPr>
              <a:t>as </a:t>
            </a:r>
            <a:r>
              <a:rPr sz="2000" spc="-10" dirty="0">
                <a:latin typeface="Arial"/>
                <a:cs typeface="Arial"/>
              </a:rPr>
              <a:t>independent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observations,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within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replication,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Y</a:t>
            </a:r>
            <a:r>
              <a:rPr sz="1950" i="1" spc="-30" baseline="-21367" dirty="0">
                <a:latin typeface="Arial"/>
                <a:cs typeface="Arial"/>
              </a:rPr>
              <a:t>11</a:t>
            </a:r>
            <a:r>
              <a:rPr sz="2000" i="1" spc="-2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323215">
              <a:lnSpc>
                <a:spcPts val="2325"/>
              </a:lnSpc>
            </a:pPr>
            <a:r>
              <a:rPr sz="2000" i="1" dirty="0">
                <a:latin typeface="Arial"/>
                <a:cs typeface="Arial"/>
              </a:rPr>
              <a:t>…,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15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20" dirty="0">
                <a:latin typeface="Arial"/>
                <a:cs typeface="Arial"/>
              </a:rPr>
              <a:t> not.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38019" y="2819019"/>
          <a:ext cx="5562600" cy="1578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4310">
                <a:tc rowSpan="2">
                  <a:txBody>
                    <a:bodyPr/>
                    <a:lstStyle/>
                    <a:p>
                      <a:pPr marL="459105" marR="329565" indent="-283845">
                        <a:lnSpc>
                          <a:spcPts val="159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Batching</a:t>
                      </a:r>
                      <a:r>
                        <a:rPr sz="1200" b="1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Interval (minutes)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7185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Batch,</a:t>
                      </a:r>
                      <a:r>
                        <a:rPr sz="12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j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721360">
                        <a:lnSpc>
                          <a:spcPts val="142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Replication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1,</a:t>
                      </a:r>
                      <a:r>
                        <a:rPr sz="12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200" b="1" spc="-37" baseline="-17361" dirty="0">
                          <a:latin typeface="Arial"/>
                          <a:cs typeface="Arial"/>
                        </a:rPr>
                        <a:t>1j</a:t>
                      </a:r>
                      <a:endParaRPr sz="1200" baseline="-17361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12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200" b="1" spc="-37" baseline="-17361" dirty="0">
                          <a:latin typeface="Arial"/>
                          <a:cs typeface="Arial"/>
                        </a:rPr>
                        <a:t>2j</a:t>
                      </a:r>
                      <a:endParaRPr sz="1200" baseline="-17361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3,</a:t>
                      </a:r>
                      <a:r>
                        <a:rPr sz="1200" b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200" b="1" spc="-37" baseline="-17361" dirty="0">
                          <a:latin typeface="Arial"/>
                          <a:cs typeface="Arial"/>
                        </a:rPr>
                        <a:t>3j</a:t>
                      </a:r>
                      <a:endParaRPr sz="1200" baseline="-17361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30480">
                        <a:lnSpc>
                          <a:spcPts val="142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[0,</a:t>
                      </a:r>
                      <a:r>
                        <a:rPr sz="12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1000)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7850">
                        <a:lnSpc>
                          <a:spcPts val="1425"/>
                        </a:lnSpc>
                      </a:pPr>
                      <a:r>
                        <a:rPr sz="1200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42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3.61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42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2.91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42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7.67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30480">
                        <a:lnSpc>
                          <a:spcPts val="143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[1000,</a:t>
                      </a:r>
                      <a:r>
                        <a:rPr sz="12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2000)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77850">
                        <a:lnSpc>
                          <a:spcPts val="1435"/>
                        </a:lnSpc>
                      </a:pPr>
                      <a:r>
                        <a:rPr sz="1200" spc="-50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43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3.21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43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9.00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19.53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30480">
                        <a:lnSpc>
                          <a:spcPts val="143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[2000,</a:t>
                      </a:r>
                      <a:r>
                        <a:rPr sz="12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3000)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ts val="1435"/>
                        </a:lnSpc>
                      </a:pPr>
                      <a:r>
                        <a:rPr sz="1200" spc="-50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43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2.18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16.15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20.36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30480">
                        <a:lnSpc>
                          <a:spcPts val="143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[3000,</a:t>
                      </a:r>
                      <a:r>
                        <a:rPr sz="12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4000)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ts val="1435"/>
                        </a:lnSpc>
                      </a:pPr>
                      <a:r>
                        <a:rPr sz="1200" spc="-50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43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6.92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24.53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3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8.11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30480">
                        <a:lnSpc>
                          <a:spcPts val="143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[4000,</a:t>
                      </a:r>
                      <a:r>
                        <a:rPr sz="12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5000)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ts val="1435"/>
                        </a:lnSpc>
                      </a:pPr>
                      <a:r>
                        <a:rPr sz="1200" spc="-50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43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2.82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25.19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12.62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0480">
                        <a:lnSpc>
                          <a:spcPts val="143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[0,</a:t>
                      </a:r>
                      <a:r>
                        <a:rPr sz="12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5000)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435"/>
                        </a:lnSpc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3.75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15.56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13.66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1027430"/>
            <a:ext cx="4648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Measures</a:t>
            </a:r>
            <a:r>
              <a:rPr sz="3200" spc="-35" dirty="0"/>
              <a:t> </a:t>
            </a:r>
            <a:r>
              <a:rPr sz="3200" dirty="0"/>
              <a:t>of</a:t>
            </a:r>
            <a:r>
              <a:rPr sz="3200" spc="-25" dirty="0"/>
              <a:t> </a:t>
            </a:r>
            <a:r>
              <a:rPr sz="3200" spc="-10" dirty="0"/>
              <a:t>performance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55802" y="1916876"/>
            <a:ext cx="8300084" cy="2304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3065" indent="-342265">
              <a:lnSpc>
                <a:spcPts val="2935"/>
              </a:lnSpc>
              <a:spcBef>
                <a:spcPts val="13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Consider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performance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parameter,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500" i="1" dirty="0">
                <a:latin typeface="Symbol"/>
                <a:cs typeface="Symbol"/>
              </a:rPr>
              <a:t>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(or</a:t>
            </a:r>
            <a:endParaRPr sz="2400">
              <a:latin typeface="Arial"/>
              <a:cs typeface="Arial"/>
            </a:endParaRPr>
          </a:p>
          <a:p>
            <a:pPr marL="393700">
              <a:lnSpc>
                <a:spcPts val="2935"/>
              </a:lnSpc>
            </a:pPr>
            <a:r>
              <a:rPr sz="2500" i="1" spc="-70" dirty="0">
                <a:latin typeface="Symbol"/>
                <a:cs typeface="Symbol"/>
              </a:rPr>
              <a:t></a:t>
            </a:r>
            <a:r>
              <a:rPr sz="2400" spc="-70" dirty="0">
                <a:latin typeface="Arial"/>
                <a:cs typeface="Arial"/>
              </a:rPr>
              <a:t>),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simulated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system.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359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Discrete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1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2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…,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],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ordinary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100" i="1" spc="-50" dirty="0">
                <a:latin typeface="Symbol"/>
                <a:cs typeface="Symbol"/>
              </a:rPr>
              <a:t></a:t>
            </a:r>
            <a:endParaRPr sz="2100">
              <a:latin typeface="Symbol"/>
              <a:cs typeface="Symbol"/>
            </a:endParaRPr>
          </a:p>
          <a:p>
            <a:pPr marL="794385" lvl="1" indent="-286385">
              <a:lnSpc>
                <a:spcPct val="100000"/>
              </a:lnSpc>
              <a:spcBef>
                <a:spcPts val="35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spc="-20" dirty="0">
                <a:latin typeface="Arial"/>
                <a:cs typeface="Arial"/>
              </a:rPr>
              <a:t>Continuous-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</a:t>
            </a:r>
            <a:r>
              <a:rPr sz="2000" i="1" dirty="0">
                <a:latin typeface="Arial"/>
                <a:cs typeface="Arial"/>
              </a:rPr>
              <a:t>Y(t),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950" i="1" baseline="-21367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}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time-</a:t>
            </a:r>
            <a:r>
              <a:rPr sz="2000" dirty="0">
                <a:latin typeface="Arial"/>
                <a:cs typeface="Arial"/>
              </a:rPr>
              <a:t>weighted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mean: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100" i="1" spc="-50" dirty="0">
                <a:latin typeface="Symbol"/>
                <a:cs typeface="Symbol"/>
              </a:rPr>
              <a:t></a:t>
            </a:r>
            <a:endParaRPr sz="2100">
              <a:latin typeface="Symbol"/>
              <a:cs typeface="Symbol"/>
            </a:endParaRPr>
          </a:p>
          <a:p>
            <a:pPr marL="393065" indent="-342265">
              <a:lnSpc>
                <a:spcPct val="100000"/>
              </a:lnSpc>
              <a:spcBef>
                <a:spcPts val="50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Point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estimation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discrete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95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estimator: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2901" y="5261102"/>
            <a:ext cx="4932680" cy="97599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67335" indent="-229235">
              <a:lnSpc>
                <a:spcPct val="100000"/>
              </a:lnSpc>
              <a:spcBef>
                <a:spcPts val="520"/>
              </a:spcBef>
              <a:buClr>
                <a:srgbClr val="00007C"/>
              </a:buClr>
              <a:buSzPct val="66666"/>
              <a:buChar char="■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unbiased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expected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value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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if:</a:t>
            </a:r>
            <a:endParaRPr sz="1800">
              <a:latin typeface="Arial"/>
              <a:cs typeface="Arial"/>
            </a:endParaRPr>
          </a:p>
          <a:p>
            <a:pPr marL="267335" indent="-229235">
              <a:lnSpc>
                <a:spcPts val="2030"/>
              </a:lnSpc>
              <a:spcBef>
                <a:spcPts val="420"/>
              </a:spcBef>
              <a:buClr>
                <a:srgbClr val="00007C"/>
              </a:buClr>
              <a:buSzPct val="66666"/>
              <a:buChar char="■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biased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if:</a:t>
            </a:r>
            <a:endParaRPr sz="1800">
              <a:latin typeface="Arial"/>
              <a:cs typeface="Arial"/>
            </a:endParaRPr>
          </a:p>
          <a:p>
            <a:pPr marL="1517015">
              <a:lnSpc>
                <a:spcPts val="2450"/>
              </a:lnSpc>
            </a:pPr>
            <a:r>
              <a:rPr sz="2000" i="1" spc="-95" dirty="0">
                <a:latin typeface="Times New Roman"/>
                <a:cs typeface="Times New Roman"/>
              </a:rPr>
              <a:t>E</a:t>
            </a:r>
            <a:r>
              <a:rPr sz="2000" spc="-95" dirty="0">
                <a:latin typeface="Times New Roman"/>
                <a:cs typeface="Times New Roman"/>
              </a:rPr>
              <a:t>(</a:t>
            </a:r>
            <a:r>
              <a:rPr sz="2150" i="1" spc="-95" dirty="0">
                <a:latin typeface="Symbol"/>
                <a:cs typeface="Symbol"/>
              </a:rPr>
              <a:t></a:t>
            </a:r>
            <a:r>
              <a:rPr sz="3000" spc="-142" baseline="15277" dirty="0">
                <a:latin typeface="Times New Roman"/>
                <a:cs typeface="Times New Roman"/>
              </a:rPr>
              <a:t>ˆ</a:t>
            </a:r>
            <a:r>
              <a:rPr sz="2000" spc="-95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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150" i="1" spc="-50" dirty="0">
                <a:latin typeface="Symbol"/>
                <a:cs typeface="Symbol"/>
              </a:rPr>
              <a:t>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7135" y="5520578"/>
            <a:ext cx="101282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200" i="1" spc="-120" dirty="0">
                <a:latin typeface="Times New Roman"/>
                <a:cs typeface="Times New Roman"/>
              </a:rPr>
              <a:t>E</a:t>
            </a:r>
            <a:r>
              <a:rPr sz="2200" spc="-120" dirty="0">
                <a:latin typeface="Times New Roman"/>
                <a:cs typeface="Times New Roman"/>
              </a:rPr>
              <a:t>(</a:t>
            </a:r>
            <a:r>
              <a:rPr sz="2300" i="1" spc="-120" dirty="0">
                <a:latin typeface="Symbol"/>
                <a:cs typeface="Symbol"/>
              </a:rPr>
              <a:t></a:t>
            </a:r>
            <a:r>
              <a:rPr sz="3300" spc="-179" baseline="15151" dirty="0">
                <a:latin typeface="Times New Roman"/>
                <a:cs typeface="Times New Roman"/>
              </a:rPr>
              <a:t>ˆ</a:t>
            </a:r>
            <a:r>
              <a:rPr sz="2200" spc="-120" dirty="0">
                <a:latin typeface="Times New Roman"/>
                <a:cs typeface="Times New Roman"/>
              </a:rPr>
              <a:t>)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Symbol"/>
                <a:cs typeface="Symbol"/>
              </a:rPr>
              <a:t></a:t>
            </a:r>
            <a:r>
              <a:rPr sz="2200" spc="-229" dirty="0">
                <a:latin typeface="Times New Roman"/>
                <a:cs typeface="Times New Roman"/>
              </a:rPr>
              <a:t> </a:t>
            </a:r>
            <a:r>
              <a:rPr sz="2300" i="1" spc="-60" dirty="0">
                <a:latin typeface="Symbol"/>
                <a:cs typeface="Symbol"/>
              </a:rPr>
              <a:t>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0" y="5334000"/>
            <a:ext cx="990600" cy="685800"/>
          </a:xfrm>
          <a:custGeom>
            <a:avLst/>
            <a:gdLst/>
            <a:ahLst/>
            <a:cxnLst/>
            <a:rect l="l" t="t" r="r" b="b"/>
            <a:pathLst>
              <a:path w="990600" h="685800">
                <a:moveTo>
                  <a:pt x="247650" y="0"/>
                </a:moveTo>
                <a:lnTo>
                  <a:pt x="247650" y="171450"/>
                </a:lnTo>
                <a:lnTo>
                  <a:pt x="990600" y="171450"/>
                </a:lnTo>
                <a:lnTo>
                  <a:pt x="990600" y="514350"/>
                </a:lnTo>
                <a:lnTo>
                  <a:pt x="247650" y="514350"/>
                </a:lnTo>
                <a:lnTo>
                  <a:pt x="247650" y="685800"/>
                </a:lnTo>
                <a:lnTo>
                  <a:pt x="0" y="342900"/>
                </a:lnTo>
                <a:lnTo>
                  <a:pt x="247650" y="0"/>
                </a:lnTo>
                <a:close/>
              </a:path>
            </a:pathLst>
          </a:custGeom>
          <a:ln w="9525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89873" y="5536946"/>
            <a:ext cx="7708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0" dirty="0">
                <a:latin typeface="Arial"/>
                <a:cs typeface="Arial"/>
              </a:rPr>
              <a:t>Desired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580376" y="4706989"/>
            <a:ext cx="717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0" dirty="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5158" y="4739434"/>
            <a:ext cx="16700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i="1" spc="-50" dirty="0">
                <a:latin typeface="Times New Roman"/>
                <a:cs typeface="Times New Roman"/>
              </a:rPr>
              <a:t>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1279" y="4906638"/>
            <a:ext cx="2489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25" dirty="0">
                <a:latin typeface="Times New Roman"/>
                <a:cs typeface="Times New Roman"/>
              </a:rPr>
              <a:t>i</a:t>
            </a:r>
            <a:r>
              <a:rPr sz="1300" spc="-25" dirty="0">
                <a:latin typeface="Symbol"/>
                <a:cs typeface="Symbol"/>
              </a:rPr>
              <a:t></a:t>
            </a:r>
            <a:r>
              <a:rPr sz="1300" spc="-2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7502" y="4349615"/>
            <a:ext cx="1250315" cy="562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18135" algn="r">
              <a:lnSpc>
                <a:spcPts val="910"/>
              </a:lnSpc>
              <a:spcBef>
                <a:spcPts val="95"/>
              </a:spcBef>
            </a:pPr>
            <a:r>
              <a:rPr sz="1300" i="1" spc="-5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  <a:p>
            <a:pPr marL="38100">
              <a:lnSpc>
                <a:spcPts val="3310"/>
              </a:lnSpc>
            </a:pPr>
            <a:r>
              <a:rPr sz="2350" i="1" spc="-275" dirty="0">
                <a:latin typeface="Symbol"/>
                <a:cs typeface="Symbol"/>
              </a:rPr>
              <a:t></a:t>
            </a:r>
            <a:r>
              <a:rPr sz="3300" spc="-412" baseline="16414" dirty="0">
                <a:latin typeface="Times New Roman"/>
                <a:cs typeface="Times New Roman"/>
              </a:rPr>
              <a:t>ˆ</a:t>
            </a:r>
            <a:r>
              <a:rPr sz="3300" spc="-44" baseline="164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3300" u="sng" baseline="3535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300" spc="-75" baseline="35353" dirty="0">
                <a:latin typeface="Times New Roman"/>
                <a:cs typeface="Times New Roman"/>
              </a:rPr>
              <a:t> </a:t>
            </a:r>
            <a:r>
              <a:rPr sz="4950" spc="97" baseline="-8417" dirty="0">
                <a:latin typeface="Symbol"/>
                <a:cs typeface="Symbol"/>
              </a:rPr>
              <a:t></a:t>
            </a:r>
            <a:r>
              <a:rPr sz="2200" i="1" spc="65" dirty="0">
                <a:latin typeface="Times New Roman"/>
                <a:cs typeface="Times New Roman"/>
              </a:rPr>
              <a:t>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Point</a:t>
            </a:r>
            <a:r>
              <a:rPr sz="3200" spc="-5" dirty="0"/>
              <a:t> </a:t>
            </a:r>
            <a:r>
              <a:rPr sz="3200" spc="-10" dirty="0"/>
              <a:t>Estimator</a:t>
            </a:r>
            <a:endParaRPr sz="32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0892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[Performance</a:t>
            </a:r>
            <a:r>
              <a:rPr sz="2200" spc="-13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Measures]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902" y="1852904"/>
            <a:ext cx="5977255" cy="8350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Point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continuous-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1600" spc="459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1600" spc="330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estimator: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8502" y="3366858"/>
            <a:ext cx="8263255" cy="218503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181735" indent="-229235">
              <a:lnSpc>
                <a:spcPct val="100000"/>
              </a:lnSpc>
              <a:spcBef>
                <a:spcPts val="585"/>
              </a:spcBef>
              <a:buClr>
                <a:srgbClr val="00007C"/>
              </a:buClr>
              <a:buSzPct val="66666"/>
              <a:buChar char="■"/>
              <a:tabLst>
                <a:tab pos="1181735" algn="l"/>
              </a:tabLst>
            </a:pPr>
            <a:r>
              <a:rPr sz="1800" dirty="0">
                <a:latin typeface="Arial"/>
                <a:cs typeface="Arial"/>
              </a:rPr>
              <a:t>Is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biased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where:</a:t>
            </a:r>
            <a:r>
              <a:rPr sz="1800" spc="400" dirty="0">
                <a:latin typeface="Arial"/>
                <a:cs typeface="Arial"/>
              </a:rPr>
              <a:t> </a:t>
            </a:r>
            <a:r>
              <a:rPr sz="2775" i="1" spc="-179" baseline="3003" dirty="0">
                <a:latin typeface="Times New Roman"/>
                <a:cs typeface="Times New Roman"/>
              </a:rPr>
              <a:t>E</a:t>
            </a:r>
            <a:r>
              <a:rPr sz="2775" spc="-179" baseline="3003" dirty="0">
                <a:latin typeface="Times New Roman"/>
                <a:cs typeface="Times New Roman"/>
              </a:rPr>
              <a:t>(</a:t>
            </a:r>
            <a:r>
              <a:rPr sz="2925" i="1" spc="-179" baseline="2849" dirty="0">
                <a:latin typeface="Symbol"/>
                <a:cs typeface="Symbol"/>
              </a:rPr>
              <a:t></a:t>
            </a:r>
            <a:r>
              <a:rPr sz="2775" spc="-179" baseline="18018" dirty="0">
                <a:latin typeface="Times New Roman"/>
                <a:cs typeface="Times New Roman"/>
              </a:rPr>
              <a:t>ˆ</a:t>
            </a:r>
            <a:r>
              <a:rPr sz="2775" spc="-179" baseline="3003" dirty="0">
                <a:latin typeface="Times New Roman"/>
                <a:cs typeface="Times New Roman"/>
              </a:rPr>
              <a:t>)</a:t>
            </a:r>
            <a:r>
              <a:rPr sz="2775" spc="-52" baseline="3003" dirty="0">
                <a:latin typeface="Times New Roman"/>
                <a:cs typeface="Times New Roman"/>
              </a:rPr>
              <a:t> </a:t>
            </a:r>
            <a:r>
              <a:rPr sz="2775" baseline="3003" dirty="0">
                <a:latin typeface="Symbol"/>
                <a:cs typeface="Symbol"/>
              </a:rPr>
              <a:t></a:t>
            </a:r>
            <a:r>
              <a:rPr sz="2775" spc="-217" baseline="3003" dirty="0">
                <a:latin typeface="Times New Roman"/>
                <a:cs typeface="Times New Roman"/>
              </a:rPr>
              <a:t> </a:t>
            </a:r>
            <a:r>
              <a:rPr sz="2925" i="1" spc="-307" baseline="2849" dirty="0">
                <a:latin typeface="Symbol"/>
                <a:cs typeface="Symbol"/>
              </a:rPr>
              <a:t></a:t>
            </a:r>
            <a:r>
              <a:rPr sz="2925" spc="-390" baseline="2849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181735" indent="-229235">
              <a:lnSpc>
                <a:spcPct val="100000"/>
              </a:lnSpc>
              <a:spcBef>
                <a:spcPts val="414"/>
              </a:spcBef>
              <a:buClr>
                <a:srgbClr val="00007C"/>
              </a:buClr>
              <a:buSzPct val="66666"/>
              <a:buChar char="■"/>
              <a:tabLst>
                <a:tab pos="1181735" algn="l"/>
              </a:tabLst>
            </a:pPr>
            <a:r>
              <a:rPr sz="1800" dirty="0">
                <a:latin typeface="Arial"/>
                <a:cs typeface="Arial"/>
              </a:rPr>
              <a:t>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unbiased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low-bias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estimator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desired.</a:t>
            </a:r>
            <a:endParaRPr sz="1800">
              <a:latin typeface="Arial"/>
              <a:cs typeface="Arial"/>
            </a:endParaRPr>
          </a:p>
          <a:p>
            <a:pPr marL="381000" marR="434340" indent="-342900">
              <a:lnSpc>
                <a:spcPts val="2920"/>
              </a:lnSpc>
              <a:spcBef>
                <a:spcPts val="615"/>
              </a:spcBef>
              <a:buClr>
                <a:srgbClr val="00007C"/>
              </a:buClr>
              <a:buSzPct val="75000"/>
              <a:buChar char="■"/>
              <a:tabLst>
                <a:tab pos="381000" algn="l"/>
              </a:tabLst>
            </a:pPr>
            <a:r>
              <a:rPr sz="2400" dirty="0">
                <a:latin typeface="Arial"/>
                <a:cs typeface="Arial"/>
              </a:rPr>
              <a:t>Usually,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performance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into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framework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500" i="1" dirty="0">
                <a:latin typeface="Symbol"/>
                <a:cs typeface="Symbol"/>
              </a:rPr>
              <a:t>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500" i="1" spc="-25" dirty="0">
                <a:latin typeface="Symbol"/>
                <a:cs typeface="Symbol"/>
              </a:rPr>
              <a:t></a:t>
            </a:r>
            <a:endParaRPr sz="2500">
              <a:latin typeface="Symbol"/>
              <a:cs typeface="Symbol"/>
            </a:endParaRPr>
          </a:p>
          <a:p>
            <a:pPr marL="781050" marR="30480" indent="-285750">
              <a:lnSpc>
                <a:spcPct val="100000"/>
              </a:lnSpc>
              <a:spcBef>
                <a:spcPts val="345"/>
              </a:spcBef>
            </a:pPr>
            <a:r>
              <a:rPr sz="1600" spc="459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1600" spc="335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e.g.,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proportion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days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which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sales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through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out- </a:t>
            </a:r>
            <a:r>
              <a:rPr sz="2000" spc="-10" dirty="0">
                <a:latin typeface="Arial"/>
                <a:cs typeface="Arial"/>
              </a:rPr>
              <a:t>of-</a:t>
            </a:r>
            <a:r>
              <a:rPr sz="2000" dirty="0">
                <a:latin typeface="Arial"/>
                <a:cs typeface="Arial"/>
              </a:rPr>
              <a:t>stock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situation,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let: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1155" y="2703160"/>
            <a:ext cx="141605" cy="534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00" spc="-50" dirty="0">
                <a:latin typeface="Symbol"/>
                <a:cs typeface="Symbol"/>
              </a:rPr>
              <a:t>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9182" y="2735521"/>
            <a:ext cx="9779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i="1" spc="-50" dirty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9265" y="2647307"/>
            <a:ext cx="1174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0" dirty="0">
                <a:latin typeface="Times New Roman"/>
                <a:cs typeface="Times New Roman"/>
              </a:rPr>
              <a:t>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1100" y="2743006"/>
            <a:ext cx="73152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i="1" dirty="0">
                <a:latin typeface="Times New Roman"/>
                <a:cs typeface="Times New Roman"/>
              </a:rPr>
              <a:t>Y</a:t>
            </a:r>
            <a:r>
              <a:rPr sz="2200" i="1" spc="-2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(</a:t>
            </a:r>
            <a:r>
              <a:rPr sz="2200" i="1" spc="-20" dirty="0">
                <a:latin typeface="Times New Roman"/>
                <a:cs typeface="Times New Roman"/>
              </a:rPr>
              <a:t>t</a:t>
            </a:r>
            <a:r>
              <a:rPr sz="2200" spc="-20" dirty="0">
                <a:latin typeface="Times New Roman"/>
                <a:cs typeface="Times New Roman"/>
              </a:rPr>
              <a:t>)</a:t>
            </a:r>
            <a:r>
              <a:rPr sz="2200" i="1" spc="-20" dirty="0">
                <a:latin typeface="Times New Roman"/>
                <a:cs typeface="Times New Roman"/>
              </a:rPr>
              <a:t>dt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14214" y="3014591"/>
            <a:ext cx="1079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8378" y="2505067"/>
            <a:ext cx="381000" cy="8229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2200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200" u="sng" spc="5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20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  <a:spcBef>
                <a:spcPts val="500"/>
              </a:spcBef>
            </a:pPr>
            <a:r>
              <a:rPr sz="2200" i="1" spc="-25" dirty="0">
                <a:latin typeface="Times New Roman"/>
                <a:cs typeface="Times New Roman"/>
              </a:rPr>
              <a:t>T</a:t>
            </a:r>
            <a:r>
              <a:rPr sz="1950" i="1" spc="-37" baseline="-23504" dirty="0">
                <a:latin typeface="Times New Roman"/>
                <a:cs typeface="Times New Roman"/>
              </a:rPr>
              <a:t>E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8993" y="2663769"/>
            <a:ext cx="120014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50" dirty="0">
                <a:latin typeface="Times New Roman"/>
                <a:cs typeface="Times New Roman"/>
              </a:rPr>
              <a:t>ˆ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0482" y="2726947"/>
            <a:ext cx="41846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i="1" spc="-254" dirty="0">
                <a:latin typeface="Symbol"/>
                <a:cs typeface="Symbol"/>
              </a:rPr>
              <a:t></a:t>
            </a:r>
            <a:r>
              <a:rPr sz="2350" spc="12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0705" y="5487162"/>
            <a:ext cx="15557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50" dirty="0">
                <a:latin typeface="Symbol"/>
                <a:cs typeface="Symbol"/>
              </a:rPr>
              <a:t>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02605" y="5171072"/>
            <a:ext cx="2970530" cy="81216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563880">
              <a:lnSpc>
                <a:spcPct val="100000"/>
              </a:lnSpc>
              <a:spcBef>
                <a:spcPts val="730"/>
              </a:spcBef>
            </a:pPr>
            <a:r>
              <a:rPr sz="2050" dirty="0">
                <a:latin typeface="Times New Roman"/>
                <a:cs typeface="Times New Roman"/>
              </a:rPr>
              <a:t>if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out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1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stock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on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day</a:t>
            </a:r>
            <a:r>
              <a:rPr sz="2050" spc="-170" dirty="0">
                <a:latin typeface="Times New Roman"/>
                <a:cs typeface="Times New Roman"/>
              </a:rPr>
              <a:t> </a:t>
            </a:r>
            <a:r>
              <a:rPr sz="2050" i="1" spc="-50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35"/>
              </a:spcBef>
              <a:tabLst>
                <a:tab pos="612775" algn="l"/>
              </a:tabLst>
            </a:pPr>
            <a:r>
              <a:rPr sz="3075" spc="-37" baseline="-13550" dirty="0">
                <a:latin typeface="Symbol"/>
                <a:cs typeface="Symbol"/>
              </a:rPr>
              <a:t></a:t>
            </a:r>
            <a:r>
              <a:rPr sz="2050" spc="-25" dirty="0">
                <a:latin typeface="Times New Roman"/>
                <a:cs typeface="Times New Roman"/>
              </a:rPr>
              <a:t>0,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Times New Roman"/>
                <a:cs typeface="Times New Roman"/>
              </a:rPr>
              <a:t>otherwise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05093" y="5442217"/>
            <a:ext cx="106172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i="1" dirty="0">
                <a:latin typeface="Times New Roman"/>
                <a:cs typeface="Times New Roman"/>
              </a:rPr>
              <a:t>Y</a:t>
            </a:r>
            <a:r>
              <a:rPr sz="2050" i="1" spc="-2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</a:t>
            </a:r>
            <a:r>
              <a:rPr sz="2050" i="1" dirty="0">
                <a:latin typeface="Times New Roman"/>
                <a:cs typeface="Times New Roman"/>
              </a:rPr>
              <a:t>t</a:t>
            </a:r>
            <a:r>
              <a:rPr sz="2050" dirty="0">
                <a:latin typeface="Times New Roman"/>
                <a:cs typeface="Times New Roman"/>
              </a:rPr>
              <a:t>)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3075" spc="-67" baseline="36585" dirty="0">
                <a:latin typeface="Symbol"/>
                <a:cs typeface="Symbol"/>
              </a:rPr>
              <a:t></a:t>
            </a:r>
            <a:r>
              <a:rPr sz="3075" spc="-67" baseline="40650" dirty="0">
                <a:latin typeface="Times New Roman"/>
                <a:cs typeface="Times New Roman"/>
              </a:rPr>
              <a:t>1,</a:t>
            </a:r>
            <a:endParaRPr sz="3075" baseline="40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Point</a:t>
            </a:r>
            <a:r>
              <a:rPr sz="3200" spc="-5" dirty="0"/>
              <a:t> </a:t>
            </a:r>
            <a:r>
              <a:rPr sz="3200" spc="-10" dirty="0"/>
              <a:t>Estimator</a:t>
            </a:r>
            <a:endParaRPr sz="32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0892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[Performance</a:t>
            </a:r>
            <a:r>
              <a:rPr sz="2200" spc="-13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Measures]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902" y="1928876"/>
            <a:ext cx="7145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spc="-10" dirty="0">
                <a:latin typeface="Arial"/>
                <a:cs typeface="Arial"/>
              </a:rPr>
              <a:t>Performance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fit: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802" y="2293873"/>
            <a:ext cx="1433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percentile: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5702" y="2722880"/>
            <a:ext cx="7426325" cy="160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50" marR="30480" indent="-285750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323850" algn="l"/>
              </a:tabLst>
            </a:pPr>
            <a:r>
              <a:rPr sz="2000" spc="-10" dirty="0">
                <a:latin typeface="Arial"/>
                <a:cs typeface="Arial"/>
              </a:rPr>
              <a:t>Estimating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quantiles: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inverse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problem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estimating</a:t>
            </a:r>
            <a:r>
              <a:rPr sz="2000" spc="-50" dirty="0">
                <a:latin typeface="Arial"/>
                <a:cs typeface="Arial"/>
              </a:rPr>
              <a:t> a </a:t>
            </a:r>
            <a:r>
              <a:rPr sz="2000" spc="-10" dirty="0">
                <a:latin typeface="Arial"/>
                <a:cs typeface="Arial"/>
              </a:rPr>
              <a:t>proportion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probability.</a:t>
            </a:r>
            <a:endParaRPr sz="2000">
              <a:latin typeface="Arial"/>
              <a:cs typeface="Arial"/>
            </a:endParaRPr>
          </a:p>
          <a:p>
            <a:pPr marL="324485" indent="-286385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324485" algn="l"/>
              </a:tabLst>
            </a:pPr>
            <a:r>
              <a:rPr sz="2000" dirty="0">
                <a:latin typeface="Arial"/>
                <a:cs typeface="Arial"/>
              </a:rPr>
              <a:t>Consider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histogram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observed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Y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23265" marR="166370" lvl="1" indent="-228600">
              <a:lnSpc>
                <a:spcPct val="101400"/>
              </a:lnSpc>
              <a:spcBef>
                <a:spcPts val="405"/>
              </a:spcBef>
              <a:buClr>
                <a:srgbClr val="00007C"/>
              </a:buClr>
              <a:buSzPct val="66666"/>
              <a:buChar char="■"/>
              <a:tabLst>
                <a:tab pos="723265" algn="l"/>
              </a:tabLst>
            </a:pPr>
            <a:r>
              <a:rPr sz="1800" dirty="0">
                <a:latin typeface="Arial"/>
                <a:cs typeface="Arial"/>
              </a:rPr>
              <a:t>Find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2700" i="1" spc="-127" baseline="1543" dirty="0">
                <a:latin typeface="Symbol"/>
                <a:cs typeface="Symbol"/>
              </a:rPr>
              <a:t></a:t>
            </a:r>
            <a:r>
              <a:rPr sz="2550" spc="-127" baseline="17973" dirty="0">
                <a:latin typeface="Times New Roman"/>
                <a:cs typeface="Times New Roman"/>
              </a:rPr>
              <a:t>ˆ</a:t>
            </a:r>
            <a:r>
              <a:rPr sz="2550" spc="405" baseline="1797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such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100p</a:t>
            </a:r>
            <a:r>
              <a:rPr sz="1800" dirty="0">
                <a:latin typeface="Arial"/>
                <a:cs typeface="Arial"/>
              </a:rPr>
              <a:t>%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histogram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left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(smaller </a:t>
            </a:r>
            <a:r>
              <a:rPr sz="1800" dirty="0">
                <a:latin typeface="Arial"/>
                <a:cs typeface="Arial"/>
              </a:rPr>
              <a:t>than)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2700" i="1" spc="-322" baseline="-4629" dirty="0">
                <a:latin typeface="Symbol"/>
                <a:cs typeface="Symbol"/>
              </a:rPr>
              <a:t></a:t>
            </a:r>
            <a:r>
              <a:rPr sz="2550" spc="-322" baseline="11437" dirty="0">
                <a:latin typeface="Times New Roman"/>
                <a:cs typeface="Times New Roman"/>
              </a:rPr>
              <a:t>ˆ</a:t>
            </a:r>
            <a:r>
              <a:rPr sz="2550" spc="-284" baseline="11437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3518" y="2315879"/>
            <a:ext cx="13385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dirty="0">
                <a:latin typeface="Times New Roman"/>
                <a:cs typeface="Times New Roman"/>
              </a:rPr>
              <a:t>Pr{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</a:t>
            </a:r>
            <a:r>
              <a:rPr sz="1850" spc="-2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Symbol"/>
                <a:cs typeface="Symbol"/>
              </a:rPr>
              <a:t></a:t>
            </a:r>
            <a:r>
              <a:rPr sz="1850" dirty="0">
                <a:latin typeface="Times New Roman"/>
                <a:cs typeface="Times New Roman"/>
              </a:rPr>
              <a:t>}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204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p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55499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Confidence-</a:t>
            </a:r>
            <a:r>
              <a:rPr sz="3200" dirty="0"/>
              <a:t>Interval</a:t>
            </a:r>
            <a:r>
              <a:rPr sz="3200" spc="15" dirty="0"/>
              <a:t> </a:t>
            </a:r>
            <a:r>
              <a:rPr sz="3200" spc="-10" dirty="0"/>
              <a:t>Estimation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902" y="1351280"/>
            <a:ext cx="8062595" cy="1699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84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[Performance</a:t>
            </a:r>
            <a:r>
              <a:rPr sz="2200" spc="-13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Measures]</a:t>
            </a:r>
            <a:endParaRPr sz="2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905"/>
              </a:spcBef>
              <a:buClr>
                <a:srgbClr val="00007C"/>
              </a:buClr>
              <a:buSzPct val="75000"/>
              <a:buChar char="■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understand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fully,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distinguish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error,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risk,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e.g.,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versus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prediction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interval.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3523172"/>
            <a:ext cx="8253730" cy="21164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0365" marR="43180" indent="-342900">
              <a:lnSpc>
                <a:spcPts val="2870"/>
              </a:lnSpc>
              <a:spcBef>
                <a:spcPts val="340"/>
              </a:spcBef>
              <a:buClr>
                <a:srgbClr val="00007C"/>
              </a:buClr>
              <a:buSzPct val="75000"/>
              <a:buChar char="■"/>
              <a:tabLst>
                <a:tab pos="380365" algn="l"/>
              </a:tabLst>
            </a:pPr>
            <a:r>
              <a:rPr sz="2400" dirty="0">
                <a:latin typeface="Arial"/>
                <a:cs typeface="Arial"/>
              </a:rPr>
              <a:t>Suppose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normal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distribution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500" i="1" spc="-25" dirty="0">
                <a:latin typeface="Symbol"/>
                <a:cs typeface="Symbol"/>
              </a:rPr>
              <a:t></a:t>
            </a:r>
            <a:r>
              <a:rPr sz="2400" spc="-25" dirty="0">
                <a:latin typeface="Arial"/>
                <a:cs typeface="Arial"/>
              </a:rPr>
              <a:t>, </a:t>
            </a:r>
            <a:r>
              <a:rPr sz="2400" dirty="0">
                <a:latin typeface="Arial"/>
                <a:cs typeface="Arial"/>
              </a:rPr>
              <a:t>variance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500" i="1" dirty="0">
                <a:latin typeface="Symbol"/>
                <a:cs typeface="Symbol"/>
              </a:rPr>
              <a:t></a:t>
            </a:r>
            <a:r>
              <a:rPr sz="2400" i="1" baseline="24305" dirty="0">
                <a:latin typeface="Arial"/>
                <a:cs typeface="Arial"/>
              </a:rPr>
              <a:t>2</a:t>
            </a:r>
            <a:r>
              <a:rPr sz="2400" i="1" spc="209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(both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unknown).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ts val="2360"/>
              </a:lnSpc>
              <a:spcBef>
                <a:spcPts val="365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Let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i</a:t>
            </a:r>
            <a:r>
              <a:rPr sz="1950" i="1" spc="21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cycle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produced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i</a:t>
            </a:r>
            <a:r>
              <a:rPr sz="1950" i="1" spc="-37" baseline="25641" dirty="0">
                <a:latin typeface="Arial"/>
                <a:cs typeface="Arial"/>
              </a:rPr>
              <a:t>th</a:t>
            </a:r>
            <a:endParaRPr sz="1950" baseline="25641">
              <a:latin typeface="Arial"/>
              <a:cs typeface="Arial"/>
            </a:endParaRPr>
          </a:p>
          <a:p>
            <a:pPr marL="781050">
              <a:lnSpc>
                <a:spcPts val="2480"/>
              </a:lnSpc>
            </a:pPr>
            <a:r>
              <a:rPr sz="2000" spc="-10" dirty="0">
                <a:latin typeface="Arial"/>
                <a:cs typeface="Arial"/>
              </a:rPr>
              <a:t>replication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(its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mathematical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expectation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100" i="1" spc="-25" dirty="0">
                <a:latin typeface="Symbol"/>
                <a:cs typeface="Symbol"/>
              </a:rPr>
              <a:t></a:t>
            </a:r>
            <a:r>
              <a:rPr sz="2000" spc="-25" dirty="0">
                <a:latin typeface="Arial"/>
                <a:cs typeface="Arial"/>
              </a:rPr>
              <a:t>).</a:t>
            </a:r>
            <a:endParaRPr sz="2000">
              <a:latin typeface="Arial"/>
              <a:cs typeface="Arial"/>
            </a:endParaRPr>
          </a:p>
          <a:p>
            <a:pPr marL="781050" marR="48895" lvl="1" indent="-285750">
              <a:lnSpc>
                <a:spcPts val="2420"/>
              </a:lnSpc>
              <a:spcBef>
                <a:spcPts val="490"/>
              </a:spcBef>
              <a:buClr>
                <a:srgbClr val="9A9ACC"/>
              </a:buClr>
              <a:buSzPct val="80000"/>
              <a:buChar char="□"/>
              <a:tabLst>
                <a:tab pos="781050" algn="l"/>
              </a:tabLst>
            </a:pPr>
            <a:r>
              <a:rPr sz="2000" dirty="0">
                <a:latin typeface="Arial"/>
                <a:cs typeface="Arial"/>
              </a:rPr>
              <a:t>Average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cycle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day,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over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long-</a:t>
            </a:r>
            <a:r>
              <a:rPr sz="2000" spc="-25" dirty="0">
                <a:latin typeface="Arial"/>
                <a:cs typeface="Arial"/>
              </a:rPr>
              <a:t>run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close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100" i="1" spc="-25" dirty="0">
                <a:latin typeface="Symbol"/>
                <a:cs typeface="Symbol"/>
              </a:rPr>
              <a:t>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1102" y="5669533"/>
            <a:ext cx="47015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Sample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variance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across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replications: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4062" y="5901818"/>
            <a:ext cx="49466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-120" dirty="0">
                <a:latin typeface="Times New Roman"/>
                <a:cs typeface="Times New Roman"/>
              </a:rPr>
              <a:t> </a:t>
            </a:r>
            <a:r>
              <a:rPr sz="1900" spc="55" dirty="0">
                <a:latin typeface="Symbol"/>
                <a:cs typeface="Symbol"/>
              </a:rPr>
              <a:t></a:t>
            </a:r>
            <a:r>
              <a:rPr sz="1900" spc="55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84642" y="5751576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5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10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21016" y="5712833"/>
            <a:ext cx="958850" cy="3606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1785"/>
              </a:lnSpc>
              <a:spcBef>
                <a:spcPts val="125"/>
              </a:spcBef>
            </a:pP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Y</a:t>
            </a:r>
            <a:r>
              <a:rPr sz="1900" i="1" spc="43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2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</a:t>
            </a:r>
            <a:r>
              <a:rPr sz="1900" i="1" spc="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)</a:t>
            </a:r>
            <a:r>
              <a:rPr sz="1650" spc="-37" baseline="42929" dirty="0">
                <a:latin typeface="Times New Roman"/>
                <a:cs typeface="Times New Roman"/>
              </a:rPr>
              <a:t>2</a:t>
            </a:r>
            <a:endParaRPr sz="1650" baseline="42929">
              <a:latin typeface="Times New Roman"/>
              <a:cs typeface="Times New Roman"/>
            </a:endParaRPr>
          </a:p>
          <a:p>
            <a:pPr marL="247015">
              <a:lnSpc>
                <a:spcPts val="825"/>
              </a:lnSpc>
              <a:tabLst>
                <a:tab pos="65976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..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6368796" y="5438070"/>
            <a:ext cx="1314450" cy="46609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110489" algn="r">
              <a:lnSpc>
                <a:spcPts val="245"/>
              </a:lnSpc>
              <a:spcBef>
                <a:spcPts val="925"/>
              </a:spcBef>
            </a:pPr>
            <a:r>
              <a:rPr sz="1100" i="1" spc="-5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ts val="2405"/>
              </a:lnSpc>
              <a:tabLst>
                <a:tab pos="993775" algn="l"/>
              </a:tabLst>
            </a:pPr>
            <a:r>
              <a:rPr sz="2850" i="1" spc="127" baseline="-35087" dirty="0">
                <a:latin typeface="Times New Roman"/>
                <a:cs typeface="Times New Roman"/>
              </a:rPr>
              <a:t>S</a:t>
            </a:r>
            <a:r>
              <a:rPr sz="1650" spc="127" baseline="-17676" dirty="0">
                <a:latin typeface="Times New Roman"/>
                <a:cs typeface="Times New Roman"/>
              </a:rPr>
              <a:t>2</a:t>
            </a:r>
            <a:r>
              <a:rPr sz="1650" spc="419" baseline="-17676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baseline="-35087" dirty="0">
                <a:latin typeface="Times New Roman"/>
                <a:cs typeface="Times New Roman"/>
              </a:rPr>
              <a:t> </a:t>
            </a:r>
            <a:r>
              <a:rPr sz="1900" u="sng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9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9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4350" spc="-2167" baseline="-28735" dirty="0">
                <a:latin typeface="Symbol"/>
                <a:cs typeface="Symbol"/>
              </a:rPr>
              <a:t></a:t>
            </a:r>
            <a:endParaRPr sz="4350" baseline="-28735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4416" y="6075418"/>
            <a:ext cx="2197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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55499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Confidence-</a:t>
            </a:r>
            <a:r>
              <a:rPr sz="3200" dirty="0"/>
              <a:t>Interval</a:t>
            </a:r>
            <a:r>
              <a:rPr sz="3200" spc="15" dirty="0"/>
              <a:t> </a:t>
            </a:r>
            <a:r>
              <a:rPr sz="3200" spc="-10" dirty="0"/>
              <a:t>Estimation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55802" y="1351280"/>
            <a:ext cx="7712075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28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[Performance</a:t>
            </a:r>
            <a:r>
              <a:rPr sz="2200" spc="-13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Measures]</a:t>
            </a:r>
            <a:endParaRPr sz="22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190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(CI):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measure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error.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i</a:t>
            </a:r>
            <a:r>
              <a:rPr sz="1950" i="1" baseline="-8547" dirty="0">
                <a:latin typeface="Arial"/>
                <a:cs typeface="Arial"/>
              </a:rPr>
              <a:t>.</a:t>
            </a:r>
            <a:r>
              <a:rPr sz="1950" i="1" spc="209" baseline="-85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normally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distributed.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7882" y="3330702"/>
            <a:ext cx="146685" cy="0"/>
          </a:xfrm>
          <a:custGeom>
            <a:avLst/>
            <a:gdLst/>
            <a:ahLst/>
            <a:cxnLst/>
            <a:rect l="l" t="t" r="r" b="b"/>
            <a:pathLst>
              <a:path w="146685">
                <a:moveTo>
                  <a:pt x="0" y="0"/>
                </a:moveTo>
                <a:lnTo>
                  <a:pt x="146303" y="0"/>
                </a:lnTo>
              </a:path>
            </a:pathLst>
          </a:custGeom>
          <a:ln w="11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91559" y="3301086"/>
            <a:ext cx="650240" cy="3575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25" i="1" baseline="2583" dirty="0">
                <a:latin typeface="Times New Roman"/>
                <a:cs typeface="Times New Roman"/>
              </a:rPr>
              <a:t>Y</a:t>
            </a:r>
            <a:r>
              <a:rPr sz="3225" i="1" spc="-450" baseline="2583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..</a:t>
            </a:r>
            <a:r>
              <a:rPr sz="1250" spc="195" dirty="0">
                <a:latin typeface="Times New Roman"/>
                <a:cs typeface="Times New Roman"/>
              </a:rPr>
              <a:t> </a:t>
            </a:r>
            <a:r>
              <a:rPr sz="3225" baseline="2583" dirty="0">
                <a:latin typeface="Symbol"/>
                <a:cs typeface="Symbol"/>
              </a:rPr>
              <a:t></a:t>
            </a:r>
            <a:r>
              <a:rPr sz="3225" spc="-15" baseline="2583" dirty="0">
                <a:latin typeface="Times New Roman"/>
                <a:cs typeface="Times New Roman"/>
              </a:rPr>
              <a:t> </a:t>
            </a:r>
            <a:r>
              <a:rPr sz="3225" i="1" spc="-75" baseline="2583" dirty="0">
                <a:latin typeface="Times New Roman"/>
                <a:cs typeface="Times New Roman"/>
              </a:rPr>
              <a:t>t</a:t>
            </a:r>
            <a:endParaRPr sz="3225" baseline="258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4114" y="3465134"/>
            <a:ext cx="63690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i="1" spc="-55" dirty="0">
                <a:latin typeface="Symbol"/>
                <a:cs typeface="Symbol"/>
              </a:rPr>
              <a:t>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/</a:t>
            </a:r>
            <a:r>
              <a:rPr sz="1250" spc="-10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2,</a:t>
            </a:r>
            <a:r>
              <a:rPr sz="1250" i="1" dirty="0">
                <a:latin typeface="Times New Roman"/>
                <a:cs typeface="Times New Roman"/>
              </a:rPr>
              <a:t>R</a:t>
            </a:r>
            <a:r>
              <a:rPr sz="1250" i="1" spc="-165" dirty="0">
                <a:latin typeface="Times New Roman"/>
                <a:cs typeface="Times New Roman"/>
              </a:rPr>
              <a:t> </a:t>
            </a:r>
            <a:r>
              <a:rPr sz="1250" spc="-25" dirty="0">
                <a:latin typeface="Symbol"/>
                <a:cs typeface="Symbol"/>
              </a:rPr>
              <a:t></a:t>
            </a:r>
            <a:r>
              <a:rPr sz="1250" spc="-25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9641" y="3116683"/>
            <a:ext cx="163830" cy="3575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i="1" spc="-50" dirty="0">
                <a:latin typeface="Times New Roman"/>
                <a:cs typeface="Times New Roman"/>
              </a:rPr>
              <a:t>S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2032" y="3514446"/>
            <a:ext cx="194945" cy="3575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i="1" spc="-50" dirty="0">
                <a:latin typeface="Times New Roman"/>
                <a:cs typeface="Times New Roman"/>
              </a:rPr>
              <a:t>R</a:t>
            </a:r>
            <a:endParaRPr sz="21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84420" y="3504012"/>
            <a:ext cx="415290" cy="330200"/>
            <a:chOff x="4884420" y="3504012"/>
            <a:chExt cx="415290" cy="330200"/>
          </a:xfrm>
        </p:grpSpPr>
        <p:sp>
          <p:nvSpPr>
            <p:cNvPr id="10" name="object 10"/>
            <p:cNvSpPr/>
            <p:nvPr/>
          </p:nvSpPr>
          <p:spPr>
            <a:xfrm>
              <a:off x="4913376" y="3700271"/>
              <a:ext cx="40640" cy="20320"/>
            </a:xfrm>
            <a:custGeom>
              <a:avLst/>
              <a:gdLst/>
              <a:ahLst/>
              <a:cxnLst/>
              <a:rect l="l" t="t" r="r" b="b"/>
              <a:pathLst>
                <a:path w="40639" h="20320">
                  <a:moveTo>
                    <a:pt x="0" y="19812"/>
                  </a:moveTo>
                  <a:lnTo>
                    <a:pt x="40386" y="0"/>
                  </a:lnTo>
                </a:path>
              </a:pathLst>
            </a:custGeom>
            <a:ln w="14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59096" y="3694175"/>
              <a:ext cx="52069" cy="129539"/>
            </a:xfrm>
            <a:custGeom>
              <a:avLst/>
              <a:gdLst/>
              <a:ahLst/>
              <a:cxnLst/>
              <a:rect l="l" t="t" r="r" b="b"/>
              <a:pathLst>
                <a:path w="52070" h="129539">
                  <a:moveTo>
                    <a:pt x="0" y="0"/>
                  </a:moveTo>
                  <a:lnTo>
                    <a:pt x="51815" y="129539"/>
                  </a:lnTo>
                </a:path>
              </a:pathLst>
            </a:custGeom>
            <a:ln w="201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84420" y="3509771"/>
              <a:ext cx="415290" cy="314325"/>
            </a:xfrm>
            <a:custGeom>
              <a:avLst/>
              <a:gdLst/>
              <a:ahLst/>
              <a:cxnLst/>
              <a:rect l="l" t="t" r="r" b="b"/>
              <a:pathLst>
                <a:path w="415289" h="314325">
                  <a:moveTo>
                    <a:pt x="132587" y="313943"/>
                  </a:moveTo>
                  <a:lnTo>
                    <a:pt x="192785" y="28955"/>
                  </a:lnTo>
                </a:path>
                <a:path w="415289" h="314325">
                  <a:moveTo>
                    <a:pt x="192785" y="34289"/>
                  </a:moveTo>
                  <a:lnTo>
                    <a:pt x="389381" y="34289"/>
                  </a:lnTo>
                </a:path>
                <a:path w="415289" h="314325">
                  <a:moveTo>
                    <a:pt x="0" y="0"/>
                  </a:moveTo>
                  <a:lnTo>
                    <a:pt x="415289" y="0"/>
                  </a:lnTo>
                </a:path>
              </a:pathLst>
            </a:custGeom>
            <a:ln w="11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852921" y="3865626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>
                <a:moveTo>
                  <a:pt x="0" y="0"/>
                </a:moveTo>
                <a:lnTo>
                  <a:pt x="12115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38921" y="5237226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4">
                <a:moveTo>
                  <a:pt x="0" y="0"/>
                </a:moveTo>
                <a:lnTo>
                  <a:pt x="12115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48121" y="4856226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>
                <a:moveTo>
                  <a:pt x="0" y="0"/>
                </a:moveTo>
                <a:lnTo>
                  <a:pt x="12115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25702" y="3806491"/>
            <a:ext cx="7787005" cy="199008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23215" marR="30480" indent="-285750">
              <a:lnSpc>
                <a:spcPts val="2380"/>
              </a:lnSpc>
              <a:spcBef>
                <a:spcPts val="305"/>
              </a:spcBef>
              <a:buClr>
                <a:srgbClr val="9A9ACC"/>
              </a:buClr>
              <a:buSzPct val="80000"/>
              <a:buChar char="□"/>
              <a:tabLst>
                <a:tab pos="323215" algn="l"/>
                <a:tab pos="5751195" algn="l"/>
              </a:tabLst>
            </a:pPr>
            <a:r>
              <a:rPr sz="2000" dirty="0">
                <a:latin typeface="Arial"/>
                <a:cs typeface="Arial"/>
              </a:rPr>
              <a:t>We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cannot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know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certain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how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far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700" i="1" baseline="7716" dirty="0">
                <a:latin typeface="Times New Roman"/>
                <a:cs typeface="Times New Roman"/>
              </a:rPr>
              <a:t>Y</a:t>
            </a:r>
            <a:r>
              <a:rPr sz="1575" baseline="-10582" dirty="0">
                <a:latin typeface="Times New Roman"/>
                <a:cs typeface="Times New Roman"/>
              </a:rPr>
              <a:t>..</a:t>
            </a:r>
            <a:r>
              <a:rPr sz="1575" spc="540" baseline="-10582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100" i="1" spc="-50" dirty="0">
                <a:latin typeface="Symbol"/>
                <a:cs typeface="Symbol"/>
              </a:rPr>
              <a:t>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Arial"/>
                <a:cs typeface="Arial"/>
              </a:rPr>
              <a:t>but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attempts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bound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error.</a:t>
            </a:r>
            <a:endParaRPr sz="2000">
              <a:latin typeface="Arial"/>
              <a:cs typeface="Arial"/>
            </a:endParaRPr>
          </a:p>
          <a:p>
            <a:pPr marL="323850" marR="183515" indent="-285750">
              <a:lnSpc>
                <a:spcPts val="2420"/>
              </a:lnSpc>
              <a:spcBef>
                <a:spcPts val="465"/>
              </a:spcBef>
              <a:buClr>
                <a:srgbClr val="9A9ACC"/>
              </a:buClr>
              <a:buSzPct val="80000"/>
              <a:buChar char="□"/>
              <a:tabLst>
                <a:tab pos="323850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95%,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tells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how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much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trust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actually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bound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error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between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700" i="1" spc="-30" baseline="3086" dirty="0">
                <a:latin typeface="Times New Roman"/>
                <a:cs typeface="Times New Roman"/>
              </a:rPr>
              <a:t>Y</a:t>
            </a:r>
            <a:r>
              <a:rPr sz="1575" spc="-30" baseline="-18518" dirty="0">
                <a:latin typeface="Times New Roman"/>
                <a:cs typeface="Times New Roman"/>
              </a:rPr>
              <a:t>..</a:t>
            </a:r>
            <a:r>
              <a:rPr sz="1575" spc="30" baseline="-18518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100" i="1" dirty="0">
                <a:latin typeface="Symbol"/>
                <a:cs typeface="Symbol"/>
              </a:rPr>
              <a:t>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24485" indent="-286385">
              <a:lnSpc>
                <a:spcPts val="2395"/>
              </a:lnSpc>
              <a:spcBef>
                <a:spcPts val="405"/>
              </a:spcBef>
              <a:buClr>
                <a:srgbClr val="9A9ACC"/>
              </a:buClr>
              <a:buSzPct val="80000"/>
              <a:buChar char="□"/>
              <a:tabLst>
                <a:tab pos="324485" algn="l"/>
              </a:tabLst>
            </a:pPr>
            <a:r>
              <a:rPr sz="3000" baseline="1388" dirty="0">
                <a:latin typeface="Arial"/>
                <a:cs typeface="Arial"/>
              </a:rPr>
              <a:t>The</a:t>
            </a:r>
            <a:r>
              <a:rPr sz="3000" spc="-60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more</a:t>
            </a:r>
            <a:r>
              <a:rPr sz="3000" spc="-44" baseline="1388" dirty="0">
                <a:latin typeface="Arial"/>
                <a:cs typeface="Arial"/>
              </a:rPr>
              <a:t> </a:t>
            </a:r>
            <a:r>
              <a:rPr sz="3000" spc="-15" baseline="1388" dirty="0">
                <a:latin typeface="Arial"/>
                <a:cs typeface="Arial"/>
              </a:rPr>
              <a:t>replications</a:t>
            </a:r>
            <a:r>
              <a:rPr sz="3000" spc="-37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we</a:t>
            </a:r>
            <a:r>
              <a:rPr sz="3000" spc="-44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make,</a:t>
            </a:r>
            <a:r>
              <a:rPr sz="3000" spc="-37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the</a:t>
            </a:r>
            <a:r>
              <a:rPr sz="3000" spc="-30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less</a:t>
            </a:r>
            <a:r>
              <a:rPr sz="3000" spc="-37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error</a:t>
            </a:r>
            <a:r>
              <a:rPr sz="3000" spc="-44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there</a:t>
            </a:r>
            <a:r>
              <a:rPr sz="3000" spc="-37" baseline="1388" dirty="0">
                <a:latin typeface="Arial"/>
                <a:cs typeface="Arial"/>
              </a:rPr>
              <a:t> </a:t>
            </a:r>
            <a:r>
              <a:rPr sz="3000" baseline="1388" dirty="0">
                <a:latin typeface="Arial"/>
                <a:cs typeface="Arial"/>
              </a:rPr>
              <a:t>is</a:t>
            </a:r>
            <a:r>
              <a:rPr sz="3000" spc="-44" baseline="1388" dirty="0">
                <a:latin typeface="Arial"/>
                <a:cs typeface="Arial"/>
              </a:rPr>
              <a:t> </a:t>
            </a:r>
            <a:r>
              <a:rPr sz="3000" spc="-30" baseline="1388" dirty="0">
                <a:latin typeface="Arial"/>
                <a:cs typeface="Arial"/>
              </a:rPr>
              <a:t>in</a:t>
            </a:r>
            <a:r>
              <a:rPr sz="3000" spc="-450" baseline="1388" dirty="0">
                <a:latin typeface="Arial"/>
                <a:cs typeface="Arial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Y</a:t>
            </a:r>
            <a:r>
              <a:rPr sz="1575" spc="-37" baseline="-23809" dirty="0">
                <a:latin typeface="Times New Roman"/>
                <a:cs typeface="Times New Roman"/>
              </a:rPr>
              <a:t>..</a:t>
            </a:r>
            <a:endParaRPr sz="1575" baseline="-23809">
              <a:latin typeface="Times New Roman"/>
              <a:cs typeface="Times New Roman"/>
            </a:endParaRPr>
          </a:p>
          <a:p>
            <a:pPr marL="323850">
              <a:lnSpc>
                <a:spcPts val="2395"/>
              </a:lnSpc>
            </a:pPr>
            <a:r>
              <a:rPr sz="2000" spc="-10" dirty="0">
                <a:latin typeface="Arial"/>
                <a:cs typeface="Arial"/>
              </a:rPr>
              <a:t>(converging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infinity).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55499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Confidence-</a:t>
            </a:r>
            <a:r>
              <a:rPr sz="3200" dirty="0"/>
              <a:t>Interval</a:t>
            </a:r>
            <a:r>
              <a:rPr sz="3200" spc="15" dirty="0"/>
              <a:t> </a:t>
            </a:r>
            <a:r>
              <a:rPr sz="3200" spc="-10" dirty="0"/>
              <a:t>Estimation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902" y="1351280"/>
            <a:ext cx="8141970" cy="304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84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[Performance</a:t>
            </a:r>
            <a:r>
              <a:rPr sz="2200" spc="-13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Measures]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90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Prediction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(PI):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lr>
                <a:srgbClr val="9A9ACC"/>
              </a:buClr>
              <a:buSzPct val="80000"/>
              <a:buChar char="□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measure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risk.</a:t>
            </a:r>
            <a:endParaRPr sz="20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70"/>
              </a:spcBef>
              <a:buClr>
                <a:srgbClr val="9A9ACC"/>
              </a:buClr>
              <a:buSzPct val="80000"/>
              <a:buChar char="□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good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guess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cycle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particular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our </a:t>
            </a:r>
            <a:r>
              <a:rPr sz="2000" dirty="0">
                <a:latin typeface="Arial"/>
                <a:cs typeface="Arial"/>
              </a:rPr>
              <a:t>estimator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unlikely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exactly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right.</a:t>
            </a:r>
            <a:endParaRPr sz="2000">
              <a:latin typeface="Arial"/>
              <a:cs typeface="Arial"/>
            </a:endParaRPr>
          </a:p>
          <a:p>
            <a:pPr marL="755650" marR="311785" lvl="1" indent="-285750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PI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designed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wide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enough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contain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actual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average </a:t>
            </a:r>
            <a:r>
              <a:rPr sz="2000" dirty="0">
                <a:latin typeface="Arial"/>
                <a:cs typeface="Arial"/>
              </a:rPr>
              <a:t>cycle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particular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high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probability.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56285" algn="l"/>
              </a:tabLst>
            </a:pPr>
            <a:r>
              <a:rPr sz="2000" spc="-20" dirty="0">
                <a:latin typeface="Arial"/>
                <a:cs typeface="Arial"/>
              </a:rPr>
              <a:t>Normal-</a:t>
            </a:r>
            <a:r>
              <a:rPr sz="2000" dirty="0">
                <a:latin typeface="Arial"/>
                <a:cs typeface="Arial"/>
              </a:rPr>
              <a:t>theory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prediction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interval: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1102" y="5523229"/>
            <a:ext cx="7449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29781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length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increases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because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can </a:t>
            </a:r>
            <a:r>
              <a:rPr sz="2000" dirty="0">
                <a:latin typeface="Arial"/>
                <a:cs typeface="Arial"/>
              </a:rPr>
              <a:t>never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away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risk.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1102" y="6196076"/>
            <a:ext cx="15824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PI’s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limit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67528" y="4877561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4310" y="0"/>
                </a:lnTo>
              </a:path>
            </a:pathLst>
          </a:custGeom>
          <a:ln w="103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897513" y="4538611"/>
            <a:ext cx="685165" cy="617855"/>
            <a:chOff x="4897513" y="4538611"/>
            <a:chExt cx="685165" cy="617855"/>
          </a:xfrm>
        </p:grpSpPr>
        <p:sp>
          <p:nvSpPr>
            <p:cNvPr id="8" name="object 8"/>
            <p:cNvSpPr/>
            <p:nvPr/>
          </p:nvSpPr>
          <p:spPr>
            <a:xfrm>
              <a:off x="4902708" y="4917948"/>
              <a:ext cx="31750" cy="18415"/>
            </a:xfrm>
            <a:custGeom>
              <a:avLst/>
              <a:gdLst/>
              <a:ahLst/>
              <a:cxnLst/>
              <a:rect l="l" t="t" r="r" b="b"/>
              <a:pathLst>
                <a:path w="31750" h="18414">
                  <a:moveTo>
                    <a:pt x="0" y="18287"/>
                  </a:moveTo>
                  <a:lnTo>
                    <a:pt x="31241" y="0"/>
                  </a:lnTo>
                </a:path>
              </a:pathLst>
            </a:custGeom>
            <a:ln w="103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33950" y="4923282"/>
              <a:ext cx="46990" cy="222885"/>
            </a:xfrm>
            <a:custGeom>
              <a:avLst/>
              <a:gdLst/>
              <a:ahLst/>
              <a:cxnLst/>
              <a:rect l="l" t="t" r="r" b="b"/>
              <a:pathLst>
                <a:path w="46989" h="222885">
                  <a:moveTo>
                    <a:pt x="0" y="0"/>
                  </a:moveTo>
                  <a:lnTo>
                    <a:pt x="46482" y="222503"/>
                  </a:lnTo>
                </a:path>
              </a:pathLst>
            </a:custGeom>
            <a:ln w="207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85766" y="4543806"/>
              <a:ext cx="596900" cy="601980"/>
            </a:xfrm>
            <a:custGeom>
              <a:avLst/>
              <a:gdLst/>
              <a:ahLst/>
              <a:cxnLst/>
              <a:rect l="l" t="t" r="r" b="b"/>
              <a:pathLst>
                <a:path w="596900" h="601979">
                  <a:moveTo>
                    <a:pt x="0" y="601980"/>
                  </a:moveTo>
                  <a:lnTo>
                    <a:pt x="60960" y="0"/>
                  </a:lnTo>
                </a:path>
                <a:path w="596900" h="601979">
                  <a:moveTo>
                    <a:pt x="60960" y="0"/>
                  </a:moveTo>
                  <a:lnTo>
                    <a:pt x="596646" y="0"/>
                  </a:lnTo>
                </a:path>
              </a:pathLst>
            </a:custGeom>
            <a:ln w="103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02309" y="4677073"/>
            <a:ext cx="881380" cy="52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ts val="1939"/>
              </a:lnSpc>
              <a:spcBef>
                <a:spcPts val="120"/>
              </a:spcBef>
              <a:tabLst>
                <a:tab pos="332740" algn="l"/>
              </a:tabLst>
            </a:pPr>
            <a:r>
              <a:rPr sz="1950" i="1" spc="-50" dirty="0">
                <a:latin typeface="Times New Roman"/>
                <a:cs typeface="Times New Roman"/>
              </a:rPr>
              <a:t>S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spc="75" dirty="0">
                <a:latin typeface="Times New Roman"/>
                <a:cs typeface="Times New Roman"/>
              </a:rPr>
              <a:t>1</a:t>
            </a:r>
            <a:r>
              <a:rPr sz="1950" spc="75" dirty="0">
                <a:latin typeface="Symbol"/>
                <a:cs typeface="Symbol"/>
              </a:rPr>
              <a:t></a:t>
            </a:r>
            <a:r>
              <a:rPr sz="1950" spc="185" dirty="0">
                <a:latin typeface="Times New Roman"/>
                <a:cs typeface="Times New Roman"/>
              </a:rPr>
              <a:t> </a:t>
            </a:r>
            <a:r>
              <a:rPr sz="2925" spc="-75" baseline="35612" dirty="0">
                <a:latin typeface="Times New Roman"/>
                <a:cs typeface="Times New Roman"/>
              </a:rPr>
              <a:t>1</a:t>
            </a:r>
            <a:endParaRPr sz="2925" baseline="35612">
              <a:latin typeface="Times New Roman"/>
              <a:cs typeface="Times New Roman"/>
            </a:endParaRPr>
          </a:p>
          <a:p>
            <a:pPr marR="30480" algn="r">
              <a:lnSpc>
                <a:spcPts val="1939"/>
              </a:lnSpc>
            </a:pPr>
            <a:r>
              <a:rPr sz="1950" i="1" spc="-50" dirty="0">
                <a:latin typeface="Times New Roman"/>
                <a:cs typeface="Times New Roman"/>
              </a:rPr>
              <a:t>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667005" y="4677073"/>
            <a:ext cx="525145" cy="325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i="1" dirty="0">
                <a:latin typeface="Times New Roman"/>
                <a:cs typeface="Times New Roman"/>
              </a:rPr>
              <a:t>Y</a:t>
            </a:r>
            <a:r>
              <a:rPr sz="1950" i="1" spc="409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</a:t>
            </a:r>
            <a:r>
              <a:rPr sz="1950" spc="-185" dirty="0">
                <a:latin typeface="Times New Roman"/>
                <a:cs typeface="Times New Roman"/>
              </a:rPr>
              <a:t> </a:t>
            </a:r>
            <a:r>
              <a:rPr sz="1950" i="1" spc="-50" dirty="0">
                <a:latin typeface="Times New Roman"/>
                <a:cs typeface="Times New Roman"/>
              </a:rPr>
              <a:t>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6633" y="4835529"/>
            <a:ext cx="96202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88620" algn="l"/>
              </a:tabLst>
            </a:pPr>
            <a:r>
              <a:rPr sz="1150" spc="-25" dirty="0">
                <a:latin typeface="Times New Roman"/>
                <a:cs typeface="Times New Roman"/>
              </a:rPr>
              <a:t>..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200" i="1" spc="-40" dirty="0">
                <a:latin typeface="Symbol"/>
                <a:cs typeface="Symbol"/>
              </a:rPr>
              <a:t>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/</a:t>
            </a:r>
            <a:r>
              <a:rPr sz="1150" spc="-1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2,</a:t>
            </a:r>
            <a:r>
              <a:rPr sz="1150" i="1" spc="-10" dirty="0">
                <a:latin typeface="Times New Roman"/>
                <a:cs typeface="Times New Roman"/>
              </a:rPr>
              <a:t>R</a:t>
            </a:r>
            <a:r>
              <a:rPr sz="1150" spc="-10" dirty="0">
                <a:latin typeface="Symbol"/>
                <a:cs typeface="Symbol"/>
              </a:rPr>
              <a:t></a:t>
            </a:r>
            <a:r>
              <a:rPr sz="1150" spc="-10" dirty="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4615" y="6222406"/>
            <a:ext cx="9309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50" i="1" dirty="0">
                <a:latin typeface="Symbol"/>
                <a:cs typeface="Symbol"/>
              </a:rPr>
              <a:t>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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i="1" spc="-35" dirty="0">
                <a:latin typeface="Times New Roman"/>
                <a:cs typeface="Times New Roman"/>
              </a:rPr>
              <a:t>z</a:t>
            </a:r>
            <a:r>
              <a:rPr sz="1725" i="1" spc="-52" baseline="-21739" dirty="0">
                <a:latin typeface="Symbol"/>
                <a:cs typeface="Symbol"/>
              </a:rPr>
              <a:t></a:t>
            </a:r>
            <a:r>
              <a:rPr sz="1725" spc="-60" baseline="-21739" dirty="0">
                <a:latin typeface="Times New Roman"/>
                <a:cs typeface="Times New Roman"/>
              </a:rPr>
              <a:t> </a:t>
            </a:r>
            <a:r>
              <a:rPr sz="1650" baseline="-22727" dirty="0">
                <a:latin typeface="Times New Roman"/>
                <a:cs typeface="Times New Roman"/>
              </a:rPr>
              <a:t>/</a:t>
            </a:r>
            <a:r>
              <a:rPr sz="1650" spc="-172" baseline="-22727" dirty="0">
                <a:latin typeface="Times New Roman"/>
                <a:cs typeface="Times New Roman"/>
              </a:rPr>
              <a:t> </a:t>
            </a:r>
            <a:r>
              <a:rPr sz="1650" spc="-37" baseline="-22727" dirty="0">
                <a:latin typeface="Times New Roman"/>
                <a:cs typeface="Times New Roman"/>
              </a:rPr>
              <a:t>2</a:t>
            </a:r>
            <a:r>
              <a:rPr sz="1950" i="1" spc="-25" dirty="0">
                <a:latin typeface="Symbol"/>
                <a:cs typeface="Symbol"/>
              </a:rPr>
              <a:t></a:t>
            </a:r>
            <a:endParaRPr sz="19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1027430"/>
            <a:ext cx="792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Output</a:t>
            </a:r>
            <a:r>
              <a:rPr sz="3200" spc="-65" dirty="0"/>
              <a:t> </a:t>
            </a:r>
            <a:r>
              <a:rPr sz="3200" dirty="0"/>
              <a:t>Analysis</a:t>
            </a:r>
            <a:r>
              <a:rPr sz="3200" spc="-65" dirty="0"/>
              <a:t> </a:t>
            </a:r>
            <a:r>
              <a:rPr sz="3200" dirty="0"/>
              <a:t>for</a:t>
            </a:r>
            <a:r>
              <a:rPr sz="3200" spc="-65" dirty="0"/>
              <a:t> </a:t>
            </a:r>
            <a:r>
              <a:rPr sz="3200" dirty="0"/>
              <a:t>Terminating</a:t>
            </a:r>
            <a:r>
              <a:rPr sz="3200" spc="-65" dirty="0"/>
              <a:t> </a:t>
            </a:r>
            <a:r>
              <a:rPr sz="3200" spc="-10" dirty="0"/>
              <a:t>Simulations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55802" y="1928876"/>
            <a:ext cx="7443470" cy="119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43180" indent="-34290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terminating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simulation: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runs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simulated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time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</a:t>
            </a:r>
            <a:r>
              <a:rPr sz="2400" i="1" dirty="0">
                <a:latin typeface="Arial"/>
                <a:cs typeface="Arial"/>
              </a:rPr>
              <a:t>0,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T</a:t>
            </a:r>
            <a:r>
              <a:rPr sz="2400" i="1" spc="-30" baseline="-20833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].</a:t>
            </a:r>
            <a:endParaRPr sz="24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56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estimate: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902" y="4922773"/>
            <a:ext cx="7830184" cy="11264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080" indent="-342900">
              <a:lnSpc>
                <a:spcPct val="100499"/>
              </a:lnSpc>
              <a:spcBef>
                <a:spcPts val="85"/>
              </a:spcBef>
              <a:buClr>
                <a:srgbClr val="00007C"/>
              </a:buClr>
              <a:buSzPct val="75000"/>
              <a:buChar char="■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general,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independent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replications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run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random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stream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independently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chosen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conditions.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42894" y="4286250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221" y="0"/>
                </a:lnTo>
              </a:path>
            </a:pathLst>
          </a:custGeom>
          <a:ln w="97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2890" y="4097694"/>
            <a:ext cx="340995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continuous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output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-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t</a:t>
            </a:r>
            <a:r>
              <a:rPr sz="1850" dirty="0">
                <a:latin typeface="Times New Roman"/>
                <a:cs typeface="Times New Roman"/>
              </a:rPr>
              <a:t>),0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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t</a:t>
            </a:r>
            <a:r>
              <a:rPr sz="1850" i="1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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T</a:t>
            </a:r>
            <a:r>
              <a:rPr sz="1575" i="1" spc="-37" baseline="-23809" dirty="0">
                <a:latin typeface="Times New Roman"/>
                <a:cs typeface="Times New Roman"/>
              </a:rPr>
              <a:t>E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08995" y="4340737"/>
            <a:ext cx="35623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9079" algn="l"/>
              </a:tabLst>
            </a:pPr>
            <a:r>
              <a:rPr sz="1850" spc="-50" dirty="0">
                <a:latin typeface="Symbol"/>
                <a:cs typeface="Symbol"/>
              </a:rPr>
              <a:t>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050" i="1" spc="-50" dirty="0">
                <a:latin typeface="Times New Roman"/>
                <a:cs typeface="Times New Roman"/>
              </a:rPr>
              <a:t>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1386" y="3215496"/>
            <a:ext cx="939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-50" dirty="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4213" y="3935376"/>
            <a:ext cx="11557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50" dirty="0">
                <a:latin typeface="Symbol"/>
                <a:cs typeface="Symbol"/>
              </a:rPr>
              <a:t>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8995" y="3935353"/>
            <a:ext cx="33210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latin typeface="Symbol"/>
                <a:cs typeface="Symbol"/>
              </a:rPr>
              <a:t>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2775" spc="-89" baseline="-3003" dirty="0">
                <a:latin typeface="Times New Roman"/>
                <a:cs typeface="Times New Roman"/>
              </a:rPr>
              <a:t>1</a:t>
            </a:r>
            <a:endParaRPr sz="2775" baseline="-300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1064" y="4084356"/>
            <a:ext cx="816610" cy="50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00"/>
              </a:spcBef>
            </a:pPr>
            <a:r>
              <a:rPr sz="1950" i="1" spc="-229" dirty="0">
                <a:latin typeface="Symbol"/>
                <a:cs typeface="Symbol"/>
              </a:rPr>
              <a:t></a:t>
            </a:r>
            <a:r>
              <a:rPr sz="19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E</a:t>
            </a:r>
            <a:r>
              <a:rPr sz="2775" spc="-37" baseline="3003" dirty="0">
                <a:latin typeface="Symbol"/>
                <a:cs typeface="Symbol"/>
              </a:rPr>
              <a:t></a:t>
            </a:r>
            <a:endParaRPr sz="2775" baseline="3003">
              <a:latin typeface="Symbol"/>
              <a:cs typeface="Symbol"/>
            </a:endParaRPr>
          </a:p>
          <a:p>
            <a:pPr marR="5080" algn="r">
              <a:lnSpc>
                <a:spcPts val="1825"/>
              </a:lnSpc>
            </a:pPr>
            <a:r>
              <a:rPr sz="1850" i="1" spc="-50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1573" y="3209929"/>
            <a:ext cx="11557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50" dirty="0">
                <a:latin typeface="Symbol"/>
                <a:cs typeface="Symbol"/>
              </a:rPr>
              <a:t>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6611" y="4065012"/>
            <a:ext cx="109220" cy="447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-50" dirty="0">
                <a:latin typeface="Symbol"/>
                <a:cs typeface="Symbol"/>
              </a:rPr>
              <a:t>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6251" y="4097694"/>
            <a:ext cx="789940" cy="549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65"/>
              </a:lnSpc>
              <a:spcBef>
                <a:spcPts val="95"/>
              </a:spcBef>
            </a:pP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-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t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i="1" dirty="0">
                <a:latin typeface="Times New Roman"/>
                <a:cs typeface="Times New Roman"/>
              </a:rPr>
              <a:t>dt</a:t>
            </a:r>
            <a:r>
              <a:rPr sz="1850" i="1" spc="-130" dirty="0">
                <a:latin typeface="Times New Roman"/>
                <a:cs typeface="Times New Roman"/>
              </a:rPr>
              <a:t> </a:t>
            </a:r>
            <a:r>
              <a:rPr sz="2775" spc="-37" baseline="3003" dirty="0">
                <a:latin typeface="Symbol"/>
                <a:cs typeface="Symbol"/>
              </a:rPr>
              <a:t></a:t>
            </a:r>
            <a:r>
              <a:rPr sz="1850" spc="-25" dirty="0">
                <a:latin typeface="Times New Roman"/>
                <a:cs typeface="Times New Roman"/>
              </a:rPr>
              <a:t>,</a:t>
            </a:r>
            <a:endParaRPr sz="1850">
              <a:latin typeface="Times New Roman"/>
              <a:cs typeface="Times New Roman"/>
            </a:endParaRPr>
          </a:p>
          <a:p>
            <a:pPr marR="60960" algn="r">
              <a:lnSpc>
                <a:spcPts val="2065"/>
              </a:lnSpc>
            </a:pPr>
            <a:r>
              <a:rPr sz="1850" spc="-50" dirty="0">
                <a:latin typeface="Symbol"/>
                <a:cs typeface="Symbol"/>
              </a:rPr>
              <a:t>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0687" y="3293106"/>
            <a:ext cx="263525" cy="447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-1315" dirty="0">
                <a:latin typeface="Symbol"/>
                <a:cs typeface="Symbol"/>
              </a:rPr>
              <a:t>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62719" y="3360028"/>
            <a:ext cx="42735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75" i="1" baseline="1501" dirty="0">
                <a:latin typeface="Times New Roman"/>
                <a:cs typeface="Times New Roman"/>
              </a:rPr>
              <a:t>Y</a:t>
            </a:r>
            <a:r>
              <a:rPr sz="1575" i="1" baseline="-23809" dirty="0">
                <a:latin typeface="Times New Roman"/>
                <a:cs typeface="Times New Roman"/>
              </a:rPr>
              <a:t>i</a:t>
            </a:r>
            <a:r>
              <a:rPr sz="1575" i="1" spc="30" baseline="-23809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Symbol"/>
                <a:cs typeface="Symbol"/>
              </a:rPr>
              <a:t></a:t>
            </a:r>
            <a:r>
              <a:rPr sz="2775" spc="-37" baseline="1501" dirty="0">
                <a:latin typeface="Times New Roman"/>
                <a:cs typeface="Times New Roman"/>
              </a:rPr>
              <a:t>,</a:t>
            </a:r>
            <a:endParaRPr sz="2775" baseline="1501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16617" y="3209952"/>
            <a:ext cx="27813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latin typeface="Symbol"/>
                <a:cs typeface="Symbol"/>
              </a:rPr>
              <a:t>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16617" y="3583324"/>
            <a:ext cx="89090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  <a:tab pos="787400" algn="l"/>
              </a:tabLst>
            </a:pPr>
            <a:r>
              <a:rPr sz="1850" spc="-50" dirty="0">
                <a:latin typeface="Symbol"/>
                <a:cs typeface="Symbol"/>
              </a:rPr>
              <a:t>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050" i="1" spc="-25" dirty="0">
                <a:latin typeface="Times New Roman"/>
                <a:cs typeface="Times New Roman"/>
              </a:rPr>
              <a:t>i</a:t>
            </a:r>
            <a:r>
              <a:rPr sz="1050" spc="-25" dirty="0">
                <a:latin typeface="Symbol"/>
                <a:cs typeface="Symbol"/>
              </a:rPr>
              <a:t></a:t>
            </a:r>
            <a:r>
              <a:rPr sz="1050" spc="-25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Symbol"/>
                <a:cs typeface="Symbol"/>
              </a:rPr>
              <a:t>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68019" y="3346713"/>
            <a:ext cx="828040" cy="49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25"/>
              </a:lnSpc>
              <a:spcBef>
                <a:spcPts val="100"/>
              </a:spcBef>
            </a:pPr>
            <a:r>
              <a:rPr sz="2925" i="1" baseline="1424" dirty="0">
                <a:latin typeface="Symbol"/>
                <a:cs typeface="Symbol"/>
              </a:rPr>
              <a:t></a:t>
            </a:r>
            <a:r>
              <a:rPr sz="2925" spc="195" baseline="1424" dirty="0">
                <a:latin typeface="Times New Roman"/>
                <a:cs typeface="Times New Roman"/>
              </a:rPr>
              <a:t> </a:t>
            </a:r>
            <a:r>
              <a:rPr sz="2775" baseline="1501" dirty="0">
                <a:latin typeface="Symbol"/>
                <a:cs typeface="Symbol"/>
              </a:rPr>
              <a:t></a:t>
            </a:r>
            <a:r>
              <a:rPr sz="2775" spc="-15" baseline="1501" dirty="0">
                <a:latin typeface="Times New Roman"/>
                <a:cs typeface="Times New Roman"/>
              </a:rPr>
              <a:t> </a:t>
            </a:r>
            <a:r>
              <a:rPr sz="2775" i="1" spc="-37" baseline="1501" dirty="0">
                <a:latin typeface="Times New Roman"/>
                <a:cs typeface="Times New Roman"/>
              </a:rPr>
              <a:t>E</a:t>
            </a:r>
            <a:r>
              <a:rPr sz="1850" spc="-25" dirty="0">
                <a:latin typeface="Symbol"/>
                <a:cs typeface="Symbol"/>
              </a:rPr>
              <a:t></a:t>
            </a:r>
            <a:endParaRPr sz="1850">
              <a:latin typeface="Symbol"/>
              <a:cs typeface="Symbol"/>
            </a:endParaRPr>
          </a:p>
          <a:p>
            <a:pPr marR="5080" algn="r">
              <a:lnSpc>
                <a:spcPts val="1805"/>
              </a:lnSpc>
            </a:pPr>
            <a:r>
              <a:rPr sz="1850" i="1" spc="-50" dirty="0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2966" y="3356276"/>
            <a:ext cx="171577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discrete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output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9793" y="4018631"/>
            <a:ext cx="24892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25"/>
              </a:spcBef>
            </a:pPr>
            <a:r>
              <a:rPr sz="1050" spc="-25" dirty="0">
                <a:latin typeface="Times New Roman"/>
                <a:cs typeface="Times New Roman"/>
              </a:rPr>
              <a:t>T</a:t>
            </a:r>
            <a:r>
              <a:rPr sz="1125" spc="-37" baseline="-18518" dirty="0">
                <a:latin typeface="Times New Roman"/>
                <a:cs typeface="Times New Roman"/>
              </a:rPr>
              <a:t>E</a:t>
            </a:r>
            <a:endParaRPr sz="1125" baseline="-18518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50" spc="-50" dirty="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4041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Statistical</a:t>
            </a:r>
            <a:r>
              <a:rPr sz="3200" spc="-195" dirty="0"/>
              <a:t> </a:t>
            </a:r>
            <a:r>
              <a:rPr sz="3200" spc="-10" dirty="0"/>
              <a:t>Background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55802" y="1351280"/>
            <a:ext cx="7915909" cy="3789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28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 marL="393065" marR="631190" indent="-342900">
              <a:lnSpc>
                <a:spcPct val="100000"/>
              </a:lnSpc>
              <a:spcBef>
                <a:spcPts val="190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distinguish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7C"/>
                </a:solidFill>
                <a:latin typeface="Arial"/>
                <a:cs typeface="Arial"/>
              </a:rPr>
              <a:t>within-</a:t>
            </a:r>
            <a:r>
              <a:rPr sz="2400" dirty="0">
                <a:solidFill>
                  <a:srgbClr val="00007C"/>
                </a:solidFill>
                <a:latin typeface="Arial"/>
                <a:cs typeface="Arial"/>
              </a:rPr>
              <a:t>replication</a:t>
            </a:r>
            <a:r>
              <a:rPr sz="2400" spc="-7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from </a:t>
            </a:r>
            <a:r>
              <a:rPr sz="2400" spc="-20" dirty="0">
                <a:solidFill>
                  <a:srgbClr val="00007C"/>
                </a:solidFill>
                <a:latin typeface="Arial"/>
                <a:cs typeface="Arial"/>
              </a:rPr>
              <a:t>across-</a:t>
            </a:r>
            <a:r>
              <a:rPr sz="2400" dirty="0">
                <a:solidFill>
                  <a:srgbClr val="00007C"/>
                </a:solidFill>
                <a:latin typeface="Arial"/>
                <a:cs typeface="Arial"/>
              </a:rPr>
              <a:t>replication</a:t>
            </a:r>
            <a:r>
              <a:rPr sz="2400" spc="-5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565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simulation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manufacturing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  <a:p>
            <a:pPr marL="793750" marR="43180" lvl="1" indent="-285750">
              <a:lnSpc>
                <a:spcPct val="100000"/>
              </a:lnSpc>
              <a:spcBef>
                <a:spcPts val="49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Two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performance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measures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system: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cycle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parts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work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process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(WIP).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Let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ij</a:t>
            </a:r>
            <a:r>
              <a:rPr sz="1950" i="1" spc="23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cycle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j</a:t>
            </a:r>
            <a:r>
              <a:rPr sz="1950" i="1" baseline="25641" dirty="0">
                <a:latin typeface="Arial"/>
                <a:cs typeface="Arial"/>
              </a:rPr>
              <a:t>th</a:t>
            </a:r>
            <a:r>
              <a:rPr sz="1950" i="1" spc="232" baseline="25641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produced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i</a:t>
            </a:r>
            <a:r>
              <a:rPr sz="1950" i="1" spc="-37" baseline="25641" dirty="0">
                <a:latin typeface="Arial"/>
                <a:cs typeface="Arial"/>
              </a:rPr>
              <a:t>th</a:t>
            </a:r>
            <a:endParaRPr sz="1950" baseline="25641">
              <a:latin typeface="Arial"/>
              <a:cs typeface="Arial"/>
            </a:endParaRPr>
          </a:p>
          <a:p>
            <a:pPr marL="79375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replication.</a:t>
            </a:r>
            <a:endParaRPr sz="2000">
              <a:latin typeface="Arial"/>
              <a:cs typeface="Arial"/>
            </a:endParaRPr>
          </a:p>
          <a:p>
            <a:pPr marL="793750" marR="583565" lvl="1" indent="-285750">
              <a:lnSpc>
                <a:spcPts val="2400"/>
              </a:lnSpc>
              <a:spcBef>
                <a:spcPts val="55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spc="-20" dirty="0">
                <a:latin typeface="Arial"/>
                <a:cs typeface="Arial"/>
              </a:rPr>
              <a:t>Across-</a:t>
            </a:r>
            <a:r>
              <a:rPr sz="2000" spc="-10" dirty="0">
                <a:latin typeface="Arial"/>
                <a:cs typeface="Arial"/>
              </a:rPr>
              <a:t>replicatio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formed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summarizing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within- replication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3300" i="1" baseline="6313" dirty="0">
                <a:latin typeface="Times New Roman"/>
                <a:cs typeface="Times New Roman"/>
              </a:rPr>
              <a:t>Y</a:t>
            </a:r>
            <a:r>
              <a:rPr sz="1875" i="1" baseline="-13333" dirty="0">
                <a:latin typeface="Times New Roman"/>
                <a:cs typeface="Times New Roman"/>
              </a:rPr>
              <a:t>i</a:t>
            </a:r>
            <a:r>
              <a:rPr sz="1875" baseline="-13333" dirty="0">
                <a:latin typeface="Times New Roman"/>
                <a:cs typeface="Times New Roman"/>
              </a:rPr>
              <a:t>.</a:t>
            </a:r>
            <a:r>
              <a:rPr sz="1875" spc="135" baseline="-13333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4041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Statistical</a:t>
            </a:r>
            <a:r>
              <a:rPr sz="3200" spc="-195" dirty="0"/>
              <a:t> </a:t>
            </a:r>
            <a:r>
              <a:rPr sz="3200" spc="-10" dirty="0"/>
              <a:t>Background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902" y="1351280"/>
            <a:ext cx="7817484" cy="133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84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90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Across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Replication: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1600" spc="459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1600" spc="285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example: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daily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cycle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(discrete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8301" y="2717546"/>
            <a:ext cx="1602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66666"/>
              <a:buChar char="■"/>
              <a:tabLst>
                <a:tab pos="24193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average: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8301" y="3378200"/>
            <a:ext cx="243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66666"/>
              <a:buChar char="■"/>
              <a:tabLst>
                <a:tab pos="24193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variance: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1102" y="4812283"/>
            <a:ext cx="55530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For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WIP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continuous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8301" y="5171947"/>
            <a:ext cx="1602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66666"/>
              <a:buChar char="■"/>
              <a:tabLst>
                <a:tab pos="24193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average: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8301" y="5832602"/>
            <a:ext cx="243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66666"/>
              <a:buChar char="■"/>
              <a:tabLst>
                <a:tab pos="24193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variance: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78579" y="2843022"/>
            <a:ext cx="135255" cy="0"/>
          </a:xfrm>
          <a:custGeom>
            <a:avLst/>
            <a:gdLst/>
            <a:ahLst/>
            <a:cxnLst/>
            <a:rect l="l" t="t" r="r" b="b"/>
            <a:pathLst>
              <a:path w="135254">
                <a:moveTo>
                  <a:pt x="0" y="0"/>
                </a:moveTo>
                <a:lnTo>
                  <a:pt x="134874" y="0"/>
                </a:lnTo>
              </a:path>
            </a:pathLst>
          </a:custGeom>
          <a:ln w="10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09871" y="2992373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0" y="0"/>
                </a:moveTo>
                <a:lnTo>
                  <a:pt x="197357" y="0"/>
                </a:lnTo>
              </a:path>
            </a:pathLst>
          </a:custGeom>
          <a:ln w="10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36440" y="2720731"/>
            <a:ext cx="29781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0" dirty="0">
                <a:latin typeface="Symbol"/>
                <a:cs typeface="Symbol"/>
              </a:rPr>
              <a:t>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20141" y="2789266"/>
            <a:ext cx="43878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750" algn="l"/>
              </a:tabLst>
            </a:pPr>
            <a:r>
              <a:rPr sz="2000" i="1" spc="-50" dirty="0">
                <a:latin typeface="Times New Roman"/>
                <a:cs typeface="Times New Roman"/>
              </a:rPr>
              <a:t>Y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27879" y="2636193"/>
            <a:ext cx="11620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i="1" spc="-50" dirty="0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7523" y="2789266"/>
            <a:ext cx="154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76070" y="3138348"/>
            <a:ext cx="227329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i="1" spc="-25" dirty="0">
                <a:latin typeface="Times New Roman"/>
                <a:cs typeface="Times New Roman"/>
              </a:rPr>
              <a:t>i</a:t>
            </a:r>
            <a:r>
              <a:rPr sz="1150" spc="-25" dirty="0">
                <a:latin typeface="Symbol"/>
                <a:cs typeface="Symbol"/>
              </a:rPr>
              <a:t></a:t>
            </a:r>
            <a:r>
              <a:rPr sz="1150" spc="-25" dirty="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4022" y="2958521"/>
            <a:ext cx="11112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i="1" spc="-25" dirty="0">
                <a:latin typeface="Times New Roman"/>
                <a:cs typeface="Times New Roman"/>
              </a:rPr>
              <a:t>i</a:t>
            </a:r>
            <a:r>
              <a:rPr sz="1150" spc="-25" dirty="0"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22305" y="2574887"/>
            <a:ext cx="180975" cy="7435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52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000" i="1" spc="-5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2072" y="2958525"/>
            <a:ext cx="9969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25" dirty="0">
                <a:latin typeface="Times New Roman"/>
                <a:cs typeface="Times New Roman"/>
              </a:rPr>
              <a:t>..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67855" y="3547871"/>
            <a:ext cx="130810" cy="0"/>
          </a:xfrm>
          <a:custGeom>
            <a:avLst/>
            <a:gdLst/>
            <a:ahLst/>
            <a:cxnLst/>
            <a:rect l="l" t="t" r="r" b="b"/>
            <a:pathLst>
              <a:path w="130809">
                <a:moveTo>
                  <a:pt x="0" y="0"/>
                </a:moveTo>
                <a:lnTo>
                  <a:pt x="130301" y="0"/>
                </a:lnTo>
              </a:path>
            </a:pathLst>
          </a:custGeom>
          <a:ln w="10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661919" y="3831326"/>
            <a:ext cx="2190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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76785" y="3495413"/>
            <a:ext cx="972819" cy="3606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1785"/>
              </a:lnSpc>
              <a:spcBef>
                <a:spcPts val="125"/>
              </a:spcBef>
            </a:pP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Y</a:t>
            </a:r>
            <a:r>
              <a:rPr sz="1900" i="1" spc="4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27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</a:t>
            </a:r>
            <a:r>
              <a:rPr sz="1900" i="1" spc="80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)</a:t>
            </a:r>
            <a:r>
              <a:rPr sz="1650" spc="22" baseline="42929" dirty="0">
                <a:latin typeface="Times New Roman"/>
                <a:cs typeface="Times New Roman"/>
              </a:rPr>
              <a:t>2</a:t>
            </a:r>
            <a:endParaRPr sz="1650" baseline="42929">
              <a:latin typeface="Times New Roman"/>
              <a:cs typeface="Times New Roman"/>
            </a:endParaRPr>
          </a:p>
          <a:p>
            <a:pPr marL="245110">
              <a:lnSpc>
                <a:spcPts val="825"/>
              </a:lnSpc>
              <a:tabLst>
                <a:tab pos="66357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..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3902" y="3624866"/>
            <a:ext cx="4648835" cy="114935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R="27940" algn="r">
              <a:lnSpc>
                <a:spcPct val="100000"/>
              </a:lnSpc>
              <a:spcBef>
                <a:spcPts val="610"/>
              </a:spcBef>
            </a:pP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-110" dirty="0">
                <a:latin typeface="Times New Roman"/>
                <a:cs typeface="Times New Roman"/>
              </a:rPr>
              <a:t> </a:t>
            </a:r>
            <a:r>
              <a:rPr sz="1900" spc="40" dirty="0">
                <a:latin typeface="Symbol"/>
                <a:cs typeface="Symbol"/>
              </a:rPr>
              <a:t></a:t>
            </a:r>
            <a:r>
              <a:rPr sz="1900" spc="4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L="1156335" indent="-229235">
              <a:lnSpc>
                <a:spcPct val="100000"/>
              </a:lnSpc>
              <a:spcBef>
                <a:spcPts val="459"/>
              </a:spcBef>
              <a:buClr>
                <a:srgbClr val="00007C"/>
              </a:buClr>
              <a:buSzPct val="66666"/>
              <a:buChar char="■"/>
              <a:tabLst>
                <a:tab pos="1156335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confidence-</a:t>
            </a:r>
            <a:r>
              <a:rPr sz="1800" dirty="0">
                <a:latin typeface="Arial"/>
                <a:cs typeface="Arial"/>
              </a:rPr>
              <a:t>interval half-</a:t>
            </a:r>
            <a:r>
              <a:rPr sz="1800" spc="-10" dirty="0">
                <a:latin typeface="Arial"/>
                <a:cs typeface="Arial"/>
              </a:rPr>
              <a:t>width: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5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Within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replication: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75047" y="3219132"/>
            <a:ext cx="1348740" cy="4660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R="104139" algn="r">
              <a:lnSpc>
                <a:spcPts val="130"/>
              </a:lnSpc>
              <a:spcBef>
                <a:spcPts val="1145"/>
              </a:spcBef>
            </a:pPr>
            <a:r>
              <a:rPr sz="1100" i="1" spc="-5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ts val="2290"/>
              </a:lnSpc>
              <a:tabLst>
                <a:tab pos="1020444" algn="l"/>
              </a:tabLst>
            </a:pPr>
            <a:r>
              <a:rPr sz="2850" i="1" baseline="-35087" dirty="0">
                <a:latin typeface="Times New Roman"/>
                <a:cs typeface="Times New Roman"/>
              </a:rPr>
              <a:t>S</a:t>
            </a:r>
            <a:r>
              <a:rPr sz="2850" i="1" spc="-337" baseline="-35087" dirty="0">
                <a:latin typeface="Times New Roman"/>
                <a:cs typeface="Times New Roman"/>
              </a:rPr>
              <a:t> </a:t>
            </a:r>
            <a:r>
              <a:rPr sz="1650" baseline="-17676" dirty="0">
                <a:latin typeface="Times New Roman"/>
                <a:cs typeface="Times New Roman"/>
              </a:rPr>
              <a:t>2</a:t>
            </a:r>
            <a:r>
              <a:rPr sz="1650" spc="547" baseline="-17676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15" baseline="-35087" dirty="0">
                <a:latin typeface="Times New Roman"/>
                <a:cs typeface="Times New Roman"/>
              </a:rPr>
              <a:t> </a:t>
            </a:r>
            <a:r>
              <a:rPr sz="1900" u="sng" spc="22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9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9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4350" spc="-2100" baseline="-31609" dirty="0">
                <a:latin typeface="Symbol"/>
                <a:cs typeface="Symbol"/>
              </a:rPr>
              <a:t></a:t>
            </a:r>
            <a:endParaRPr sz="4350" baseline="-31609">
              <a:latin typeface="Symbol"/>
              <a:cs typeface="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29450" y="4294085"/>
            <a:ext cx="379095" cy="296545"/>
            <a:chOff x="7029450" y="4294085"/>
            <a:chExt cx="379095" cy="296545"/>
          </a:xfrm>
        </p:grpSpPr>
        <p:sp>
          <p:nvSpPr>
            <p:cNvPr id="25" name="object 25"/>
            <p:cNvSpPr/>
            <p:nvPr/>
          </p:nvSpPr>
          <p:spPr>
            <a:xfrm>
              <a:off x="7055357" y="4492752"/>
              <a:ext cx="31750" cy="18415"/>
            </a:xfrm>
            <a:custGeom>
              <a:avLst/>
              <a:gdLst/>
              <a:ahLst/>
              <a:cxnLst/>
              <a:rect l="l" t="t" r="r" b="b"/>
              <a:pathLst>
                <a:path w="31750" h="18414">
                  <a:moveTo>
                    <a:pt x="0" y="18287"/>
                  </a:moveTo>
                  <a:lnTo>
                    <a:pt x="31242" y="0"/>
                  </a:lnTo>
                </a:path>
              </a:pathLst>
            </a:custGeom>
            <a:ln w="102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86600" y="4498086"/>
              <a:ext cx="45720" cy="82550"/>
            </a:xfrm>
            <a:custGeom>
              <a:avLst/>
              <a:gdLst/>
              <a:ahLst/>
              <a:cxnLst/>
              <a:rect l="l" t="t" r="r" b="b"/>
              <a:pathLst>
                <a:path w="45720" h="82550">
                  <a:moveTo>
                    <a:pt x="0" y="0"/>
                  </a:moveTo>
                  <a:lnTo>
                    <a:pt x="45720" y="82296"/>
                  </a:lnTo>
                </a:path>
              </a:pathLst>
            </a:custGeom>
            <a:ln w="20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29450" y="4299204"/>
              <a:ext cx="379095" cy="281305"/>
            </a:xfrm>
            <a:custGeom>
              <a:avLst/>
              <a:gdLst/>
              <a:ahLst/>
              <a:cxnLst/>
              <a:rect l="l" t="t" r="r" b="b"/>
              <a:pathLst>
                <a:path w="379095" h="281304">
                  <a:moveTo>
                    <a:pt x="108203" y="281178"/>
                  </a:moveTo>
                  <a:lnTo>
                    <a:pt x="168401" y="35813"/>
                  </a:lnTo>
                </a:path>
                <a:path w="379095" h="281304">
                  <a:moveTo>
                    <a:pt x="168401" y="35813"/>
                  </a:moveTo>
                  <a:lnTo>
                    <a:pt x="358140" y="35813"/>
                  </a:lnTo>
                </a:path>
                <a:path w="379095" h="281304">
                  <a:moveTo>
                    <a:pt x="0" y="0"/>
                  </a:moveTo>
                  <a:lnTo>
                    <a:pt x="378714" y="0"/>
                  </a:lnTo>
                </a:path>
              </a:pathLst>
            </a:custGeom>
            <a:ln w="102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208011" y="4310405"/>
            <a:ext cx="17653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i="1" spc="-50" dirty="0">
                <a:latin typeface="Times New Roman"/>
                <a:cs typeface="Times New Roman"/>
              </a:rPr>
              <a:t>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38665" y="3945399"/>
            <a:ext cx="14922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i="1" spc="-50" dirty="0">
                <a:latin typeface="Times New Roman"/>
                <a:cs typeface="Times New Roman"/>
              </a:rPr>
              <a:t>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99654" y="4100837"/>
            <a:ext cx="54483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i="1" dirty="0">
                <a:latin typeface="Times New Roman"/>
                <a:cs typeface="Times New Roman"/>
              </a:rPr>
              <a:t>H</a:t>
            </a:r>
            <a:r>
              <a:rPr sz="1950" i="1" spc="1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-105" dirty="0">
                <a:latin typeface="Times New Roman"/>
                <a:cs typeface="Times New Roman"/>
              </a:rPr>
              <a:t> </a:t>
            </a:r>
            <a:r>
              <a:rPr sz="1950" i="1" spc="-50" dirty="0">
                <a:latin typeface="Times New Roman"/>
                <a:cs typeface="Times New Roman"/>
              </a:rPr>
              <a:t>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14770" y="4257151"/>
            <a:ext cx="5772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5" dirty="0">
                <a:latin typeface="Symbol"/>
                <a:cs typeface="Symbol"/>
              </a:rPr>
              <a:t>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2,</a:t>
            </a:r>
            <a:r>
              <a:rPr sz="1100" i="1" spc="-10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Symbol"/>
                <a:cs typeface="Symbol"/>
              </a:rPr>
              <a:t>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63923" y="5260085"/>
            <a:ext cx="135255" cy="0"/>
          </a:xfrm>
          <a:custGeom>
            <a:avLst/>
            <a:gdLst/>
            <a:ahLst/>
            <a:cxnLst/>
            <a:rect l="l" t="t" r="r" b="b"/>
            <a:pathLst>
              <a:path w="135254">
                <a:moveTo>
                  <a:pt x="0" y="0"/>
                </a:moveTo>
                <a:lnTo>
                  <a:pt x="134874" y="0"/>
                </a:lnTo>
              </a:path>
            </a:pathLst>
          </a:custGeom>
          <a:ln w="10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09694" y="5409438"/>
            <a:ext cx="364490" cy="0"/>
          </a:xfrm>
          <a:custGeom>
            <a:avLst/>
            <a:gdLst/>
            <a:ahLst/>
            <a:cxnLst/>
            <a:rect l="l" t="t" r="r" b="b"/>
            <a:pathLst>
              <a:path w="364489">
                <a:moveTo>
                  <a:pt x="0" y="0"/>
                </a:moveTo>
                <a:lnTo>
                  <a:pt x="364235" y="0"/>
                </a:lnTo>
              </a:path>
            </a:pathLst>
          </a:custGeom>
          <a:ln w="10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809235" y="5170561"/>
            <a:ext cx="13017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0" dirty="0">
                <a:latin typeface="Symbol"/>
                <a:cs typeface="Symbol"/>
              </a:rPr>
              <a:t>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73119" y="5468451"/>
            <a:ext cx="3968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baseline="13888" dirty="0">
                <a:latin typeface="Times New Roman"/>
                <a:cs typeface="Times New Roman"/>
              </a:rPr>
              <a:t>T</a:t>
            </a:r>
            <a:r>
              <a:rPr sz="3000" i="1" spc="-202" baseline="13888" dirty="0">
                <a:latin typeface="Times New Roman"/>
                <a:cs typeface="Times New Roman"/>
              </a:rPr>
              <a:t> </a:t>
            </a:r>
            <a:r>
              <a:rPr sz="1150" i="1" spc="-25" dirty="0">
                <a:latin typeface="Times New Roman"/>
                <a:cs typeface="Times New Roman"/>
              </a:rPr>
              <a:t>Ei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80113" y="5206330"/>
            <a:ext cx="504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Times New Roman"/>
                <a:cs typeface="Times New Roman"/>
              </a:rPr>
              <a:t>Y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baseline="-24154" dirty="0">
                <a:latin typeface="Times New Roman"/>
                <a:cs typeface="Times New Roman"/>
              </a:rPr>
              <a:t>.</a:t>
            </a:r>
            <a:r>
              <a:rPr sz="1725" spc="359" baseline="-24154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83911" y="5451021"/>
            <a:ext cx="9969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5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06166" y="5206330"/>
            <a:ext cx="7385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70" dirty="0">
                <a:latin typeface="Times New Roman"/>
                <a:cs typeface="Times New Roman"/>
              </a:rPr>
              <a:t>Y</a:t>
            </a:r>
            <a:r>
              <a:rPr sz="1725" i="1" spc="-104" baseline="-24154" dirty="0">
                <a:latin typeface="Times New Roman"/>
                <a:cs typeface="Times New Roman"/>
              </a:rPr>
              <a:t>i</a:t>
            </a:r>
            <a:r>
              <a:rPr sz="1725" i="1" spc="-7" baseline="-2415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</a:t>
            </a:r>
            <a:r>
              <a:rPr sz="2000" i="1" spc="-2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)</a:t>
            </a:r>
            <a:r>
              <a:rPr sz="2000" i="1" spc="-20" dirty="0">
                <a:latin typeface="Times New Roman"/>
                <a:cs typeface="Times New Roman"/>
              </a:rPr>
              <a:t>dt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90478" y="5156889"/>
            <a:ext cx="6635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00"/>
              </a:lnSpc>
              <a:tabLst>
                <a:tab pos="436880" algn="l"/>
              </a:tabLst>
            </a:pPr>
            <a:r>
              <a:rPr sz="3000" spc="-75" baseline="1388" dirty="0">
                <a:latin typeface="Times New Roman"/>
                <a:cs typeface="Times New Roman"/>
              </a:rPr>
              <a:t>1</a:t>
            </a:r>
            <a:r>
              <a:rPr sz="3000" baseline="1388" dirty="0">
                <a:latin typeface="Times New Roman"/>
                <a:cs typeface="Times New Roman"/>
              </a:rPr>
              <a:t>	</a:t>
            </a:r>
            <a:r>
              <a:rPr sz="1725" i="1" spc="-37" baseline="14492" dirty="0">
                <a:latin typeface="Times New Roman"/>
                <a:cs typeface="Times New Roman"/>
              </a:rPr>
              <a:t>T</a:t>
            </a:r>
            <a:r>
              <a:rPr sz="800" i="1" spc="-25" dirty="0">
                <a:latin typeface="Times New Roman"/>
                <a:cs typeface="Times New Roman"/>
              </a:rPr>
              <a:t>Ei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113782" y="6162294"/>
            <a:ext cx="373380" cy="0"/>
          </a:xfrm>
          <a:custGeom>
            <a:avLst/>
            <a:gdLst/>
            <a:ahLst/>
            <a:cxnLst/>
            <a:rect l="l" t="t" r="r" b="b"/>
            <a:pathLst>
              <a:path w="373379">
                <a:moveTo>
                  <a:pt x="0" y="0"/>
                </a:moveTo>
                <a:lnTo>
                  <a:pt x="373379" y="0"/>
                </a:lnTo>
              </a:path>
            </a:pathLst>
          </a:custGeom>
          <a:ln w="108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65214" y="600913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683" y="0"/>
                </a:lnTo>
              </a:path>
            </a:pathLst>
          </a:custGeom>
          <a:ln w="108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523229" y="5917183"/>
            <a:ext cx="120014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-50" dirty="0">
                <a:latin typeface="Symbol"/>
                <a:cs typeface="Symbol"/>
              </a:rPr>
              <a:t>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43" name="object 43"/>
          <p:cNvSpPr txBox="1"/>
          <p:nvPr/>
        </p:nvSpPr>
        <p:spPr>
          <a:xfrm>
            <a:off x="5714491" y="5947283"/>
            <a:ext cx="12192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i="1" spc="-25" dirty="0">
                <a:latin typeface="Times New Roman"/>
                <a:cs typeface="Times New Roman"/>
              </a:rPr>
              <a:t>Ei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31434" y="5865748"/>
            <a:ext cx="110489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95380" y="6331322"/>
            <a:ext cx="16065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Times New Roman"/>
                <a:cs typeface="Times New Roman"/>
              </a:rPr>
              <a:t>Ei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04072" y="6127875"/>
            <a:ext cx="6794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40735" y="5954521"/>
            <a:ext cx="54673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50" i="1" dirty="0">
                <a:latin typeface="Times New Roman"/>
                <a:cs typeface="Times New Roman"/>
              </a:rPr>
              <a:t>S</a:t>
            </a:r>
            <a:r>
              <a:rPr sz="2050" i="1" spc="-245" dirty="0">
                <a:latin typeface="Times New Roman"/>
                <a:cs typeface="Times New Roman"/>
              </a:rPr>
              <a:t> </a:t>
            </a:r>
            <a:r>
              <a:rPr sz="1800" baseline="41666" dirty="0">
                <a:latin typeface="Times New Roman"/>
                <a:cs typeface="Times New Roman"/>
              </a:rPr>
              <a:t>2</a:t>
            </a:r>
            <a:r>
              <a:rPr sz="1800" spc="547" baseline="41666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Symbol"/>
                <a:cs typeface="Symbol"/>
              </a:rPr>
              <a:t>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02588" y="6157975"/>
            <a:ext cx="17081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spc="-50" dirty="0">
                <a:latin typeface="Times New Roman"/>
                <a:cs typeface="Times New Roman"/>
              </a:rPr>
              <a:t>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99429" y="6205599"/>
            <a:ext cx="1016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923029" y="5902321"/>
            <a:ext cx="1016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052815" y="6127875"/>
            <a:ext cx="79502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055" algn="l"/>
              </a:tabLst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25" dirty="0">
                <a:latin typeface="Times New Roman"/>
                <a:cs typeface="Times New Roman"/>
              </a:rPr>
              <a:t>i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66129" y="5816755"/>
            <a:ext cx="139509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spc="-305" dirty="0">
                <a:latin typeface="Symbol"/>
                <a:cs typeface="Symbol"/>
              </a:rPr>
              <a:t></a:t>
            </a:r>
            <a:r>
              <a:rPr sz="2050" i="1" spc="-305" dirty="0">
                <a:latin typeface="Times New Roman"/>
                <a:cs typeface="Times New Roman"/>
              </a:rPr>
              <a:t>Y</a:t>
            </a:r>
            <a:r>
              <a:rPr sz="2050" i="1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</a:t>
            </a:r>
            <a:r>
              <a:rPr sz="2050" i="1" dirty="0">
                <a:latin typeface="Times New Roman"/>
                <a:cs typeface="Times New Roman"/>
              </a:rPr>
              <a:t>t</a:t>
            </a:r>
            <a:r>
              <a:rPr sz="2050" dirty="0">
                <a:latin typeface="Times New Roman"/>
                <a:cs typeface="Times New Roman"/>
              </a:rPr>
              <a:t>)</a:t>
            </a:r>
            <a:r>
              <a:rPr sz="2050" spc="-1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</a:t>
            </a:r>
            <a:r>
              <a:rPr sz="2050" spc="-28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Y</a:t>
            </a:r>
            <a:r>
              <a:rPr sz="2050" i="1" spc="325" dirty="0">
                <a:latin typeface="Times New Roman"/>
                <a:cs typeface="Times New Roman"/>
              </a:rPr>
              <a:t> </a:t>
            </a:r>
            <a:r>
              <a:rPr sz="3100" spc="-375" dirty="0">
                <a:latin typeface="Symbol"/>
                <a:cs typeface="Symbol"/>
              </a:rPr>
              <a:t></a:t>
            </a:r>
            <a:r>
              <a:rPr sz="3100" spc="-5" dirty="0">
                <a:latin typeface="Times New Roman"/>
                <a:cs typeface="Times New Roman"/>
              </a:rPr>
              <a:t> </a:t>
            </a:r>
            <a:r>
              <a:rPr sz="2050" i="1" spc="-25" dirty="0">
                <a:latin typeface="Times New Roman"/>
                <a:cs typeface="Times New Roman"/>
              </a:rPr>
              <a:t>dt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222252" y="5789924"/>
            <a:ext cx="1562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50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34305" y="2052066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>
                <a:moveTo>
                  <a:pt x="0" y="0"/>
                </a:moveTo>
                <a:lnTo>
                  <a:pt x="153162" y="0"/>
                </a:lnTo>
              </a:path>
            </a:pathLst>
          </a:custGeom>
          <a:ln w="12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4041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Statistical</a:t>
            </a:r>
            <a:r>
              <a:rPr sz="3200" spc="-195" dirty="0"/>
              <a:t> </a:t>
            </a:r>
            <a:r>
              <a:rPr sz="3200" spc="-10" dirty="0"/>
              <a:t>Background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3887723" y="2356866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>
                <a:moveTo>
                  <a:pt x="0" y="0"/>
                </a:moveTo>
                <a:lnTo>
                  <a:pt x="153162" y="0"/>
                </a:lnTo>
              </a:path>
            </a:pathLst>
          </a:custGeom>
          <a:ln w="12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102" y="1351280"/>
            <a:ext cx="8230234" cy="367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 marL="405765" marR="210185" indent="-342900">
              <a:lnSpc>
                <a:spcPct val="100000"/>
              </a:lnSpc>
              <a:spcBef>
                <a:spcPts val="1905"/>
              </a:spcBef>
              <a:buClr>
                <a:srgbClr val="00007C"/>
              </a:buClr>
              <a:buSzPct val="75000"/>
              <a:buChar char="■"/>
              <a:tabLst>
                <a:tab pos="405765" algn="l"/>
                <a:tab pos="3403600" algn="l"/>
              </a:tabLst>
            </a:pPr>
            <a:r>
              <a:rPr sz="2400" dirty="0">
                <a:latin typeface="Arial"/>
                <a:cs typeface="Arial"/>
              </a:rPr>
              <a:t>Overall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sample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average,</a:t>
            </a:r>
            <a:r>
              <a:rPr sz="2400" spc="-434" dirty="0">
                <a:latin typeface="Arial"/>
                <a:cs typeface="Arial"/>
              </a:rPr>
              <a:t> </a:t>
            </a:r>
            <a:r>
              <a:rPr sz="3375" i="1" baseline="-9876" dirty="0">
                <a:latin typeface="Times New Roman"/>
                <a:cs typeface="Times New Roman"/>
              </a:rPr>
              <a:t>Y</a:t>
            </a:r>
            <a:r>
              <a:rPr sz="1950" baseline="-40598" dirty="0">
                <a:latin typeface="Times New Roman"/>
                <a:cs typeface="Times New Roman"/>
              </a:rPr>
              <a:t>..</a:t>
            </a:r>
            <a:r>
              <a:rPr sz="1950" spc="427" baseline="-4059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replication </a:t>
            </a:r>
            <a:r>
              <a:rPr sz="2400" dirty="0">
                <a:latin typeface="Arial"/>
                <a:cs typeface="Arial"/>
              </a:rPr>
              <a:t>sample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averages,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3375" i="1" spc="-44" baseline="2469" dirty="0">
                <a:latin typeface="Times New Roman"/>
                <a:cs typeface="Times New Roman"/>
              </a:rPr>
              <a:t>Y</a:t>
            </a:r>
            <a:r>
              <a:rPr sz="1950" i="1" spc="-44" baseline="-19230" dirty="0">
                <a:latin typeface="Times New Roman"/>
                <a:cs typeface="Times New Roman"/>
              </a:rPr>
              <a:t>i</a:t>
            </a:r>
            <a:r>
              <a:rPr sz="1950" spc="-44" baseline="-19230" dirty="0">
                <a:latin typeface="Times New Roman"/>
                <a:cs typeface="Times New Roman"/>
              </a:rPr>
              <a:t>.</a:t>
            </a:r>
            <a:r>
              <a:rPr sz="1950" spc="-277" baseline="-192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	are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always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unbiased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estimators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expected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daily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average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cycle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daily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average </a:t>
            </a:r>
            <a:r>
              <a:rPr sz="2400" spc="-20" dirty="0">
                <a:latin typeface="Arial"/>
                <a:cs typeface="Arial"/>
              </a:rPr>
              <a:t>WIP.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Clr>
                <a:srgbClr val="00007C"/>
              </a:buClr>
              <a:buFont typeface="Arial"/>
              <a:buChar char="■"/>
            </a:pPr>
            <a:endParaRPr sz="2400">
              <a:latin typeface="Arial"/>
              <a:cs typeface="Arial"/>
            </a:endParaRPr>
          </a:p>
          <a:p>
            <a:pPr marL="406400" marR="17780" indent="-342900">
              <a:lnSpc>
                <a:spcPct val="100000"/>
              </a:lnSpc>
              <a:buClr>
                <a:srgbClr val="00007C"/>
              </a:buClr>
              <a:buSzPct val="75000"/>
              <a:buChar char="■"/>
              <a:tabLst>
                <a:tab pos="406400" algn="l"/>
              </a:tabLst>
            </a:pPr>
            <a:r>
              <a:rPr sz="2400" spc="-20" dirty="0">
                <a:latin typeface="Arial"/>
                <a:cs typeface="Arial"/>
              </a:rPr>
              <a:t>Across-</a:t>
            </a:r>
            <a:r>
              <a:rPr sz="2400" dirty="0">
                <a:latin typeface="Arial"/>
                <a:cs typeface="Arial"/>
              </a:rPr>
              <a:t>replication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independent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(different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random </a:t>
            </a:r>
            <a:r>
              <a:rPr sz="2400" dirty="0">
                <a:latin typeface="Arial"/>
                <a:cs typeface="Arial"/>
              </a:rPr>
              <a:t>numbers)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identically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distributed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(same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model),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but </a:t>
            </a:r>
            <a:r>
              <a:rPr sz="2400" spc="-10" dirty="0">
                <a:latin typeface="Arial"/>
                <a:cs typeface="Arial"/>
              </a:rPr>
              <a:t>within-</a:t>
            </a:r>
            <a:r>
              <a:rPr sz="2400" dirty="0">
                <a:latin typeface="Arial"/>
                <a:cs typeface="Arial"/>
              </a:rPr>
              <a:t>replication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properties.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5057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C.I.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0" dirty="0"/>
              <a:t> </a:t>
            </a:r>
            <a:r>
              <a:rPr sz="3200" dirty="0"/>
              <a:t>Specified</a:t>
            </a:r>
            <a:r>
              <a:rPr sz="3200" spc="-25" dirty="0"/>
              <a:t> </a:t>
            </a:r>
            <a:r>
              <a:rPr sz="3200" spc="-10" dirty="0"/>
              <a:t>Precision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902" y="1351280"/>
            <a:ext cx="8136890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84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ts val="2870"/>
              </a:lnSpc>
              <a:spcBef>
                <a:spcPts val="2050"/>
              </a:spcBef>
              <a:buClr>
                <a:srgbClr val="00007C"/>
              </a:buClr>
              <a:buSzPct val="75000"/>
              <a:buChar char="■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half-</a:t>
            </a:r>
            <a:r>
              <a:rPr sz="2400" dirty="0">
                <a:latin typeface="Arial"/>
                <a:cs typeface="Arial"/>
              </a:rPr>
              <a:t>length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100(1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–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500" i="1" dirty="0">
                <a:latin typeface="Symbol"/>
                <a:cs typeface="Symbol"/>
              </a:rPr>
              <a:t></a:t>
            </a:r>
            <a:r>
              <a:rPr sz="2400" i="1" dirty="0">
                <a:latin typeface="Arial"/>
                <a:cs typeface="Arial"/>
              </a:rPr>
              <a:t>)%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500" i="1" dirty="0">
                <a:latin typeface="Symbol"/>
                <a:cs typeface="Symbol"/>
              </a:rPr>
              <a:t>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distribution,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902" y="4489957"/>
            <a:ext cx="7762875" cy="7600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54965" marR="5080" indent="-342900">
              <a:lnSpc>
                <a:spcPts val="2870"/>
              </a:lnSpc>
              <a:spcBef>
                <a:spcPts val="204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Suppose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error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criterion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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specified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with </a:t>
            </a:r>
            <a:r>
              <a:rPr sz="2400" dirty="0">
                <a:latin typeface="Arial"/>
                <a:cs typeface="Arial"/>
              </a:rPr>
              <a:t>probability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1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-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500" i="1" dirty="0">
                <a:latin typeface="Symbol"/>
                <a:cs typeface="Symbol"/>
              </a:rPr>
              <a:t>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sufficiently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sample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size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should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802" y="5214620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satisfy: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22761" y="3102165"/>
            <a:ext cx="443865" cy="337185"/>
            <a:chOff x="4822761" y="3102165"/>
            <a:chExt cx="443865" cy="337185"/>
          </a:xfrm>
        </p:grpSpPr>
        <p:sp>
          <p:nvSpPr>
            <p:cNvPr id="7" name="object 7"/>
            <p:cNvSpPr/>
            <p:nvPr/>
          </p:nvSpPr>
          <p:spPr>
            <a:xfrm>
              <a:off x="4858511" y="3328415"/>
              <a:ext cx="36195" cy="20955"/>
            </a:xfrm>
            <a:custGeom>
              <a:avLst/>
              <a:gdLst/>
              <a:ahLst/>
              <a:cxnLst/>
              <a:rect l="l" t="t" r="r" b="b"/>
              <a:pathLst>
                <a:path w="36195" h="20954">
                  <a:moveTo>
                    <a:pt x="0" y="20574"/>
                  </a:moveTo>
                  <a:lnTo>
                    <a:pt x="35813" y="0"/>
                  </a:lnTo>
                </a:path>
              </a:pathLst>
            </a:custGeom>
            <a:ln w="1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4325" y="3334511"/>
              <a:ext cx="52069" cy="93345"/>
            </a:xfrm>
            <a:custGeom>
              <a:avLst/>
              <a:gdLst/>
              <a:ahLst/>
              <a:cxnLst/>
              <a:rect l="l" t="t" r="r" b="b"/>
              <a:pathLst>
                <a:path w="52070" h="93345">
                  <a:moveTo>
                    <a:pt x="0" y="0"/>
                  </a:moveTo>
                  <a:lnTo>
                    <a:pt x="51815" y="92963"/>
                  </a:lnTo>
                </a:path>
              </a:pathLst>
            </a:custGeom>
            <a:ln w="233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8793" y="3108197"/>
              <a:ext cx="431800" cy="319405"/>
            </a:xfrm>
            <a:custGeom>
              <a:avLst/>
              <a:gdLst/>
              <a:ahLst/>
              <a:cxnLst/>
              <a:rect l="l" t="t" r="r" b="b"/>
              <a:pathLst>
                <a:path w="431800" h="319404">
                  <a:moveTo>
                    <a:pt x="122681" y="319277"/>
                  </a:moveTo>
                  <a:lnTo>
                    <a:pt x="192023" y="40385"/>
                  </a:lnTo>
                </a:path>
                <a:path w="431800" h="319404">
                  <a:moveTo>
                    <a:pt x="192023" y="40385"/>
                  </a:moveTo>
                  <a:lnTo>
                    <a:pt x="407669" y="40385"/>
                  </a:lnTo>
                </a:path>
                <a:path w="431800" h="319404">
                  <a:moveTo>
                    <a:pt x="0" y="0"/>
                  </a:moveTo>
                  <a:lnTo>
                    <a:pt x="431291" y="0"/>
                  </a:lnTo>
                </a:path>
              </a:pathLst>
            </a:custGeom>
            <a:ln w="1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34026" y="3122930"/>
            <a:ext cx="19685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i="1" spc="-50" dirty="0">
                <a:latin typeface="Times New Roman"/>
                <a:cs typeface="Times New Roman"/>
              </a:rPr>
              <a:t>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5537" y="2708391"/>
            <a:ext cx="16573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i="1" spc="-5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43558" y="2885165"/>
            <a:ext cx="61658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i="1" dirty="0">
                <a:latin typeface="Times New Roman"/>
                <a:cs typeface="Times New Roman"/>
              </a:rPr>
              <a:t>H</a:t>
            </a:r>
            <a:r>
              <a:rPr sz="2200" i="1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i="1" spc="-50" dirty="0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1055" y="3062830"/>
            <a:ext cx="65214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i="1" dirty="0">
                <a:latin typeface="Symbol"/>
                <a:cs typeface="Symbol"/>
              </a:rPr>
              <a:t></a:t>
            </a:r>
            <a:r>
              <a:rPr sz="1350" spc="-8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/</a:t>
            </a:r>
            <a:r>
              <a:rPr sz="1250" spc="-120" dirty="0">
                <a:latin typeface="Times New Roman"/>
                <a:cs typeface="Times New Roman"/>
              </a:rPr>
              <a:t> </a:t>
            </a:r>
            <a:r>
              <a:rPr sz="1250" spc="-10" dirty="0">
                <a:latin typeface="Times New Roman"/>
                <a:cs typeface="Times New Roman"/>
              </a:rPr>
              <a:t>2,</a:t>
            </a:r>
            <a:r>
              <a:rPr sz="1250" i="1" spc="-10" dirty="0">
                <a:latin typeface="Times New Roman"/>
                <a:cs typeface="Times New Roman"/>
              </a:rPr>
              <a:t>R</a:t>
            </a:r>
            <a:r>
              <a:rPr sz="1250" spc="-10" dirty="0">
                <a:latin typeface="Symbol"/>
                <a:cs typeface="Symbol"/>
              </a:rPr>
              <a:t></a:t>
            </a:r>
            <a:r>
              <a:rPr sz="1250" spc="-10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90800" y="3303270"/>
            <a:ext cx="1931670" cy="659130"/>
          </a:xfrm>
          <a:custGeom>
            <a:avLst/>
            <a:gdLst/>
            <a:ahLst/>
            <a:cxnLst/>
            <a:rect l="l" t="t" r="r" b="b"/>
            <a:pathLst>
              <a:path w="1931670" h="659129">
                <a:moveTo>
                  <a:pt x="317754" y="201929"/>
                </a:moveTo>
                <a:lnTo>
                  <a:pt x="244968" y="203951"/>
                </a:lnTo>
                <a:lnTo>
                  <a:pt x="178114" y="209705"/>
                </a:lnTo>
                <a:lnTo>
                  <a:pt x="119111" y="218725"/>
                </a:lnTo>
                <a:lnTo>
                  <a:pt x="69879" y="230543"/>
                </a:lnTo>
                <a:lnTo>
                  <a:pt x="32337" y="244695"/>
                </a:lnTo>
                <a:lnTo>
                  <a:pt x="0" y="278129"/>
                </a:lnTo>
                <a:lnTo>
                  <a:pt x="0" y="582929"/>
                </a:lnTo>
                <a:lnTo>
                  <a:pt x="32337" y="616364"/>
                </a:lnTo>
                <a:lnTo>
                  <a:pt x="69879" y="630516"/>
                </a:lnTo>
                <a:lnTo>
                  <a:pt x="119111" y="642334"/>
                </a:lnTo>
                <a:lnTo>
                  <a:pt x="178114" y="651354"/>
                </a:lnTo>
                <a:lnTo>
                  <a:pt x="244968" y="657108"/>
                </a:lnTo>
                <a:lnTo>
                  <a:pt x="317754" y="659129"/>
                </a:lnTo>
                <a:lnTo>
                  <a:pt x="1587245" y="659129"/>
                </a:lnTo>
                <a:lnTo>
                  <a:pt x="1660031" y="657108"/>
                </a:lnTo>
                <a:lnTo>
                  <a:pt x="1726885" y="651354"/>
                </a:lnTo>
                <a:lnTo>
                  <a:pt x="1785888" y="642334"/>
                </a:lnTo>
                <a:lnTo>
                  <a:pt x="1835120" y="630516"/>
                </a:lnTo>
                <a:lnTo>
                  <a:pt x="1872662" y="616364"/>
                </a:lnTo>
                <a:lnTo>
                  <a:pt x="1904999" y="582929"/>
                </a:lnTo>
                <a:lnTo>
                  <a:pt x="1904999" y="278129"/>
                </a:lnTo>
                <a:lnTo>
                  <a:pt x="1872662" y="244695"/>
                </a:lnTo>
                <a:lnTo>
                  <a:pt x="1835120" y="230543"/>
                </a:lnTo>
                <a:lnTo>
                  <a:pt x="1785888" y="218725"/>
                </a:lnTo>
                <a:lnTo>
                  <a:pt x="1726885" y="209705"/>
                </a:lnTo>
                <a:lnTo>
                  <a:pt x="1660031" y="203951"/>
                </a:lnTo>
                <a:lnTo>
                  <a:pt x="1587245" y="201929"/>
                </a:lnTo>
                <a:lnTo>
                  <a:pt x="1931670" y="0"/>
                </a:lnTo>
                <a:lnTo>
                  <a:pt x="1110995" y="201929"/>
                </a:lnTo>
                <a:lnTo>
                  <a:pt x="317754" y="201929"/>
                </a:lnTo>
                <a:close/>
              </a:path>
            </a:pathLst>
          </a:custGeom>
          <a:ln w="9525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57398" y="3502405"/>
            <a:ext cx="9715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 marR="5080" indent="-25400">
              <a:lnSpc>
                <a:spcPct val="100000"/>
              </a:lnSpc>
              <a:spcBef>
                <a:spcPts val="95"/>
              </a:spcBef>
            </a:pPr>
            <a:r>
              <a:rPr sz="1400" i="1" dirty="0">
                <a:latin typeface="Arial"/>
                <a:cs typeface="Arial"/>
              </a:rPr>
              <a:t>R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#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spc="-10" dirty="0">
                <a:latin typeface="Arial"/>
                <a:cs typeface="Arial"/>
              </a:rPr>
              <a:t>replications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24450" y="2984754"/>
            <a:ext cx="1962150" cy="977900"/>
          </a:xfrm>
          <a:custGeom>
            <a:avLst/>
            <a:gdLst/>
            <a:ahLst/>
            <a:cxnLst/>
            <a:rect l="l" t="t" r="r" b="b"/>
            <a:pathLst>
              <a:path w="1962150" h="977900">
                <a:moveTo>
                  <a:pt x="374903" y="520446"/>
                </a:moveTo>
                <a:lnTo>
                  <a:pt x="302118" y="522467"/>
                </a:lnTo>
                <a:lnTo>
                  <a:pt x="235264" y="528221"/>
                </a:lnTo>
                <a:lnTo>
                  <a:pt x="176261" y="537241"/>
                </a:lnTo>
                <a:lnTo>
                  <a:pt x="127029" y="549059"/>
                </a:lnTo>
                <a:lnTo>
                  <a:pt x="89487" y="563211"/>
                </a:lnTo>
                <a:lnTo>
                  <a:pt x="57150" y="596646"/>
                </a:lnTo>
                <a:lnTo>
                  <a:pt x="57150" y="901446"/>
                </a:lnTo>
                <a:lnTo>
                  <a:pt x="89487" y="934880"/>
                </a:lnTo>
                <a:lnTo>
                  <a:pt x="127029" y="949032"/>
                </a:lnTo>
                <a:lnTo>
                  <a:pt x="176261" y="960850"/>
                </a:lnTo>
                <a:lnTo>
                  <a:pt x="235264" y="969870"/>
                </a:lnTo>
                <a:lnTo>
                  <a:pt x="302118" y="975624"/>
                </a:lnTo>
                <a:lnTo>
                  <a:pt x="374903" y="977646"/>
                </a:lnTo>
                <a:lnTo>
                  <a:pt x="1644396" y="977645"/>
                </a:lnTo>
                <a:lnTo>
                  <a:pt x="1717181" y="975624"/>
                </a:lnTo>
                <a:lnTo>
                  <a:pt x="1784035" y="969870"/>
                </a:lnTo>
                <a:lnTo>
                  <a:pt x="1843038" y="960850"/>
                </a:lnTo>
                <a:lnTo>
                  <a:pt x="1892270" y="949032"/>
                </a:lnTo>
                <a:lnTo>
                  <a:pt x="1929812" y="934880"/>
                </a:lnTo>
                <a:lnTo>
                  <a:pt x="1962150" y="901445"/>
                </a:lnTo>
                <a:lnTo>
                  <a:pt x="1962150" y="596645"/>
                </a:lnTo>
                <a:lnTo>
                  <a:pt x="1929812" y="563211"/>
                </a:lnTo>
                <a:lnTo>
                  <a:pt x="1892270" y="549059"/>
                </a:lnTo>
                <a:lnTo>
                  <a:pt x="1843038" y="537241"/>
                </a:lnTo>
                <a:lnTo>
                  <a:pt x="1784035" y="528221"/>
                </a:lnTo>
                <a:lnTo>
                  <a:pt x="1717181" y="522467"/>
                </a:lnTo>
                <a:lnTo>
                  <a:pt x="1644396" y="520445"/>
                </a:lnTo>
                <a:lnTo>
                  <a:pt x="851153" y="520445"/>
                </a:lnTo>
                <a:lnTo>
                  <a:pt x="0" y="0"/>
                </a:lnTo>
                <a:lnTo>
                  <a:pt x="374903" y="520446"/>
                </a:lnTo>
                <a:close/>
              </a:path>
            </a:pathLst>
          </a:custGeom>
          <a:ln w="9525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57444" y="3502405"/>
            <a:ext cx="13538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1630" marR="30480" indent="-304165">
              <a:lnSpc>
                <a:spcPct val="100000"/>
              </a:lnSpc>
              <a:spcBef>
                <a:spcPts val="95"/>
              </a:spcBef>
            </a:pPr>
            <a:r>
              <a:rPr sz="1400" i="1" dirty="0">
                <a:latin typeface="Arial"/>
                <a:cs typeface="Arial"/>
              </a:rPr>
              <a:t>S</a:t>
            </a:r>
            <a:r>
              <a:rPr sz="1350" i="1" baseline="24691" dirty="0">
                <a:latin typeface="Arial"/>
                <a:cs typeface="Arial"/>
              </a:rPr>
              <a:t>2</a:t>
            </a:r>
            <a:r>
              <a:rPr sz="1350" i="1" spc="187" baseline="24691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sample variance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29228" y="5445252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14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54552" y="5410200"/>
            <a:ext cx="0" cy="468630"/>
          </a:xfrm>
          <a:custGeom>
            <a:avLst/>
            <a:gdLst/>
            <a:ahLst/>
            <a:cxnLst/>
            <a:rect l="l" t="t" r="r" b="b"/>
            <a:pathLst>
              <a:path h="468629">
                <a:moveTo>
                  <a:pt x="0" y="0"/>
                </a:moveTo>
                <a:lnTo>
                  <a:pt x="0" y="468629"/>
                </a:lnTo>
              </a:path>
            </a:pathLst>
          </a:custGeom>
          <a:ln w="14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2271" y="5410200"/>
            <a:ext cx="0" cy="468630"/>
          </a:xfrm>
          <a:custGeom>
            <a:avLst/>
            <a:gdLst/>
            <a:ahLst/>
            <a:cxnLst/>
            <a:rect l="l" t="t" r="r" b="b"/>
            <a:pathLst>
              <a:path h="468629">
                <a:moveTo>
                  <a:pt x="0" y="0"/>
                </a:moveTo>
                <a:lnTo>
                  <a:pt x="0" y="468629"/>
                </a:lnTo>
              </a:path>
            </a:pathLst>
          </a:custGeom>
          <a:ln w="14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17873" y="5603760"/>
            <a:ext cx="12446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Times New Roman"/>
                <a:cs typeface="Times New Roman"/>
              </a:rPr>
              <a:t>..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3325616" y="5137210"/>
            <a:ext cx="2696845" cy="721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85165" algn="l"/>
                <a:tab pos="1235075" algn="l"/>
              </a:tabLst>
            </a:pPr>
            <a:r>
              <a:rPr sz="2650" i="1" spc="-25" dirty="0">
                <a:latin typeface="Times New Roman"/>
                <a:cs typeface="Times New Roman"/>
              </a:rPr>
              <a:t>P</a:t>
            </a:r>
            <a:r>
              <a:rPr sz="4550" spc="-25" dirty="0">
                <a:latin typeface="Symbol"/>
                <a:cs typeface="Symbol"/>
              </a:rPr>
              <a:t></a:t>
            </a:r>
            <a:r>
              <a:rPr sz="2650" i="1" spc="-25" dirty="0">
                <a:latin typeface="Times New Roman"/>
                <a:cs typeface="Times New Roman"/>
              </a:rPr>
              <a:t>Y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35" dirty="0">
                <a:latin typeface="Symbol"/>
                <a:cs typeface="Symbol"/>
              </a:rPr>
              <a:t></a:t>
            </a:r>
            <a:r>
              <a:rPr sz="2800" i="1" spc="35" dirty="0">
                <a:latin typeface="Symbol"/>
                <a:cs typeface="Symbol"/>
              </a:rPr>
              <a:t>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650" dirty="0">
                <a:latin typeface="Symbol"/>
                <a:cs typeface="Symbol"/>
              </a:rPr>
              <a:t></a:t>
            </a:r>
            <a:r>
              <a:rPr sz="2650" spc="-170" dirty="0">
                <a:latin typeface="Times New Roman"/>
                <a:cs typeface="Times New Roman"/>
              </a:rPr>
              <a:t> </a:t>
            </a:r>
            <a:r>
              <a:rPr sz="2800" i="1" spc="-70" dirty="0">
                <a:latin typeface="Symbol"/>
                <a:cs typeface="Symbol"/>
              </a:rPr>
              <a:t></a:t>
            </a:r>
            <a:r>
              <a:rPr sz="2800" spc="-245" dirty="0">
                <a:latin typeface="Times New Roman"/>
                <a:cs typeface="Times New Roman"/>
              </a:rPr>
              <a:t> </a:t>
            </a:r>
            <a:r>
              <a:rPr sz="4550" spc="-220" dirty="0">
                <a:latin typeface="Symbol"/>
                <a:cs typeface="Symbol"/>
              </a:rPr>
              <a:t></a:t>
            </a:r>
            <a:r>
              <a:rPr sz="2650" spc="-220" dirty="0">
                <a:latin typeface="Symbol"/>
                <a:cs typeface="Symbol"/>
              </a:rPr>
              <a:t></a:t>
            </a:r>
            <a:r>
              <a:rPr sz="2650" spc="-330" dirty="0">
                <a:latin typeface="Times New Roman"/>
                <a:cs typeface="Times New Roman"/>
              </a:rPr>
              <a:t> </a:t>
            </a:r>
            <a:r>
              <a:rPr sz="2650" spc="100" dirty="0">
                <a:latin typeface="Times New Roman"/>
                <a:cs typeface="Times New Roman"/>
              </a:rPr>
              <a:t>1</a:t>
            </a:r>
            <a:r>
              <a:rPr sz="2650" spc="100" dirty="0">
                <a:latin typeface="Symbol"/>
                <a:cs typeface="Symbol"/>
              </a:rPr>
              <a:t></a:t>
            </a:r>
            <a:r>
              <a:rPr sz="2650" spc="-415" dirty="0">
                <a:latin typeface="Times New Roman"/>
                <a:cs typeface="Times New Roman"/>
              </a:rPr>
              <a:t> </a:t>
            </a:r>
            <a:r>
              <a:rPr sz="2800" i="1" spc="-50" dirty="0">
                <a:latin typeface="Symbol"/>
                <a:cs typeface="Symbol"/>
              </a:rPr>
              <a:t>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5057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C.I.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0" dirty="0"/>
              <a:t> </a:t>
            </a:r>
            <a:r>
              <a:rPr sz="3200" dirty="0"/>
              <a:t>Specified</a:t>
            </a:r>
            <a:r>
              <a:rPr sz="3200" spc="-25" dirty="0"/>
              <a:t> </a:t>
            </a:r>
            <a:r>
              <a:rPr sz="3200" spc="-10" dirty="0"/>
              <a:t>Precision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55802" y="1351280"/>
            <a:ext cx="7804784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28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 marL="393065" marR="689610" indent="-342900">
              <a:lnSpc>
                <a:spcPct val="100000"/>
              </a:lnSpc>
              <a:spcBef>
                <a:spcPts val="1920"/>
              </a:spcBef>
              <a:buClr>
                <a:srgbClr val="00007C"/>
              </a:buClr>
              <a:buSzPct val="77272"/>
              <a:buChar char="■"/>
              <a:tabLst>
                <a:tab pos="393065" algn="l"/>
              </a:tabLst>
            </a:pPr>
            <a:r>
              <a:rPr sz="2200" dirty="0">
                <a:latin typeface="Arial"/>
                <a:cs typeface="Arial"/>
              </a:rPr>
              <a:t>Assume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that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initial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sample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size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R</a:t>
            </a:r>
            <a:r>
              <a:rPr sz="2250" i="1" baseline="-22222" dirty="0">
                <a:latin typeface="Arial"/>
                <a:cs typeface="Arial"/>
              </a:rPr>
              <a:t>0</a:t>
            </a:r>
            <a:r>
              <a:rPr sz="2250" i="1" spc="247" baseline="-22222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(independent) </a:t>
            </a:r>
            <a:r>
              <a:rPr sz="2200" dirty="0">
                <a:latin typeface="Arial"/>
                <a:cs typeface="Arial"/>
              </a:rPr>
              <a:t>replications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has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been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observed.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2654397"/>
            <a:ext cx="766889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25"/>
              </a:spcBef>
              <a:buClr>
                <a:srgbClr val="00007C"/>
              </a:buClr>
              <a:buSzPct val="77272"/>
              <a:buChar char="■"/>
              <a:tabLst>
                <a:tab pos="380365" algn="l"/>
              </a:tabLst>
            </a:pPr>
            <a:r>
              <a:rPr sz="2200" dirty="0">
                <a:latin typeface="Arial"/>
                <a:cs typeface="Arial"/>
              </a:rPr>
              <a:t>Obtain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initial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estimate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S</a:t>
            </a:r>
            <a:r>
              <a:rPr sz="2200" i="1" spc="175" dirty="0">
                <a:latin typeface="Arial"/>
                <a:cs typeface="Arial"/>
              </a:rPr>
              <a:t> </a:t>
            </a:r>
            <a:r>
              <a:rPr sz="2250" i="1" baseline="33333" dirty="0">
                <a:latin typeface="Arial"/>
                <a:cs typeface="Arial"/>
              </a:rPr>
              <a:t>2</a:t>
            </a:r>
            <a:r>
              <a:rPr sz="2250" i="1" spc="240" baseline="33333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population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variance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300" i="1" spc="-25" dirty="0">
                <a:latin typeface="Symbol"/>
                <a:cs typeface="Symbol"/>
              </a:rPr>
              <a:t></a:t>
            </a:r>
            <a:r>
              <a:rPr sz="2250" i="1" spc="-37" baseline="25925" dirty="0">
                <a:latin typeface="Arial"/>
                <a:cs typeface="Arial"/>
              </a:rPr>
              <a:t>2</a:t>
            </a:r>
            <a:r>
              <a:rPr sz="2200" spc="-25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8502" y="2860802"/>
            <a:ext cx="6149975" cy="97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0330" algn="ctr">
              <a:lnSpc>
                <a:spcPts val="176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  <a:p>
            <a:pPr marL="380365" indent="-342265">
              <a:lnSpc>
                <a:spcPts val="2840"/>
              </a:lnSpc>
              <a:buClr>
                <a:srgbClr val="00007C"/>
              </a:buClr>
              <a:buSzPct val="77272"/>
              <a:buChar char="■"/>
              <a:tabLst>
                <a:tab pos="380365" algn="l"/>
              </a:tabLst>
            </a:pPr>
            <a:r>
              <a:rPr sz="2200" dirty="0">
                <a:latin typeface="Arial"/>
                <a:cs typeface="Arial"/>
              </a:rPr>
              <a:t>Then,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choose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sample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size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R</a:t>
            </a:r>
            <a:r>
              <a:rPr sz="2200" i="1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such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that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R</a:t>
            </a:r>
            <a:r>
              <a:rPr sz="22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200" i="1" spc="-25" dirty="0">
                <a:latin typeface="Arial"/>
                <a:cs typeface="Arial"/>
              </a:rPr>
              <a:t>R</a:t>
            </a:r>
            <a:r>
              <a:rPr sz="2250" i="1" spc="-37" baseline="-22222" dirty="0">
                <a:latin typeface="Arial"/>
                <a:cs typeface="Arial"/>
              </a:rPr>
              <a:t>0</a:t>
            </a:r>
            <a:r>
              <a:rPr sz="2200" i="1" spc="-25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495300">
              <a:lnSpc>
                <a:spcPct val="100000"/>
              </a:lnSpc>
              <a:spcBef>
                <a:spcPts val="475"/>
              </a:spcBef>
            </a:pPr>
            <a:r>
              <a:rPr sz="1600" spc="459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1600" spc="330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Symbol"/>
                <a:cs typeface="Symbol"/>
              </a:rPr>
              <a:t></a:t>
            </a:r>
            <a:r>
              <a:rPr sz="1950" baseline="-21367" dirty="0">
                <a:latin typeface="Arial"/>
                <a:cs typeface="Arial"/>
              </a:rPr>
              <a:t>/2,</a:t>
            </a:r>
            <a:r>
              <a:rPr sz="1950" spc="-30" baseline="-21367" dirty="0">
                <a:latin typeface="Arial"/>
                <a:cs typeface="Arial"/>
              </a:rPr>
              <a:t> </a:t>
            </a:r>
            <a:r>
              <a:rPr sz="1950" spc="-15" baseline="-21367" dirty="0">
                <a:latin typeface="Arial"/>
                <a:cs typeface="Arial"/>
              </a:rPr>
              <a:t>R-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4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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z</a:t>
            </a:r>
            <a:r>
              <a:rPr sz="1950" baseline="-21367" dirty="0">
                <a:latin typeface="Symbol"/>
                <a:cs typeface="Symbol"/>
              </a:rPr>
              <a:t></a:t>
            </a:r>
            <a:r>
              <a:rPr sz="1950" baseline="-21367" dirty="0">
                <a:latin typeface="Arial"/>
                <a:cs typeface="Arial"/>
              </a:rPr>
              <a:t>/2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R: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8502" y="4543471"/>
            <a:ext cx="6005830" cy="78486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781685" indent="-286385">
              <a:lnSpc>
                <a:spcPct val="100000"/>
              </a:lnSpc>
              <a:spcBef>
                <a:spcPts val="545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781685" algn="l"/>
              </a:tabLst>
            </a:pPr>
            <a:r>
              <a:rPr sz="2000" i="1" dirty="0">
                <a:latin typeface="Arial"/>
                <a:cs typeface="Arial"/>
              </a:rPr>
              <a:t>R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smallest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integer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satisfying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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R</a:t>
            </a:r>
            <a:r>
              <a:rPr sz="1950" i="1" baseline="-21367" dirty="0">
                <a:latin typeface="Arial"/>
                <a:cs typeface="Arial"/>
              </a:rPr>
              <a:t>0</a:t>
            </a:r>
            <a:r>
              <a:rPr sz="1950" i="1" spc="97" baseline="-21367" dirty="0">
                <a:latin typeface="Arial"/>
                <a:cs typeface="Arial"/>
              </a:rPr>
              <a:t>  </a:t>
            </a:r>
            <a:r>
              <a:rPr sz="2000" spc="-25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380365" indent="-342265">
              <a:lnSpc>
                <a:spcPct val="100000"/>
              </a:lnSpc>
              <a:spcBef>
                <a:spcPts val="490"/>
              </a:spcBef>
              <a:buClr>
                <a:srgbClr val="00007C"/>
              </a:buClr>
              <a:buSzPct val="77272"/>
              <a:buChar char="■"/>
              <a:tabLst>
                <a:tab pos="380365" algn="l"/>
              </a:tabLst>
            </a:pPr>
            <a:r>
              <a:rPr sz="2200" dirty="0">
                <a:latin typeface="Arial"/>
                <a:cs typeface="Arial"/>
              </a:rPr>
              <a:t>Collect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R</a:t>
            </a:r>
            <a:r>
              <a:rPr sz="2200" i="1" spc="-2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-</a:t>
            </a:r>
            <a:r>
              <a:rPr sz="2200" i="1" spc="-1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R</a:t>
            </a:r>
            <a:r>
              <a:rPr sz="2250" i="1" baseline="-22222" dirty="0">
                <a:latin typeface="Arial"/>
                <a:cs typeface="Arial"/>
              </a:rPr>
              <a:t>0</a:t>
            </a:r>
            <a:r>
              <a:rPr sz="2250" i="1" spc="262" baseline="-22222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additional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observations.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902" y="5356449"/>
            <a:ext cx="3474720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Clr>
                <a:srgbClr val="00007C"/>
              </a:buClr>
              <a:buSzPct val="77272"/>
              <a:buChar char="■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The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i="1" spc="-20" dirty="0">
                <a:latin typeface="Arial"/>
                <a:cs typeface="Arial"/>
              </a:rPr>
              <a:t>100(1-</a:t>
            </a:r>
            <a:r>
              <a:rPr sz="2300" i="1" dirty="0">
                <a:latin typeface="Symbol"/>
                <a:cs typeface="Symbol"/>
              </a:rPr>
              <a:t></a:t>
            </a:r>
            <a:r>
              <a:rPr sz="2200" i="1" dirty="0">
                <a:latin typeface="Arial"/>
                <a:cs typeface="Arial"/>
              </a:rPr>
              <a:t>)%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C.I.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300" i="1" spc="-25" dirty="0">
                <a:latin typeface="Symbol"/>
                <a:cs typeface="Symbol"/>
              </a:rPr>
              <a:t></a:t>
            </a:r>
            <a:r>
              <a:rPr sz="2200" spc="-25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7344" y="3957094"/>
            <a:ext cx="403796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00" i="1" spc="-40" dirty="0">
                <a:latin typeface="Times New Roman"/>
                <a:cs typeface="Times New Roman"/>
              </a:rPr>
              <a:t>z</a:t>
            </a:r>
            <a:r>
              <a:rPr sz="1875" i="1" spc="-60" baseline="-22222" dirty="0">
                <a:latin typeface="Symbol"/>
                <a:cs typeface="Symbol"/>
              </a:rPr>
              <a:t></a:t>
            </a:r>
            <a:r>
              <a:rPr sz="1875" spc="-44" baseline="-22222" dirty="0">
                <a:latin typeface="Times New Roman"/>
                <a:cs typeface="Times New Roman"/>
              </a:rPr>
              <a:t> </a:t>
            </a:r>
            <a:r>
              <a:rPr sz="1725" baseline="-24154" dirty="0">
                <a:latin typeface="Times New Roman"/>
                <a:cs typeface="Times New Roman"/>
              </a:rPr>
              <a:t>/</a:t>
            </a:r>
            <a:r>
              <a:rPr sz="1725" spc="-142" baseline="-24154" dirty="0">
                <a:latin typeface="Times New Roman"/>
                <a:cs typeface="Times New Roman"/>
              </a:rPr>
              <a:t> </a:t>
            </a:r>
            <a:r>
              <a:rPr sz="1725" baseline="-24154" dirty="0">
                <a:latin typeface="Times New Roman"/>
                <a:cs typeface="Times New Roman"/>
              </a:rPr>
              <a:t>2</a:t>
            </a:r>
            <a:r>
              <a:rPr sz="1725" spc="427" baseline="-241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normal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distribution.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9773" y="4142883"/>
            <a:ext cx="13843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i="1" spc="-50" dirty="0">
                <a:latin typeface="Symbol"/>
                <a:cs typeface="Symbol"/>
              </a:rPr>
              <a:t>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1343" y="3638580"/>
            <a:ext cx="544830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20675" algn="l"/>
              </a:tabLst>
            </a:pPr>
            <a:r>
              <a:rPr sz="3000" i="1" spc="-75" baseline="-33333" dirty="0">
                <a:latin typeface="Times New Roman"/>
                <a:cs typeface="Times New Roman"/>
              </a:rPr>
              <a:t>S</a:t>
            </a:r>
            <a:r>
              <a:rPr sz="3000" i="1" baseline="-33333" dirty="0">
                <a:latin typeface="Times New Roman"/>
                <a:cs typeface="Times New Roman"/>
              </a:rPr>
              <a:t>	</a:t>
            </a:r>
            <a:r>
              <a:rPr sz="3000" spc="37" baseline="-37500" dirty="0">
                <a:latin typeface="Symbol"/>
                <a:cs typeface="Symbol"/>
              </a:rPr>
              <a:t></a:t>
            </a:r>
            <a:r>
              <a:rPr sz="1150" spc="25" dirty="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93428" y="4188720"/>
            <a:ext cx="950594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38200" algn="l"/>
              </a:tabLst>
            </a:pPr>
            <a:r>
              <a:rPr sz="2000" spc="-50" dirty="0">
                <a:latin typeface="Symbol"/>
                <a:cs typeface="Symbol"/>
              </a:rPr>
              <a:t>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Symbol"/>
                <a:cs typeface="Symbol"/>
              </a:rPr>
              <a:t>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3428" y="3794014"/>
            <a:ext cx="287020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baseline="-4166" dirty="0">
                <a:latin typeface="Symbol"/>
                <a:cs typeface="Symbol"/>
              </a:rPr>
              <a:t></a:t>
            </a:r>
            <a:r>
              <a:rPr sz="3000" baseline="-4166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8081" y="3858027"/>
            <a:ext cx="158686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128395" algn="l"/>
              </a:tabLst>
            </a:pPr>
            <a:r>
              <a:rPr sz="3000" i="1" baseline="-22222" dirty="0">
                <a:latin typeface="Times New Roman"/>
                <a:cs typeface="Times New Roman"/>
              </a:rPr>
              <a:t>R</a:t>
            </a:r>
            <a:r>
              <a:rPr sz="3000" i="1" spc="-44" baseline="-22222" dirty="0">
                <a:latin typeface="Times New Roman"/>
                <a:cs typeface="Times New Roman"/>
              </a:rPr>
              <a:t> </a:t>
            </a:r>
            <a:r>
              <a:rPr sz="3000" baseline="-22222" dirty="0">
                <a:latin typeface="Symbol"/>
                <a:cs typeface="Symbol"/>
              </a:rPr>
              <a:t></a:t>
            </a:r>
            <a:r>
              <a:rPr sz="3000" spc="-142" baseline="-22222" dirty="0">
                <a:latin typeface="Times New Roman"/>
                <a:cs typeface="Times New Roman"/>
              </a:rPr>
              <a:t> </a:t>
            </a:r>
            <a:r>
              <a:rPr sz="3000" baseline="-26388" dirty="0">
                <a:latin typeface="Symbol"/>
                <a:cs typeface="Symbol"/>
              </a:rPr>
              <a:t></a:t>
            </a:r>
            <a:r>
              <a:rPr sz="3000" spc="-352" baseline="-26388" dirty="0">
                <a:latin typeface="Times New Roman"/>
                <a:cs typeface="Times New Roman"/>
              </a:rPr>
              <a:t> </a:t>
            </a:r>
            <a:r>
              <a:rPr sz="1250" i="1" u="sng" spc="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50" i="1" u="sng" spc="-5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</a:t>
            </a:r>
            <a:r>
              <a:rPr sz="125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/</a:t>
            </a:r>
            <a:r>
              <a:rPr sz="1150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0</a:t>
            </a:r>
            <a:r>
              <a:rPr sz="115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3000" baseline="-26388" dirty="0">
                <a:latin typeface="Symbol"/>
                <a:cs typeface="Symbol"/>
              </a:rPr>
              <a:t></a:t>
            </a:r>
            <a:r>
              <a:rPr sz="3000" spc="577" baseline="-26388" dirty="0">
                <a:latin typeface="Times New Roman"/>
                <a:cs typeface="Times New Roman"/>
              </a:rPr>
              <a:t> </a:t>
            </a:r>
            <a:r>
              <a:rPr sz="3000" spc="-75" baseline="-22222" dirty="0">
                <a:latin typeface="Times New Roman"/>
                <a:cs typeface="Times New Roman"/>
              </a:rPr>
              <a:t>,</a:t>
            </a:r>
            <a:endParaRPr sz="3000" baseline="-22222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51242" y="4774691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4">
                <a:moveTo>
                  <a:pt x="0" y="0"/>
                </a:moveTo>
                <a:lnTo>
                  <a:pt x="870203" y="0"/>
                </a:lnTo>
              </a:path>
            </a:pathLst>
          </a:custGeom>
          <a:ln w="102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645143" y="4352935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39986" y="4574785"/>
            <a:ext cx="120650" cy="569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45"/>
              </a:lnSpc>
              <a:spcBef>
                <a:spcPts val="90"/>
              </a:spcBef>
            </a:pPr>
            <a:r>
              <a:rPr sz="1950" spc="-50" dirty="0">
                <a:latin typeface="Symbol"/>
                <a:cs typeface="Symbol"/>
              </a:rPr>
              <a:t></a:t>
            </a:r>
            <a:endParaRPr sz="1950">
              <a:latin typeface="Symbol"/>
              <a:cs typeface="Symbol"/>
            </a:endParaRPr>
          </a:p>
          <a:p>
            <a:pPr marL="12700">
              <a:lnSpc>
                <a:spcPts val="2145"/>
              </a:lnSpc>
            </a:pPr>
            <a:r>
              <a:rPr sz="1950" spc="-50" dirty="0">
                <a:latin typeface="Symbol"/>
                <a:cs typeface="Symbol"/>
              </a:rPr>
              <a:t>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00492" y="4755819"/>
            <a:ext cx="13398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spc="-50" dirty="0">
                <a:latin typeface="Symbol"/>
                <a:cs typeface="Symbol"/>
              </a:rPr>
              <a:t>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8868" y="4577058"/>
            <a:ext cx="513080" cy="567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90"/>
              </a:spcBef>
            </a:pPr>
            <a:r>
              <a:rPr sz="1950" i="1" dirty="0">
                <a:latin typeface="Times New Roman"/>
                <a:cs typeface="Times New Roman"/>
              </a:rPr>
              <a:t>R</a:t>
            </a:r>
            <a:r>
              <a:rPr sz="1950" i="1" spc="-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</a:t>
            </a:r>
            <a:r>
              <a:rPr sz="1950" spc="-114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Symbol"/>
                <a:cs typeface="Symbol"/>
              </a:rPr>
              <a:t></a:t>
            </a:r>
            <a:endParaRPr sz="1950">
              <a:latin typeface="Symbol"/>
              <a:cs typeface="Symbol"/>
            </a:endParaRPr>
          </a:p>
          <a:p>
            <a:pPr marR="5080" algn="r">
              <a:lnSpc>
                <a:spcPts val="2135"/>
              </a:lnSpc>
            </a:pPr>
            <a:r>
              <a:rPr sz="1950" spc="-50" dirty="0">
                <a:latin typeface="Symbol"/>
                <a:cs typeface="Symbol"/>
              </a:rPr>
              <a:t>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85895" y="4460475"/>
            <a:ext cx="120015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925" spc="-15" baseline="9971" dirty="0">
                <a:latin typeface="Symbol"/>
                <a:cs typeface="Symbol"/>
              </a:rPr>
              <a:t></a:t>
            </a:r>
            <a:r>
              <a:rPr sz="2925" spc="-127" baseline="9971" dirty="0">
                <a:latin typeface="Times New Roman"/>
                <a:cs typeface="Times New Roman"/>
              </a:rPr>
              <a:t> </a:t>
            </a:r>
            <a:r>
              <a:rPr sz="2925" i="1" spc="-60" baseline="14245" dirty="0">
                <a:latin typeface="Times New Roman"/>
                <a:cs typeface="Times New Roman"/>
              </a:rPr>
              <a:t>t</a:t>
            </a:r>
            <a:r>
              <a:rPr sz="1200" i="1" spc="-40" dirty="0">
                <a:latin typeface="Symbol"/>
                <a:cs typeface="Symbol"/>
              </a:rPr>
              <a:t>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2,</a:t>
            </a:r>
            <a:r>
              <a:rPr sz="1100" i="1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Symbol"/>
                <a:cs typeface="Symbol"/>
              </a:rPr>
              <a:t>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2925" i="1" baseline="14245" dirty="0">
                <a:latin typeface="Times New Roman"/>
                <a:cs typeface="Times New Roman"/>
              </a:rPr>
              <a:t>S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2925" spc="-75" baseline="9971" dirty="0">
                <a:latin typeface="Symbol"/>
                <a:cs typeface="Symbol"/>
              </a:rPr>
              <a:t></a:t>
            </a:r>
            <a:endParaRPr sz="2925" baseline="9971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63717" y="5718809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>
                <a:moveTo>
                  <a:pt x="0" y="0"/>
                </a:moveTo>
                <a:lnTo>
                  <a:pt x="149352" y="0"/>
                </a:lnTo>
              </a:path>
            </a:pathLst>
          </a:custGeom>
          <a:ln w="13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6705600" y="5886310"/>
            <a:ext cx="445134" cy="361950"/>
            <a:chOff x="6705600" y="5886310"/>
            <a:chExt cx="445134" cy="361950"/>
          </a:xfrm>
        </p:grpSpPr>
        <p:sp>
          <p:nvSpPr>
            <p:cNvPr id="22" name="object 22"/>
            <p:cNvSpPr/>
            <p:nvPr/>
          </p:nvSpPr>
          <p:spPr>
            <a:xfrm>
              <a:off x="6740651" y="6131052"/>
              <a:ext cx="35560" cy="21590"/>
            </a:xfrm>
            <a:custGeom>
              <a:avLst/>
              <a:gdLst/>
              <a:ahLst/>
              <a:cxnLst/>
              <a:rect l="l" t="t" r="r" b="b"/>
              <a:pathLst>
                <a:path w="35559" h="21589">
                  <a:moveTo>
                    <a:pt x="0" y="21336"/>
                  </a:moveTo>
                  <a:lnTo>
                    <a:pt x="35051" y="0"/>
                  </a:lnTo>
                </a:path>
              </a:pathLst>
            </a:custGeom>
            <a:ln w="1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5703" y="6138672"/>
              <a:ext cx="48895" cy="95250"/>
            </a:xfrm>
            <a:custGeom>
              <a:avLst/>
              <a:gdLst/>
              <a:ahLst/>
              <a:cxnLst/>
              <a:rect l="l" t="t" r="r" b="b"/>
              <a:pathLst>
                <a:path w="48895" h="95250">
                  <a:moveTo>
                    <a:pt x="0" y="0"/>
                  </a:moveTo>
                  <a:lnTo>
                    <a:pt x="48768" y="95250"/>
                  </a:lnTo>
                </a:path>
              </a:pathLst>
            </a:custGeom>
            <a:ln w="27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05600" y="5893308"/>
              <a:ext cx="445134" cy="340995"/>
            </a:xfrm>
            <a:custGeom>
              <a:avLst/>
              <a:gdLst/>
              <a:ahLst/>
              <a:cxnLst/>
              <a:rect l="l" t="t" r="r" b="b"/>
              <a:pathLst>
                <a:path w="445134" h="340995">
                  <a:moveTo>
                    <a:pt x="125729" y="340613"/>
                  </a:moveTo>
                  <a:lnTo>
                    <a:pt x="195833" y="48767"/>
                  </a:lnTo>
                </a:path>
                <a:path w="445134" h="340995">
                  <a:moveTo>
                    <a:pt x="195833" y="48767"/>
                  </a:moveTo>
                  <a:lnTo>
                    <a:pt x="416814" y="48767"/>
                  </a:lnTo>
                </a:path>
                <a:path w="445134" h="340995">
                  <a:moveTo>
                    <a:pt x="0" y="0"/>
                  </a:moveTo>
                  <a:lnTo>
                    <a:pt x="445007" y="0"/>
                  </a:lnTo>
                </a:path>
              </a:pathLst>
            </a:custGeom>
            <a:ln w="1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915404" y="5927090"/>
            <a:ext cx="19685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i="1" spc="-50" dirty="0">
                <a:latin typeface="Times New Roman"/>
                <a:cs typeface="Times New Roman"/>
              </a:rPr>
              <a:t>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6839215" y="5491239"/>
            <a:ext cx="16573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i="1" spc="-5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76097" y="5740400"/>
            <a:ext cx="140779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300" i="1" baseline="13888" dirty="0">
                <a:latin typeface="Times New Roman"/>
                <a:cs typeface="Times New Roman"/>
              </a:rPr>
              <a:t>Y</a:t>
            </a:r>
            <a:r>
              <a:rPr sz="1550" dirty="0">
                <a:latin typeface="Times New Roman"/>
                <a:cs typeface="Times New Roman"/>
              </a:rPr>
              <a:t>..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3300" spc="-30" baseline="13888" dirty="0">
                <a:latin typeface="Symbol"/>
                <a:cs typeface="Symbol"/>
              </a:rPr>
              <a:t></a:t>
            </a:r>
            <a:r>
              <a:rPr sz="3300" spc="-300" baseline="13888" dirty="0">
                <a:latin typeface="Times New Roman"/>
                <a:cs typeface="Times New Roman"/>
              </a:rPr>
              <a:t> </a:t>
            </a:r>
            <a:r>
              <a:rPr sz="3300" i="1" spc="-15" baseline="13888" dirty="0">
                <a:latin typeface="Times New Roman"/>
                <a:cs typeface="Times New Roman"/>
              </a:rPr>
              <a:t>t</a:t>
            </a:r>
            <a:r>
              <a:rPr sz="1600" i="1" spc="-10" dirty="0">
                <a:latin typeface="Symbol"/>
                <a:cs typeface="Symbol"/>
              </a:rPr>
              <a:t>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/</a:t>
            </a:r>
            <a:r>
              <a:rPr sz="1550" spc="-16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2,</a:t>
            </a:r>
            <a:r>
              <a:rPr sz="1550" i="1" spc="-20" dirty="0">
                <a:latin typeface="Times New Roman"/>
                <a:cs typeface="Times New Roman"/>
              </a:rPr>
              <a:t>R</a:t>
            </a: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20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860551"/>
            <a:ext cx="5057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C.I.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0" dirty="0"/>
              <a:t> </a:t>
            </a:r>
            <a:r>
              <a:rPr sz="3200" dirty="0"/>
              <a:t>Specified</a:t>
            </a:r>
            <a:r>
              <a:rPr sz="3200" spc="-25" dirty="0"/>
              <a:t> </a:t>
            </a:r>
            <a:r>
              <a:rPr sz="3200" spc="-10" dirty="0"/>
              <a:t>Precision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81202" y="1351280"/>
            <a:ext cx="8147684" cy="146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974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 marL="368300" marR="17780" indent="-343535">
              <a:lnSpc>
                <a:spcPts val="2140"/>
              </a:lnSpc>
              <a:spcBef>
                <a:spcPts val="2039"/>
              </a:spcBef>
              <a:buClr>
                <a:srgbClr val="00007C"/>
              </a:buClr>
              <a:buSzPct val="75000"/>
              <a:buChar char="■"/>
              <a:tabLst>
                <a:tab pos="368300" algn="l"/>
              </a:tabLst>
            </a:pPr>
            <a:r>
              <a:rPr sz="2000" dirty="0">
                <a:latin typeface="Arial"/>
                <a:cs typeface="Arial"/>
              </a:rPr>
              <a:t>Call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Center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agent’s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utilization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100" i="1" dirty="0">
                <a:latin typeface="Symbol"/>
                <a:cs typeface="Symbol"/>
              </a:rPr>
              <a:t>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over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first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2 </a:t>
            </a:r>
            <a:r>
              <a:rPr sz="2000" dirty="0">
                <a:latin typeface="Arial"/>
                <a:cs typeface="Arial"/>
              </a:rPr>
              <a:t>hours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workday.</a:t>
            </a:r>
            <a:endParaRPr sz="200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195"/>
              </a:spcBef>
              <a:tabLst>
                <a:tab pos="767715" algn="l"/>
              </a:tabLst>
            </a:pPr>
            <a:r>
              <a:rPr sz="1400" spc="340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1400" dirty="0">
                <a:solidFill>
                  <a:srgbClr val="9A9ACC"/>
                </a:solidFill>
                <a:latin typeface="Arial"/>
                <a:cs typeface="Arial"/>
              </a:rPr>
              <a:t>	</a:t>
            </a:r>
            <a:r>
              <a:rPr sz="1800" dirty="0">
                <a:latin typeface="Arial"/>
                <a:cs typeface="Arial"/>
              </a:rPr>
              <a:t>Initial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size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baseline="-23148" dirty="0">
                <a:latin typeface="Arial"/>
                <a:cs typeface="Arial"/>
              </a:rPr>
              <a:t>0</a:t>
            </a:r>
            <a:r>
              <a:rPr sz="1800" spc="217" baseline="-2314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4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taken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initial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estimate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1444" y="2761734"/>
            <a:ext cx="4867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population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variance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</a:t>
            </a:r>
            <a:r>
              <a:rPr sz="1800" i="1" spc="150" dirty="0">
                <a:latin typeface="Arial"/>
                <a:cs typeface="Arial"/>
              </a:rPr>
              <a:t> </a:t>
            </a:r>
            <a:r>
              <a:rPr sz="1800" i="1" baseline="32407" dirty="0">
                <a:latin typeface="Arial"/>
                <a:cs typeface="Arial"/>
              </a:rPr>
              <a:t>2</a:t>
            </a:r>
            <a:r>
              <a:rPr sz="1800" i="1" spc="-15" baseline="32407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=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(0.072)</a:t>
            </a:r>
            <a:r>
              <a:rPr sz="1800" i="1" baseline="23148" dirty="0">
                <a:latin typeface="Arial"/>
                <a:cs typeface="Arial"/>
              </a:rPr>
              <a:t>2</a:t>
            </a:r>
            <a:r>
              <a:rPr sz="1800" i="1" spc="217" baseline="23148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=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0.00518.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1102" y="2914141"/>
            <a:ext cx="7333615" cy="69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92605" algn="ctr">
              <a:lnSpc>
                <a:spcPts val="1280"/>
              </a:lnSpc>
              <a:spcBef>
                <a:spcPts val="100"/>
              </a:spcBef>
            </a:pPr>
            <a:r>
              <a:rPr sz="1200" i="1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298450" marR="5080" indent="-285750">
              <a:lnSpc>
                <a:spcPts val="1920"/>
              </a:lnSpc>
              <a:spcBef>
                <a:spcPts val="200"/>
              </a:spcBef>
              <a:buClr>
                <a:srgbClr val="9A9ACC"/>
              </a:buClr>
              <a:buSzPct val="77777"/>
              <a:buChar char="□"/>
              <a:tabLst>
                <a:tab pos="298450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error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criterion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900" i="1" dirty="0">
                <a:latin typeface="Symbol"/>
                <a:cs typeface="Symbol"/>
              </a:rPr>
              <a:t>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=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0.04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confidence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coefficient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1-</a:t>
            </a:r>
            <a:r>
              <a:rPr sz="1900" i="1" dirty="0">
                <a:latin typeface="Symbol"/>
                <a:cs typeface="Symbol"/>
              </a:rPr>
              <a:t>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=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0.95</a:t>
            </a:r>
            <a:r>
              <a:rPr sz="1800" spc="-10" dirty="0">
                <a:latin typeface="Arial"/>
                <a:cs typeface="Arial"/>
              </a:rPr>
              <a:t>, </a:t>
            </a:r>
            <a:r>
              <a:rPr sz="1800" dirty="0">
                <a:latin typeface="Arial"/>
                <a:cs typeface="Arial"/>
              </a:rPr>
              <a:t>hence,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size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least: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1102" y="4222496"/>
            <a:ext cx="285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9A9ACC"/>
              </a:buClr>
              <a:buSzPct val="77777"/>
              <a:buChar char="□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sample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size: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3002" y="5435600"/>
            <a:ext cx="7736840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285115">
              <a:lnSpc>
                <a:spcPts val="2055"/>
              </a:lnSpc>
              <a:spcBef>
                <a:spcPts val="100"/>
              </a:spcBef>
              <a:buClr>
                <a:srgbClr val="9A9ACC"/>
              </a:buClr>
              <a:buSzPct val="77777"/>
              <a:buFont typeface="Arial"/>
              <a:buChar char="□"/>
              <a:tabLst>
                <a:tab pos="335915" algn="l"/>
              </a:tabLst>
            </a:pPr>
            <a:r>
              <a:rPr sz="1800" i="1" dirty="0">
                <a:latin typeface="Arial"/>
                <a:cs typeface="Arial"/>
              </a:rPr>
              <a:t>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=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15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smallest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integer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satisfying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error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criterion,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</a:t>
            </a:r>
            <a:r>
              <a:rPr sz="1800" i="1" baseline="-23148" dirty="0">
                <a:latin typeface="Arial"/>
                <a:cs typeface="Arial"/>
              </a:rPr>
              <a:t>0</a:t>
            </a:r>
            <a:r>
              <a:rPr sz="1800" i="1" spc="232" baseline="-23148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=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11</a:t>
            </a:r>
            <a:endParaRPr sz="1800">
              <a:latin typeface="Arial"/>
              <a:cs typeface="Arial"/>
            </a:endParaRPr>
          </a:p>
          <a:p>
            <a:pPr marL="335915">
              <a:lnSpc>
                <a:spcPts val="2055"/>
              </a:lnSpc>
            </a:pPr>
            <a:r>
              <a:rPr sz="1800" dirty="0">
                <a:latin typeface="Arial"/>
                <a:cs typeface="Arial"/>
              </a:rPr>
              <a:t>additional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replications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needed.</a:t>
            </a:r>
            <a:endParaRPr sz="1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220"/>
              </a:spcBef>
              <a:buClr>
                <a:srgbClr val="9A9ACC"/>
              </a:buClr>
              <a:buSzPct val="77777"/>
              <a:buChar char="□"/>
              <a:tabLst>
                <a:tab pos="335915" algn="l"/>
              </a:tabLst>
            </a:pPr>
            <a:r>
              <a:rPr sz="1800" dirty="0">
                <a:latin typeface="Arial"/>
                <a:cs typeface="Arial"/>
              </a:rPr>
              <a:t>After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obtaining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additional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outputs,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half-</a:t>
            </a:r>
            <a:r>
              <a:rPr sz="1800" dirty="0">
                <a:latin typeface="Arial"/>
                <a:cs typeface="Arial"/>
              </a:rPr>
              <a:t>width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should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checked.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96334" y="3930396"/>
            <a:ext cx="1279525" cy="0"/>
          </a:xfrm>
          <a:custGeom>
            <a:avLst/>
            <a:gdLst/>
            <a:ahLst/>
            <a:cxnLst/>
            <a:rect l="l" t="t" r="r" b="b"/>
            <a:pathLst>
              <a:path w="1279525">
                <a:moveTo>
                  <a:pt x="0" y="0"/>
                </a:moveTo>
                <a:lnTo>
                  <a:pt x="1279398" y="0"/>
                </a:lnTo>
              </a:path>
            </a:pathLst>
          </a:custGeom>
          <a:ln w="87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18658" y="3760706"/>
            <a:ext cx="63754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Symbol"/>
                <a:cs typeface="Symbol"/>
              </a:rPr>
              <a:t></a:t>
            </a:r>
            <a:r>
              <a:rPr sz="1650" spc="-21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12.14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569721" y="3924546"/>
            <a:ext cx="51244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latin typeface="Times New Roman"/>
                <a:cs typeface="Times New Roman"/>
              </a:rPr>
              <a:t>0.04</a:t>
            </a:r>
            <a:r>
              <a:rPr sz="1425" spc="-15" baseline="43859" dirty="0">
                <a:latin typeface="Times New Roman"/>
                <a:cs typeface="Times New Roman"/>
              </a:rPr>
              <a:t>2</a:t>
            </a:r>
            <a:endParaRPr sz="1425" baseline="4385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9076" y="3628888"/>
            <a:ext cx="13608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Times New Roman"/>
                <a:cs typeface="Times New Roman"/>
              </a:rPr>
              <a:t>1.96</a:t>
            </a:r>
            <a:r>
              <a:rPr sz="1425" baseline="43859" dirty="0">
                <a:latin typeface="Times New Roman"/>
                <a:cs typeface="Times New Roman"/>
              </a:rPr>
              <a:t>2</a:t>
            </a:r>
            <a:r>
              <a:rPr sz="1425" spc="209" baseline="4385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*</a:t>
            </a:r>
            <a:r>
              <a:rPr sz="1650" spc="-24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0.00518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5048" y="3680690"/>
            <a:ext cx="114808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93775" algn="l"/>
              </a:tabLst>
            </a:pPr>
            <a:r>
              <a:rPr sz="2475" baseline="-25252" dirty="0">
                <a:latin typeface="Symbol"/>
                <a:cs typeface="Symbol"/>
              </a:rPr>
              <a:t></a:t>
            </a:r>
            <a:r>
              <a:rPr sz="2475" spc="-292" baseline="-25252" dirty="0">
                <a:latin typeface="Times New Roman"/>
                <a:cs typeface="Times New Roman"/>
              </a:rPr>
              <a:t> </a:t>
            </a:r>
            <a:r>
              <a:rPr sz="950" u="sng" spc="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0.025</a:t>
            </a:r>
            <a:r>
              <a:rPr sz="950" u="sng" spc="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2475" spc="-75" baseline="-25252" dirty="0">
                <a:latin typeface="Symbol"/>
                <a:cs typeface="Symbol"/>
              </a:rPr>
              <a:t></a:t>
            </a:r>
            <a:r>
              <a:rPr sz="2475" baseline="-25252" dirty="0">
                <a:latin typeface="Times New Roman"/>
                <a:cs typeface="Times New Roman"/>
              </a:rPr>
              <a:t>	</a:t>
            </a:r>
            <a:r>
              <a:rPr sz="2475" spc="-75" baseline="-21885" dirty="0">
                <a:latin typeface="Symbol"/>
                <a:cs typeface="Symbol"/>
              </a:rPr>
              <a:t></a:t>
            </a:r>
            <a:endParaRPr sz="2475" baseline="-21885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60448" y="3950448"/>
            <a:ext cx="84201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8665" algn="l"/>
              </a:tabLst>
            </a:pPr>
            <a:r>
              <a:rPr sz="1650" spc="-50" dirty="0">
                <a:latin typeface="Symbol"/>
                <a:cs typeface="Symbol"/>
              </a:rPr>
              <a:t>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50" dirty="0">
                <a:latin typeface="Symbol"/>
                <a:cs typeface="Symbol"/>
              </a:rPr>
              <a:t>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6394" y="3912617"/>
            <a:ext cx="11747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latin typeface="Symbol"/>
                <a:cs typeface="Symbol"/>
              </a:rPr>
              <a:t>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0252" y="3501621"/>
            <a:ext cx="45847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75" i="1" baseline="-33670" dirty="0">
                <a:latin typeface="Times New Roman"/>
                <a:cs typeface="Times New Roman"/>
              </a:rPr>
              <a:t>S</a:t>
            </a:r>
            <a:r>
              <a:rPr sz="2475" i="1" spc="120" baseline="-33670" dirty="0">
                <a:latin typeface="Times New Roman"/>
                <a:cs typeface="Times New Roman"/>
              </a:rPr>
              <a:t>  </a:t>
            </a:r>
            <a:r>
              <a:rPr sz="2475" spc="-37" baseline="-37037" dirty="0">
                <a:latin typeface="Symbol"/>
                <a:cs typeface="Symbol"/>
              </a:rPr>
              <a:t></a:t>
            </a:r>
            <a:r>
              <a:rPr sz="950" spc="-25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0448" y="3628118"/>
            <a:ext cx="23939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75" baseline="-3367" dirty="0">
                <a:latin typeface="Symbol"/>
                <a:cs typeface="Symbol"/>
              </a:rPr>
              <a:t></a:t>
            </a:r>
            <a:r>
              <a:rPr sz="2475" spc="-30" baseline="-3367" dirty="0">
                <a:latin typeface="Times New Roman"/>
                <a:cs typeface="Times New Roman"/>
              </a:rPr>
              <a:t> </a:t>
            </a:r>
            <a:r>
              <a:rPr sz="1650" i="1" spc="-50" dirty="0">
                <a:latin typeface="Times New Roman"/>
                <a:cs typeface="Times New Roman"/>
              </a:rPr>
              <a:t>z</a:t>
            </a:r>
            <a:endParaRPr sz="16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767583" y="4493895"/>
          <a:ext cx="4152900" cy="753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6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marL="330200">
                        <a:lnSpc>
                          <a:spcPts val="1475"/>
                        </a:lnSpc>
                        <a:spcBef>
                          <a:spcPts val="195"/>
                        </a:spcBef>
                      </a:pPr>
                      <a:r>
                        <a:rPr sz="2025" i="1" baseline="1234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25" i="1" spc="-195" baseline="123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0.025,</a:t>
                      </a:r>
                      <a:r>
                        <a:rPr sz="900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R-</a:t>
                      </a:r>
                      <a:r>
                        <a:rPr sz="900" i="1" spc="-5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05104">
                        <a:lnSpc>
                          <a:spcPts val="2265"/>
                        </a:lnSpc>
                      </a:pPr>
                      <a:r>
                        <a:rPr sz="3225" spc="-240" baseline="9043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2025" i="1" spc="-240" baseline="14403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000" i="1" spc="-160" dirty="0">
                          <a:latin typeface="Symbol"/>
                          <a:cs typeface="Symbol"/>
                        </a:rPr>
                        <a:t>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950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95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25" i="1" baseline="14403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95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25" spc="-15" baseline="14403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25" spc="-202" baseline="1440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spc="-67" baseline="13888" dirty="0">
                          <a:latin typeface="Symbol"/>
                          <a:cs typeface="Symbol"/>
                        </a:rPr>
                        <a:t></a:t>
                      </a:r>
                      <a:r>
                        <a:rPr sz="2100" spc="-135" baseline="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25" spc="-135" baseline="9043" dirty="0">
                          <a:latin typeface="Symbol"/>
                          <a:cs typeface="Symbol"/>
                        </a:rPr>
                        <a:t></a:t>
                      </a:r>
                      <a:r>
                        <a:rPr sz="1425" spc="-135" baseline="58479" dirty="0">
                          <a:latin typeface="Times New Roman"/>
                          <a:cs typeface="Times New Roman"/>
                        </a:rPr>
                        <a:t>2</a:t>
                      </a:r>
                      <a:endParaRPr sz="1425" baseline="58479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2.18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7114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15.39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2.16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92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15.1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0" dirty="0">
                          <a:latin typeface="Arial"/>
                          <a:cs typeface="Arial"/>
                        </a:rPr>
                        <a:t>2.14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92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14.83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Quantiles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181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1930399"/>
            <a:ext cx="7962900" cy="1767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0480" indent="-342900" algn="just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7272"/>
              <a:buChar char="■"/>
              <a:tabLst>
                <a:tab pos="381000" algn="l"/>
              </a:tabLst>
            </a:pPr>
            <a:r>
              <a:rPr sz="2200" dirty="0">
                <a:latin typeface="Arial"/>
                <a:cs typeface="Arial"/>
              </a:rPr>
              <a:t>In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this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book,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proportion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probability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treated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as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special </a:t>
            </a:r>
            <a:r>
              <a:rPr sz="2200" dirty="0">
                <a:latin typeface="Arial"/>
                <a:cs typeface="Arial"/>
              </a:rPr>
              <a:t>case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mean.</a:t>
            </a:r>
            <a:endParaRPr sz="2200">
              <a:latin typeface="Arial"/>
              <a:cs typeface="Arial"/>
            </a:endParaRPr>
          </a:p>
          <a:p>
            <a:pPr marL="381000" marR="301625" indent="-343535" algn="just">
              <a:lnSpc>
                <a:spcPct val="100000"/>
              </a:lnSpc>
              <a:spcBef>
                <a:spcPts val="525"/>
              </a:spcBef>
              <a:buClr>
                <a:srgbClr val="00007C"/>
              </a:buClr>
              <a:buSzPct val="77272"/>
              <a:buChar char="■"/>
              <a:tabLst>
                <a:tab pos="381000" algn="l"/>
              </a:tabLst>
            </a:pPr>
            <a:r>
              <a:rPr sz="2200" dirty="0">
                <a:latin typeface="Arial"/>
                <a:cs typeface="Arial"/>
              </a:rPr>
              <a:t>When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number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independent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replications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Y</a:t>
            </a:r>
            <a:r>
              <a:rPr sz="2250" i="1" baseline="-22222" dirty="0">
                <a:latin typeface="Arial"/>
                <a:cs typeface="Arial"/>
              </a:rPr>
              <a:t>1</a:t>
            </a:r>
            <a:r>
              <a:rPr sz="2200" i="1" dirty="0">
                <a:latin typeface="Arial"/>
                <a:cs typeface="Arial"/>
              </a:rPr>
              <a:t>,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…,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Y</a:t>
            </a:r>
            <a:r>
              <a:rPr sz="2250" i="1" baseline="-22222" dirty="0">
                <a:latin typeface="Arial"/>
                <a:cs typeface="Arial"/>
              </a:rPr>
              <a:t>R</a:t>
            </a:r>
            <a:r>
              <a:rPr sz="2250" i="1" spc="240" baseline="-22222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 </a:t>
            </a:r>
            <a:r>
              <a:rPr sz="2200" dirty="0">
                <a:latin typeface="Arial"/>
                <a:cs typeface="Arial"/>
              </a:rPr>
              <a:t>large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enough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that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i="1" spc="-10" dirty="0">
                <a:latin typeface="Arial"/>
                <a:cs typeface="Arial"/>
              </a:rPr>
              <a:t>t</a:t>
            </a:r>
            <a:r>
              <a:rPr sz="2325" i="1" spc="-15" baseline="-21505" dirty="0">
                <a:latin typeface="Symbol"/>
                <a:cs typeface="Symbol"/>
              </a:rPr>
              <a:t></a:t>
            </a:r>
            <a:r>
              <a:rPr sz="2250" i="1" spc="-15" baseline="-22222" dirty="0">
                <a:latin typeface="Arial"/>
                <a:cs typeface="Arial"/>
              </a:rPr>
              <a:t>/2,n-</a:t>
            </a:r>
            <a:r>
              <a:rPr sz="2250" i="1" baseline="-22222" dirty="0">
                <a:latin typeface="Arial"/>
                <a:cs typeface="Arial"/>
              </a:rPr>
              <a:t>1</a:t>
            </a:r>
            <a:r>
              <a:rPr sz="2250" i="1" spc="232" baseline="-22222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=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z</a:t>
            </a:r>
            <a:r>
              <a:rPr sz="2325" i="1" baseline="-21505" dirty="0">
                <a:latin typeface="Symbol"/>
                <a:cs typeface="Symbol"/>
              </a:rPr>
              <a:t></a:t>
            </a:r>
            <a:r>
              <a:rPr sz="2250" i="1" baseline="-22222" dirty="0">
                <a:latin typeface="Arial"/>
                <a:cs typeface="Arial"/>
              </a:rPr>
              <a:t>/2</a:t>
            </a:r>
            <a:r>
              <a:rPr sz="2200" dirty="0">
                <a:latin typeface="Arial"/>
                <a:cs typeface="Arial"/>
              </a:rPr>
              <a:t>,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confidence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interval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a </a:t>
            </a:r>
            <a:r>
              <a:rPr sz="2200" dirty="0">
                <a:latin typeface="Arial"/>
                <a:cs typeface="Arial"/>
              </a:rPr>
              <a:t>probability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</a:t>
            </a:r>
            <a:r>
              <a:rPr sz="2200" i="1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often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written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as: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902" y="5016500"/>
            <a:ext cx="759840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7272"/>
              <a:buChar char="■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quantile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inverse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probability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probability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6802" y="5351777"/>
            <a:ext cx="24669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estimation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problem: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74108" y="3806190"/>
            <a:ext cx="1259205" cy="777240"/>
            <a:chOff x="4674108" y="3806190"/>
            <a:chExt cx="1259205" cy="777240"/>
          </a:xfrm>
        </p:grpSpPr>
        <p:sp>
          <p:nvSpPr>
            <p:cNvPr id="8" name="object 8"/>
            <p:cNvSpPr/>
            <p:nvPr/>
          </p:nvSpPr>
          <p:spPr>
            <a:xfrm>
              <a:off x="4681728" y="4236720"/>
              <a:ext cx="1221105" cy="71120"/>
            </a:xfrm>
            <a:custGeom>
              <a:avLst/>
              <a:gdLst/>
              <a:ahLst/>
              <a:cxnLst/>
              <a:rect l="l" t="t" r="r" b="b"/>
              <a:pathLst>
                <a:path w="1221104" h="71120">
                  <a:moveTo>
                    <a:pt x="198882" y="0"/>
                  </a:moveTo>
                  <a:lnTo>
                    <a:pt x="1220724" y="0"/>
                  </a:lnTo>
                </a:path>
                <a:path w="1221104" h="71120">
                  <a:moveTo>
                    <a:pt x="0" y="70866"/>
                  </a:moveTo>
                  <a:lnTo>
                    <a:pt x="38100" y="48006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19828" y="4292346"/>
              <a:ext cx="53340" cy="276225"/>
            </a:xfrm>
            <a:custGeom>
              <a:avLst/>
              <a:gdLst/>
              <a:ahLst/>
              <a:cxnLst/>
              <a:rect l="l" t="t" r="r" b="b"/>
              <a:pathLst>
                <a:path w="53339" h="276225">
                  <a:moveTo>
                    <a:pt x="0" y="0"/>
                  </a:moveTo>
                  <a:lnTo>
                    <a:pt x="53339" y="275843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80788" y="3813810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79">
                  <a:moveTo>
                    <a:pt x="0" y="754380"/>
                  </a:moveTo>
                  <a:lnTo>
                    <a:pt x="76200" y="0"/>
                  </a:lnTo>
                </a:path>
                <a:path w="1152525" h="754379">
                  <a:moveTo>
                    <a:pt x="76200" y="0"/>
                  </a:moveTo>
                  <a:lnTo>
                    <a:pt x="1152144" y="0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07940" y="4235450"/>
            <a:ext cx="610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i="1" spc="-15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Symbol"/>
                <a:cs typeface="Symbol"/>
              </a:rPr>
              <a:t></a:t>
            </a:r>
            <a:r>
              <a:rPr sz="2400" spc="5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1917" y="3801109"/>
            <a:ext cx="964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20" dirty="0">
                <a:latin typeface="Times New Roman"/>
                <a:cs typeface="Times New Roman"/>
              </a:rPr>
              <a:t>p</a:t>
            </a:r>
            <a:r>
              <a:rPr sz="3600" spc="-179" baseline="3472" dirty="0">
                <a:latin typeface="Times New Roman"/>
                <a:cs typeface="Times New Roman"/>
              </a:rPr>
              <a:t>ˆ</a:t>
            </a:r>
            <a:r>
              <a:rPr sz="2400" spc="-120" dirty="0">
                <a:latin typeface="Times New Roman"/>
                <a:cs typeface="Times New Roman"/>
              </a:rPr>
              <a:t>(1</a:t>
            </a:r>
            <a:r>
              <a:rPr sz="2400" spc="-120" dirty="0">
                <a:latin typeface="Symbol"/>
                <a:cs typeface="Symbol"/>
              </a:rPr>
              <a:t>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985" dirty="0">
                <a:latin typeface="Times New Roman"/>
                <a:cs typeface="Times New Roman"/>
              </a:rPr>
              <a:t>p</a:t>
            </a:r>
            <a:r>
              <a:rPr sz="3600" spc="450" baseline="3472" dirty="0">
                <a:latin typeface="Times New Roman"/>
                <a:cs typeface="Times New Roman"/>
              </a:rPr>
              <a:t>ˆ</a:t>
            </a:r>
            <a:r>
              <a:rPr sz="2400" spc="2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5275" y="4163060"/>
            <a:ext cx="22352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dirty="0">
                <a:latin typeface="Times New Roman"/>
                <a:cs typeface="Times New Roman"/>
              </a:rPr>
              <a:t>/</a:t>
            </a:r>
            <a:r>
              <a:rPr sz="1650" spc="-16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95600" y="5867400"/>
            <a:ext cx="3581400" cy="406400"/>
          </a:xfrm>
          <a:custGeom>
            <a:avLst/>
            <a:gdLst/>
            <a:ahLst/>
            <a:cxnLst/>
            <a:rect l="l" t="t" r="r" b="b"/>
            <a:pathLst>
              <a:path w="3581400" h="406400">
                <a:moveTo>
                  <a:pt x="0" y="0"/>
                </a:moveTo>
                <a:lnTo>
                  <a:pt x="0" y="406146"/>
                </a:lnTo>
                <a:lnTo>
                  <a:pt x="3581400" y="406146"/>
                </a:lnTo>
                <a:lnTo>
                  <a:pt x="3581400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30727" y="5888275"/>
            <a:ext cx="331089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dirty="0">
                <a:latin typeface="Arial"/>
                <a:cs typeface="Arial"/>
              </a:rPr>
              <a:t>Find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100" i="1" dirty="0">
                <a:latin typeface="Symbol"/>
                <a:cs typeface="Symbol"/>
              </a:rPr>
              <a:t>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such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Pr(Y</a:t>
            </a:r>
            <a:r>
              <a:rPr sz="2000" i="1" spc="-95" dirty="0">
                <a:latin typeface="Arial"/>
                <a:cs typeface="Arial"/>
              </a:rPr>
              <a:t> </a:t>
            </a:r>
            <a:r>
              <a:rPr sz="2100" i="1" dirty="0">
                <a:latin typeface="Symbol"/>
                <a:cs typeface="Symbol"/>
              </a:rPr>
              <a:t>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i="1" dirty="0">
                <a:latin typeface="Symbol"/>
                <a:cs typeface="Symbol"/>
              </a:rPr>
              <a:t></a:t>
            </a:r>
            <a:r>
              <a:rPr sz="2000" i="1" dirty="0">
                <a:latin typeface="Arial"/>
                <a:cs typeface="Arial"/>
              </a:rPr>
              <a:t>)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spc="-60" dirty="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5102" y="5514847"/>
            <a:ext cx="8832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Arial"/>
                <a:cs typeface="Arial"/>
              </a:rPr>
              <a:t>p</a:t>
            </a:r>
            <a:r>
              <a:rPr sz="1600" i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given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00800" y="5665470"/>
            <a:ext cx="840105" cy="413384"/>
          </a:xfrm>
          <a:custGeom>
            <a:avLst/>
            <a:gdLst/>
            <a:ahLst/>
            <a:cxnLst/>
            <a:rect l="l" t="t" r="r" b="b"/>
            <a:pathLst>
              <a:path w="840104" h="413385">
                <a:moveTo>
                  <a:pt x="74821" y="370927"/>
                </a:moveTo>
                <a:lnTo>
                  <a:pt x="70103" y="337565"/>
                </a:lnTo>
                <a:lnTo>
                  <a:pt x="0" y="386333"/>
                </a:lnTo>
                <a:lnTo>
                  <a:pt x="57912" y="405455"/>
                </a:lnTo>
                <a:lnTo>
                  <a:pt x="57912" y="377951"/>
                </a:lnTo>
                <a:lnTo>
                  <a:pt x="59436" y="374141"/>
                </a:lnTo>
                <a:lnTo>
                  <a:pt x="62484" y="372617"/>
                </a:lnTo>
                <a:lnTo>
                  <a:pt x="74821" y="370927"/>
                </a:lnTo>
                <a:close/>
              </a:path>
              <a:path w="840104" h="413385">
                <a:moveTo>
                  <a:pt x="76108" y="380023"/>
                </a:moveTo>
                <a:lnTo>
                  <a:pt x="74821" y="370927"/>
                </a:lnTo>
                <a:lnTo>
                  <a:pt x="62484" y="372617"/>
                </a:lnTo>
                <a:lnTo>
                  <a:pt x="59436" y="374141"/>
                </a:lnTo>
                <a:lnTo>
                  <a:pt x="57912" y="377951"/>
                </a:lnTo>
                <a:lnTo>
                  <a:pt x="60198" y="381000"/>
                </a:lnTo>
                <a:lnTo>
                  <a:pt x="63246" y="381762"/>
                </a:lnTo>
                <a:lnTo>
                  <a:pt x="76108" y="380023"/>
                </a:lnTo>
                <a:close/>
              </a:path>
              <a:path w="840104" h="413385">
                <a:moveTo>
                  <a:pt x="80772" y="413003"/>
                </a:moveTo>
                <a:lnTo>
                  <a:pt x="76108" y="380023"/>
                </a:lnTo>
                <a:lnTo>
                  <a:pt x="63246" y="381762"/>
                </a:lnTo>
                <a:lnTo>
                  <a:pt x="60198" y="381000"/>
                </a:lnTo>
                <a:lnTo>
                  <a:pt x="57912" y="377951"/>
                </a:lnTo>
                <a:lnTo>
                  <a:pt x="57912" y="405455"/>
                </a:lnTo>
                <a:lnTo>
                  <a:pt x="80772" y="413003"/>
                </a:lnTo>
                <a:close/>
              </a:path>
              <a:path w="840104" h="413385">
                <a:moveTo>
                  <a:pt x="829055" y="182462"/>
                </a:moveTo>
                <a:lnTo>
                  <a:pt x="829055" y="128015"/>
                </a:lnTo>
                <a:lnTo>
                  <a:pt x="829015" y="159122"/>
                </a:lnTo>
                <a:lnTo>
                  <a:pt x="817321" y="185061"/>
                </a:lnTo>
                <a:lnTo>
                  <a:pt x="771143" y="223265"/>
                </a:lnTo>
                <a:lnTo>
                  <a:pt x="729776" y="242518"/>
                </a:lnTo>
                <a:lnTo>
                  <a:pt x="685275" y="258577"/>
                </a:lnTo>
                <a:lnTo>
                  <a:pt x="638875" y="272062"/>
                </a:lnTo>
                <a:lnTo>
                  <a:pt x="591811" y="283593"/>
                </a:lnTo>
                <a:lnTo>
                  <a:pt x="545319" y="293791"/>
                </a:lnTo>
                <a:lnTo>
                  <a:pt x="500633" y="303275"/>
                </a:lnTo>
                <a:lnTo>
                  <a:pt x="448330" y="313026"/>
                </a:lnTo>
                <a:lnTo>
                  <a:pt x="396044" y="322268"/>
                </a:lnTo>
                <a:lnTo>
                  <a:pt x="343666" y="330968"/>
                </a:lnTo>
                <a:lnTo>
                  <a:pt x="291083" y="339089"/>
                </a:lnTo>
                <a:lnTo>
                  <a:pt x="262889" y="343662"/>
                </a:lnTo>
                <a:lnTo>
                  <a:pt x="234695" y="347471"/>
                </a:lnTo>
                <a:lnTo>
                  <a:pt x="176783" y="355853"/>
                </a:lnTo>
                <a:lnTo>
                  <a:pt x="118109" y="364997"/>
                </a:lnTo>
                <a:lnTo>
                  <a:pt x="74821" y="370927"/>
                </a:lnTo>
                <a:lnTo>
                  <a:pt x="76108" y="380023"/>
                </a:lnTo>
                <a:lnTo>
                  <a:pt x="119633" y="374141"/>
                </a:lnTo>
                <a:lnTo>
                  <a:pt x="178307" y="365759"/>
                </a:lnTo>
                <a:lnTo>
                  <a:pt x="236219" y="357377"/>
                </a:lnTo>
                <a:lnTo>
                  <a:pt x="292607" y="348233"/>
                </a:lnTo>
                <a:lnTo>
                  <a:pt x="320801" y="344424"/>
                </a:lnTo>
                <a:lnTo>
                  <a:pt x="366377" y="336744"/>
                </a:lnTo>
                <a:lnTo>
                  <a:pt x="411946" y="328898"/>
                </a:lnTo>
                <a:lnTo>
                  <a:pt x="457472" y="320813"/>
                </a:lnTo>
                <a:lnTo>
                  <a:pt x="502919" y="312419"/>
                </a:lnTo>
                <a:lnTo>
                  <a:pt x="555296" y="301444"/>
                </a:lnTo>
                <a:lnTo>
                  <a:pt x="609066" y="289345"/>
                </a:lnTo>
                <a:lnTo>
                  <a:pt x="662784" y="275266"/>
                </a:lnTo>
                <a:lnTo>
                  <a:pt x="715005" y="258350"/>
                </a:lnTo>
                <a:lnTo>
                  <a:pt x="764285" y="237743"/>
                </a:lnTo>
                <a:lnTo>
                  <a:pt x="808426" y="208949"/>
                </a:lnTo>
                <a:lnTo>
                  <a:pt x="829055" y="182462"/>
                </a:lnTo>
                <a:close/>
              </a:path>
              <a:path w="840104" h="413385">
                <a:moveTo>
                  <a:pt x="840033" y="144969"/>
                </a:moveTo>
                <a:lnTo>
                  <a:pt x="817321" y="75040"/>
                </a:lnTo>
                <a:lnTo>
                  <a:pt x="793576" y="38829"/>
                </a:lnTo>
                <a:lnTo>
                  <a:pt x="765809" y="2285"/>
                </a:lnTo>
                <a:lnTo>
                  <a:pt x="762761" y="0"/>
                </a:lnTo>
                <a:lnTo>
                  <a:pt x="758951" y="1524"/>
                </a:lnTo>
                <a:lnTo>
                  <a:pt x="757427" y="4571"/>
                </a:lnTo>
                <a:lnTo>
                  <a:pt x="758189" y="7619"/>
                </a:lnTo>
                <a:lnTo>
                  <a:pt x="770381" y="23621"/>
                </a:lnTo>
                <a:lnTo>
                  <a:pt x="781811" y="38862"/>
                </a:lnTo>
                <a:lnTo>
                  <a:pt x="806957" y="76962"/>
                </a:lnTo>
                <a:lnTo>
                  <a:pt x="825253" y="114570"/>
                </a:lnTo>
                <a:lnTo>
                  <a:pt x="829055" y="128015"/>
                </a:lnTo>
                <a:lnTo>
                  <a:pt x="829055" y="182462"/>
                </a:lnTo>
                <a:lnTo>
                  <a:pt x="832612" y="177895"/>
                </a:lnTo>
                <a:lnTo>
                  <a:pt x="840033" y="144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52600" y="4425696"/>
            <a:ext cx="2514600" cy="527685"/>
          </a:xfrm>
          <a:custGeom>
            <a:avLst/>
            <a:gdLst/>
            <a:ahLst/>
            <a:cxnLst/>
            <a:rect l="l" t="t" r="r" b="b"/>
            <a:pathLst>
              <a:path w="2514600" h="527685">
                <a:moveTo>
                  <a:pt x="0" y="476250"/>
                </a:moveTo>
                <a:lnTo>
                  <a:pt x="57178" y="502016"/>
                </a:lnTo>
                <a:lnTo>
                  <a:pt x="98506" y="509142"/>
                </a:lnTo>
                <a:lnTo>
                  <a:pt x="149002" y="515295"/>
                </a:lnTo>
                <a:lnTo>
                  <a:pt x="207489" y="520333"/>
                </a:lnTo>
                <a:lnTo>
                  <a:pt x="272787" y="524109"/>
                </a:lnTo>
                <a:lnTo>
                  <a:pt x="343717" y="526481"/>
                </a:lnTo>
                <a:lnTo>
                  <a:pt x="419100" y="527303"/>
                </a:lnTo>
                <a:lnTo>
                  <a:pt x="2095499" y="527303"/>
                </a:lnTo>
                <a:lnTo>
                  <a:pt x="2170882" y="526481"/>
                </a:lnTo>
                <a:lnTo>
                  <a:pt x="2241812" y="524109"/>
                </a:lnTo>
                <a:lnTo>
                  <a:pt x="2307110" y="520333"/>
                </a:lnTo>
                <a:lnTo>
                  <a:pt x="2365597" y="515295"/>
                </a:lnTo>
                <a:lnTo>
                  <a:pt x="2416093" y="509142"/>
                </a:lnTo>
                <a:lnTo>
                  <a:pt x="2457421" y="502016"/>
                </a:lnTo>
                <a:lnTo>
                  <a:pt x="2507853" y="485426"/>
                </a:lnTo>
                <a:lnTo>
                  <a:pt x="2514599" y="476250"/>
                </a:lnTo>
                <a:lnTo>
                  <a:pt x="2514599" y="273557"/>
                </a:lnTo>
                <a:lnTo>
                  <a:pt x="2457421" y="247791"/>
                </a:lnTo>
                <a:lnTo>
                  <a:pt x="2416093" y="240665"/>
                </a:lnTo>
                <a:lnTo>
                  <a:pt x="2365597" y="234512"/>
                </a:lnTo>
                <a:lnTo>
                  <a:pt x="2307110" y="229474"/>
                </a:lnTo>
                <a:lnTo>
                  <a:pt x="2241812" y="225698"/>
                </a:lnTo>
                <a:lnTo>
                  <a:pt x="2170882" y="223326"/>
                </a:lnTo>
                <a:lnTo>
                  <a:pt x="2095499" y="222503"/>
                </a:lnTo>
                <a:lnTo>
                  <a:pt x="1982723" y="0"/>
                </a:lnTo>
                <a:lnTo>
                  <a:pt x="1466850" y="222503"/>
                </a:lnTo>
                <a:lnTo>
                  <a:pt x="419100" y="222503"/>
                </a:lnTo>
                <a:lnTo>
                  <a:pt x="343717" y="223326"/>
                </a:lnTo>
                <a:lnTo>
                  <a:pt x="272787" y="225698"/>
                </a:lnTo>
                <a:lnTo>
                  <a:pt x="207489" y="229474"/>
                </a:lnTo>
                <a:lnTo>
                  <a:pt x="149002" y="234512"/>
                </a:lnTo>
                <a:lnTo>
                  <a:pt x="98506" y="240665"/>
                </a:lnTo>
                <a:lnTo>
                  <a:pt x="57178" y="247791"/>
                </a:lnTo>
                <a:lnTo>
                  <a:pt x="6746" y="264381"/>
                </a:lnTo>
                <a:lnTo>
                  <a:pt x="0" y="273557"/>
                </a:lnTo>
                <a:lnTo>
                  <a:pt x="0" y="349757"/>
                </a:lnTo>
                <a:lnTo>
                  <a:pt x="0" y="476250"/>
                </a:lnTo>
                <a:close/>
              </a:path>
            </a:pathLst>
          </a:custGeom>
          <a:ln w="9525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55292" y="3995420"/>
            <a:ext cx="2461895" cy="933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2400" i="1" spc="-1015" dirty="0">
                <a:latin typeface="Times New Roman"/>
                <a:cs typeface="Times New Roman"/>
              </a:rPr>
              <a:t>p</a:t>
            </a:r>
            <a:r>
              <a:rPr sz="3600" spc="-7" baseline="3472" dirty="0">
                <a:latin typeface="Times New Roman"/>
                <a:cs typeface="Times New Roman"/>
              </a:rPr>
              <a:t>ˆ</a:t>
            </a:r>
            <a:r>
              <a:rPr sz="3600" spc="104" baseline="3472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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z</a:t>
            </a:r>
            <a:r>
              <a:rPr sz="2625" i="1" spc="-37" baseline="-19047" dirty="0">
                <a:latin typeface="Symbol"/>
                <a:cs typeface="Symbol"/>
              </a:rPr>
              <a:t></a:t>
            </a:r>
            <a:endParaRPr sz="2625" baseline="-19047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2345"/>
              </a:spcBef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sample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proportion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Quantiles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181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1902967"/>
            <a:ext cx="7978140" cy="15798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81000" marR="368300" indent="-342900">
              <a:lnSpc>
                <a:spcPct val="86800"/>
              </a:lnSpc>
              <a:spcBef>
                <a:spcPts val="450"/>
              </a:spcBef>
              <a:buClr>
                <a:srgbClr val="00007C"/>
              </a:buClr>
              <a:buSzPct val="77272"/>
              <a:buChar char="■"/>
              <a:tabLst>
                <a:tab pos="381000" algn="l"/>
              </a:tabLst>
            </a:pPr>
            <a:r>
              <a:rPr sz="2200" dirty="0">
                <a:latin typeface="Arial"/>
                <a:cs typeface="Arial"/>
              </a:rPr>
              <a:t>The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best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way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sort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outputs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(</a:t>
            </a:r>
            <a:r>
              <a:rPr sz="2200" i="1" spc="-10" dirty="0">
                <a:latin typeface="Arial"/>
                <a:cs typeface="Arial"/>
              </a:rPr>
              <a:t>R</a:t>
            </a:r>
            <a:r>
              <a:rPr sz="2200" spc="-10" dirty="0">
                <a:latin typeface="Arial"/>
                <a:cs typeface="Arial"/>
              </a:rPr>
              <a:t>*</a:t>
            </a:r>
            <a:r>
              <a:rPr sz="2200" i="1" spc="-10" dirty="0">
                <a:latin typeface="Arial"/>
                <a:cs typeface="Arial"/>
              </a:rPr>
              <a:t>p)</a:t>
            </a:r>
            <a:r>
              <a:rPr sz="2250" i="1" spc="-15" baseline="25925" dirty="0">
                <a:latin typeface="Arial"/>
                <a:cs typeface="Arial"/>
              </a:rPr>
              <a:t>th </a:t>
            </a:r>
            <a:r>
              <a:rPr sz="2200" dirty="0">
                <a:latin typeface="Arial"/>
                <a:cs typeface="Arial"/>
              </a:rPr>
              <a:t>smallest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value,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i.e.,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find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300" i="1" dirty="0">
                <a:latin typeface="Symbol"/>
                <a:cs typeface="Symbol"/>
              </a:rPr>
              <a:t>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such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that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100p%</a:t>
            </a:r>
            <a:r>
              <a:rPr sz="2200" i="1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data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a </a:t>
            </a:r>
            <a:r>
              <a:rPr sz="2200" dirty="0">
                <a:latin typeface="Arial"/>
                <a:cs typeface="Arial"/>
              </a:rPr>
              <a:t>histogram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Y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left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300" i="1" spc="-25" dirty="0">
                <a:latin typeface="Symbol"/>
                <a:cs typeface="Symbol"/>
              </a:rPr>
              <a:t></a:t>
            </a:r>
            <a:r>
              <a:rPr sz="2200" spc="-25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781050" marR="30480" indent="-285750">
              <a:lnSpc>
                <a:spcPts val="2180"/>
              </a:lnSpc>
              <a:spcBef>
                <a:spcPts val="445"/>
              </a:spcBef>
            </a:pPr>
            <a:r>
              <a:rPr sz="1600" spc="459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1600" spc="325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Example: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R=10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replications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0.8 </a:t>
            </a:r>
            <a:r>
              <a:rPr sz="2000" dirty="0">
                <a:latin typeface="Arial"/>
                <a:cs typeface="Arial"/>
              </a:rPr>
              <a:t>quantile,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first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sort,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100" i="1" dirty="0">
                <a:latin typeface="Symbol"/>
                <a:cs typeface="Symbol"/>
              </a:rPr>
              <a:t>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(10)(0.8)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8</a:t>
            </a:r>
            <a:r>
              <a:rPr sz="1950" i="1" baseline="25641" dirty="0">
                <a:latin typeface="Arial"/>
                <a:cs typeface="Arial"/>
              </a:rPr>
              <a:t>th</a:t>
            </a:r>
            <a:r>
              <a:rPr sz="1950" i="1" spc="232" baseline="25641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smallest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861" y="3420879"/>
            <a:ext cx="30149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/>
                <a:cs typeface="Arial"/>
              </a:rPr>
              <a:t>value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(round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necessary).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5673" y="3608323"/>
            <a:ext cx="1734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7C"/>
                </a:solidFill>
                <a:latin typeface="Arial"/>
                <a:cs typeface="Arial"/>
              </a:rPr>
              <a:t>5.6</a:t>
            </a:r>
            <a:r>
              <a:rPr sz="1800" spc="-29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00007C"/>
                </a:solidFill>
                <a:latin typeface="Arial"/>
                <a:cs typeface="Arial"/>
              </a:rPr>
              <a:t>�sorted</a:t>
            </a:r>
            <a:r>
              <a:rPr sz="1800" spc="3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800" spc="-130" dirty="0">
                <a:solidFill>
                  <a:srgbClr val="00007C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5673" y="3881866"/>
            <a:ext cx="3220085" cy="299847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800" spc="-25" dirty="0">
                <a:solidFill>
                  <a:srgbClr val="00007C"/>
                </a:solidFill>
                <a:latin typeface="Arial"/>
                <a:cs typeface="Arial"/>
              </a:rPr>
              <a:t>7.1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800" spc="-25" dirty="0">
                <a:solidFill>
                  <a:srgbClr val="00007C"/>
                </a:solidFill>
                <a:latin typeface="Arial"/>
                <a:cs typeface="Arial"/>
              </a:rPr>
              <a:t>8.8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800" spc="-25" dirty="0">
                <a:solidFill>
                  <a:srgbClr val="00007C"/>
                </a:solidFill>
                <a:latin typeface="Arial"/>
                <a:cs typeface="Arial"/>
              </a:rPr>
              <a:t>8.9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800" spc="-25" dirty="0">
                <a:solidFill>
                  <a:srgbClr val="00007C"/>
                </a:solidFill>
                <a:latin typeface="Arial"/>
                <a:cs typeface="Arial"/>
              </a:rPr>
              <a:t>9.5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800" spc="-25" dirty="0">
                <a:solidFill>
                  <a:srgbClr val="00007C"/>
                </a:solidFill>
                <a:latin typeface="Arial"/>
                <a:cs typeface="Arial"/>
              </a:rPr>
              <a:t>9.7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800" spc="-20" dirty="0">
                <a:solidFill>
                  <a:srgbClr val="00007C"/>
                </a:solidFill>
                <a:latin typeface="Arial"/>
                <a:cs typeface="Arial"/>
              </a:rPr>
              <a:t>10.1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600"/>
              </a:lnSpc>
              <a:spcBef>
                <a:spcPts val="155"/>
              </a:spcBef>
            </a:pPr>
            <a:r>
              <a:rPr sz="1800" dirty="0">
                <a:solidFill>
                  <a:srgbClr val="00007C"/>
                </a:solidFill>
                <a:latin typeface="Arial"/>
                <a:cs typeface="Arial"/>
              </a:rPr>
              <a:t>12.2</a:t>
            </a:r>
            <a:r>
              <a:rPr sz="1800" spc="-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00007C"/>
                </a:solidFill>
                <a:latin typeface="Arial"/>
                <a:cs typeface="Arial"/>
              </a:rPr>
              <a:t>�this</a:t>
            </a:r>
            <a:r>
              <a:rPr sz="1800" spc="-1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7C"/>
                </a:solidFill>
                <a:latin typeface="Arial"/>
                <a:cs typeface="Arial"/>
              </a:rPr>
              <a:t>is</a:t>
            </a:r>
            <a:r>
              <a:rPr sz="1800" spc="-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7C"/>
                </a:solidFill>
                <a:latin typeface="Arial"/>
                <a:cs typeface="Arial"/>
              </a:rPr>
              <a:t>our</a:t>
            </a:r>
            <a:r>
              <a:rPr sz="1800" spc="-1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7C"/>
                </a:solidFill>
                <a:latin typeface="Arial"/>
                <a:cs typeface="Arial"/>
              </a:rPr>
              <a:t>point</a:t>
            </a:r>
            <a:r>
              <a:rPr sz="1800" spc="-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00007C"/>
                </a:solidFill>
                <a:latin typeface="Arial"/>
                <a:cs typeface="Arial"/>
              </a:rPr>
              <a:t>estimate </a:t>
            </a:r>
            <a:r>
              <a:rPr sz="1800" spc="-20" dirty="0">
                <a:solidFill>
                  <a:srgbClr val="00007C"/>
                </a:solidFill>
                <a:latin typeface="Arial"/>
                <a:cs typeface="Arial"/>
              </a:rPr>
              <a:t>12.5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800" spc="-20" dirty="0">
                <a:solidFill>
                  <a:srgbClr val="00007C"/>
                </a:solidFill>
                <a:latin typeface="Arial"/>
                <a:cs typeface="Arial"/>
              </a:rPr>
              <a:t>12.9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09971" y="3505200"/>
            <a:ext cx="685800" cy="3505200"/>
          </a:xfrm>
          <a:custGeom>
            <a:avLst/>
            <a:gdLst/>
            <a:ahLst/>
            <a:cxnLst/>
            <a:rect l="l" t="t" r="r" b="b"/>
            <a:pathLst>
              <a:path w="685800" h="3505200">
                <a:moveTo>
                  <a:pt x="0" y="0"/>
                </a:moveTo>
                <a:lnTo>
                  <a:pt x="0" y="3505200"/>
                </a:lnTo>
                <a:lnTo>
                  <a:pt x="685800" y="3505200"/>
                </a:lnTo>
                <a:lnTo>
                  <a:pt x="6858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Quantiles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181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3531" y="4321441"/>
            <a:ext cx="986790" cy="606425"/>
            <a:chOff x="5803531" y="4321441"/>
            <a:chExt cx="986790" cy="606425"/>
          </a:xfrm>
        </p:grpSpPr>
        <p:sp>
          <p:nvSpPr>
            <p:cNvPr id="5" name="object 5"/>
            <p:cNvSpPr/>
            <p:nvPr/>
          </p:nvSpPr>
          <p:spPr>
            <a:xfrm>
              <a:off x="5809488" y="4656581"/>
              <a:ext cx="957580" cy="55880"/>
            </a:xfrm>
            <a:custGeom>
              <a:avLst/>
              <a:gdLst/>
              <a:ahLst/>
              <a:cxnLst/>
              <a:rect l="l" t="t" r="r" b="b"/>
              <a:pathLst>
                <a:path w="957579" h="55879">
                  <a:moveTo>
                    <a:pt x="155448" y="0"/>
                  </a:moveTo>
                  <a:lnTo>
                    <a:pt x="957071" y="0"/>
                  </a:lnTo>
                </a:path>
                <a:path w="957579" h="55879">
                  <a:moveTo>
                    <a:pt x="0" y="55626"/>
                  </a:moveTo>
                  <a:lnTo>
                    <a:pt x="29717" y="37338"/>
                  </a:lnTo>
                </a:path>
              </a:pathLst>
            </a:custGeom>
            <a:ln w="11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39206" y="4700015"/>
              <a:ext cx="41910" cy="215900"/>
            </a:xfrm>
            <a:custGeom>
              <a:avLst/>
              <a:gdLst/>
              <a:ahLst/>
              <a:cxnLst/>
              <a:rect l="l" t="t" r="r" b="b"/>
              <a:pathLst>
                <a:path w="41910" h="215900">
                  <a:moveTo>
                    <a:pt x="0" y="0"/>
                  </a:moveTo>
                  <a:lnTo>
                    <a:pt x="41910" y="215646"/>
                  </a:lnTo>
                </a:path>
              </a:pathLst>
            </a:custGeom>
            <a:ln w="23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87212" y="4327397"/>
              <a:ext cx="902969" cy="588645"/>
            </a:xfrm>
            <a:custGeom>
              <a:avLst/>
              <a:gdLst/>
              <a:ahLst/>
              <a:cxnLst/>
              <a:rect l="l" t="t" r="r" b="b"/>
              <a:pathLst>
                <a:path w="902970" h="588645">
                  <a:moveTo>
                    <a:pt x="0" y="588264"/>
                  </a:moveTo>
                  <a:lnTo>
                    <a:pt x="59436" y="0"/>
                  </a:lnTo>
                </a:path>
                <a:path w="902970" h="588645">
                  <a:moveTo>
                    <a:pt x="59436" y="0"/>
                  </a:moveTo>
                  <a:lnTo>
                    <a:pt x="902969" y="0"/>
                  </a:lnTo>
                </a:path>
              </a:pathLst>
            </a:custGeom>
            <a:ln w="11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807341" y="5046865"/>
            <a:ext cx="986790" cy="606425"/>
            <a:chOff x="5807341" y="5046865"/>
            <a:chExt cx="986790" cy="606425"/>
          </a:xfrm>
        </p:grpSpPr>
        <p:sp>
          <p:nvSpPr>
            <p:cNvPr id="9" name="object 9"/>
            <p:cNvSpPr/>
            <p:nvPr/>
          </p:nvSpPr>
          <p:spPr>
            <a:xfrm>
              <a:off x="5813297" y="5382005"/>
              <a:ext cx="956310" cy="55880"/>
            </a:xfrm>
            <a:custGeom>
              <a:avLst/>
              <a:gdLst/>
              <a:ahLst/>
              <a:cxnLst/>
              <a:rect l="l" t="t" r="r" b="b"/>
              <a:pathLst>
                <a:path w="956309" h="55879">
                  <a:moveTo>
                    <a:pt x="155448" y="0"/>
                  </a:moveTo>
                  <a:lnTo>
                    <a:pt x="956309" y="0"/>
                  </a:lnTo>
                </a:path>
                <a:path w="956309" h="55879">
                  <a:moveTo>
                    <a:pt x="0" y="55626"/>
                  </a:moveTo>
                  <a:lnTo>
                    <a:pt x="29717" y="38100"/>
                  </a:lnTo>
                </a:path>
              </a:pathLst>
            </a:custGeom>
            <a:ln w="11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43015" y="5425439"/>
              <a:ext cx="41910" cy="215900"/>
            </a:xfrm>
            <a:custGeom>
              <a:avLst/>
              <a:gdLst/>
              <a:ahLst/>
              <a:cxnLst/>
              <a:rect l="l" t="t" r="r" b="b"/>
              <a:pathLst>
                <a:path w="41910" h="215900">
                  <a:moveTo>
                    <a:pt x="0" y="0"/>
                  </a:moveTo>
                  <a:lnTo>
                    <a:pt x="41910" y="215646"/>
                  </a:lnTo>
                </a:path>
              </a:pathLst>
            </a:custGeom>
            <a:ln w="23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91021" y="5052821"/>
              <a:ext cx="902969" cy="588645"/>
            </a:xfrm>
            <a:custGeom>
              <a:avLst/>
              <a:gdLst/>
              <a:ahLst/>
              <a:cxnLst/>
              <a:rect l="l" t="t" r="r" b="b"/>
              <a:pathLst>
                <a:path w="902970" h="588645">
                  <a:moveTo>
                    <a:pt x="0" y="588264"/>
                  </a:moveTo>
                  <a:lnTo>
                    <a:pt x="59436" y="0"/>
                  </a:lnTo>
                </a:path>
                <a:path w="902970" h="588645">
                  <a:moveTo>
                    <a:pt x="59436" y="0"/>
                  </a:moveTo>
                  <a:lnTo>
                    <a:pt x="902970" y="0"/>
                  </a:lnTo>
                </a:path>
              </a:pathLst>
            </a:custGeom>
            <a:ln w="11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44264" y="5378339"/>
            <a:ext cx="48387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-80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Symbol"/>
                <a:cs typeface="Symbol"/>
              </a:rPr>
              <a:t></a:t>
            </a:r>
            <a:r>
              <a:rPr sz="1850" spc="4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6006358" y="5037725"/>
            <a:ext cx="76136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i="1" dirty="0">
                <a:latin typeface="Times New Roman"/>
                <a:cs typeface="Times New Roman"/>
              </a:rPr>
              <a:t>p</a:t>
            </a:r>
            <a:r>
              <a:rPr sz="1850" dirty="0">
                <a:latin typeface="Times New Roman"/>
                <a:cs typeface="Times New Roman"/>
              </a:rPr>
              <a:t>(1</a:t>
            </a:r>
            <a:r>
              <a:rPr sz="1850" dirty="0">
                <a:latin typeface="Symbol"/>
                <a:cs typeface="Symbol"/>
              </a:rPr>
              <a:t></a:t>
            </a:r>
            <a:r>
              <a:rPr sz="1850" spc="20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p</a:t>
            </a:r>
            <a:r>
              <a:rPr sz="1850" spc="-25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40471" y="4652136"/>
            <a:ext cx="48387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-80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Symbol"/>
                <a:cs typeface="Symbol"/>
              </a:rPr>
              <a:t></a:t>
            </a:r>
            <a:r>
              <a:rPr sz="1850" spc="4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2565" y="4312285"/>
            <a:ext cx="76136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i="1" dirty="0">
                <a:latin typeface="Times New Roman"/>
                <a:cs typeface="Times New Roman"/>
              </a:rPr>
              <a:t>p</a:t>
            </a:r>
            <a:r>
              <a:rPr sz="1850" dirty="0">
                <a:latin typeface="Times New Roman"/>
                <a:cs typeface="Times New Roman"/>
              </a:rPr>
              <a:t>(1</a:t>
            </a:r>
            <a:r>
              <a:rPr sz="1850" dirty="0">
                <a:latin typeface="Symbol"/>
                <a:cs typeface="Symbol"/>
              </a:rPr>
              <a:t></a:t>
            </a:r>
            <a:r>
              <a:rPr sz="1850" spc="20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p</a:t>
            </a:r>
            <a:r>
              <a:rPr sz="1850" spc="-25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88186" y="4464722"/>
            <a:ext cx="16929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28345" algn="l"/>
                <a:tab pos="1015365" algn="l"/>
              </a:tabLst>
            </a:pPr>
            <a:r>
              <a:rPr sz="1850" spc="-10" dirty="0">
                <a:latin typeface="Times New Roman"/>
                <a:cs typeface="Times New Roman"/>
              </a:rPr>
              <a:t>where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spc="-50" dirty="0">
                <a:latin typeface="Times New Roman"/>
                <a:cs typeface="Times New Roman"/>
              </a:rPr>
              <a:t>p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p</a:t>
            </a:r>
            <a:r>
              <a:rPr sz="1850" i="1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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z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53893" y="4586234"/>
            <a:ext cx="325120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50" i="1" dirty="0">
                <a:latin typeface="Symbol"/>
                <a:cs typeface="Symbol"/>
              </a:rPr>
              <a:t></a:t>
            </a:r>
            <a:r>
              <a:rPr sz="135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/</a:t>
            </a:r>
            <a:r>
              <a:rPr sz="1300" spc="-13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0748" y="5190114"/>
            <a:ext cx="9944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2420" algn="l"/>
              </a:tabLst>
            </a:pPr>
            <a:r>
              <a:rPr sz="1850" i="1" spc="-50" dirty="0">
                <a:latin typeface="Times New Roman"/>
                <a:cs typeface="Times New Roman"/>
              </a:rPr>
              <a:t>p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p</a:t>
            </a:r>
            <a:r>
              <a:rPr sz="1850" i="1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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z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12640" y="5321162"/>
            <a:ext cx="109220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i="1" spc="-5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57697" y="5311664"/>
            <a:ext cx="325120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50" i="1" dirty="0">
                <a:latin typeface="Symbol"/>
                <a:cs typeface="Symbol"/>
              </a:rPr>
              <a:t></a:t>
            </a:r>
            <a:r>
              <a:rPr sz="135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/</a:t>
            </a:r>
            <a:r>
              <a:rPr sz="1300" spc="-13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28641" y="4595738"/>
            <a:ext cx="9842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dirty="0">
                <a:latin typeface="MT Extra"/>
                <a:cs typeface="MT Extra"/>
              </a:rPr>
              <a:t> </a:t>
            </a:r>
            <a:endParaRPr sz="1300">
              <a:latin typeface="MT Extra"/>
              <a:cs typeface="MT Extr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5802" y="1917544"/>
            <a:ext cx="8184515" cy="24149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93065" marR="81280" indent="-342900">
              <a:lnSpc>
                <a:spcPts val="2640"/>
              </a:lnSpc>
              <a:spcBef>
                <a:spcPts val="315"/>
              </a:spcBef>
              <a:buClr>
                <a:srgbClr val="00007C"/>
              </a:buClr>
              <a:buSzPct val="77272"/>
              <a:buChar char="■"/>
              <a:tabLst>
                <a:tab pos="393065" algn="l"/>
                <a:tab pos="4605655" algn="l"/>
              </a:tabLst>
            </a:pPr>
            <a:r>
              <a:rPr sz="2200" dirty="0">
                <a:latin typeface="Arial"/>
                <a:cs typeface="Arial"/>
              </a:rPr>
              <a:t>Confidence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Interval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Quantiles:</a:t>
            </a:r>
            <a:r>
              <a:rPr sz="2200" dirty="0">
                <a:latin typeface="Arial"/>
                <a:cs typeface="Arial"/>
              </a:rPr>
              <a:t>	An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approximate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(</a:t>
            </a:r>
            <a:r>
              <a:rPr sz="2200" i="1" spc="-10" dirty="0">
                <a:latin typeface="Arial"/>
                <a:cs typeface="Arial"/>
              </a:rPr>
              <a:t>1-</a:t>
            </a:r>
            <a:r>
              <a:rPr sz="2300" i="1" spc="-10" dirty="0">
                <a:latin typeface="Symbol"/>
                <a:cs typeface="Symbol"/>
              </a:rPr>
              <a:t></a:t>
            </a:r>
            <a:r>
              <a:rPr sz="2200" spc="-10" dirty="0">
                <a:latin typeface="Arial"/>
                <a:cs typeface="Arial"/>
              </a:rPr>
              <a:t>)100% </a:t>
            </a:r>
            <a:r>
              <a:rPr sz="2200" dirty="0">
                <a:latin typeface="Arial"/>
                <a:cs typeface="Arial"/>
              </a:rPr>
              <a:t>confidence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interval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300" i="1" dirty="0">
                <a:latin typeface="Symbol"/>
                <a:cs typeface="Symbol"/>
              </a:rPr>
              <a:t>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can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obtained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by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finding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two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values</a:t>
            </a:r>
            <a:endParaRPr sz="2200">
              <a:latin typeface="Arial"/>
              <a:cs typeface="Arial"/>
            </a:endParaRPr>
          </a:p>
          <a:p>
            <a:pPr marL="393700">
              <a:lnSpc>
                <a:spcPts val="2810"/>
              </a:lnSpc>
              <a:tabLst>
                <a:tab pos="765810" algn="l"/>
              </a:tabLst>
            </a:pPr>
            <a:r>
              <a:rPr sz="2500" i="1" spc="-25" dirty="0">
                <a:latin typeface="Symbol"/>
                <a:cs typeface="Symbol"/>
              </a:rPr>
              <a:t></a:t>
            </a:r>
            <a:r>
              <a:rPr sz="2400" i="1" spc="-37" baseline="-20833" dirty="0">
                <a:latin typeface="Arial"/>
                <a:cs typeface="Arial"/>
              </a:rPr>
              <a:t>l</a:t>
            </a:r>
            <a:r>
              <a:rPr sz="2400" i="1" baseline="-20833" dirty="0">
                <a:latin typeface="Arial"/>
                <a:cs typeface="Arial"/>
              </a:rPr>
              <a:t>	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500" i="1" spc="-25" dirty="0">
                <a:latin typeface="Symbol"/>
                <a:cs typeface="Symbol"/>
              </a:rPr>
              <a:t></a:t>
            </a:r>
            <a:r>
              <a:rPr sz="2400" i="1" spc="-37" baseline="-20833" dirty="0">
                <a:latin typeface="Arial"/>
                <a:cs typeface="Arial"/>
              </a:rPr>
              <a:t>u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93750" marR="222885" lvl="1" indent="-285750">
              <a:lnSpc>
                <a:spcPts val="2380"/>
              </a:lnSpc>
              <a:spcBef>
                <a:spcPts val="555"/>
              </a:spcBef>
              <a:buClr>
                <a:srgbClr val="9A9ACC"/>
              </a:buClr>
              <a:buSzPct val="76190"/>
              <a:buFont typeface="Arial"/>
              <a:buChar char="□"/>
              <a:tabLst>
                <a:tab pos="793750" algn="l"/>
              </a:tabLst>
            </a:pPr>
            <a:r>
              <a:rPr sz="2100" i="1" dirty="0">
                <a:latin typeface="Symbol"/>
                <a:cs typeface="Symbol"/>
              </a:rPr>
              <a:t></a:t>
            </a:r>
            <a:r>
              <a:rPr sz="1950" i="1" baseline="-21367" dirty="0">
                <a:latin typeface="Arial"/>
                <a:cs typeface="Arial"/>
              </a:rPr>
              <a:t>l</a:t>
            </a:r>
            <a:r>
              <a:rPr sz="1950" i="1" spc="209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cuts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100p</a:t>
            </a:r>
            <a:r>
              <a:rPr sz="1950" i="1" baseline="-21367" dirty="0">
                <a:latin typeface="Arial"/>
                <a:cs typeface="Arial"/>
              </a:rPr>
              <a:t>l</a:t>
            </a:r>
            <a:r>
              <a:rPr sz="2000" i="1" dirty="0">
                <a:latin typeface="Arial"/>
                <a:cs typeface="Arial"/>
              </a:rPr>
              <a:t>%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histogram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Rp</a:t>
            </a:r>
            <a:r>
              <a:rPr sz="1950" i="1" baseline="-21367" dirty="0">
                <a:latin typeface="Arial"/>
                <a:cs typeface="Arial"/>
              </a:rPr>
              <a:t>l</a:t>
            </a:r>
            <a:r>
              <a:rPr sz="1950" i="1" spc="21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smallest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sorted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data).</a:t>
            </a:r>
            <a:endParaRPr sz="2000">
              <a:latin typeface="Arial"/>
              <a:cs typeface="Arial"/>
            </a:endParaRPr>
          </a:p>
          <a:p>
            <a:pPr marL="793115" marR="55880" lvl="1" indent="-285750">
              <a:lnSpc>
                <a:spcPts val="2380"/>
              </a:lnSpc>
              <a:spcBef>
                <a:spcPts val="509"/>
              </a:spcBef>
              <a:buClr>
                <a:srgbClr val="9A9ACC"/>
              </a:buClr>
              <a:buSzPct val="76190"/>
              <a:buFont typeface="Arial"/>
              <a:buChar char="□"/>
              <a:tabLst>
                <a:tab pos="793115" algn="l"/>
              </a:tabLst>
            </a:pPr>
            <a:r>
              <a:rPr sz="2100" i="1" dirty="0">
                <a:latin typeface="Symbol"/>
                <a:cs typeface="Symbol"/>
              </a:rPr>
              <a:t></a:t>
            </a:r>
            <a:r>
              <a:rPr sz="1950" i="1" baseline="-21367" dirty="0">
                <a:latin typeface="Arial"/>
                <a:cs typeface="Arial"/>
              </a:rPr>
              <a:t>u</a:t>
            </a:r>
            <a:r>
              <a:rPr sz="1950" i="1" spc="21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cuts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100p</a:t>
            </a:r>
            <a:r>
              <a:rPr sz="1950" i="1" baseline="-21367" dirty="0">
                <a:latin typeface="Arial"/>
                <a:cs typeface="Arial"/>
              </a:rPr>
              <a:t>u</a:t>
            </a:r>
            <a:r>
              <a:rPr sz="2000" i="1" dirty="0">
                <a:latin typeface="Arial"/>
                <a:cs typeface="Arial"/>
              </a:rPr>
              <a:t>%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histogram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Rp</a:t>
            </a:r>
            <a:r>
              <a:rPr sz="1950" i="1" baseline="-21367" dirty="0">
                <a:latin typeface="Arial"/>
                <a:cs typeface="Arial"/>
              </a:rPr>
              <a:t>u</a:t>
            </a:r>
            <a:r>
              <a:rPr sz="1950" i="1" spc="225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smallest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sorted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data).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Quantiles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181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[Terminating</a:t>
            </a:r>
            <a:r>
              <a:rPr sz="2200" spc="-1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93102" y="4269937"/>
            <a:ext cx="941069" cy="577215"/>
            <a:chOff x="3693102" y="4269937"/>
            <a:chExt cx="941069" cy="577215"/>
          </a:xfrm>
        </p:grpSpPr>
        <p:sp>
          <p:nvSpPr>
            <p:cNvPr id="5" name="object 5"/>
            <p:cNvSpPr/>
            <p:nvPr/>
          </p:nvSpPr>
          <p:spPr>
            <a:xfrm>
              <a:off x="3698748" y="4586478"/>
              <a:ext cx="912494" cy="55244"/>
            </a:xfrm>
            <a:custGeom>
              <a:avLst/>
              <a:gdLst/>
              <a:ahLst/>
              <a:cxnLst/>
              <a:rect l="l" t="t" r="r" b="b"/>
              <a:pathLst>
                <a:path w="912495" h="55245">
                  <a:moveTo>
                    <a:pt x="147065" y="0"/>
                  </a:moveTo>
                  <a:lnTo>
                    <a:pt x="912113" y="0"/>
                  </a:lnTo>
                </a:path>
                <a:path w="912495" h="55245">
                  <a:moveTo>
                    <a:pt x="0" y="54863"/>
                  </a:moveTo>
                  <a:lnTo>
                    <a:pt x="28193" y="38100"/>
                  </a:lnTo>
                </a:path>
              </a:pathLst>
            </a:custGeom>
            <a:ln w="112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26942" y="4630674"/>
              <a:ext cx="40005" cy="205104"/>
            </a:xfrm>
            <a:custGeom>
              <a:avLst/>
              <a:gdLst/>
              <a:ahLst/>
              <a:cxnLst/>
              <a:rect l="l" t="t" r="r" b="b"/>
              <a:pathLst>
                <a:path w="40004" h="205104">
                  <a:moveTo>
                    <a:pt x="0" y="0"/>
                  </a:moveTo>
                  <a:lnTo>
                    <a:pt x="39624" y="204977"/>
                  </a:lnTo>
                </a:path>
              </a:pathLst>
            </a:custGeom>
            <a:ln w="22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71900" y="4275582"/>
              <a:ext cx="862330" cy="560070"/>
            </a:xfrm>
            <a:custGeom>
              <a:avLst/>
              <a:gdLst/>
              <a:ahLst/>
              <a:cxnLst/>
              <a:rect l="l" t="t" r="r" b="b"/>
              <a:pathLst>
                <a:path w="862329" h="560070">
                  <a:moveTo>
                    <a:pt x="0" y="560069"/>
                  </a:moveTo>
                  <a:lnTo>
                    <a:pt x="56387" y="0"/>
                  </a:lnTo>
                </a:path>
                <a:path w="862329" h="560070">
                  <a:moveTo>
                    <a:pt x="56387" y="0"/>
                  </a:moveTo>
                  <a:lnTo>
                    <a:pt x="861822" y="0"/>
                  </a:lnTo>
                </a:path>
              </a:pathLst>
            </a:custGeom>
            <a:ln w="112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699199" y="4960308"/>
            <a:ext cx="941069" cy="577215"/>
            <a:chOff x="3699199" y="4960308"/>
            <a:chExt cx="941069" cy="577215"/>
          </a:xfrm>
        </p:grpSpPr>
        <p:sp>
          <p:nvSpPr>
            <p:cNvPr id="9" name="object 9"/>
            <p:cNvSpPr/>
            <p:nvPr/>
          </p:nvSpPr>
          <p:spPr>
            <a:xfrm>
              <a:off x="3704844" y="5276850"/>
              <a:ext cx="913130" cy="55880"/>
            </a:xfrm>
            <a:custGeom>
              <a:avLst/>
              <a:gdLst/>
              <a:ahLst/>
              <a:cxnLst/>
              <a:rect l="l" t="t" r="r" b="b"/>
              <a:pathLst>
                <a:path w="913129" h="55879">
                  <a:moveTo>
                    <a:pt x="147827" y="0"/>
                  </a:moveTo>
                  <a:lnTo>
                    <a:pt x="912876" y="0"/>
                  </a:lnTo>
                </a:path>
                <a:path w="913129" h="55879">
                  <a:moveTo>
                    <a:pt x="0" y="55625"/>
                  </a:moveTo>
                  <a:lnTo>
                    <a:pt x="28193" y="38100"/>
                  </a:lnTo>
                </a:path>
              </a:pathLst>
            </a:custGeom>
            <a:ln w="112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33038" y="5321045"/>
              <a:ext cx="40005" cy="205104"/>
            </a:xfrm>
            <a:custGeom>
              <a:avLst/>
              <a:gdLst/>
              <a:ahLst/>
              <a:cxnLst/>
              <a:rect l="l" t="t" r="r" b="b"/>
              <a:pathLst>
                <a:path w="40004" h="205104">
                  <a:moveTo>
                    <a:pt x="0" y="0"/>
                  </a:moveTo>
                  <a:lnTo>
                    <a:pt x="39624" y="204977"/>
                  </a:lnTo>
                </a:path>
              </a:pathLst>
            </a:custGeom>
            <a:ln w="22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77996" y="4965954"/>
              <a:ext cx="862330" cy="560070"/>
            </a:xfrm>
            <a:custGeom>
              <a:avLst/>
              <a:gdLst/>
              <a:ahLst/>
              <a:cxnLst/>
              <a:rect l="l" t="t" r="r" b="b"/>
              <a:pathLst>
                <a:path w="862329" h="560070">
                  <a:moveTo>
                    <a:pt x="0" y="560070"/>
                  </a:moveTo>
                  <a:lnTo>
                    <a:pt x="56387" y="0"/>
                  </a:lnTo>
                </a:path>
                <a:path w="862329" h="560070">
                  <a:moveTo>
                    <a:pt x="56387" y="0"/>
                  </a:moveTo>
                  <a:lnTo>
                    <a:pt x="861821" y="0"/>
                  </a:lnTo>
                </a:path>
              </a:pathLst>
            </a:custGeom>
            <a:ln w="112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52618" y="5634107"/>
            <a:ext cx="411797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c.i.</a:t>
            </a:r>
            <a:r>
              <a:rPr sz="1750" spc="-229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 the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780</a:t>
            </a:r>
            <a:r>
              <a:rPr sz="1875" baseline="35555" dirty="0">
                <a:latin typeface="Times New Roman"/>
                <a:cs typeface="Times New Roman"/>
              </a:rPr>
              <a:t>th</a:t>
            </a:r>
            <a:r>
              <a:rPr sz="1875" spc="502" baseline="355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114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820</a:t>
            </a:r>
            <a:r>
              <a:rPr sz="1750" spc="-310" dirty="0">
                <a:latin typeface="Times New Roman"/>
                <a:cs typeface="Times New Roman"/>
              </a:rPr>
              <a:t> </a:t>
            </a:r>
            <a:r>
              <a:rPr sz="1875" baseline="35555" dirty="0">
                <a:latin typeface="Times New Roman"/>
                <a:cs typeface="Times New Roman"/>
              </a:rPr>
              <a:t>th</a:t>
            </a:r>
            <a:r>
              <a:rPr sz="1875" spc="465" baseline="355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smallest</a:t>
            </a:r>
            <a:r>
              <a:rPr sz="1750" spc="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values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51415" y="5272918"/>
            <a:ext cx="76708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dirty="0">
                <a:latin typeface="Times New Roman"/>
                <a:cs typeface="Times New Roman"/>
              </a:rPr>
              <a:t>1000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1750" spc="40" dirty="0">
                <a:latin typeface="Symbol"/>
                <a:cs typeface="Symbol"/>
              </a:rPr>
              <a:t></a:t>
            </a:r>
            <a:r>
              <a:rPr sz="1750" spc="4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19147" y="4950588"/>
            <a:ext cx="149669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50" spc="-10" dirty="0">
                <a:latin typeface="Times New Roman"/>
                <a:cs typeface="Times New Roman"/>
              </a:rPr>
              <a:t>.8(1</a:t>
            </a:r>
            <a:r>
              <a:rPr sz="1750" spc="-10" dirty="0">
                <a:latin typeface="Symbol"/>
                <a:cs typeface="Symbol"/>
              </a:rPr>
              <a:t></a:t>
            </a:r>
            <a:r>
              <a:rPr sz="1750" spc="-2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.8)</a:t>
            </a:r>
            <a:r>
              <a:rPr sz="1750" spc="375" dirty="0">
                <a:latin typeface="Times New Roman"/>
                <a:cs typeface="Times New Roman"/>
              </a:rPr>
              <a:t> </a:t>
            </a:r>
            <a:r>
              <a:rPr sz="2625" baseline="-36507" dirty="0">
                <a:latin typeface="Symbol"/>
                <a:cs typeface="Symbol"/>
              </a:rPr>
              <a:t></a:t>
            </a:r>
            <a:r>
              <a:rPr sz="2625" spc="-15" baseline="-36507" dirty="0">
                <a:latin typeface="Times New Roman"/>
                <a:cs typeface="Times New Roman"/>
              </a:rPr>
              <a:t> </a:t>
            </a:r>
            <a:r>
              <a:rPr sz="2625" spc="-30" baseline="-36507" dirty="0">
                <a:latin typeface="Times New Roman"/>
                <a:cs typeface="Times New Roman"/>
              </a:rPr>
              <a:t>0.82</a:t>
            </a:r>
            <a:endParaRPr sz="2625" baseline="-3650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5292" y="4582554"/>
            <a:ext cx="76644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dirty="0">
                <a:latin typeface="Times New Roman"/>
                <a:cs typeface="Times New Roman"/>
              </a:rPr>
              <a:t>1000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1750" spc="40" dirty="0">
                <a:latin typeface="Symbol"/>
                <a:cs typeface="Symbol"/>
              </a:rPr>
              <a:t></a:t>
            </a:r>
            <a:r>
              <a:rPr sz="1750" spc="4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13024" y="4260224"/>
            <a:ext cx="149669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50" spc="-10" dirty="0">
                <a:latin typeface="Times New Roman"/>
                <a:cs typeface="Times New Roman"/>
              </a:rPr>
              <a:t>.8(1</a:t>
            </a:r>
            <a:r>
              <a:rPr sz="1750" spc="-10" dirty="0">
                <a:latin typeface="Symbol"/>
                <a:cs typeface="Symbol"/>
              </a:rPr>
              <a:t></a:t>
            </a:r>
            <a:r>
              <a:rPr sz="1750" spc="-2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.8)</a:t>
            </a:r>
            <a:r>
              <a:rPr sz="1750" spc="375" dirty="0">
                <a:latin typeface="Times New Roman"/>
                <a:cs typeface="Times New Roman"/>
              </a:rPr>
              <a:t> </a:t>
            </a:r>
            <a:r>
              <a:rPr sz="2625" baseline="-36507" dirty="0">
                <a:latin typeface="Symbol"/>
                <a:cs typeface="Symbol"/>
              </a:rPr>
              <a:t></a:t>
            </a:r>
            <a:r>
              <a:rPr sz="2625" spc="-30" baseline="-36507" dirty="0">
                <a:latin typeface="Times New Roman"/>
                <a:cs typeface="Times New Roman"/>
              </a:rPr>
              <a:t> 0.78</a:t>
            </a:r>
            <a:endParaRPr sz="2625" baseline="-3650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73873" y="4404247"/>
            <a:ext cx="132461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3845" algn="l"/>
              </a:tabLst>
            </a:pPr>
            <a:r>
              <a:rPr sz="1750" i="1" spc="-50" dirty="0">
                <a:latin typeface="Times New Roman"/>
                <a:cs typeface="Times New Roman"/>
              </a:rPr>
              <a:t>p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dirty="0">
                <a:latin typeface="Symbol"/>
                <a:cs typeface="Symbol"/>
              </a:rPr>
              <a:t>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0.8</a:t>
            </a:r>
            <a:r>
              <a:rPr sz="1750" spc="-16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1.96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79039" y="5219539"/>
            <a:ext cx="104775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i="1" spc="-50" dirty="0">
                <a:latin typeface="Times New Roman"/>
                <a:cs typeface="Times New Roman"/>
              </a:rPr>
              <a:t>u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63977" y="5094611"/>
            <a:ext cx="134048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5910" algn="l"/>
              </a:tabLst>
            </a:pPr>
            <a:r>
              <a:rPr sz="1750" i="1" spc="-50" dirty="0">
                <a:latin typeface="Times New Roman"/>
                <a:cs typeface="Times New Roman"/>
              </a:rPr>
              <a:t>p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dirty="0">
                <a:latin typeface="Symbol"/>
                <a:cs typeface="Symbol"/>
              </a:rPr>
              <a:t>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0.8</a:t>
            </a:r>
            <a:r>
              <a:rPr sz="1750" spc="-16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Symbol"/>
                <a:cs typeface="Symbol"/>
              </a:rPr>
              <a:t></a:t>
            </a:r>
            <a:r>
              <a:rPr sz="1750" spc="-10" dirty="0">
                <a:latin typeface="Times New Roman"/>
                <a:cs typeface="Times New Roman"/>
              </a:rPr>
              <a:t>1.96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91232" y="4528406"/>
            <a:ext cx="94615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MT Extra"/>
                <a:cs typeface="MT Extra"/>
              </a:rPr>
              <a:t> </a:t>
            </a:r>
            <a:endParaRPr sz="1250">
              <a:latin typeface="MT Extra"/>
              <a:cs typeface="MT Extr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3902" y="1930399"/>
            <a:ext cx="8110855" cy="143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7272"/>
              <a:buChar char="■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Example: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Suppose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R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=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1000</a:t>
            </a:r>
            <a:r>
              <a:rPr sz="2200" i="1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reps,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estimate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=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spc="-25" dirty="0">
                <a:latin typeface="Arial"/>
                <a:cs typeface="Arial"/>
              </a:rPr>
              <a:t>0.8</a:t>
            </a:r>
            <a:endParaRPr sz="22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quantile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with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95%</a:t>
            </a:r>
            <a:r>
              <a:rPr sz="2200" i="1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confidence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interval.</a:t>
            </a:r>
            <a:endParaRPr sz="2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lr>
                <a:srgbClr val="9A9ACC"/>
              </a:buClr>
              <a:buSzPct val="80000"/>
              <a:buChar char="□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First,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sort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smallest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largest.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Clr>
                <a:srgbClr val="9A9ACC"/>
              </a:buClr>
              <a:buSzPct val="80000"/>
              <a:buChar char="□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Then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100" i="1" dirty="0">
                <a:latin typeface="Symbol"/>
                <a:cs typeface="Symbol"/>
              </a:rPr>
              <a:t>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(1000)(0.8)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800th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smallest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51102" y="3271982"/>
            <a:ext cx="39236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212.03.</a:t>
            </a:r>
            <a:endParaRPr sz="20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470"/>
              </a:spcBef>
              <a:buClr>
                <a:srgbClr val="9A9ACC"/>
              </a:buClr>
              <a:buSzPct val="80000"/>
              <a:buChar char="□"/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interval: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51102" y="6618223"/>
            <a:ext cx="6289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95%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c.i.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[188.96,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256.79]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74840" y="3548125"/>
            <a:ext cx="1670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portion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1000</a:t>
            </a:r>
            <a:endParaRPr sz="14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sorted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values: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938391" y="4043743"/>
          <a:ext cx="1859280" cy="2346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4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pPr marL="19685" algn="ctr">
                        <a:lnSpc>
                          <a:spcPts val="165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Output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650"/>
                        </a:lnSpc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Rank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180.92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779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188.96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780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190.55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781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208.58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799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212.03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800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216.99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801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250.32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819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256.79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820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256.99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821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6629400" y="45720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285750" y="0"/>
                </a:moveTo>
                <a:lnTo>
                  <a:pt x="285750" y="38100"/>
                </a:lnTo>
                <a:lnTo>
                  <a:pt x="0" y="38100"/>
                </a:lnTo>
                <a:lnTo>
                  <a:pt x="0" y="114300"/>
                </a:lnTo>
                <a:lnTo>
                  <a:pt x="285750" y="114300"/>
                </a:lnTo>
                <a:lnTo>
                  <a:pt x="285750" y="152400"/>
                </a:lnTo>
                <a:lnTo>
                  <a:pt x="381000" y="76200"/>
                </a:lnTo>
                <a:lnTo>
                  <a:pt x="285750" y="0"/>
                </a:lnTo>
                <a:close/>
              </a:path>
            </a:pathLst>
          </a:custGeom>
          <a:ln w="9525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11361" y="5268467"/>
            <a:ext cx="383540" cy="151765"/>
          </a:xfrm>
          <a:custGeom>
            <a:avLst/>
            <a:gdLst/>
            <a:ahLst/>
            <a:cxnLst/>
            <a:rect l="l" t="t" r="r" b="b"/>
            <a:pathLst>
              <a:path w="383540" h="151764">
                <a:moveTo>
                  <a:pt x="102870" y="151637"/>
                </a:moveTo>
                <a:lnTo>
                  <a:pt x="99060" y="113537"/>
                </a:lnTo>
                <a:lnTo>
                  <a:pt x="383286" y="83058"/>
                </a:lnTo>
                <a:lnTo>
                  <a:pt x="374904" y="7620"/>
                </a:lnTo>
                <a:lnTo>
                  <a:pt x="90678" y="37337"/>
                </a:lnTo>
                <a:lnTo>
                  <a:pt x="86868" y="0"/>
                </a:lnTo>
                <a:lnTo>
                  <a:pt x="0" y="85344"/>
                </a:lnTo>
                <a:lnTo>
                  <a:pt x="102870" y="151637"/>
                </a:lnTo>
                <a:close/>
              </a:path>
            </a:pathLst>
          </a:custGeom>
          <a:ln w="9525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29400" y="59436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285750" y="0"/>
                </a:moveTo>
                <a:lnTo>
                  <a:pt x="285750" y="38100"/>
                </a:lnTo>
                <a:lnTo>
                  <a:pt x="0" y="38100"/>
                </a:lnTo>
                <a:lnTo>
                  <a:pt x="0" y="114300"/>
                </a:lnTo>
                <a:lnTo>
                  <a:pt x="285750" y="114300"/>
                </a:lnTo>
                <a:lnTo>
                  <a:pt x="285750" y="152400"/>
                </a:lnTo>
                <a:lnTo>
                  <a:pt x="381000" y="76200"/>
                </a:lnTo>
                <a:lnTo>
                  <a:pt x="285750" y="0"/>
                </a:lnTo>
                <a:close/>
              </a:path>
            </a:pathLst>
          </a:custGeom>
          <a:ln w="9525">
            <a:solidFill>
              <a:srgbClr val="00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1027430"/>
            <a:ext cx="79228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Output</a:t>
            </a:r>
            <a:r>
              <a:rPr sz="3200" spc="-50" dirty="0"/>
              <a:t> </a:t>
            </a:r>
            <a:r>
              <a:rPr sz="3200" dirty="0"/>
              <a:t>Analysis</a:t>
            </a:r>
            <a:r>
              <a:rPr sz="3200" spc="-50" dirty="0"/>
              <a:t> </a:t>
            </a:r>
            <a:r>
              <a:rPr sz="3200" dirty="0"/>
              <a:t>for</a:t>
            </a:r>
            <a:r>
              <a:rPr sz="3200" spc="-50" dirty="0"/>
              <a:t> </a:t>
            </a:r>
            <a:r>
              <a:rPr sz="3200" spc="-10" dirty="0"/>
              <a:t>Steady-</a:t>
            </a:r>
            <a:r>
              <a:rPr sz="3200" dirty="0"/>
              <a:t>State</a:t>
            </a:r>
            <a:r>
              <a:rPr sz="3200" spc="-45" dirty="0"/>
              <a:t> </a:t>
            </a:r>
            <a:r>
              <a:rPr sz="3200" spc="-10" dirty="0"/>
              <a:t>Simulation</a:t>
            </a:r>
            <a:endParaRPr sz="32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68502" y="1899158"/>
            <a:ext cx="8094980" cy="1664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0" marR="30480" indent="-342900">
              <a:lnSpc>
                <a:spcPts val="2590"/>
              </a:lnSpc>
              <a:spcBef>
                <a:spcPts val="425"/>
              </a:spcBef>
              <a:buClr>
                <a:srgbClr val="00007C"/>
              </a:buClr>
              <a:buSzPct val="75000"/>
              <a:buChar char="■"/>
              <a:tabLst>
                <a:tab pos="381000" algn="l"/>
              </a:tabLst>
            </a:pPr>
            <a:r>
              <a:rPr sz="2400" dirty="0">
                <a:latin typeface="Arial"/>
                <a:cs typeface="Arial"/>
              </a:rPr>
              <a:t>Consider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single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simulation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spc="-25" dirty="0">
                <a:latin typeface="Arial"/>
                <a:cs typeface="Arial"/>
              </a:rPr>
              <a:t>steady-</a:t>
            </a:r>
            <a:r>
              <a:rPr sz="2400" dirty="0">
                <a:latin typeface="Arial"/>
                <a:cs typeface="Arial"/>
              </a:rPr>
              <a:t>state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long-</a:t>
            </a:r>
            <a:r>
              <a:rPr sz="2400" dirty="0">
                <a:latin typeface="Arial"/>
                <a:cs typeface="Arial"/>
              </a:rPr>
              <a:t>run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characteristics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system.</a:t>
            </a:r>
            <a:endParaRPr sz="2400">
              <a:latin typeface="Arial"/>
              <a:cs typeface="Arial"/>
            </a:endParaRPr>
          </a:p>
          <a:p>
            <a:pPr marL="781050" marR="381635" lvl="1" indent="-286385">
              <a:lnSpc>
                <a:spcPts val="216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8105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produces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observations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1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2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...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(generally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samples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autocorrelated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series).</a:t>
            </a:r>
            <a:endParaRPr sz="20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210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Performance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measure: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8301" y="5082794"/>
            <a:ext cx="3901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66666"/>
              <a:buChar char="■"/>
              <a:tabLst>
                <a:tab pos="241935" algn="l"/>
              </a:tabLst>
            </a:pPr>
            <a:r>
              <a:rPr sz="1800" dirty="0">
                <a:latin typeface="Arial"/>
                <a:cs typeface="Arial"/>
              </a:rPr>
              <a:t>Independent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initial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conditions.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4503" y="3632800"/>
            <a:ext cx="1371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1371" y="3639366"/>
            <a:ext cx="9080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i="1" spc="-50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5264" y="3716658"/>
            <a:ext cx="426084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baseline="1068" dirty="0">
                <a:latin typeface="Symbol"/>
                <a:cs typeface="Symbol"/>
              </a:rPr>
              <a:t></a:t>
            </a:r>
            <a:r>
              <a:rPr sz="3900" spc="540" baseline="1068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0726" y="4077509"/>
            <a:ext cx="81089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21665" algn="l"/>
              </a:tabLst>
            </a:pPr>
            <a:r>
              <a:rPr sz="1500" i="1" spc="-37" baseline="5555" dirty="0">
                <a:latin typeface="Times New Roman"/>
                <a:cs typeface="Times New Roman"/>
              </a:rPr>
              <a:t>n</a:t>
            </a:r>
            <a:r>
              <a:rPr sz="1500" spc="-37" baseline="5555" dirty="0">
                <a:latin typeface="Symbol"/>
                <a:cs typeface="Symbol"/>
              </a:rPr>
              <a:t></a:t>
            </a:r>
            <a:r>
              <a:rPr sz="1500" baseline="5555" dirty="0">
                <a:latin typeface="Times New Roman"/>
                <a:cs typeface="Times New Roman"/>
              </a:rPr>
              <a:t>	</a:t>
            </a:r>
            <a:r>
              <a:rPr sz="1000" i="1" spc="-25" dirty="0">
                <a:latin typeface="Times New Roman"/>
                <a:cs typeface="Times New Roman"/>
              </a:rPr>
              <a:t>i</a:t>
            </a:r>
            <a:r>
              <a:rPr sz="1000" spc="-25" dirty="0">
                <a:latin typeface="Symbol"/>
                <a:cs typeface="Symbol"/>
              </a:rPr>
              <a:t></a:t>
            </a:r>
            <a:r>
              <a:rPr sz="1000" spc="-25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9011" y="3773008"/>
            <a:ext cx="29076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3155" algn="l"/>
              </a:tabLst>
            </a:pPr>
            <a:r>
              <a:rPr sz="1750" i="1" dirty="0">
                <a:latin typeface="Times New Roman"/>
                <a:cs typeface="Times New Roman"/>
              </a:rPr>
              <a:t>Y</a:t>
            </a:r>
            <a:r>
              <a:rPr sz="1750" i="1" spc="-60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Times New Roman"/>
                <a:cs typeface="Times New Roman"/>
              </a:rPr>
              <a:t>,</a:t>
            </a:r>
            <a:r>
              <a:rPr sz="1750" dirty="0">
                <a:latin typeface="Times New Roman"/>
                <a:cs typeface="Times New Roman"/>
              </a:rPr>
              <a:t>	for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discrete</a:t>
            </a:r>
            <a:r>
              <a:rPr sz="1750" spc="-11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measure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0642" y="3734191"/>
            <a:ext cx="67754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Times New Roman"/>
                <a:cs typeface="Times New Roman"/>
              </a:rPr>
              <a:t>lim</a:t>
            </a:r>
            <a:r>
              <a:rPr sz="2600" spc="-295" dirty="0">
                <a:latin typeface="Times New Roman"/>
                <a:cs typeface="Times New Roman"/>
              </a:rPr>
              <a:t> </a:t>
            </a:r>
            <a:r>
              <a:rPr sz="2625" i="1" spc="-75" baseline="-25396" dirty="0">
                <a:latin typeface="Times New Roman"/>
                <a:cs typeface="Times New Roman"/>
              </a:rPr>
              <a:t>n</a:t>
            </a:r>
            <a:endParaRPr sz="2625" baseline="-25396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14854" y="3760360"/>
            <a:ext cx="34226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i="1" dirty="0">
                <a:latin typeface="Symbol"/>
                <a:cs typeface="Symbol"/>
              </a:rPr>
              <a:t>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750" spc="-6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1121" y="4441055"/>
            <a:ext cx="3025775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48690" algn="l"/>
              </a:tabLst>
            </a:pPr>
            <a:r>
              <a:rPr sz="1750" i="1" spc="-10" dirty="0">
                <a:latin typeface="Times New Roman"/>
                <a:cs typeface="Times New Roman"/>
              </a:rPr>
              <a:t>Y</a:t>
            </a:r>
            <a:r>
              <a:rPr sz="1750" i="1" spc="-21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(</a:t>
            </a:r>
            <a:r>
              <a:rPr sz="1750" i="1" spc="-10" dirty="0">
                <a:latin typeface="Times New Roman"/>
                <a:cs typeface="Times New Roman"/>
              </a:rPr>
              <a:t>t</a:t>
            </a:r>
            <a:r>
              <a:rPr sz="1750" spc="-10" dirty="0">
                <a:latin typeface="Times New Roman"/>
                <a:cs typeface="Times New Roman"/>
              </a:rPr>
              <a:t>)</a:t>
            </a:r>
            <a:r>
              <a:rPr sz="1750" i="1" spc="-10" dirty="0">
                <a:latin typeface="Times New Roman"/>
                <a:cs typeface="Times New Roman"/>
              </a:rPr>
              <a:t>dt</a:t>
            </a:r>
            <a:r>
              <a:rPr sz="1750" spc="-10" dirty="0">
                <a:latin typeface="Times New Roman"/>
                <a:cs typeface="Times New Roman"/>
              </a:rPr>
              <a:t>,</a:t>
            </a:r>
            <a:r>
              <a:rPr sz="1750" dirty="0">
                <a:latin typeface="Times New Roman"/>
                <a:cs typeface="Times New Roman"/>
              </a:rPr>
              <a:t>	for</a:t>
            </a:r>
            <a:r>
              <a:rPr sz="1750" spc="-7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continuous</a:t>
            </a:r>
            <a:r>
              <a:rPr sz="1750" spc="-8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measure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7571" y="4654663"/>
            <a:ext cx="9017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8422" y="4410131"/>
            <a:ext cx="871219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66445" algn="l"/>
              </a:tabLst>
            </a:pPr>
            <a:r>
              <a:rPr sz="3900" spc="-37" baseline="1068" dirty="0">
                <a:latin typeface="Times New Roman"/>
                <a:cs typeface="Times New Roman"/>
              </a:rPr>
              <a:t>lim</a:t>
            </a:r>
            <a:r>
              <a:rPr sz="3900" baseline="1068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Symbol"/>
                <a:cs typeface="Symbol"/>
              </a:rPr>
              <a:t>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41623" y="4306181"/>
            <a:ext cx="525780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5930" algn="l"/>
              </a:tabLst>
            </a:pPr>
            <a:r>
              <a:rPr sz="2625" u="sng" baseline="158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1 </a:t>
            </a:r>
            <a:r>
              <a:rPr sz="2625" baseline="1587" dirty="0">
                <a:latin typeface="Times New Roman"/>
                <a:cs typeface="Times New Roman"/>
              </a:rPr>
              <a:t>	</a:t>
            </a:r>
            <a:r>
              <a:rPr sz="700" i="1" spc="-50" dirty="0">
                <a:latin typeface="Times New Roman"/>
                <a:cs typeface="Times New Roman"/>
              </a:rPr>
              <a:t>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7901" y="4428437"/>
            <a:ext cx="33083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i="1" spc="-220" dirty="0">
                <a:latin typeface="Symbol"/>
                <a:cs typeface="Symbol"/>
              </a:rPr>
              <a:t>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9005" y="4804415"/>
            <a:ext cx="8191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i="1" spc="-50" dirty="0">
                <a:latin typeface="Times New Roman"/>
                <a:cs typeface="Times New Roman"/>
              </a:rPr>
              <a:t>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003" y="4365864"/>
            <a:ext cx="9779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i="1" spc="-50" dirty="0">
                <a:latin typeface="Times New Roman"/>
                <a:cs typeface="Times New Roman"/>
              </a:rPr>
              <a:t>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72738" y="4642980"/>
            <a:ext cx="718185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T</a:t>
            </a:r>
            <a:r>
              <a:rPr sz="1000" i="1" spc="40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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2625" i="1" spc="-37" baseline="6349" dirty="0">
                <a:latin typeface="Times New Roman"/>
                <a:cs typeface="Times New Roman"/>
              </a:rPr>
              <a:t>T</a:t>
            </a:r>
            <a:r>
              <a:rPr sz="1500" i="1" spc="-37" baseline="-11111" dirty="0">
                <a:latin typeface="Times New Roman"/>
                <a:cs typeface="Times New Roman"/>
              </a:rPr>
              <a:t>E</a:t>
            </a:r>
            <a:endParaRPr sz="1500" baseline="-1111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37502" y="3837685"/>
            <a:ext cx="14636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(with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probability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6109" y="4447290"/>
            <a:ext cx="14636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(with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probability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1027430"/>
            <a:ext cx="79228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Output</a:t>
            </a:r>
            <a:r>
              <a:rPr sz="3200" spc="-50" dirty="0"/>
              <a:t> </a:t>
            </a:r>
            <a:r>
              <a:rPr sz="3200" dirty="0"/>
              <a:t>Analysis</a:t>
            </a:r>
            <a:r>
              <a:rPr sz="3200" spc="-50" dirty="0"/>
              <a:t> </a:t>
            </a:r>
            <a:r>
              <a:rPr sz="3200" dirty="0"/>
              <a:t>for</a:t>
            </a:r>
            <a:r>
              <a:rPr sz="3200" spc="-50" dirty="0"/>
              <a:t> </a:t>
            </a:r>
            <a:r>
              <a:rPr sz="3200" spc="-10" dirty="0"/>
              <a:t>Steady-</a:t>
            </a:r>
            <a:r>
              <a:rPr sz="3200" dirty="0"/>
              <a:t>State</a:t>
            </a:r>
            <a:r>
              <a:rPr sz="3200" spc="-45" dirty="0"/>
              <a:t> </a:t>
            </a:r>
            <a:r>
              <a:rPr sz="3200" spc="-10" dirty="0"/>
              <a:t>Simulation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3700" marR="1252220" indent="-342900">
              <a:lnSpc>
                <a:spcPts val="2590"/>
              </a:lnSpc>
              <a:spcBef>
                <a:spcPts val="425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sample</a:t>
            </a:r>
            <a:r>
              <a:rPr spc="-50" dirty="0"/>
              <a:t> </a:t>
            </a:r>
            <a:r>
              <a:rPr dirty="0"/>
              <a:t>size</a:t>
            </a:r>
            <a:r>
              <a:rPr spc="-4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design</a:t>
            </a:r>
            <a:r>
              <a:rPr spc="-50" dirty="0"/>
              <a:t> </a:t>
            </a:r>
            <a:r>
              <a:rPr dirty="0"/>
              <a:t>choice,</a:t>
            </a:r>
            <a:r>
              <a:rPr spc="-4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several </a:t>
            </a:r>
            <a:r>
              <a:rPr dirty="0"/>
              <a:t>considerations</a:t>
            </a:r>
            <a:r>
              <a:rPr spc="-90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spc="-10" dirty="0"/>
              <a:t>mind:</a:t>
            </a:r>
          </a:p>
          <a:p>
            <a:pPr marL="793750" marR="212090" lvl="1" indent="-285750">
              <a:lnSpc>
                <a:spcPts val="216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Any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bias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estimator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artificial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arbitrary </a:t>
            </a:r>
            <a:r>
              <a:rPr sz="2000" dirty="0">
                <a:latin typeface="Arial"/>
                <a:cs typeface="Arial"/>
              </a:rPr>
              <a:t>initial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conditions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(bias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severe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length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short).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21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Desired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precision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estimator.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234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Budget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constraints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computer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resources.</a:t>
            </a:r>
            <a:endParaRPr sz="2000">
              <a:latin typeface="Arial"/>
              <a:cs typeface="Arial"/>
            </a:endParaRPr>
          </a:p>
          <a:p>
            <a:pPr marL="393700" marR="266065" indent="-342900">
              <a:lnSpc>
                <a:spcPts val="2550"/>
              </a:lnSpc>
              <a:spcBef>
                <a:spcPts val="670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dirty="0"/>
              <a:t>Notation:</a:t>
            </a:r>
            <a:r>
              <a:rPr spc="-5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estimation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z="2500" i="1" dirty="0">
                <a:latin typeface="Symbol"/>
                <a:cs typeface="Symbol"/>
              </a:rPr>
              <a:t>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dirty="0"/>
              <a:t>from</a:t>
            </a:r>
            <a:r>
              <a:rPr spc="-5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25" dirty="0"/>
              <a:t>discrete-</a:t>
            </a:r>
            <a:r>
              <a:rPr dirty="0"/>
              <a:t>time</a:t>
            </a:r>
            <a:r>
              <a:rPr spc="-50" dirty="0"/>
              <a:t> </a:t>
            </a:r>
            <a:r>
              <a:rPr spc="-10" dirty="0"/>
              <a:t>output process.</a:t>
            </a:r>
            <a:endParaRPr sz="2500">
              <a:latin typeface="Times New Roman"/>
              <a:cs typeface="Times New Roman"/>
            </a:endParaRPr>
          </a:p>
          <a:p>
            <a:pPr marL="794385" lvl="1" indent="-286385">
              <a:lnSpc>
                <a:spcPct val="100000"/>
              </a:lnSpc>
              <a:spcBef>
                <a:spcPts val="215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One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replication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run),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output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1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2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3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  <a:p>
            <a:pPr marL="793115" marR="43180" lvl="1" indent="-285750">
              <a:lnSpc>
                <a:spcPts val="2160"/>
              </a:lnSpc>
              <a:spcBef>
                <a:spcPts val="509"/>
              </a:spcBef>
              <a:buClr>
                <a:srgbClr val="9A9ACC"/>
              </a:buClr>
              <a:buSzPct val="80000"/>
              <a:buChar char="□"/>
              <a:tabLst>
                <a:tab pos="793115" algn="l"/>
              </a:tabLst>
            </a:pPr>
            <a:r>
              <a:rPr sz="2000" dirty="0">
                <a:latin typeface="Arial"/>
                <a:cs typeface="Arial"/>
              </a:rPr>
              <a:t>With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several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replications,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output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replication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r: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r1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Y</a:t>
            </a:r>
            <a:r>
              <a:rPr sz="1950" i="1" spc="-30" baseline="-21367" dirty="0">
                <a:latin typeface="Arial"/>
                <a:cs typeface="Arial"/>
              </a:rPr>
              <a:t>r2</a:t>
            </a:r>
            <a:r>
              <a:rPr sz="2000" i="1" spc="-20" dirty="0">
                <a:latin typeface="Arial"/>
                <a:cs typeface="Arial"/>
              </a:rPr>
              <a:t>, 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r3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Initialization</a:t>
            </a:r>
            <a:r>
              <a:rPr sz="3200" spc="-80" dirty="0"/>
              <a:t> </a:t>
            </a:r>
            <a:r>
              <a:rPr sz="3200" spc="-20" dirty="0"/>
              <a:t>Bias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3191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State</a:t>
            </a:r>
            <a:r>
              <a:rPr sz="2200" spc="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902" y="1902967"/>
            <a:ext cx="8286115" cy="43535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20700" indent="-342900">
              <a:lnSpc>
                <a:spcPts val="2380"/>
              </a:lnSpc>
              <a:spcBef>
                <a:spcPts val="395"/>
              </a:spcBef>
              <a:buClr>
                <a:srgbClr val="00007C"/>
              </a:buClr>
              <a:buSzPct val="77272"/>
              <a:buChar char="■"/>
              <a:tabLst>
                <a:tab pos="355600" algn="l"/>
              </a:tabLst>
            </a:pPr>
            <a:r>
              <a:rPr sz="2200" dirty="0">
                <a:latin typeface="Arial"/>
                <a:cs typeface="Arial"/>
              </a:rPr>
              <a:t>Methods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reduce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point-</a:t>
            </a:r>
            <a:r>
              <a:rPr sz="2200" dirty="0">
                <a:latin typeface="Arial"/>
                <a:cs typeface="Arial"/>
              </a:rPr>
              <a:t>estimator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bias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caused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by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using </a:t>
            </a:r>
            <a:r>
              <a:rPr sz="2200" dirty="0">
                <a:latin typeface="Arial"/>
                <a:cs typeface="Arial"/>
              </a:rPr>
              <a:t>artificial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unrealistic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initial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conditions:</a:t>
            </a:r>
            <a:endParaRPr sz="2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00"/>
              </a:spcBef>
              <a:buClr>
                <a:srgbClr val="9A9ACC"/>
              </a:buClr>
              <a:buSzPct val="80000"/>
              <a:buChar char="□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Intelligent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initialization.</a:t>
            </a:r>
            <a:endParaRPr sz="2000">
              <a:latin typeface="Arial"/>
              <a:cs typeface="Arial"/>
            </a:endParaRPr>
          </a:p>
          <a:p>
            <a:pPr marL="755650" marR="420370" lvl="1" indent="-285750">
              <a:lnSpc>
                <a:spcPts val="2170"/>
              </a:lnSpc>
              <a:spcBef>
                <a:spcPts val="495"/>
              </a:spcBef>
              <a:buClr>
                <a:srgbClr val="9A9ACC"/>
              </a:buClr>
              <a:buSzPct val="80000"/>
              <a:buChar char="□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Divide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initialization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phase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data-collection phase.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Clr>
                <a:srgbClr val="00007C"/>
              </a:buClr>
              <a:buSzPct val="77272"/>
              <a:buChar char="■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Intelligent </a:t>
            </a:r>
            <a:r>
              <a:rPr sz="2200" spc="-10" dirty="0">
                <a:latin typeface="Arial"/>
                <a:cs typeface="Arial"/>
              </a:rPr>
              <a:t>initialization</a:t>
            </a:r>
            <a:endParaRPr sz="2200">
              <a:latin typeface="Arial"/>
              <a:cs typeface="Arial"/>
            </a:endParaRPr>
          </a:p>
          <a:p>
            <a:pPr marL="755650" marR="514984" lvl="1" indent="-285750">
              <a:lnSpc>
                <a:spcPts val="2160"/>
              </a:lnSpc>
              <a:spcBef>
                <a:spcPts val="509"/>
              </a:spcBef>
              <a:buClr>
                <a:srgbClr val="9A9ACC"/>
              </a:buClr>
              <a:buSzPct val="80000"/>
              <a:buChar char="□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Initialize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simulation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representative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long-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10" dirty="0">
                <a:latin typeface="Arial"/>
                <a:cs typeface="Arial"/>
              </a:rPr>
              <a:t> conditions.</a:t>
            </a:r>
            <a:endParaRPr sz="2000">
              <a:latin typeface="Arial"/>
              <a:cs typeface="Arial"/>
            </a:endParaRPr>
          </a:p>
          <a:p>
            <a:pPr marL="755650" marR="27305" lvl="1" indent="-285750">
              <a:lnSpc>
                <a:spcPts val="2160"/>
              </a:lnSpc>
              <a:spcBef>
                <a:spcPts val="480"/>
              </a:spcBef>
              <a:buClr>
                <a:srgbClr val="9A9ACC"/>
              </a:buClr>
              <a:buSzPct val="80000"/>
              <a:buChar char="□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system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collect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these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specify </a:t>
            </a:r>
            <a:r>
              <a:rPr sz="2000" dirty="0">
                <a:latin typeface="Arial"/>
                <a:cs typeface="Arial"/>
              </a:rPr>
              <a:t>more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nearly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typical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conditions.</a:t>
            </a:r>
            <a:endParaRPr sz="2000">
              <a:latin typeface="Arial"/>
              <a:cs typeface="Arial"/>
            </a:endParaRPr>
          </a:p>
          <a:p>
            <a:pPr marL="755650" marR="5080" lvl="1" indent="-285750">
              <a:lnSpc>
                <a:spcPct val="90100"/>
              </a:lnSpc>
              <a:spcBef>
                <a:spcPts val="445"/>
              </a:spcBef>
              <a:buClr>
                <a:srgbClr val="9A9ACC"/>
              </a:buClr>
              <a:buSzPct val="80000"/>
              <a:buChar char="□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system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simplified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enough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make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mathematically </a:t>
            </a:r>
            <a:r>
              <a:rPr sz="2000" dirty="0">
                <a:latin typeface="Arial"/>
                <a:cs typeface="Arial"/>
              </a:rPr>
              <a:t>solvable,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e.g.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queueing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models,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solve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simplified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find long-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expected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most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likely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conditions,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initialize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simulation.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Initialization</a:t>
            </a:r>
            <a:r>
              <a:rPr sz="3200" spc="-80" dirty="0"/>
              <a:t> </a:t>
            </a:r>
            <a:r>
              <a:rPr sz="3200" spc="-20" dirty="0"/>
              <a:t>Bias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3191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State</a:t>
            </a:r>
            <a:r>
              <a:rPr sz="2200" spc="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1869711"/>
            <a:ext cx="8289925" cy="28340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360"/>
              </a:spcBef>
              <a:buClr>
                <a:srgbClr val="00007C"/>
              </a:buClr>
              <a:buSzPct val="77272"/>
              <a:buChar char="■"/>
              <a:tabLst>
                <a:tab pos="380365" algn="l"/>
              </a:tabLst>
            </a:pPr>
            <a:r>
              <a:rPr sz="2200" dirty="0">
                <a:latin typeface="Arial"/>
                <a:cs typeface="Arial"/>
              </a:rPr>
              <a:t>Divide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each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simulation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into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two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phases:</a:t>
            </a:r>
            <a:endParaRPr sz="22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An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initialization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phase,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T</a:t>
            </a:r>
            <a:r>
              <a:rPr sz="1950" i="1" spc="-37" baseline="-21367" dirty="0">
                <a:latin typeface="Arial"/>
                <a:cs typeface="Arial"/>
              </a:rPr>
              <a:t>0</a:t>
            </a:r>
            <a:r>
              <a:rPr sz="2000" i="1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229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data-</a:t>
            </a:r>
            <a:r>
              <a:rPr sz="2000" dirty="0">
                <a:latin typeface="Arial"/>
                <a:cs typeface="Arial"/>
              </a:rPr>
              <a:t>collection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phase,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950" i="1" baseline="-21367" dirty="0">
                <a:latin typeface="Arial"/>
                <a:cs typeface="Arial"/>
              </a:rPr>
              <a:t>0</a:t>
            </a:r>
            <a:r>
              <a:rPr sz="1950" i="1" spc="209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stopping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T</a:t>
            </a:r>
            <a:r>
              <a:rPr sz="1950" i="1" spc="-15" baseline="-21367" dirty="0">
                <a:latin typeface="Arial"/>
                <a:cs typeface="Arial"/>
              </a:rPr>
              <a:t>0</a:t>
            </a:r>
            <a:r>
              <a:rPr sz="2000" i="1" spc="-10" dirty="0">
                <a:latin typeface="Arial"/>
                <a:cs typeface="Arial"/>
              </a:rPr>
              <a:t>+T</a:t>
            </a:r>
            <a:r>
              <a:rPr sz="1950" i="1" spc="-15" baseline="-21367" dirty="0">
                <a:latin typeface="Arial"/>
                <a:cs typeface="Arial"/>
              </a:rPr>
              <a:t>E</a:t>
            </a:r>
            <a:r>
              <a:rPr sz="2000" i="1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choice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950" i="1" baseline="-21367" dirty="0">
                <a:latin typeface="Arial"/>
                <a:cs typeface="Arial"/>
              </a:rPr>
              <a:t>0</a:t>
            </a:r>
            <a:r>
              <a:rPr sz="1950" i="1" spc="23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important:</a:t>
            </a:r>
            <a:endParaRPr sz="2000">
              <a:latin typeface="Arial"/>
              <a:cs typeface="Arial"/>
            </a:endParaRPr>
          </a:p>
          <a:p>
            <a:pPr marL="1180465" marR="85090" lvl="2" indent="-228600">
              <a:lnSpc>
                <a:spcPts val="1950"/>
              </a:lnSpc>
              <a:spcBef>
                <a:spcPts val="465"/>
              </a:spcBef>
              <a:buClr>
                <a:srgbClr val="00007C"/>
              </a:buClr>
              <a:buSzPct val="66666"/>
              <a:buChar char="■"/>
              <a:tabLst>
                <a:tab pos="1180465" algn="l"/>
              </a:tabLst>
            </a:pPr>
            <a:r>
              <a:rPr sz="1800" dirty="0">
                <a:latin typeface="Arial"/>
                <a:cs typeface="Arial"/>
              </a:rPr>
              <a:t>After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baseline="-23148" dirty="0">
                <a:latin typeface="Arial"/>
                <a:cs typeface="Arial"/>
              </a:rPr>
              <a:t>0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system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should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nearly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representative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steady-</a:t>
            </a:r>
            <a:r>
              <a:rPr sz="1800" spc="-20" dirty="0">
                <a:latin typeface="Arial"/>
                <a:cs typeface="Arial"/>
              </a:rPr>
              <a:t>state </a:t>
            </a:r>
            <a:r>
              <a:rPr sz="1800" spc="-10" dirty="0">
                <a:latin typeface="Arial"/>
                <a:cs typeface="Arial"/>
              </a:rPr>
              <a:t>behavior.</a:t>
            </a:r>
            <a:endParaRPr sz="1800">
              <a:latin typeface="Arial"/>
              <a:cs typeface="Arial"/>
            </a:endParaRPr>
          </a:p>
          <a:p>
            <a:pPr marL="781050" marR="30480" lvl="1" indent="-285750">
              <a:lnSpc>
                <a:spcPts val="2160"/>
              </a:lnSpc>
              <a:spcBef>
                <a:spcPts val="484"/>
              </a:spcBef>
              <a:buClr>
                <a:srgbClr val="9A9ACC"/>
              </a:buClr>
              <a:buSzPct val="80000"/>
              <a:buChar char="□"/>
              <a:tabLst>
                <a:tab pos="781050" algn="l"/>
              </a:tabLst>
            </a:pPr>
            <a:r>
              <a:rPr sz="2000" dirty="0">
                <a:latin typeface="Arial"/>
                <a:cs typeface="Arial"/>
              </a:rPr>
              <a:t>System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reached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steady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probability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distribution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system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close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steady-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probability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distribution </a:t>
            </a:r>
            <a:r>
              <a:rPr sz="2000" dirty="0">
                <a:latin typeface="Arial"/>
                <a:cs typeface="Arial"/>
              </a:rPr>
              <a:t>(bias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response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negligible).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Initialization</a:t>
            </a:r>
            <a:r>
              <a:rPr sz="3200" spc="-80" dirty="0"/>
              <a:t> </a:t>
            </a:r>
            <a:r>
              <a:rPr sz="3200" spc="-20" dirty="0"/>
              <a:t>Bias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3191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State</a:t>
            </a:r>
            <a:r>
              <a:rPr sz="2200" spc="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1899158"/>
            <a:ext cx="7722234" cy="26092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0365" marR="659765" indent="-342900">
              <a:lnSpc>
                <a:spcPts val="2590"/>
              </a:lnSpc>
              <a:spcBef>
                <a:spcPts val="425"/>
              </a:spcBef>
              <a:buClr>
                <a:srgbClr val="00007C"/>
              </a:buClr>
              <a:buSzPct val="77272"/>
              <a:buChar char="■"/>
              <a:tabLst>
                <a:tab pos="380365" algn="l"/>
              </a:tabLst>
            </a:pPr>
            <a:r>
              <a:rPr sz="2200" dirty="0">
                <a:latin typeface="Arial"/>
                <a:cs typeface="Arial"/>
              </a:rPr>
              <a:t>M/G/1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queueing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example: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independent </a:t>
            </a:r>
            <a:r>
              <a:rPr sz="2400" dirty="0">
                <a:latin typeface="Arial"/>
                <a:cs typeface="Arial"/>
              </a:rPr>
              <a:t>replications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made.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204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Each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replication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beginning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empty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idle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780415" marR="30480" lvl="1" indent="-285750">
              <a:lnSpc>
                <a:spcPts val="2170"/>
              </a:lnSpc>
              <a:spcBef>
                <a:spcPts val="495"/>
              </a:spcBef>
              <a:buClr>
                <a:srgbClr val="9A9ACC"/>
              </a:buClr>
              <a:buSzPct val="80000"/>
              <a:buChar char="□"/>
              <a:tabLst>
                <a:tab pos="780415" algn="l"/>
              </a:tabLst>
            </a:pPr>
            <a:r>
              <a:rPr sz="2000" spc="-10" dirty="0">
                <a:latin typeface="Arial"/>
                <a:cs typeface="Arial"/>
              </a:rPr>
              <a:t>Simulation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length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replication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950" i="1" baseline="-21367" dirty="0">
                <a:latin typeface="Arial"/>
                <a:cs typeface="Arial"/>
              </a:rPr>
              <a:t>0</a:t>
            </a:r>
            <a:r>
              <a:rPr sz="2000" i="1" dirty="0">
                <a:latin typeface="Arial"/>
                <a:cs typeface="Arial"/>
              </a:rPr>
              <a:t>+T</a:t>
            </a:r>
            <a:r>
              <a:rPr sz="1950" i="1" baseline="-21367" dirty="0">
                <a:latin typeface="Arial"/>
                <a:cs typeface="Arial"/>
              </a:rPr>
              <a:t>E</a:t>
            </a:r>
            <a:r>
              <a:rPr sz="1950" i="1" spc="21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15,000 minutes.</a:t>
            </a:r>
            <a:endParaRPr sz="2000">
              <a:latin typeface="Arial"/>
              <a:cs typeface="Arial"/>
            </a:endParaRPr>
          </a:p>
          <a:p>
            <a:pPr marL="781050" marR="295275" lvl="1" indent="-286385">
              <a:lnSpc>
                <a:spcPts val="2170"/>
              </a:lnSpc>
              <a:spcBef>
                <a:spcPts val="459"/>
              </a:spcBef>
              <a:buClr>
                <a:srgbClr val="9A9ACC"/>
              </a:buClr>
              <a:buSzPct val="80000"/>
              <a:buChar char="□"/>
              <a:tabLst>
                <a:tab pos="781050" algn="l"/>
              </a:tabLst>
            </a:pPr>
            <a:r>
              <a:rPr sz="2000" dirty="0">
                <a:latin typeface="Arial"/>
                <a:cs typeface="Arial"/>
              </a:rPr>
              <a:t>Response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variable: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queue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length,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950" i="1" baseline="-21367" dirty="0">
                <a:latin typeface="Arial"/>
                <a:cs typeface="Arial"/>
              </a:rPr>
              <a:t>Q</a:t>
            </a:r>
            <a:r>
              <a:rPr sz="2000" i="1" dirty="0">
                <a:latin typeface="Arial"/>
                <a:cs typeface="Arial"/>
              </a:rPr>
              <a:t>(t,r)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r</a:t>
            </a:r>
            <a:r>
              <a:rPr sz="2000" spc="-25" dirty="0">
                <a:latin typeface="Arial"/>
                <a:cs typeface="Arial"/>
              </a:rPr>
              <a:t>th </a:t>
            </a:r>
            <a:r>
              <a:rPr sz="2000" spc="-10" dirty="0">
                <a:latin typeface="Arial"/>
                <a:cs typeface="Arial"/>
              </a:rPr>
              <a:t>replication).</a:t>
            </a:r>
            <a:endParaRPr sz="20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200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Batching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1,000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minutes,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means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902" y="4480623"/>
            <a:ext cx="7639684" cy="10991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9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Ensemble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averages: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4"/>
              </a:spcBef>
              <a:buClr>
                <a:srgbClr val="9A9ACC"/>
              </a:buClr>
              <a:buSzPct val="80000"/>
              <a:buChar char="□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identify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trend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initialization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bias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29"/>
              </a:spcBef>
              <a:buClr>
                <a:srgbClr val="9A9ACC"/>
              </a:buClr>
              <a:buSzPct val="80000"/>
              <a:buChar char="□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corresponding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across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replications: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1102" y="6254750"/>
            <a:ext cx="58947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preferred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determine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deletion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6838" y="5684520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>
                <a:moveTo>
                  <a:pt x="0" y="0"/>
                </a:moveTo>
                <a:lnTo>
                  <a:pt x="149351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06007" y="5814047"/>
            <a:ext cx="135255" cy="222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i="1" spc="-25" dirty="0">
                <a:latin typeface="Times New Roman"/>
                <a:cs typeface="Times New Roman"/>
              </a:rPr>
              <a:t>rj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0467" y="5625965"/>
            <a:ext cx="182245" cy="363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00" i="1" spc="-50" dirty="0">
                <a:latin typeface="Times New Roman"/>
                <a:cs typeface="Times New Roman"/>
              </a:rPr>
              <a:t>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73954" y="6012163"/>
            <a:ext cx="271780" cy="222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i="1" dirty="0">
                <a:latin typeface="Times New Roman"/>
                <a:cs typeface="Times New Roman"/>
              </a:rPr>
              <a:t>r</a:t>
            </a:r>
            <a:r>
              <a:rPr sz="1300" i="1" spc="-18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Symbol"/>
                <a:cs typeface="Symbol"/>
              </a:rPr>
              <a:t></a:t>
            </a:r>
            <a:r>
              <a:rPr sz="1300" spc="-2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5823" y="5308527"/>
            <a:ext cx="852805" cy="53213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117475" algn="r">
              <a:lnSpc>
                <a:spcPts val="210"/>
              </a:lnSpc>
              <a:spcBef>
                <a:spcPts val="1265"/>
              </a:spcBef>
            </a:pPr>
            <a:r>
              <a:rPr sz="1300" i="1" spc="-5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  <a:p>
            <a:pPr marL="38100">
              <a:lnSpc>
                <a:spcPts val="2610"/>
              </a:lnSpc>
            </a:pPr>
            <a:r>
              <a:rPr sz="3300" baseline="-35353" dirty="0">
                <a:latin typeface="Symbol"/>
                <a:cs typeface="Symbol"/>
              </a:rPr>
              <a:t></a:t>
            </a:r>
            <a:r>
              <a:rPr sz="3300" spc="-7" baseline="-35353" dirty="0">
                <a:latin typeface="Times New Roman"/>
                <a:cs typeface="Times New Roman"/>
              </a:rPr>
              <a:t> </a:t>
            </a:r>
            <a:r>
              <a:rPr sz="2200" u="sng" spc="-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4950" spc="-2445" baseline="-31986" dirty="0">
                <a:latin typeface="Symbol"/>
                <a:cs typeface="Symbol"/>
              </a:rPr>
              <a:t></a:t>
            </a:r>
            <a:endParaRPr sz="4950" baseline="-31986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3440" y="5846176"/>
            <a:ext cx="197485" cy="363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00" i="1" spc="-50" dirty="0">
                <a:latin typeface="Times New Roman"/>
                <a:cs typeface="Times New Roman"/>
              </a:rPr>
              <a:t>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3836" y="5625965"/>
            <a:ext cx="182245" cy="363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00" i="1" spc="-50" dirty="0">
                <a:latin typeface="Times New Roman"/>
                <a:cs typeface="Times New Roman"/>
              </a:rPr>
              <a:t>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8716" y="5814050"/>
            <a:ext cx="146685" cy="222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dirty="0">
                <a:latin typeface="Times New Roman"/>
                <a:cs typeface="Times New Roman"/>
              </a:rPr>
              <a:t>.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i="1" spc="-50" dirty="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11446" y="5577078"/>
            <a:ext cx="2832735" cy="443230"/>
          </a:xfrm>
          <a:custGeom>
            <a:avLst/>
            <a:gdLst/>
            <a:ahLst/>
            <a:cxnLst/>
            <a:rect l="l" t="t" r="r" b="b"/>
            <a:pathLst>
              <a:path w="2832734" h="443229">
                <a:moveTo>
                  <a:pt x="1232154" y="391667"/>
                </a:moveTo>
                <a:lnTo>
                  <a:pt x="1268617" y="417434"/>
                </a:lnTo>
                <a:lnTo>
                  <a:pt x="1310354" y="427767"/>
                </a:lnTo>
                <a:lnTo>
                  <a:pt x="1364346" y="435751"/>
                </a:lnTo>
                <a:lnTo>
                  <a:pt x="1428033" y="440898"/>
                </a:lnTo>
                <a:lnTo>
                  <a:pt x="1498854" y="442721"/>
                </a:lnTo>
                <a:lnTo>
                  <a:pt x="2565654" y="442721"/>
                </a:lnTo>
                <a:lnTo>
                  <a:pt x="2636474" y="440898"/>
                </a:lnTo>
                <a:lnTo>
                  <a:pt x="2700161" y="435751"/>
                </a:lnTo>
                <a:lnTo>
                  <a:pt x="2754153" y="427767"/>
                </a:lnTo>
                <a:lnTo>
                  <a:pt x="2795890" y="417434"/>
                </a:lnTo>
                <a:lnTo>
                  <a:pt x="2832354" y="391667"/>
                </a:lnTo>
                <a:lnTo>
                  <a:pt x="2832354" y="188975"/>
                </a:lnTo>
                <a:lnTo>
                  <a:pt x="2795890" y="163209"/>
                </a:lnTo>
                <a:lnTo>
                  <a:pt x="2754153" y="152876"/>
                </a:lnTo>
                <a:lnTo>
                  <a:pt x="2700161" y="144892"/>
                </a:lnTo>
                <a:lnTo>
                  <a:pt x="2636474" y="139745"/>
                </a:lnTo>
                <a:lnTo>
                  <a:pt x="2565654" y="137921"/>
                </a:lnTo>
                <a:lnTo>
                  <a:pt x="1498853" y="137921"/>
                </a:lnTo>
                <a:lnTo>
                  <a:pt x="1428033" y="139745"/>
                </a:lnTo>
                <a:lnTo>
                  <a:pt x="1364346" y="144892"/>
                </a:lnTo>
                <a:lnTo>
                  <a:pt x="1310354" y="152876"/>
                </a:lnTo>
                <a:lnTo>
                  <a:pt x="1268617" y="163209"/>
                </a:lnTo>
                <a:lnTo>
                  <a:pt x="1232153" y="188975"/>
                </a:lnTo>
                <a:lnTo>
                  <a:pt x="0" y="0"/>
                </a:lnTo>
                <a:lnTo>
                  <a:pt x="1232153" y="265175"/>
                </a:lnTo>
                <a:lnTo>
                  <a:pt x="1232154" y="39166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94552" y="5741161"/>
            <a:ext cx="11010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replications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Initialization</a:t>
            </a:r>
            <a:r>
              <a:rPr sz="3200" spc="-80" dirty="0"/>
              <a:t> </a:t>
            </a:r>
            <a:r>
              <a:rPr sz="3200" spc="-20" dirty="0"/>
              <a:t>Bias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3191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State</a:t>
            </a:r>
            <a:r>
              <a:rPr sz="2200" spc="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1102" y="5885179"/>
            <a:ext cx="65176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Illustrates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downward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bias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initial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observations.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2438399"/>
            <a:ext cx="4571999" cy="33878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60314" y="1961388"/>
            <a:ext cx="132080" cy="0"/>
          </a:xfrm>
          <a:custGeom>
            <a:avLst/>
            <a:gdLst/>
            <a:ahLst/>
            <a:cxnLst/>
            <a:rect l="l" t="t" r="r" b="b"/>
            <a:pathLst>
              <a:path w="132079">
                <a:moveTo>
                  <a:pt x="0" y="0"/>
                </a:moveTo>
                <a:lnTo>
                  <a:pt x="131825" y="0"/>
                </a:lnTo>
              </a:path>
            </a:pathLst>
          </a:custGeom>
          <a:ln w="12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3902" y="1902967"/>
            <a:ext cx="7997825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4965" marR="5080" indent="-342900">
              <a:lnSpc>
                <a:spcPts val="2380"/>
              </a:lnSpc>
              <a:spcBef>
                <a:spcPts val="395"/>
              </a:spcBef>
              <a:buClr>
                <a:srgbClr val="00007C"/>
              </a:buClr>
              <a:buSzPct val="77272"/>
              <a:buChar char="■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plot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ensemble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averages,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925" i="1" spc="-30" baseline="4273" dirty="0">
                <a:latin typeface="Times New Roman"/>
                <a:cs typeface="Times New Roman"/>
              </a:rPr>
              <a:t>Y</a:t>
            </a:r>
            <a:r>
              <a:rPr sz="2925" i="1" spc="-284" baseline="4273" dirty="0">
                <a:latin typeface="Times New Roman"/>
                <a:cs typeface="Times New Roman"/>
              </a:rPr>
              <a:t> </a:t>
            </a:r>
            <a:r>
              <a:rPr sz="2925" baseline="4273" dirty="0">
                <a:latin typeface="Times New Roman"/>
                <a:cs typeface="Times New Roman"/>
              </a:rPr>
              <a:t>..(</a:t>
            </a:r>
            <a:r>
              <a:rPr sz="2925" i="1" baseline="4273" dirty="0">
                <a:latin typeface="Times New Roman"/>
                <a:cs typeface="Times New Roman"/>
              </a:rPr>
              <a:t>n</a:t>
            </a:r>
            <a:r>
              <a:rPr sz="2925" baseline="4273" dirty="0">
                <a:latin typeface="Times New Roman"/>
                <a:cs typeface="Times New Roman"/>
              </a:rPr>
              <a:t>,</a:t>
            </a:r>
            <a:r>
              <a:rPr sz="2925" spc="-375" baseline="4273" dirty="0">
                <a:latin typeface="Times New Roman"/>
                <a:cs typeface="Times New Roman"/>
              </a:rPr>
              <a:t> </a:t>
            </a:r>
            <a:r>
              <a:rPr sz="2925" i="1" spc="-15" baseline="4273" dirty="0">
                <a:latin typeface="Times New Roman"/>
                <a:cs typeface="Times New Roman"/>
              </a:rPr>
              <a:t>d</a:t>
            </a:r>
            <a:r>
              <a:rPr sz="2925" i="1" spc="-412" baseline="4273" dirty="0">
                <a:latin typeface="Times New Roman"/>
                <a:cs typeface="Times New Roman"/>
              </a:rPr>
              <a:t> </a:t>
            </a:r>
            <a:r>
              <a:rPr sz="2925" spc="112" baseline="4273" dirty="0">
                <a:latin typeface="Times New Roman"/>
                <a:cs typeface="Times New Roman"/>
              </a:rPr>
              <a:t>)</a:t>
            </a:r>
            <a:r>
              <a:rPr sz="2200" spc="75" dirty="0">
                <a:latin typeface="Arial"/>
                <a:cs typeface="Arial"/>
              </a:rPr>
              <a:t>,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versus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1000j</a:t>
            </a:r>
            <a:r>
              <a:rPr sz="2200" dirty="0">
                <a:latin typeface="Arial"/>
                <a:cs typeface="Arial"/>
              </a:rPr>
              <a:t>,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j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spc="-50" dirty="0">
                <a:latin typeface="Arial"/>
                <a:cs typeface="Arial"/>
              </a:rPr>
              <a:t>= </a:t>
            </a:r>
            <a:r>
              <a:rPr sz="2200" i="1" dirty="0">
                <a:latin typeface="Arial"/>
                <a:cs typeface="Arial"/>
              </a:rPr>
              <a:t>1,2,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spc="-20" dirty="0">
                <a:latin typeface="Arial"/>
                <a:cs typeface="Arial"/>
              </a:rPr>
              <a:t>…,15</a:t>
            </a:r>
            <a:r>
              <a:rPr sz="2200" spc="-2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Initialization</a:t>
            </a:r>
            <a:r>
              <a:rPr sz="3200" spc="-80" dirty="0"/>
              <a:t> </a:t>
            </a:r>
            <a:r>
              <a:rPr sz="3200" spc="-20" dirty="0"/>
              <a:t>Bias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65902" y="1153922"/>
            <a:ext cx="33191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State</a:t>
            </a:r>
            <a:r>
              <a:rPr sz="2200" spc="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84007" y="5556503"/>
            <a:ext cx="142875" cy="0"/>
          </a:xfrm>
          <a:custGeom>
            <a:avLst/>
            <a:gdLst/>
            <a:ahLst/>
            <a:cxnLst/>
            <a:rect l="l" t="t" r="r" b="b"/>
            <a:pathLst>
              <a:path w="142875">
                <a:moveTo>
                  <a:pt x="0" y="0"/>
                </a:moveTo>
                <a:lnTo>
                  <a:pt x="142494" y="0"/>
                </a:lnTo>
              </a:path>
            </a:pathLst>
          </a:custGeom>
          <a:ln w="11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5802" y="1899158"/>
            <a:ext cx="8234045" cy="4827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3700" marR="19685" indent="-342900">
              <a:lnSpc>
                <a:spcPts val="2590"/>
              </a:lnSpc>
              <a:spcBef>
                <a:spcPts val="425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No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widely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accepted,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objective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proven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technique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guide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delete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reduce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initialization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bias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negligible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level.</a:t>
            </a:r>
            <a:endParaRPr sz="2400">
              <a:latin typeface="Arial"/>
              <a:cs typeface="Arial"/>
            </a:endParaRPr>
          </a:p>
          <a:p>
            <a:pPr marL="393700" marR="1073785" indent="-342900">
              <a:lnSpc>
                <a:spcPts val="2590"/>
              </a:lnSpc>
              <a:spcBef>
                <a:spcPts val="565"/>
              </a:spcBef>
              <a:buClr>
                <a:srgbClr val="00007C"/>
              </a:buClr>
              <a:buSzPct val="75000"/>
              <a:buChar char="■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Plots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times,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misleading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still recommended.</a:t>
            </a:r>
            <a:endParaRPr sz="2400">
              <a:latin typeface="Arial"/>
              <a:cs typeface="Arial"/>
            </a:endParaRPr>
          </a:p>
          <a:p>
            <a:pPr marL="793750" marR="70485" lvl="1" indent="-285750">
              <a:lnSpc>
                <a:spcPts val="2170"/>
              </a:lnSpc>
              <a:spcBef>
                <a:spcPts val="46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Ensemble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reveal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smoother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precise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trend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as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#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replications,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increases.</a:t>
            </a:r>
            <a:endParaRPr sz="2000">
              <a:latin typeface="Arial"/>
              <a:cs typeface="Arial"/>
            </a:endParaRPr>
          </a:p>
          <a:p>
            <a:pPr marL="793750" marR="43180" lvl="1" indent="-285750">
              <a:lnSpc>
                <a:spcPts val="2170"/>
              </a:lnSpc>
              <a:spcBef>
                <a:spcPts val="459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Ensemble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smoothed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further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plotting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moving average.</a:t>
            </a:r>
            <a:endParaRPr sz="2000">
              <a:latin typeface="Arial"/>
              <a:cs typeface="Arial"/>
            </a:endParaRPr>
          </a:p>
          <a:p>
            <a:pPr marL="793750" marR="601345" lvl="1" indent="-285750">
              <a:lnSpc>
                <a:spcPts val="2170"/>
              </a:lnSpc>
              <a:spcBef>
                <a:spcPts val="459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Cumulative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average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becomes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less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are </a:t>
            </a:r>
            <a:r>
              <a:rPr sz="2000" spc="-10" dirty="0">
                <a:latin typeface="Arial"/>
                <a:cs typeface="Arial"/>
              </a:rPr>
              <a:t>averaged.</a:t>
            </a:r>
            <a:endParaRPr sz="2000">
              <a:latin typeface="Arial"/>
              <a:cs typeface="Arial"/>
            </a:endParaRPr>
          </a:p>
          <a:p>
            <a:pPr marL="793750" marR="1038225" lvl="1" indent="-285750">
              <a:lnSpc>
                <a:spcPts val="2150"/>
              </a:lnSpc>
              <a:spcBef>
                <a:spcPts val="49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correlation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present,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longer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takes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375" dirty="0">
                <a:latin typeface="Arial"/>
                <a:cs typeface="Arial"/>
              </a:rPr>
              <a:t> </a:t>
            </a:r>
            <a:r>
              <a:rPr sz="2100" i="1" spc="-85" dirty="0">
                <a:latin typeface="Times New Roman"/>
                <a:cs typeface="Times New Roman"/>
              </a:rPr>
              <a:t>Y</a:t>
            </a:r>
            <a:r>
              <a:rPr sz="1800" spc="-127" baseline="-25462" dirty="0">
                <a:latin typeface="Times New Roman"/>
                <a:cs typeface="Times New Roman"/>
              </a:rPr>
              <a:t>.</a:t>
            </a:r>
            <a:r>
              <a:rPr sz="1800" spc="-67" baseline="-25462" dirty="0">
                <a:latin typeface="Times New Roman"/>
                <a:cs typeface="Times New Roman"/>
              </a:rPr>
              <a:t> </a:t>
            </a:r>
            <a:r>
              <a:rPr sz="1800" i="1" baseline="-25462" dirty="0">
                <a:latin typeface="Times New Roman"/>
                <a:cs typeface="Times New Roman"/>
              </a:rPr>
              <a:t>j</a:t>
            </a:r>
            <a:r>
              <a:rPr sz="1800" i="1" spc="142" baseline="-25462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approach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steady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793750" marR="270510" lvl="1" indent="-285750">
              <a:lnSpc>
                <a:spcPts val="2170"/>
              </a:lnSpc>
              <a:spcBef>
                <a:spcPts val="465"/>
              </a:spcBef>
              <a:buClr>
                <a:srgbClr val="9A9ACC"/>
              </a:buClr>
              <a:buSzPct val="80000"/>
              <a:buChar char="□"/>
              <a:tabLst>
                <a:tab pos="793750" algn="l"/>
              </a:tabLst>
            </a:pPr>
            <a:r>
              <a:rPr sz="2000" dirty="0">
                <a:latin typeface="Arial"/>
                <a:cs typeface="Arial"/>
              </a:rPr>
              <a:t>Different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performance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measures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could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approach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steady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at </a:t>
            </a:r>
            <a:r>
              <a:rPr sz="2000" dirty="0">
                <a:latin typeface="Arial"/>
                <a:cs typeface="Arial"/>
              </a:rPr>
              <a:t>different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rates.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6406" y="6897027"/>
            <a:ext cx="228600" cy="24066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200" spc="-25" dirty="0">
                <a:latin typeface="Arial Black"/>
                <a:cs typeface="Arial Black"/>
              </a:rPr>
              <a:t>32</a:t>
            </a:r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-25" dirty="0"/>
              <a:t> </a:t>
            </a:r>
            <a:r>
              <a:rPr spc="-20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4278" y="1121918"/>
            <a:ext cx="3923029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600" dirty="0">
                <a:solidFill>
                  <a:srgbClr val="00007C"/>
                </a:solidFill>
                <a:latin typeface="Arial"/>
                <a:cs typeface="Arial"/>
              </a:rPr>
              <a:t>State </a:t>
            </a:r>
            <a:r>
              <a:rPr sz="26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1928876"/>
            <a:ext cx="8005445" cy="312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66420" indent="-34290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380365" algn="l"/>
              </a:tabLst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alternative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run </a:t>
            </a:r>
            <a:r>
              <a:rPr sz="2400" dirty="0">
                <a:latin typeface="Arial"/>
                <a:cs typeface="Arial"/>
              </a:rPr>
              <a:t>length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baseline="-20833" dirty="0">
                <a:latin typeface="Arial"/>
                <a:cs typeface="Arial"/>
              </a:rPr>
              <a:t>0</a:t>
            </a:r>
            <a:r>
              <a:rPr sz="2400" i="1" dirty="0">
                <a:latin typeface="Arial"/>
                <a:cs typeface="Arial"/>
              </a:rPr>
              <a:t>+T</a:t>
            </a:r>
            <a:r>
              <a:rPr sz="2400" i="1" baseline="-20833" dirty="0">
                <a:latin typeface="Arial"/>
                <a:cs typeface="Arial"/>
              </a:rPr>
              <a:t>E</a:t>
            </a:r>
            <a:r>
              <a:rPr sz="2400" i="1" spc="24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replication.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489"/>
              </a:spcBef>
              <a:buClr>
                <a:srgbClr val="9A9ACC"/>
              </a:buClr>
              <a:buSzPct val="80000"/>
              <a:buChar char="□"/>
              <a:tabLst>
                <a:tab pos="781685" algn="l"/>
              </a:tabLst>
            </a:pPr>
            <a:r>
              <a:rPr sz="2000" spc="-10" dirty="0">
                <a:latin typeface="Arial"/>
                <a:cs typeface="Arial"/>
              </a:rPr>
              <a:t>Approach:</a:t>
            </a:r>
            <a:endParaRPr sz="2000">
              <a:latin typeface="Arial"/>
              <a:cs typeface="Arial"/>
            </a:endParaRPr>
          </a:p>
          <a:p>
            <a:pPr marL="1181735" lvl="2" indent="-22923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6666"/>
              <a:buChar char="■"/>
              <a:tabLst>
                <a:tab pos="1181735" algn="l"/>
              </a:tabLst>
            </a:pPr>
            <a:r>
              <a:rPr sz="1800" dirty="0">
                <a:latin typeface="Arial"/>
                <a:cs typeface="Arial"/>
              </a:rPr>
              <a:t>Increase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run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length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(T</a:t>
            </a:r>
            <a:r>
              <a:rPr sz="2400" i="1" baseline="-20833" dirty="0">
                <a:latin typeface="Arial"/>
                <a:cs typeface="Arial"/>
              </a:rPr>
              <a:t>0</a:t>
            </a:r>
            <a:r>
              <a:rPr sz="1800" i="1" dirty="0">
                <a:latin typeface="Arial"/>
                <a:cs typeface="Arial"/>
              </a:rPr>
              <a:t>+T</a:t>
            </a:r>
            <a:r>
              <a:rPr sz="2400" i="1" baseline="-20833" dirty="0">
                <a:latin typeface="Arial"/>
                <a:cs typeface="Arial"/>
              </a:rPr>
              <a:t>E</a:t>
            </a:r>
            <a:r>
              <a:rPr sz="1800" i="1" dirty="0">
                <a:latin typeface="Arial"/>
                <a:cs typeface="Arial"/>
              </a:rPr>
              <a:t>)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(R/R</a:t>
            </a:r>
            <a:r>
              <a:rPr sz="2400" i="1" baseline="-20833" dirty="0">
                <a:latin typeface="Arial"/>
                <a:cs typeface="Arial"/>
              </a:rPr>
              <a:t>0</a:t>
            </a:r>
            <a:r>
              <a:rPr sz="1800" i="1" dirty="0">
                <a:latin typeface="Arial"/>
                <a:cs typeface="Arial"/>
              </a:rPr>
              <a:t>)(T</a:t>
            </a:r>
            <a:r>
              <a:rPr sz="2400" i="1" baseline="-20833" dirty="0">
                <a:latin typeface="Arial"/>
                <a:cs typeface="Arial"/>
              </a:rPr>
              <a:t>0</a:t>
            </a:r>
            <a:r>
              <a:rPr sz="1800" i="1" dirty="0">
                <a:latin typeface="Arial"/>
                <a:cs typeface="Arial"/>
              </a:rPr>
              <a:t>+T</a:t>
            </a:r>
            <a:r>
              <a:rPr sz="2400" i="1" baseline="-20833" dirty="0">
                <a:latin typeface="Arial"/>
                <a:cs typeface="Arial"/>
              </a:rPr>
              <a:t>E</a:t>
            </a:r>
            <a:r>
              <a:rPr sz="1800" i="1" dirty="0">
                <a:latin typeface="Arial"/>
                <a:cs typeface="Arial"/>
              </a:rPr>
              <a:t>)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1181735" lvl="2" indent="-229235">
              <a:lnSpc>
                <a:spcPct val="100000"/>
              </a:lnSpc>
              <a:spcBef>
                <a:spcPts val="445"/>
              </a:spcBef>
              <a:buClr>
                <a:srgbClr val="00007C"/>
              </a:buClr>
              <a:buSzPct val="66666"/>
              <a:buChar char="■"/>
              <a:tabLst>
                <a:tab pos="1181735" algn="l"/>
              </a:tabLst>
            </a:pPr>
            <a:r>
              <a:rPr sz="1800" dirty="0">
                <a:latin typeface="Arial"/>
                <a:cs typeface="Arial"/>
              </a:rPr>
              <a:t>Delete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additional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amount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 </a:t>
            </a:r>
            <a:r>
              <a:rPr sz="1800" i="1" dirty="0">
                <a:latin typeface="Arial"/>
                <a:cs typeface="Arial"/>
              </a:rPr>
              <a:t>0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(R/R</a:t>
            </a:r>
            <a:r>
              <a:rPr sz="2400" i="1" spc="-15" baseline="-20833" dirty="0">
                <a:latin typeface="Arial"/>
                <a:cs typeface="Arial"/>
              </a:rPr>
              <a:t>0</a:t>
            </a:r>
            <a:r>
              <a:rPr sz="1800" i="1" spc="-10" dirty="0">
                <a:latin typeface="Arial"/>
                <a:cs typeface="Arial"/>
              </a:rPr>
              <a:t>)T</a:t>
            </a:r>
            <a:r>
              <a:rPr sz="1800" i="1" spc="-15" baseline="-23148" dirty="0">
                <a:latin typeface="Arial"/>
                <a:cs typeface="Arial"/>
              </a:rPr>
              <a:t>0</a:t>
            </a:r>
            <a:r>
              <a:rPr sz="1800" i="1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781050" marR="360045" lvl="1" indent="-285750">
              <a:lnSpc>
                <a:spcPct val="100000"/>
              </a:lnSpc>
              <a:spcBef>
                <a:spcPts val="480"/>
              </a:spcBef>
              <a:buClr>
                <a:srgbClr val="9A9ACC"/>
              </a:buClr>
              <a:buSzPct val="80000"/>
              <a:buChar char="□"/>
              <a:tabLst>
                <a:tab pos="781050" algn="l"/>
              </a:tabLst>
            </a:pPr>
            <a:r>
              <a:rPr sz="2000" dirty="0">
                <a:latin typeface="Arial"/>
                <a:cs typeface="Arial"/>
              </a:rPr>
              <a:t>Advantage: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residual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bias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further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reduced.</a:t>
            </a:r>
            <a:endParaRPr sz="2000">
              <a:latin typeface="Arial"/>
              <a:cs typeface="Arial"/>
            </a:endParaRPr>
          </a:p>
          <a:p>
            <a:pPr marL="781050" marR="30480" lvl="1" indent="-285750">
              <a:lnSpc>
                <a:spcPct val="100000"/>
              </a:lnSpc>
              <a:spcBef>
                <a:spcPts val="475"/>
              </a:spcBef>
              <a:buClr>
                <a:srgbClr val="9A9ACC"/>
              </a:buClr>
              <a:buSzPct val="80000"/>
              <a:buChar char="□"/>
              <a:tabLst>
                <a:tab pos="781050" algn="l"/>
              </a:tabLst>
            </a:pPr>
            <a:r>
              <a:rPr sz="2000" dirty="0">
                <a:latin typeface="Arial"/>
                <a:cs typeface="Arial"/>
              </a:rPr>
              <a:t>However,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necessary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saved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at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2400" i="1" baseline="-20833" dirty="0">
                <a:latin typeface="Arial"/>
                <a:cs typeface="Arial"/>
              </a:rPr>
              <a:t>0</a:t>
            </a:r>
            <a:r>
              <a:rPr sz="2000" i="1" dirty="0">
                <a:latin typeface="Arial"/>
                <a:cs typeface="Arial"/>
              </a:rPr>
              <a:t>+T</a:t>
            </a:r>
            <a:r>
              <a:rPr sz="2400" i="1" baseline="-20833" dirty="0">
                <a:latin typeface="Arial"/>
                <a:cs typeface="Arial"/>
              </a:rPr>
              <a:t>E</a:t>
            </a:r>
            <a:r>
              <a:rPr sz="2400" i="1" spc="120" baseline="-208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restart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model.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5105399"/>
            <a:ext cx="4117988" cy="196519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r>
              <a:rPr spc="-25" dirty="0"/>
              <a:t>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784351"/>
            <a:ext cx="64300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Batch</a:t>
            </a:r>
            <a:r>
              <a:rPr sz="3200" spc="-40" dirty="0"/>
              <a:t> </a:t>
            </a:r>
            <a:r>
              <a:rPr sz="3200" dirty="0"/>
              <a:t>Means</a:t>
            </a:r>
            <a:r>
              <a:rPr sz="3200" spc="-25" dirty="0"/>
              <a:t> </a:t>
            </a:r>
            <a:r>
              <a:rPr sz="3200" dirty="0"/>
              <a:t>for</a:t>
            </a:r>
            <a:r>
              <a:rPr sz="3200" spc="-25" dirty="0"/>
              <a:t> </a:t>
            </a:r>
            <a:r>
              <a:rPr sz="3200" dirty="0"/>
              <a:t>Interval</a:t>
            </a:r>
            <a:r>
              <a:rPr sz="3200" spc="-25" dirty="0"/>
              <a:t> </a:t>
            </a:r>
            <a:r>
              <a:rPr sz="3200" spc="-10" dirty="0"/>
              <a:t>Estimation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55802" y="1219825"/>
            <a:ext cx="8040370" cy="36842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4721225">
              <a:lnSpc>
                <a:spcPct val="100000"/>
              </a:lnSpc>
              <a:spcBef>
                <a:spcPts val="1510"/>
              </a:spcBef>
            </a:pP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State</a:t>
            </a:r>
            <a:r>
              <a:rPr sz="2200" spc="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153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Using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single,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replication: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Problem: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dependent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usual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biased.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70"/>
              </a:spcBef>
              <a:buClr>
                <a:srgbClr val="9A9ACC"/>
              </a:buClr>
              <a:buSzPct val="80000"/>
              <a:buChar char="□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Solution: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means.</a:t>
            </a:r>
            <a:endParaRPr sz="2000">
              <a:latin typeface="Arial"/>
              <a:cs typeface="Arial"/>
            </a:endParaRPr>
          </a:p>
          <a:p>
            <a:pPr marL="393065" marR="506730" indent="-342900">
              <a:lnSpc>
                <a:spcPct val="100400"/>
              </a:lnSpc>
              <a:spcBef>
                <a:spcPts val="54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Batch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means: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divide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output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1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replication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(after appropriate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deletion)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few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large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treat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means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these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batches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independent.</a:t>
            </a:r>
            <a:endParaRPr sz="20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Char char="■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continuous-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process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</a:t>
            </a:r>
            <a:r>
              <a:rPr sz="2000" i="1" dirty="0">
                <a:latin typeface="Arial"/>
                <a:cs typeface="Arial"/>
              </a:rPr>
              <a:t>Y(t),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950" i="1" baseline="-21367" dirty="0">
                <a:latin typeface="Arial"/>
                <a:cs typeface="Arial"/>
              </a:rPr>
              <a:t>0</a:t>
            </a:r>
            <a:r>
              <a:rPr sz="1950" i="1" spc="-15" baseline="-21367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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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Arial"/>
                <a:cs typeface="Arial"/>
              </a:rPr>
              <a:t>T</a:t>
            </a:r>
            <a:r>
              <a:rPr sz="1950" i="1" spc="-15" baseline="-21367" dirty="0">
                <a:latin typeface="Arial"/>
                <a:cs typeface="Arial"/>
              </a:rPr>
              <a:t>0</a:t>
            </a:r>
            <a:r>
              <a:rPr sz="2000" i="1" spc="-10" dirty="0">
                <a:latin typeface="Arial"/>
                <a:cs typeface="Arial"/>
              </a:rPr>
              <a:t>+T</a:t>
            </a:r>
            <a:r>
              <a:rPr sz="1950" i="1" spc="-15" baseline="-21367" dirty="0">
                <a:latin typeface="Arial"/>
                <a:cs typeface="Arial"/>
              </a:rPr>
              <a:t>E</a:t>
            </a:r>
            <a:r>
              <a:rPr sz="2000" spc="-10" dirty="0">
                <a:latin typeface="Arial"/>
                <a:cs typeface="Arial"/>
              </a:rPr>
              <a:t>}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50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794385" algn="l"/>
              </a:tabLst>
            </a:pPr>
            <a:r>
              <a:rPr sz="2000" i="1" dirty="0">
                <a:latin typeface="Arial"/>
                <a:cs typeface="Arial"/>
              </a:rPr>
              <a:t>k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size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2400" i="1" baseline="-20833" dirty="0">
                <a:latin typeface="Arial"/>
                <a:cs typeface="Arial"/>
              </a:rPr>
              <a:t>E</a:t>
            </a:r>
            <a:r>
              <a:rPr sz="2000" i="1" dirty="0">
                <a:latin typeface="Arial"/>
                <a:cs typeface="Arial"/>
              </a:rPr>
              <a:t>/k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means: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02" y="5677916"/>
            <a:ext cx="6279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380365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discrete-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process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1950" i="1" baseline="-21367" dirty="0">
                <a:latin typeface="Arial"/>
                <a:cs typeface="Arial"/>
              </a:rPr>
              <a:t>i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d+1,d+2,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…,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n</a:t>
            </a:r>
            <a:r>
              <a:rPr sz="2000" spc="-25" dirty="0">
                <a:latin typeface="Arial"/>
                <a:cs typeface="Arial"/>
              </a:rPr>
              <a:t>}: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1102" y="6107684"/>
            <a:ext cx="5360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299085" algn="l"/>
              </a:tabLst>
            </a:pPr>
            <a:r>
              <a:rPr sz="2000" i="1" dirty="0">
                <a:latin typeface="Arial"/>
                <a:cs typeface="Arial"/>
              </a:rPr>
              <a:t>k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size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(n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–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d)/k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means: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02780" y="632917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398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55407" y="6480047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5">
                <a:moveTo>
                  <a:pt x="0" y="0"/>
                </a:moveTo>
                <a:lnTo>
                  <a:pt x="2148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14969" y="6110732"/>
            <a:ext cx="1752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i="1" spc="-25" dirty="0">
                <a:latin typeface="Times New Roman"/>
                <a:cs typeface="Times New Roman"/>
              </a:rPr>
              <a:t>jm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8953" y="6275085"/>
            <a:ext cx="77724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00" i="1" spc="65" dirty="0">
                <a:latin typeface="Times New Roman"/>
                <a:cs typeface="Times New Roman"/>
              </a:rPr>
              <a:t>Y</a:t>
            </a:r>
            <a:r>
              <a:rPr sz="1725" i="1" spc="97" baseline="-24154" dirty="0">
                <a:latin typeface="Times New Roman"/>
                <a:cs typeface="Times New Roman"/>
              </a:rPr>
              <a:t>j</a:t>
            </a:r>
            <a:r>
              <a:rPr sz="1725" i="1" spc="667" baseline="-241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3000" i="1" spc="-75" baseline="-44444" dirty="0">
                <a:latin typeface="Times New Roman"/>
                <a:cs typeface="Times New Roman"/>
              </a:rPr>
              <a:t>m</a:t>
            </a:r>
            <a:endParaRPr sz="3000" baseline="-44444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73347" y="6211316"/>
            <a:ext cx="958850" cy="6203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" marR="30480" indent="240665">
              <a:lnSpc>
                <a:spcPct val="81300"/>
              </a:lnSpc>
              <a:spcBef>
                <a:spcPts val="795"/>
              </a:spcBef>
            </a:pPr>
            <a:r>
              <a:rPr sz="3000" spc="-10" dirty="0">
                <a:latin typeface="Symbol"/>
                <a:cs typeface="Symbol"/>
              </a:rPr>
              <a:t></a:t>
            </a:r>
            <a:r>
              <a:rPr sz="3000" i="1" spc="-15" baseline="13888" dirty="0">
                <a:latin typeface="Times New Roman"/>
                <a:cs typeface="Times New Roman"/>
              </a:rPr>
              <a:t>Y</a:t>
            </a:r>
            <a:r>
              <a:rPr sz="1150" i="1" spc="-10" dirty="0">
                <a:latin typeface="Times New Roman"/>
                <a:cs typeface="Times New Roman"/>
              </a:rPr>
              <a:t>i</a:t>
            </a:r>
            <a:r>
              <a:rPr sz="1150" spc="-10" dirty="0">
                <a:latin typeface="Symbol"/>
                <a:cs typeface="Symbol"/>
              </a:rPr>
              <a:t></a:t>
            </a:r>
            <a:r>
              <a:rPr sz="1150" i="1" spc="-10" dirty="0">
                <a:latin typeface="Times New Roman"/>
                <a:cs typeface="Times New Roman"/>
              </a:rPr>
              <a:t>d </a:t>
            </a:r>
            <a:r>
              <a:rPr sz="1150" i="1" spc="50" dirty="0">
                <a:latin typeface="Times New Roman"/>
                <a:cs typeface="Times New Roman"/>
              </a:rPr>
              <a:t>i</a:t>
            </a:r>
            <a:r>
              <a:rPr sz="1150" spc="50" dirty="0">
                <a:latin typeface="Symbol"/>
                <a:cs typeface="Symbol"/>
              </a:rPr>
              <a:t></a:t>
            </a:r>
            <a:r>
              <a:rPr sz="1150" spc="50" dirty="0">
                <a:latin typeface="Times New Roman"/>
                <a:cs typeface="Times New Roman"/>
              </a:rPr>
              <a:t>( </a:t>
            </a:r>
            <a:r>
              <a:rPr sz="1150" i="1" dirty="0">
                <a:latin typeface="Times New Roman"/>
                <a:cs typeface="Times New Roman"/>
              </a:rPr>
              <a:t>j</a:t>
            </a:r>
            <a:r>
              <a:rPr sz="1150" i="1" spc="-175" dirty="0">
                <a:latin typeface="Times New Roman"/>
                <a:cs typeface="Times New Roman"/>
              </a:rPr>
              <a:t> </a:t>
            </a:r>
            <a:r>
              <a:rPr sz="1150" spc="-30" dirty="0">
                <a:latin typeface="Symbol"/>
                <a:cs typeface="Symbol"/>
              </a:rPr>
              <a:t></a:t>
            </a:r>
            <a:r>
              <a:rPr sz="1150" spc="-30" dirty="0">
                <a:latin typeface="Times New Roman"/>
                <a:cs typeface="Times New Roman"/>
              </a:rPr>
              <a:t>1)</a:t>
            </a:r>
            <a:r>
              <a:rPr sz="1150" spc="-180" dirty="0">
                <a:latin typeface="Times New Roman"/>
                <a:cs typeface="Times New Roman"/>
              </a:rPr>
              <a:t> </a:t>
            </a:r>
            <a:r>
              <a:rPr sz="1150" i="1" spc="-25" dirty="0">
                <a:latin typeface="Times New Roman"/>
                <a:cs typeface="Times New Roman"/>
              </a:rPr>
              <a:t>m</a:t>
            </a:r>
            <a:r>
              <a:rPr sz="1150" spc="-25" dirty="0">
                <a:latin typeface="Symbol"/>
                <a:cs typeface="Symbol"/>
              </a:rPr>
              <a:t></a:t>
            </a:r>
            <a:r>
              <a:rPr sz="1150" spc="-25" dirty="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86142" y="6113540"/>
            <a:ext cx="15367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40379" y="5218938"/>
            <a:ext cx="135255" cy="0"/>
          </a:xfrm>
          <a:custGeom>
            <a:avLst/>
            <a:gdLst/>
            <a:ahLst/>
            <a:cxnLst/>
            <a:rect l="l" t="t" r="r" b="b"/>
            <a:pathLst>
              <a:path w="135255">
                <a:moveTo>
                  <a:pt x="0" y="0"/>
                </a:moveTo>
                <a:lnTo>
                  <a:pt x="134874" y="0"/>
                </a:lnTo>
              </a:path>
            </a:pathLst>
          </a:custGeom>
          <a:ln w="10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88435" y="5368290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3360" y="0"/>
                </a:lnTo>
              </a:path>
            </a:pathLst>
          </a:custGeom>
          <a:ln w="10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737102" y="5128882"/>
            <a:ext cx="1174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Symbol"/>
                <a:cs typeface="Symbol"/>
              </a:rPr>
              <a:t>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r>
              <a:rPr spc="-25" dirty="0"/>
              <a:t>43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811783" y="5409962"/>
            <a:ext cx="483234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dirty="0">
                <a:latin typeface="Times New Roman"/>
                <a:cs typeface="Times New Roman"/>
              </a:rPr>
              <a:t>(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i="1" spc="-10" dirty="0">
                <a:latin typeface="Times New Roman"/>
                <a:cs typeface="Times New Roman"/>
              </a:rPr>
              <a:t>j</a:t>
            </a:r>
            <a:r>
              <a:rPr sz="1150" i="1" spc="-17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Symbol"/>
                <a:cs typeface="Symbol"/>
              </a:rPr>
              <a:t></a:t>
            </a:r>
            <a:r>
              <a:rPr sz="1150" spc="-20" dirty="0">
                <a:latin typeface="Times New Roman"/>
                <a:cs typeface="Times New Roman"/>
              </a:rPr>
              <a:t>1)</a:t>
            </a:r>
            <a:r>
              <a:rPr sz="1150" i="1" spc="-20" dirty="0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79596" y="5078492"/>
            <a:ext cx="17399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i="1" spc="-25" dirty="0">
                <a:latin typeface="Times New Roman"/>
                <a:cs typeface="Times New Roman"/>
              </a:rPr>
              <a:t>jm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9689" y="5334521"/>
            <a:ext cx="6667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i="1" spc="-50" dirty="0">
                <a:latin typeface="Times New Roman"/>
                <a:cs typeface="Times New Roman"/>
              </a:rPr>
              <a:t>j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93237" y="5363457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6542" y="5164574"/>
            <a:ext cx="741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28930" algn="l"/>
              </a:tabLst>
            </a:pPr>
            <a:r>
              <a:rPr sz="2000" i="1" spc="-50" dirty="0">
                <a:latin typeface="Times New Roman"/>
                <a:cs typeface="Times New Roman"/>
              </a:rPr>
              <a:t>Y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3000" spc="-75" baseline="34722" dirty="0">
                <a:latin typeface="Times New Roman"/>
                <a:cs typeface="Times New Roman"/>
              </a:rPr>
              <a:t>1</a:t>
            </a:r>
            <a:endParaRPr sz="3000" baseline="34722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76877" y="5334527"/>
            <a:ext cx="9969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5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91822" y="5164574"/>
            <a:ext cx="11029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Times New Roman"/>
                <a:cs typeface="Times New Roman"/>
              </a:rPr>
              <a:t>Y</a:t>
            </a:r>
            <a:r>
              <a:rPr sz="2000" i="1" spc="-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t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Symbol"/>
                <a:cs typeface="Symbol"/>
              </a:rPr>
              <a:t>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</a:t>
            </a:r>
            <a:r>
              <a:rPr sz="2000" i="1" spc="2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)</a:t>
            </a:r>
            <a:r>
              <a:rPr sz="2000" i="1" spc="-25" dirty="0">
                <a:latin typeface="Times New Roman"/>
                <a:cs typeface="Times New Roman"/>
              </a:rPr>
              <a:t>dt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902" y="784351"/>
            <a:ext cx="64300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Batch</a:t>
            </a:r>
            <a:r>
              <a:rPr sz="3200" spc="-40" dirty="0"/>
              <a:t> </a:t>
            </a:r>
            <a:r>
              <a:rPr sz="3200" dirty="0"/>
              <a:t>Means</a:t>
            </a:r>
            <a:r>
              <a:rPr sz="3200" spc="-25" dirty="0"/>
              <a:t> </a:t>
            </a:r>
            <a:r>
              <a:rPr sz="3200" dirty="0"/>
              <a:t>for</a:t>
            </a:r>
            <a:r>
              <a:rPr sz="3200" spc="-25" dirty="0"/>
              <a:t> </a:t>
            </a:r>
            <a:r>
              <a:rPr sz="3200" dirty="0"/>
              <a:t>Interval</a:t>
            </a:r>
            <a:r>
              <a:rPr sz="3200" spc="-25" dirty="0"/>
              <a:t> </a:t>
            </a:r>
            <a:r>
              <a:rPr sz="3200" spc="-10" dirty="0"/>
              <a:t>Estimation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902" y="3007867"/>
            <a:ext cx="7908925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2900">
              <a:lnSpc>
                <a:spcPts val="2380"/>
              </a:lnSpc>
              <a:spcBef>
                <a:spcPts val="395"/>
              </a:spcBef>
              <a:buClr>
                <a:srgbClr val="00007C"/>
              </a:buClr>
              <a:buSzPct val="77272"/>
              <a:buChar char="■"/>
              <a:tabLst>
                <a:tab pos="355600" algn="l"/>
              </a:tabLst>
            </a:pPr>
            <a:r>
              <a:rPr sz="2200" dirty="0">
                <a:latin typeface="Arial"/>
                <a:cs typeface="Arial"/>
              </a:rPr>
              <a:t>Starting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either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with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continuous-</a:t>
            </a:r>
            <a:r>
              <a:rPr sz="2200" dirty="0">
                <a:latin typeface="Arial"/>
                <a:cs typeface="Arial"/>
              </a:rPr>
              <a:t>time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discrete-</a:t>
            </a:r>
            <a:r>
              <a:rPr sz="2200" dirty="0">
                <a:latin typeface="Arial"/>
                <a:cs typeface="Arial"/>
              </a:rPr>
              <a:t>time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data,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dirty="0">
                <a:latin typeface="Arial"/>
                <a:cs typeface="Arial"/>
              </a:rPr>
              <a:t>variance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sample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mean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estimated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by: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4433" y="1398524"/>
            <a:ext cx="7571740" cy="108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2595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[Steady-</a:t>
            </a:r>
            <a:r>
              <a:rPr sz="2200" dirty="0">
                <a:solidFill>
                  <a:srgbClr val="00007C"/>
                </a:solidFill>
                <a:latin typeface="Arial"/>
                <a:cs typeface="Arial"/>
              </a:rPr>
              <a:t>State</a:t>
            </a:r>
            <a:r>
              <a:rPr sz="2200" spc="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007C"/>
                </a:solidFill>
                <a:latin typeface="Arial"/>
                <a:cs typeface="Arial"/>
              </a:rPr>
              <a:t>Simulations]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400" i="1" spc="-130" dirty="0">
                <a:latin typeface="Times New Roman"/>
                <a:cs typeface="Times New Roman"/>
              </a:rPr>
              <a:t>Y</a:t>
            </a:r>
            <a:r>
              <a:rPr sz="2100" spc="-195" baseline="-23809" dirty="0">
                <a:latin typeface="Times New Roman"/>
                <a:cs typeface="Times New Roman"/>
              </a:rPr>
              <a:t>1</a:t>
            </a:r>
            <a:r>
              <a:rPr sz="2100" spc="-322" baseline="-238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...,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112" baseline="-238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-165" baseline="-23809" dirty="0">
                <a:latin typeface="Times New Roman"/>
                <a:cs typeface="Times New Roman"/>
              </a:rPr>
              <a:t> </a:t>
            </a:r>
            <a:r>
              <a:rPr sz="2100" baseline="-23809" dirty="0">
                <a:latin typeface="Symbol"/>
                <a:cs typeface="Symbol"/>
              </a:rPr>
              <a:t></a:t>
            </a:r>
            <a:r>
              <a:rPr sz="2100" baseline="-23809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...,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-157" baseline="-23809" dirty="0">
                <a:latin typeface="Times New Roman"/>
                <a:cs typeface="Times New Roman"/>
              </a:rPr>
              <a:t> </a:t>
            </a:r>
            <a:r>
              <a:rPr sz="2100" spc="82" baseline="-23809" dirty="0">
                <a:latin typeface="Symbol"/>
                <a:cs typeface="Symbol"/>
              </a:rPr>
              <a:t></a:t>
            </a:r>
            <a:r>
              <a:rPr sz="2100" i="1" spc="82" baseline="-23809" dirty="0">
                <a:latin typeface="Times New Roman"/>
                <a:cs typeface="Times New Roman"/>
              </a:rPr>
              <a:t>m</a:t>
            </a:r>
            <a:r>
              <a:rPr sz="2100" i="1" spc="-104" baseline="-238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-157" baseline="-23809" dirty="0">
                <a:latin typeface="Times New Roman"/>
                <a:cs typeface="Times New Roman"/>
              </a:rPr>
              <a:t> </a:t>
            </a:r>
            <a:r>
              <a:rPr sz="2100" baseline="-23809" dirty="0">
                <a:latin typeface="Symbol"/>
                <a:cs typeface="Symbol"/>
              </a:rPr>
              <a:t></a:t>
            </a:r>
            <a:r>
              <a:rPr sz="2100" i="1" baseline="-23809" dirty="0">
                <a:latin typeface="Times New Roman"/>
                <a:cs typeface="Times New Roman"/>
              </a:rPr>
              <a:t>m</a:t>
            </a:r>
            <a:r>
              <a:rPr sz="2100" baseline="-23809" dirty="0">
                <a:latin typeface="Symbol"/>
                <a:cs typeface="Symbol"/>
              </a:rPr>
              <a:t></a:t>
            </a:r>
            <a:r>
              <a:rPr sz="2100" baseline="-23809" dirty="0">
                <a:latin typeface="Times New Roman"/>
                <a:cs typeface="Times New Roman"/>
              </a:rPr>
              <a:t>1</a:t>
            </a:r>
            <a:r>
              <a:rPr sz="2100" spc="-315" baseline="-238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...,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-157" baseline="-23809" dirty="0">
                <a:latin typeface="Times New Roman"/>
                <a:cs typeface="Times New Roman"/>
              </a:rPr>
              <a:t> </a:t>
            </a:r>
            <a:r>
              <a:rPr sz="2100" spc="97" baseline="-23809" dirty="0">
                <a:latin typeface="Symbol"/>
                <a:cs typeface="Symbol"/>
              </a:rPr>
              <a:t></a:t>
            </a:r>
            <a:r>
              <a:rPr sz="2100" spc="97" baseline="-23809" dirty="0">
                <a:latin typeface="Times New Roman"/>
                <a:cs typeface="Times New Roman"/>
              </a:rPr>
              <a:t>2</a:t>
            </a:r>
            <a:r>
              <a:rPr sz="2100" i="1" spc="97" baseline="-23809" dirty="0">
                <a:latin typeface="Times New Roman"/>
                <a:cs typeface="Times New Roman"/>
              </a:rPr>
              <a:t>m</a:t>
            </a:r>
            <a:r>
              <a:rPr sz="2100" i="1" spc="-104" baseline="-238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-172" baseline="-23809" dirty="0">
                <a:latin typeface="Times New Roman"/>
                <a:cs typeface="Times New Roman"/>
              </a:rPr>
              <a:t> </a:t>
            </a:r>
            <a:r>
              <a:rPr sz="2100" spc="97" baseline="-23809" dirty="0">
                <a:latin typeface="Symbol"/>
                <a:cs typeface="Symbol"/>
              </a:rPr>
              <a:t></a:t>
            </a:r>
            <a:r>
              <a:rPr sz="2100" spc="97" baseline="-23809" dirty="0">
                <a:latin typeface="Times New Roman"/>
                <a:cs typeface="Times New Roman"/>
              </a:rPr>
              <a:t>(</a:t>
            </a:r>
            <a:r>
              <a:rPr sz="2100" i="1" spc="97" baseline="-23809" dirty="0">
                <a:latin typeface="Times New Roman"/>
                <a:cs typeface="Times New Roman"/>
              </a:rPr>
              <a:t>k</a:t>
            </a:r>
            <a:r>
              <a:rPr sz="2100" i="1" spc="-225" baseline="-23809" dirty="0">
                <a:latin typeface="Times New Roman"/>
                <a:cs typeface="Times New Roman"/>
              </a:rPr>
              <a:t> </a:t>
            </a:r>
            <a:r>
              <a:rPr sz="2100" baseline="-23809" dirty="0">
                <a:latin typeface="Symbol"/>
                <a:cs typeface="Symbol"/>
              </a:rPr>
              <a:t></a:t>
            </a:r>
            <a:r>
              <a:rPr sz="2100" baseline="-23809" dirty="0">
                <a:latin typeface="Times New Roman"/>
                <a:cs typeface="Times New Roman"/>
              </a:rPr>
              <a:t>1)</a:t>
            </a:r>
            <a:r>
              <a:rPr sz="2100" i="1" baseline="-23809" dirty="0">
                <a:latin typeface="Times New Roman"/>
                <a:cs typeface="Times New Roman"/>
              </a:rPr>
              <a:t>m</a:t>
            </a:r>
            <a:r>
              <a:rPr sz="2100" baseline="-23809" dirty="0">
                <a:latin typeface="Symbol"/>
                <a:cs typeface="Symbol"/>
              </a:rPr>
              <a:t></a:t>
            </a:r>
            <a:r>
              <a:rPr sz="2100" baseline="-23809" dirty="0">
                <a:latin typeface="Times New Roman"/>
                <a:cs typeface="Times New Roman"/>
              </a:rPr>
              <a:t>1</a:t>
            </a:r>
            <a:r>
              <a:rPr sz="2100" spc="-315" baseline="-238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...,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-172" baseline="-23809" dirty="0">
                <a:latin typeface="Times New Roman"/>
                <a:cs typeface="Times New Roman"/>
              </a:rPr>
              <a:t> </a:t>
            </a:r>
            <a:r>
              <a:rPr sz="2100" spc="-37" baseline="-23809" dirty="0">
                <a:latin typeface="Symbol"/>
                <a:cs typeface="Symbol"/>
              </a:rPr>
              <a:t></a:t>
            </a:r>
            <a:r>
              <a:rPr sz="2100" i="1" spc="-37" baseline="-23809" dirty="0">
                <a:latin typeface="Times New Roman"/>
                <a:cs typeface="Times New Roman"/>
              </a:rPr>
              <a:t>km</a:t>
            </a:r>
            <a:endParaRPr sz="2100" baseline="-23809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902" y="4782566"/>
            <a:ext cx="8032115" cy="193611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2900">
              <a:lnSpc>
                <a:spcPts val="2380"/>
              </a:lnSpc>
              <a:spcBef>
                <a:spcPts val="395"/>
              </a:spcBef>
              <a:buClr>
                <a:srgbClr val="00007C"/>
              </a:buClr>
              <a:buSzPct val="77272"/>
              <a:buChar char="■"/>
              <a:tabLst>
                <a:tab pos="355600" algn="l"/>
              </a:tabLst>
            </a:pPr>
            <a:r>
              <a:rPr sz="2200" dirty="0">
                <a:latin typeface="Arial"/>
                <a:cs typeface="Arial"/>
              </a:rPr>
              <a:t>If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batch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size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sufficiently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large,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successive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batch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means </a:t>
            </a:r>
            <a:r>
              <a:rPr sz="2200" dirty="0">
                <a:latin typeface="Arial"/>
                <a:cs typeface="Arial"/>
              </a:rPr>
              <a:t>will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approximately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independent,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variance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estimator </a:t>
            </a:r>
            <a:r>
              <a:rPr sz="2200" dirty="0">
                <a:latin typeface="Arial"/>
                <a:cs typeface="Arial"/>
              </a:rPr>
              <a:t>will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approximately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unbiased.</a:t>
            </a:r>
            <a:endParaRPr sz="2200">
              <a:latin typeface="Arial"/>
              <a:cs typeface="Arial"/>
            </a:endParaRPr>
          </a:p>
          <a:p>
            <a:pPr marL="354965" marR="20320" indent="-342900">
              <a:lnSpc>
                <a:spcPts val="2380"/>
              </a:lnSpc>
              <a:spcBef>
                <a:spcPts val="509"/>
              </a:spcBef>
              <a:buClr>
                <a:srgbClr val="00007C"/>
              </a:buClr>
              <a:buSzPct val="77272"/>
              <a:buChar char="■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No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widely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accepted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relatively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simple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method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choosing </a:t>
            </a:r>
            <a:r>
              <a:rPr sz="2200" dirty="0">
                <a:latin typeface="Arial"/>
                <a:cs typeface="Arial"/>
              </a:rPr>
              <a:t>an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acceptable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batch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size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m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(see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text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suggested </a:t>
            </a:r>
            <a:r>
              <a:rPr sz="2200" dirty="0">
                <a:latin typeface="Arial"/>
                <a:cs typeface="Arial"/>
              </a:rPr>
              <a:t>approach).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Some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simulation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software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does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it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automatically.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39439" y="421157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1751" y="0"/>
                </a:lnTo>
              </a:path>
            </a:pathLst>
          </a:custGeom>
          <a:ln w="11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01034" y="4211573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7733" y="0"/>
                </a:lnTo>
              </a:path>
            </a:pathLst>
          </a:custGeom>
          <a:ln w="11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39590" y="3875532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730" y="0"/>
                </a:lnTo>
              </a:path>
            </a:pathLst>
          </a:custGeom>
          <a:ln w="11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4691" y="3875532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730" y="0"/>
                </a:lnTo>
              </a:path>
            </a:pathLst>
          </a:custGeom>
          <a:ln w="11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44717" y="3875532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730" y="0"/>
                </a:lnTo>
              </a:path>
            </a:pathLst>
          </a:custGeom>
          <a:ln w="11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61938" y="3875532"/>
            <a:ext cx="125095" cy="0"/>
          </a:xfrm>
          <a:custGeom>
            <a:avLst/>
            <a:gdLst/>
            <a:ahLst/>
            <a:cxnLst/>
            <a:rect l="l" t="t" r="r" b="b"/>
            <a:pathLst>
              <a:path w="125095">
                <a:moveTo>
                  <a:pt x="0" y="0"/>
                </a:moveTo>
                <a:lnTo>
                  <a:pt x="124967" y="0"/>
                </a:lnTo>
              </a:path>
            </a:pathLst>
          </a:custGeom>
          <a:ln w="11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47970" y="3910438"/>
            <a:ext cx="328295" cy="535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50" spc="-50" dirty="0">
                <a:latin typeface="Symbol"/>
                <a:cs typeface="Symbol"/>
              </a:rPr>
              <a:t>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84166" y="3910438"/>
            <a:ext cx="328295" cy="535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50" spc="-50" dirty="0">
                <a:latin typeface="Symbol"/>
                <a:cs typeface="Symbol"/>
              </a:rPr>
              <a:t>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62059" y="4021525"/>
            <a:ext cx="154940" cy="309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95568" y="4021525"/>
            <a:ext cx="154940" cy="309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56935" y="3816492"/>
            <a:ext cx="990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50" dirty="0"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92350" y="3816508"/>
            <a:ext cx="990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50" dirty="0"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4689" y="3832546"/>
            <a:ext cx="967740" cy="309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50" i="1" dirty="0">
                <a:latin typeface="Times New Roman"/>
                <a:cs typeface="Times New Roman"/>
              </a:rPr>
              <a:t>Y </a:t>
            </a:r>
            <a:r>
              <a:rPr sz="1950" baseline="36324" dirty="0">
                <a:latin typeface="Times New Roman"/>
                <a:cs typeface="Times New Roman"/>
              </a:rPr>
              <a:t>2</a:t>
            </a:r>
            <a:r>
              <a:rPr sz="1950" spc="300" baseline="3632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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kY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950" spc="-75" baseline="36324" dirty="0">
                <a:latin typeface="Times New Roman"/>
                <a:cs typeface="Times New Roman"/>
              </a:rPr>
              <a:t>2</a:t>
            </a:r>
            <a:endParaRPr sz="1950" baseline="36324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44339" y="4375056"/>
            <a:ext cx="171703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010" algn="l"/>
              </a:tabLst>
            </a:pPr>
            <a:r>
              <a:rPr sz="1300" i="1" spc="-10" dirty="0">
                <a:latin typeface="Times New Roman"/>
                <a:cs typeface="Times New Roman"/>
              </a:rPr>
              <a:t>j</a:t>
            </a:r>
            <a:r>
              <a:rPr sz="1300" i="1" spc="-19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Symbol"/>
                <a:cs typeface="Symbol"/>
              </a:rPr>
              <a:t></a:t>
            </a:r>
            <a:r>
              <a:rPr sz="1300" spc="-25" dirty="0">
                <a:latin typeface="Times New Roman"/>
                <a:cs typeface="Times New Roman"/>
              </a:rPr>
              <a:t>1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i="1" spc="-10" dirty="0">
                <a:latin typeface="Times New Roman"/>
                <a:cs typeface="Times New Roman"/>
              </a:rPr>
              <a:t>j</a:t>
            </a:r>
            <a:r>
              <a:rPr sz="1300" i="1" spc="-20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Symbol"/>
                <a:cs typeface="Symbol"/>
              </a:rPr>
              <a:t></a:t>
            </a:r>
            <a:r>
              <a:rPr sz="1300" spc="-2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3097" y="3676919"/>
            <a:ext cx="89090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63220" algn="l"/>
              </a:tabLst>
            </a:pPr>
            <a:r>
              <a:rPr sz="3050" spc="-350" dirty="0">
                <a:latin typeface="Symbol"/>
                <a:cs typeface="Symbol"/>
              </a:rPr>
              <a:t></a:t>
            </a:r>
            <a:r>
              <a:rPr sz="1850" i="1" spc="-350" dirty="0">
                <a:latin typeface="Times New Roman"/>
                <a:cs typeface="Times New Roman"/>
              </a:rPr>
              <a:t>Y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dirty="0">
                <a:latin typeface="Symbol"/>
                <a:cs typeface="Symbol"/>
              </a:rPr>
              <a:t></a:t>
            </a:r>
            <a:r>
              <a:rPr sz="1850" spc="-26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-35" dirty="0">
                <a:latin typeface="Times New Roman"/>
                <a:cs typeface="Times New Roman"/>
              </a:rPr>
              <a:t> </a:t>
            </a:r>
            <a:r>
              <a:rPr sz="3050" spc="-285" dirty="0">
                <a:latin typeface="Symbol"/>
                <a:cs typeface="Symbol"/>
              </a:rPr>
              <a:t></a:t>
            </a:r>
            <a:r>
              <a:rPr sz="1950" spc="-427" baseline="49145" dirty="0">
                <a:latin typeface="Times New Roman"/>
                <a:cs typeface="Times New Roman"/>
              </a:rPr>
              <a:t>2</a:t>
            </a:r>
            <a:endParaRPr sz="1950" baseline="4914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84773" y="3929030"/>
            <a:ext cx="964565" cy="5873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938530" algn="l"/>
              </a:tabLst>
            </a:pPr>
            <a:r>
              <a:rPr sz="1300" i="1" u="sng" spc="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3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</a:t>
            </a:r>
            <a:r>
              <a:rPr sz="13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3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380"/>
              </a:spcBef>
            </a:pPr>
            <a:r>
              <a:rPr sz="1850" i="1" spc="-10" dirty="0">
                <a:latin typeface="Times New Roman"/>
                <a:cs typeface="Times New Roman"/>
              </a:rPr>
              <a:t>k</a:t>
            </a:r>
            <a:r>
              <a:rPr sz="1850" i="1" spc="-2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k</a:t>
            </a:r>
            <a:r>
              <a:rPr sz="1850" i="1" spc="3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Symbol"/>
                <a:cs typeface="Symbol"/>
              </a:rPr>
              <a:t></a:t>
            </a:r>
            <a:r>
              <a:rPr sz="1850" spc="-25" dirty="0">
                <a:latin typeface="Times New Roman"/>
                <a:cs typeface="Times New Roman"/>
              </a:rPr>
              <a:t>1)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0209" y="3929059"/>
            <a:ext cx="900430" cy="5873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220345" algn="l"/>
                <a:tab pos="874394" algn="l"/>
              </a:tabLst>
            </a:pPr>
            <a:r>
              <a:rPr sz="13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3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</a:t>
            </a:r>
            <a:r>
              <a:rPr sz="13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300">
              <a:latin typeface="Times New Roman"/>
              <a:cs typeface="Times New Roman"/>
            </a:endParaRPr>
          </a:p>
          <a:p>
            <a:pPr marL="24765" algn="ctr">
              <a:lnSpc>
                <a:spcPct val="100000"/>
              </a:lnSpc>
              <a:spcBef>
                <a:spcPts val="380"/>
              </a:spcBef>
            </a:pPr>
            <a:r>
              <a:rPr sz="1850" i="1" dirty="0">
                <a:latin typeface="Times New Roman"/>
                <a:cs typeface="Times New Roman"/>
              </a:rPr>
              <a:t>k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Symbol"/>
                <a:cs typeface="Symbol"/>
              </a:rPr>
              <a:t></a:t>
            </a:r>
            <a:r>
              <a:rPr sz="1850" spc="3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24959" y="3765494"/>
            <a:ext cx="312420" cy="309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75" i="1" baseline="-25525" dirty="0">
                <a:latin typeface="Times New Roman"/>
                <a:cs typeface="Times New Roman"/>
              </a:rPr>
              <a:t>S</a:t>
            </a:r>
            <a:r>
              <a:rPr sz="2775" i="1" spc="-284" baseline="-2552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18167" y="3818597"/>
            <a:ext cx="633730" cy="69786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25"/>
              </a:spcBef>
            </a:pPr>
            <a:r>
              <a:rPr sz="1850" spc="-5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425"/>
              </a:spcBef>
              <a:tabLst>
                <a:tab pos="489584" algn="l"/>
              </a:tabLst>
            </a:pPr>
            <a:r>
              <a:rPr sz="1850" i="1" spc="-50" dirty="0">
                <a:latin typeface="Times New Roman"/>
                <a:cs typeface="Times New Roman"/>
              </a:rPr>
              <a:t>k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i="1" spc="-50" dirty="0">
                <a:latin typeface="Times New Roman"/>
                <a:cs typeface="Times New Roman"/>
              </a:rPr>
              <a:t>k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24000" y="243840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914399" y="0"/>
                </a:moveTo>
                <a:lnTo>
                  <a:pt x="908387" y="44541"/>
                </a:lnTo>
                <a:lnTo>
                  <a:pt x="892016" y="80867"/>
                </a:lnTo>
                <a:lnTo>
                  <a:pt x="867787" y="105334"/>
                </a:lnTo>
                <a:lnTo>
                  <a:pt x="838199" y="114300"/>
                </a:lnTo>
                <a:lnTo>
                  <a:pt x="533399" y="114300"/>
                </a:lnTo>
                <a:lnTo>
                  <a:pt x="503812" y="123265"/>
                </a:lnTo>
                <a:lnTo>
                  <a:pt x="479583" y="147732"/>
                </a:lnTo>
                <a:lnTo>
                  <a:pt x="463212" y="184058"/>
                </a:lnTo>
                <a:lnTo>
                  <a:pt x="457199" y="228600"/>
                </a:lnTo>
                <a:lnTo>
                  <a:pt x="451187" y="184058"/>
                </a:lnTo>
                <a:lnTo>
                  <a:pt x="434816" y="147732"/>
                </a:lnTo>
                <a:lnTo>
                  <a:pt x="410587" y="123265"/>
                </a:lnTo>
                <a:lnTo>
                  <a:pt x="380999" y="114300"/>
                </a:lnTo>
                <a:lnTo>
                  <a:pt x="76200" y="114300"/>
                </a:lnTo>
                <a:lnTo>
                  <a:pt x="46612" y="105334"/>
                </a:lnTo>
                <a:lnTo>
                  <a:pt x="22383" y="80867"/>
                </a:lnTo>
                <a:lnTo>
                  <a:pt x="6012" y="4454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2586037" y="2433637"/>
            <a:ext cx="1381125" cy="363855"/>
            <a:chOff x="2586037" y="2433637"/>
            <a:chExt cx="1381125" cy="363855"/>
          </a:xfrm>
        </p:grpSpPr>
        <p:sp>
          <p:nvSpPr>
            <p:cNvPr id="27" name="object 27"/>
            <p:cNvSpPr/>
            <p:nvPr/>
          </p:nvSpPr>
          <p:spPr>
            <a:xfrm>
              <a:off x="2590800" y="2438400"/>
              <a:ext cx="1371600" cy="304800"/>
            </a:xfrm>
            <a:custGeom>
              <a:avLst/>
              <a:gdLst/>
              <a:ahLst/>
              <a:cxnLst/>
              <a:rect l="l" t="t" r="r" b="b"/>
              <a:pathLst>
                <a:path w="1371600" h="304800">
                  <a:moveTo>
                    <a:pt x="1371600" y="0"/>
                  </a:moveTo>
                  <a:lnTo>
                    <a:pt x="1365784" y="48036"/>
                  </a:lnTo>
                  <a:lnTo>
                    <a:pt x="1349581" y="89855"/>
                  </a:lnTo>
                  <a:lnTo>
                    <a:pt x="1324855" y="122895"/>
                  </a:lnTo>
                  <a:lnTo>
                    <a:pt x="1293473" y="144597"/>
                  </a:lnTo>
                  <a:lnTo>
                    <a:pt x="1257300" y="152399"/>
                  </a:lnTo>
                  <a:lnTo>
                    <a:pt x="800100" y="152399"/>
                  </a:lnTo>
                  <a:lnTo>
                    <a:pt x="763926" y="160202"/>
                  </a:lnTo>
                  <a:lnTo>
                    <a:pt x="732544" y="181904"/>
                  </a:lnTo>
                  <a:lnTo>
                    <a:pt x="707818" y="214944"/>
                  </a:lnTo>
                  <a:lnTo>
                    <a:pt x="691615" y="256763"/>
                  </a:lnTo>
                  <a:lnTo>
                    <a:pt x="685800" y="304799"/>
                  </a:lnTo>
                  <a:lnTo>
                    <a:pt x="679984" y="256763"/>
                  </a:lnTo>
                  <a:lnTo>
                    <a:pt x="663781" y="214944"/>
                  </a:lnTo>
                  <a:lnTo>
                    <a:pt x="639055" y="181904"/>
                  </a:lnTo>
                  <a:lnTo>
                    <a:pt x="607673" y="160202"/>
                  </a:lnTo>
                  <a:lnTo>
                    <a:pt x="571500" y="152399"/>
                  </a:lnTo>
                  <a:lnTo>
                    <a:pt x="114300" y="152400"/>
                  </a:lnTo>
                  <a:lnTo>
                    <a:pt x="78126" y="144597"/>
                  </a:lnTo>
                  <a:lnTo>
                    <a:pt x="46744" y="122895"/>
                  </a:lnTo>
                  <a:lnTo>
                    <a:pt x="22018" y="89855"/>
                  </a:lnTo>
                  <a:lnTo>
                    <a:pt x="5815" y="48036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92018" y="2792729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>
                  <a:moveTo>
                    <a:pt x="0" y="0"/>
                  </a:moveTo>
                  <a:lnTo>
                    <a:pt x="107442" y="0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186237" y="2433637"/>
            <a:ext cx="1685925" cy="363855"/>
            <a:chOff x="4186237" y="2433637"/>
            <a:chExt cx="1685925" cy="363855"/>
          </a:xfrm>
        </p:grpSpPr>
        <p:sp>
          <p:nvSpPr>
            <p:cNvPr id="30" name="object 30"/>
            <p:cNvSpPr/>
            <p:nvPr/>
          </p:nvSpPr>
          <p:spPr>
            <a:xfrm>
              <a:off x="4191000" y="2438400"/>
              <a:ext cx="1676400" cy="304800"/>
            </a:xfrm>
            <a:custGeom>
              <a:avLst/>
              <a:gdLst/>
              <a:ahLst/>
              <a:cxnLst/>
              <a:rect l="l" t="t" r="r" b="b"/>
              <a:pathLst>
                <a:path w="1676400" h="304800">
                  <a:moveTo>
                    <a:pt x="1676400" y="0"/>
                  </a:moveTo>
                  <a:lnTo>
                    <a:pt x="1669285" y="48036"/>
                  </a:lnTo>
                  <a:lnTo>
                    <a:pt x="1649480" y="89855"/>
                  </a:lnTo>
                  <a:lnTo>
                    <a:pt x="1619286" y="122895"/>
                  </a:lnTo>
                  <a:lnTo>
                    <a:pt x="1581009" y="144597"/>
                  </a:lnTo>
                  <a:lnTo>
                    <a:pt x="1536953" y="152399"/>
                  </a:lnTo>
                  <a:lnTo>
                    <a:pt x="977646" y="152399"/>
                  </a:lnTo>
                  <a:lnTo>
                    <a:pt x="933590" y="160202"/>
                  </a:lnTo>
                  <a:lnTo>
                    <a:pt x="895313" y="181904"/>
                  </a:lnTo>
                  <a:lnTo>
                    <a:pt x="865119" y="214944"/>
                  </a:lnTo>
                  <a:lnTo>
                    <a:pt x="845314" y="256763"/>
                  </a:lnTo>
                  <a:lnTo>
                    <a:pt x="838200" y="304799"/>
                  </a:lnTo>
                  <a:lnTo>
                    <a:pt x="831085" y="256763"/>
                  </a:lnTo>
                  <a:lnTo>
                    <a:pt x="811280" y="214944"/>
                  </a:lnTo>
                  <a:lnTo>
                    <a:pt x="781086" y="181904"/>
                  </a:lnTo>
                  <a:lnTo>
                    <a:pt x="742809" y="160202"/>
                  </a:lnTo>
                  <a:lnTo>
                    <a:pt x="698753" y="152399"/>
                  </a:lnTo>
                  <a:lnTo>
                    <a:pt x="139446" y="152399"/>
                  </a:lnTo>
                  <a:lnTo>
                    <a:pt x="95390" y="144597"/>
                  </a:lnTo>
                  <a:lnTo>
                    <a:pt x="57113" y="122895"/>
                  </a:lnTo>
                  <a:lnTo>
                    <a:pt x="26919" y="89855"/>
                  </a:lnTo>
                  <a:lnTo>
                    <a:pt x="7114" y="48036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23281" y="2792729"/>
              <a:ext cx="108585" cy="0"/>
            </a:xfrm>
            <a:custGeom>
              <a:avLst/>
              <a:gdLst/>
              <a:ahLst/>
              <a:cxnLst/>
              <a:rect l="l" t="t" r="r" b="b"/>
              <a:pathLst>
                <a:path w="108585">
                  <a:moveTo>
                    <a:pt x="0" y="0"/>
                  </a:moveTo>
                  <a:lnTo>
                    <a:pt x="108203" y="0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624637" y="2509837"/>
            <a:ext cx="2143125" cy="280035"/>
            <a:chOff x="6624637" y="2509837"/>
            <a:chExt cx="2143125" cy="280035"/>
          </a:xfrm>
        </p:grpSpPr>
        <p:sp>
          <p:nvSpPr>
            <p:cNvPr id="33" name="object 33"/>
            <p:cNvSpPr/>
            <p:nvPr/>
          </p:nvSpPr>
          <p:spPr>
            <a:xfrm>
              <a:off x="6629400" y="2514600"/>
              <a:ext cx="2133600" cy="228600"/>
            </a:xfrm>
            <a:custGeom>
              <a:avLst/>
              <a:gdLst/>
              <a:ahLst/>
              <a:cxnLst/>
              <a:rect l="l" t="t" r="r" b="b"/>
              <a:pathLst>
                <a:path w="2133600" h="228600">
                  <a:moveTo>
                    <a:pt x="2133600" y="0"/>
                  </a:moveTo>
                  <a:lnTo>
                    <a:pt x="2099194" y="67555"/>
                  </a:lnTo>
                  <a:lnTo>
                    <a:pt x="2060685" y="92281"/>
                  </a:lnTo>
                  <a:lnTo>
                    <a:pt x="2011972" y="108484"/>
                  </a:lnTo>
                  <a:lnTo>
                    <a:pt x="1956053" y="114299"/>
                  </a:lnTo>
                  <a:lnTo>
                    <a:pt x="1244346" y="114299"/>
                  </a:lnTo>
                  <a:lnTo>
                    <a:pt x="1188134" y="120115"/>
                  </a:lnTo>
                  <a:lnTo>
                    <a:pt x="1139385" y="136318"/>
                  </a:lnTo>
                  <a:lnTo>
                    <a:pt x="1100986" y="161044"/>
                  </a:lnTo>
                  <a:lnTo>
                    <a:pt x="1075828" y="192426"/>
                  </a:lnTo>
                  <a:lnTo>
                    <a:pt x="1066800" y="228599"/>
                  </a:lnTo>
                  <a:lnTo>
                    <a:pt x="1057698" y="192426"/>
                  </a:lnTo>
                  <a:lnTo>
                    <a:pt x="1032394" y="161044"/>
                  </a:lnTo>
                  <a:lnTo>
                    <a:pt x="993885" y="136318"/>
                  </a:lnTo>
                  <a:lnTo>
                    <a:pt x="945172" y="120115"/>
                  </a:lnTo>
                  <a:lnTo>
                    <a:pt x="889253" y="114299"/>
                  </a:lnTo>
                  <a:lnTo>
                    <a:pt x="177546" y="114299"/>
                  </a:lnTo>
                  <a:lnTo>
                    <a:pt x="121334" y="108484"/>
                  </a:lnTo>
                  <a:lnTo>
                    <a:pt x="72585" y="92281"/>
                  </a:lnTo>
                  <a:lnTo>
                    <a:pt x="34186" y="67555"/>
                  </a:lnTo>
                  <a:lnTo>
                    <a:pt x="9028" y="36173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66482" y="2785109"/>
              <a:ext cx="108585" cy="0"/>
            </a:xfrm>
            <a:custGeom>
              <a:avLst/>
              <a:gdLst/>
              <a:ahLst/>
              <a:cxnLst/>
              <a:rect l="l" t="t" r="r" b="b"/>
              <a:pathLst>
                <a:path w="108584">
                  <a:moveTo>
                    <a:pt x="0" y="0"/>
                  </a:moveTo>
                  <a:lnTo>
                    <a:pt x="108203" y="0"/>
                  </a:lnTo>
                </a:path>
              </a:pathLst>
            </a:custGeom>
            <a:ln w="8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679701" y="2773171"/>
            <a:ext cx="522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deleted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r>
              <a:rPr spc="-25" dirty="0"/>
              <a:t>44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091942" y="2747144"/>
            <a:ext cx="47466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794510" algn="l"/>
                <a:tab pos="4537710" algn="l"/>
              </a:tabLst>
            </a:pPr>
            <a:r>
              <a:rPr sz="1600" i="1" spc="-25" dirty="0">
                <a:latin typeface="Times New Roman"/>
                <a:cs typeface="Times New Roman"/>
              </a:rPr>
              <a:t>Y</a:t>
            </a:r>
            <a:r>
              <a:rPr sz="1350" spc="-37" baseline="-24691" dirty="0">
                <a:latin typeface="Times New Roman"/>
                <a:cs typeface="Times New Roman"/>
              </a:rPr>
              <a:t>1</a:t>
            </a:r>
            <a:r>
              <a:rPr sz="1350" baseline="-24691" dirty="0">
                <a:latin typeface="Times New Roman"/>
                <a:cs typeface="Times New Roman"/>
              </a:rPr>
              <a:t>	</a:t>
            </a:r>
            <a:r>
              <a:rPr sz="1600" i="1" spc="-25" dirty="0">
                <a:latin typeface="Times New Roman"/>
                <a:cs typeface="Times New Roman"/>
              </a:rPr>
              <a:t>Y</a:t>
            </a:r>
            <a:r>
              <a:rPr sz="1350" spc="-37" baseline="-24691" dirty="0">
                <a:latin typeface="Times New Roman"/>
                <a:cs typeface="Times New Roman"/>
              </a:rPr>
              <a:t>2</a:t>
            </a:r>
            <a:r>
              <a:rPr sz="1350" baseline="-24691" dirty="0">
                <a:latin typeface="Times New Roman"/>
                <a:cs typeface="Times New Roman"/>
              </a:rPr>
              <a:t>	</a:t>
            </a:r>
            <a:r>
              <a:rPr sz="2400" i="1" spc="-37" baseline="1736" dirty="0">
                <a:latin typeface="Times New Roman"/>
                <a:cs typeface="Times New Roman"/>
              </a:rPr>
              <a:t>Y</a:t>
            </a:r>
            <a:r>
              <a:rPr sz="1350" i="1" spc="-37" baseline="-21604" dirty="0">
                <a:latin typeface="Times New Roman"/>
                <a:cs typeface="Times New Roman"/>
              </a:rPr>
              <a:t>k</a:t>
            </a:r>
            <a:endParaRPr sz="1350" baseline="-2160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r>
              <a:rPr spc="-25" dirty="0"/>
              <a:t>45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902" y="1869840"/>
            <a:ext cx="7842884" cy="402780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Stochastic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discrete-event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simulation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statistical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experiment.</a:t>
            </a:r>
            <a:endParaRPr sz="20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40"/>
              </a:spcBef>
              <a:buClr>
                <a:srgbClr val="9A9ACC"/>
              </a:buClr>
              <a:buSzPct val="77777"/>
              <a:buChar char="□"/>
              <a:tabLst>
                <a:tab pos="755015" algn="l"/>
              </a:tabLst>
            </a:pPr>
            <a:r>
              <a:rPr sz="1800" dirty="0">
                <a:latin typeface="Arial"/>
                <a:cs typeface="Arial"/>
              </a:rPr>
              <a:t>Purpose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statistical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experiment: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obtain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estimates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performance </a:t>
            </a:r>
            <a:r>
              <a:rPr sz="1800" dirty="0">
                <a:latin typeface="Arial"/>
                <a:cs typeface="Arial"/>
              </a:rPr>
              <a:t>measures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system.</a:t>
            </a:r>
            <a:endParaRPr sz="1800">
              <a:latin typeface="Arial"/>
              <a:cs typeface="Arial"/>
            </a:endParaRPr>
          </a:p>
          <a:p>
            <a:pPr marL="755650" marR="401320" lvl="1" indent="-285750">
              <a:lnSpc>
                <a:spcPct val="100000"/>
              </a:lnSpc>
              <a:spcBef>
                <a:spcPts val="445"/>
              </a:spcBef>
              <a:buClr>
                <a:srgbClr val="9A9ACC"/>
              </a:buClr>
              <a:buSzPct val="77777"/>
              <a:buChar char="□"/>
              <a:tabLst>
                <a:tab pos="755650" algn="l"/>
              </a:tabLst>
            </a:pPr>
            <a:r>
              <a:rPr sz="1800" dirty="0">
                <a:latin typeface="Arial"/>
                <a:cs typeface="Arial"/>
              </a:rPr>
              <a:t>Purpose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statistical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analysis: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acquire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assurance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these </a:t>
            </a:r>
            <a:r>
              <a:rPr sz="1800" dirty="0">
                <a:latin typeface="Arial"/>
                <a:cs typeface="Arial"/>
              </a:rPr>
              <a:t>estimates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sufficiently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precise.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Distinguish: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terminating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simulations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steady-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simulations.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000" spc="-10" dirty="0">
                <a:latin typeface="Arial"/>
                <a:cs typeface="Arial"/>
              </a:rPr>
              <a:t>Steady-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output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difficult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analyze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40"/>
              </a:spcBef>
              <a:buClr>
                <a:srgbClr val="9A9ACC"/>
              </a:buClr>
              <a:buSzPct val="77777"/>
              <a:buChar char="□"/>
              <a:tabLst>
                <a:tab pos="755015" algn="l"/>
              </a:tabLst>
            </a:pPr>
            <a:r>
              <a:rPr sz="1800" dirty="0">
                <a:latin typeface="Arial"/>
                <a:cs typeface="Arial"/>
              </a:rPr>
              <a:t>Decisions: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initial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conditions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length</a:t>
            </a:r>
            <a:endParaRPr sz="1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40"/>
              </a:spcBef>
              <a:buClr>
                <a:srgbClr val="9A9ACC"/>
              </a:buClr>
              <a:buSzPct val="77777"/>
              <a:buChar char="□"/>
              <a:tabLst>
                <a:tab pos="755015" algn="l"/>
              </a:tabLst>
            </a:pPr>
            <a:r>
              <a:rPr sz="1800" dirty="0">
                <a:latin typeface="Arial"/>
                <a:cs typeface="Arial"/>
              </a:rPr>
              <a:t>Possible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solutions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bias: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deletion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increasing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length</a:t>
            </a:r>
            <a:endParaRPr sz="1800">
              <a:latin typeface="Arial"/>
              <a:cs typeface="Arial"/>
            </a:endParaRPr>
          </a:p>
          <a:p>
            <a:pPr marL="355600" marR="76835" indent="-342900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Char char="■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Statistical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precision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estimators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estimated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standard- </a:t>
            </a:r>
            <a:r>
              <a:rPr sz="2000" dirty="0">
                <a:latin typeface="Arial"/>
                <a:cs typeface="Arial"/>
              </a:rPr>
              <a:t>error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confidence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interval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Char char="■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Method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independent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replications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emphasized.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3885</Words>
  <Application>Microsoft Office PowerPoint</Application>
  <PresentationFormat>Custom</PresentationFormat>
  <Paragraphs>597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Black</vt:lpstr>
      <vt:lpstr>MT Extra</vt:lpstr>
      <vt:lpstr>Symbol</vt:lpstr>
      <vt:lpstr>Times New Roman</vt:lpstr>
      <vt:lpstr>Office Theme</vt:lpstr>
      <vt:lpstr>Chapter 11</vt:lpstr>
      <vt:lpstr>Purpose</vt:lpstr>
      <vt:lpstr>Outline</vt:lpstr>
      <vt:lpstr>Type of Simulations</vt:lpstr>
      <vt:lpstr>Type of Simulations</vt:lpstr>
      <vt:lpstr>Stochastic Nature of Output Data</vt:lpstr>
      <vt:lpstr>Stochastic Nature of Output Data</vt:lpstr>
      <vt:lpstr>Measures of performance</vt:lpstr>
      <vt:lpstr>Point Estimator</vt:lpstr>
      <vt:lpstr>Point Estimator</vt:lpstr>
      <vt:lpstr>Confidence-Interval Estimation</vt:lpstr>
      <vt:lpstr>Confidence-Interval Estimation</vt:lpstr>
      <vt:lpstr>Confidence-Interval Estimation</vt:lpstr>
      <vt:lpstr>Output Analysis for Terminating Simulations</vt:lpstr>
      <vt:lpstr>Statistical Background</vt:lpstr>
      <vt:lpstr>Statistical Background</vt:lpstr>
      <vt:lpstr>Statistical Background</vt:lpstr>
      <vt:lpstr>C.I. with Specified Precision</vt:lpstr>
      <vt:lpstr>C.I. with Specified Precision</vt:lpstr>
      <vt:lpstr>C.I. with Specified Precision</vt:lpstr>
      <vt:lpstr>Quantiles</vt:lpstr>
      <vt:lpstr>Quantiles</vt:lpstr>
      <vt:lpstr>Quantiles</vt:lpstr>
      <vt:lpstr>Quantiles</vt:lpstr>
      <vt:lpstr>Output Analysis for Steady-State Simulation</vt:lpstr>
      <vt:lpstr>Output Analysis for Steady-State Simulation</vt:lpstr>
      <vt:lpstr>Initialization Bias</vt:lpstr>
      <vt:lpstr>Initialization Bias</vt:lpstr>
      <vt:lpstr>Initialization Bias</vt:lpstr>
      <vt:lpstr>Initialization Bias</vt:lpstr>
      <vt:lpstr>Initialization Bias</vt:lpstr>
      <vt:lpstr>Sample Size</vt:lpstr>
      <vt:lpstr>Batch Means for Interval Estimation</vt:lpstr>
      <vt:lpstr>Batch Means for Interval Estimation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Chapter11.ppt</dc:title>
  <dc:creator>japplequ</dc:creator>
  <cp:lastModifiedBy>Mohammad Isa Irawan</cp:lastModifiedBy>
  <cp:revision>1</cp:revision>
  <dcterms:created xsi:type="dcterms:W3CDTF">2023-08-30T08:00:31Z</dcterms:created>
  <dcterms:modified xsi:type="dcterms:W3CDTF">2025-08-23T08:37:32Z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2006-10-31T00:00:00Z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2023-08-30T00:00:00Z</vt:filetime>
  </property>
  <property fmtid="{D5CDD505-2E9C-101B-9397-08002B2CF9AE}" pid="5" name="Producer">
    <vt:lpwstr>Acrobat Distiller 7.0.5 (Windows)</vt:lpwstr>
  </property>
</Properties>
</file>